
<file path=[Content_Types].xml><?xml version="1.0" encoding="utf-8"?>
<Types xmlns="http://schemas.openxmlformats.org/package/2006/content-types">
  <Default Extension="svg" ContentType="image/svg+xml"/>
  <Default Extension="xml" ContentType="application/xml"/>
  <Default Extension="rels" ContentType="application/vnd.openxmlformats-package.relationships+xml"/>
  <Override PartName="/ppt/theme/theme2.xml" ContentType="application/vnd.openxmlformats-officedocument.theme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docProps/core.xml" ContentType="application/vnd.openxmlformats-package.core-properties+xml"/>
  <Override PartName="/ppt/slides/slide3.xml" ContentType="application/vnd.openxmlformats-officedocument.presentationml.slide+xml"/>
  <Override PartName="/docProps/custom.xml" ContentType="application/vnd.openxmlformats-officedocument.custom-properties+xml"/>
  <Override PartName="/ppt/slides/slide14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slides/slide7.xml" ContentType="application/vnd.openxmlformats-officedocument.presentationml.slide+xml"/>
  <Override PartName="/docProps/app.xml" ContentType="application/vnd.openxmlformats-officedocument.extended-properties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officeDocument/2006/relationships/custom-properties" Target="docProps/custom.xml" /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r="http://schemas.openxmlformats.org/officeDocument/2006/relationships" xmlns:p="http://schemas.openxmlformats.org/presentationml/2006/main" xmlns:a="http://schemas.openxmlformats.org/drawingml/2006/main" firstSlideNum="1">
  <p:sldMasterIdLst>
    <p:sldMasterId id="2147483648" r:id="rId0"/>
  </p:sldMasterIdLst>
  <p:notesMasterIdLst>
    <p:notesMasterId r:id="rId19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8" Type="http://schemas.openxmlformats.org/officeDocument/2006/relationships/slide" Target="slides/slide8.xml" /><Relationship Id="rId7" Type="http://schemas.openxmlformats.org/officeDocument/2006/relationships/slide" Target="slides/slide7.xml" /><Relationship Id="rId6" Type="http://schemas.openxmlformats.org/officeDocument/2006/relationships/slide" Target="slides/slide6.xml" /><Relationship Id="rId4" Type="http://schemas.openxmlformats.org/officeDocument/2006/relationships/slide" Target="slides/slide4.xml" /><Relationship Id="rId21" Type="http://schemas.openxmlformats.org/officeDocument/2006/relationships/tableStyles" Target="tableStyles.xml" /><Relationship Id="rId20" Type="http://schemas.openxmlformats.org/officeDocument/2006/relationships/presProps" Target="presProps.xml" /><Relationship Id="rId2" Type="http://schemas.openxmlformats.org/officeDocument/2006/relationships/slide" Target="slides/slide2.xml" /><Relationship Id="rId19" Type="http://schemas.openxmlformats.org/officeDocument/2006/relationships/notesMaster" Target="notesMasters/notesMaster1.xml" /><Relationship Id="rId15" Type="http://schemas.openxmlformats.org/officeDocument/2006/relationships/slide" Target="slides/slide15.xml" /><Relationship Id="rId17" Type="http://schemas.openxmlformats.org/officeDocument/2006/relationships/slide" Target="slides/slide17.xml" /><Relationship Id="rId16" Type="http://schemas.openxmlformats.org/officeDocument/2006/relationships/slide" Target="slides/slide16.xml" /><Relationship Id="rId18" Type="http://schemas.openxmlformats.org/officeDocument/2006/relationships/slide" Target="slides/slide18.xml" /><Relationship Id="rId12" Type="http://schemas.openxmlformats.org/officeDocument/2006/relationships/slide" Target="slides/slide12.xml" /><Relationship Id="rId14" Type="http://schemas.openxmlformats.org/officeDocument/2006/relationships/slide" Target="slides/slide14.xml" /><Relationship Id="rId9" Type="http://schemas.openxmlformats.org/officeDocument/2006/relationships/slide" Target="slides/slide9.xml" /><Relationship Id="rId3" Type="http://schemas.openxmlformats.org/officeDocument/2006/relationships/slide" Target="slides/slide3.xml" /><Relationship Id="rId13" Type="http://schemas.openxmlformats.org/officeDocument/2006/relationships/slide" Target="slides/slide13.xml" /><Relationship Id="rId10" Type="http://schemas.openxmlformats.org/officeDocument/2006/relationships/slide" Target="slides/slide10.xml" /><Relationship Id="rId1" Type="http://schemas.openxmlformats.org/officeDocument/2006/relationships/slide" Target="slides/slide1.xml" /><Relationship Id="rId5" Type="http://schemas.openxmlformats.org/officeDocument/2006/relationships/slide" Target="slides/slide5.xml" /><Relationship Id="rId22" Type="http://schemas.openxmlformats.org/officeDocument/2006/relationships/viewProps" Target="viewProps.xml" /><Relationship Id="rId11" Type="http://schemas.openxmlformats.org/officeDocument/2006/relationships/slide" Target="slides/slide11.xml" /><Relationship Id="rId0" Type="http://schemas.openxmlformats.org/officeDocument/2006/relationships/slideMaster" Target="slideMasters/slideMaster1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 /><Relationship Id="rId0" Type="http://schemas.openxmlformats.org/officeDocument/2006/relationships/slideLayout" Target="../slideLayouts/slideLayout1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2" Type="http://schemas.openxmlformats.org/officeDocument/2006/relationships/image" Target="media/image2.svg" /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image" Target="media/image10.svg" /><Relationship Id="rId2" Type="http://schemas.openxmlformats.org/officeDocument/2006/relationships/image" Target="media/image11.svg" /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2" Type="http://schemas.openxmlformats.org/officeDocument/2006/relationships/image" Target="media/image13.svg" /><Relationship Id="rId1" Type="http://schemas.openxmlformats.org/officeDocument/2006/relationships/image" Target="media/image12.svg" /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2" Type="http://schemas.openxmlformats.org/officeDocument/2006/relationships/image" Target="media/image15.svg" /><Relationship Id="rId1" Type="http://schemas.openxmlformats.org/officeDocument/2006/relationships/image" Target="media/image14.svg" /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image" Target="media/image16.svg" /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3.svg" /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4" Type="http://schemas.openxmlformats.org/officeDocument/2006/relationships/image" Target="media/image7.svg" /><Relationship Id="rId3" Type="http://schemas.openxmlformats.org/officeDocument/2006/relationships/image" Target="media/image6.svg" /><Relationship Id="rId2" Type="http://schemas.openxmlformats.org/officeDocument/2006/relationships/image" Target="media/image5.svg" /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image" Target="media/image8.svg" /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image" Target="media/image9.svg" /><Relationship Id="rId0" Type="http://schemas.openxmlformats.org/officeDocument/2006/relationships/slideLayout" Target="../slideLayouts/slideLayout1.xml" /></Relationships>
</file>

<file path=ppt/slides/slide1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62000" y="1609725"/>
            <a:ext cx="381000" cy="38100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2181225"/>
            <a:ext cx="5905500" cy="952500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5400" b="1">
                <a:solidFill>
                  <a:srgbClr val="E8EEF7"/>
                </a:solidFill>
                <a:latin typeface="Microsoft YaHei"/>
                <a:ea typeface="Microsoft YaHei"/>
              </a:rPr>
              <a:t>知歇</a:t>
            </a:r>
            <a:r>
              <a:rPr lang="en-US" sz="54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5400" b="1">
                <a:solidFill>
                  <a:srgbClr val="4FE0B0"/>
                </a:solidFill>
                <a:latin typeface="Microsoft YaHei"/>
                <a:ea typeface="Microsoft YaHei"/>
              </a:rPr>
              <a:t>ZhiXie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3324225"/>
            <a:ext cx="59055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spc="225">
                <a:solidFill>
                  <a:srgbClr val="4FE0B0"/>
                </a:solidFill>
                <a:latin typeface="Microsoft YaHei"/>
                <a:ea typeface="Microsoft YaHei"/>
              </a:rPr>
              <a:t>知时而歇，张弛有度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762000" y="3819525"/>
            <a:ext cx="1143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pic>
        <p:nvPicPr>
          <p:cNvPr id="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239000" y="1333500"/>
            <a:ext cx="4191000" cy="4191000"/>
          </a:xfrm>
          <a:prstGeom prst="rect">
            <a:avLst/>
          </a:prstGeom>
          <a:ln/>
        </p:spPr>
      </p:pic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276350" y="1714500"/>
            <a:ext cx="1295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45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Z H I X I E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038600"/>
            <a:ext cx="5905500" cy="7334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一款融合智能体的桌面休息提醒工具。</a:t>
            </a:r>
            <a:endParaRPr/>
          </a:p>
          <a:p>
            <a:pPr>
              <a:lnSpc>
                <a:spcPct val="160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说一句话，智能体把它变成可执行的休息节律。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5057775"/>
            <a:ext cx="5905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创新主赛道 · AIGC 创新组</a:t>
            </a:r>
            <a:endParaRPr lang="zh-CN" sz="1200">
              <a:solidFill>
                <a:srgbClr val="E8EEF7">
                  <a:alpha val="50000"/>
                </a:srgbClr>
              </a:solidFill>
              <a:latin typeface="Microsoft YaHei"/>
              <a:ea typeface="Microsoft YaHei"/>
            </a:endParaRP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4288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609600" y="3829050"/>
            <a:ext cx="8382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3771900" y="1866900"/>
            <a:ext cx="7810500" cy="990600"/>
          </a:xfrm>
          <a:prstGeom prst="roundRect">
            <a:avLst>
              <a:gd name="adj" fmla="val 11538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4000500" y="20764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181475" y="22479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FE0B0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4800600" y="2057400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问题与定位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771900" y="3028950"/>
            <a:ext cx="7810500" cy="990600"/>
          </a:xfrm>
          <a:prstGeom prst="roundRect">
            <a:avLst>
              <a:gd name="adj" fmla="val 11538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4000500" y="323850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181475" y="340995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FE0B0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4800600" y="3219450"/>
            <a:ext cx="52292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3771900" y="4191000"/>
            <a:ext cx="7810500" cy="990600"/>
          </a:xfrm>
          <a:prstGeom prst="roundRect">
            <a:avLst>
              <a:gd name="adj" fmla="val 11538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4000500" y="4400550"/>
            <a:ext cx="571500" cy="571500"/>
          </a:xfrm>
          <a:prstGeom prst="roundRect">
            <a:avLst>
              <a:gd name="adj" fmla="val 50000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4181475" y="4572000"/>
            <a:ext cx="219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4FE0B0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4800600" y="4381500"/>
            <a:ext cx="45720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工程质量与应用价值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428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三章，回答评委最关心的三个问题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10620375" y="809625"/>
            <a:ext cx="96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spc="225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609600" y="2409825"/>
            <a:ext cx="2743200" cy="12287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575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需求是真的吗？</a:t>
            </a:r>
            <a:endParaRPr/>
          </a:p>
          <a:p>
            <a:pPr>
              <a:lnSpc>
                <a:spcPct val="170000"/>
              </a:lnSpc>
            </a:pPr>
            <a:r>
              <a:rPr lang="zh-CN" sz="1575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智能体是怎么做的？</a:t>
            </a:r>
            <a:endParaRPr/>
          </a:p>
          <a:p>
            <a:pPr>
              <a:lnSpc>
                <a:spcPct val="170000"/>
              </a:lnSpc>
            </a:pPr>
            <a:r>
              <a:rPr lang="zh-CN" sz="1575">
                <a:solidFill>
                  <a:srgbClr val="E8EEF7">
                    <a:alpha val="78000"/>
                  </a:srgbClr>
                </a:solidFill>
                <a:latin typeface="Microsoft YaHei"/>
                <a:ea typeface="Microsoft YaHei"/>
              </a:rPr>
              <a:t>工程上靠得住吗？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09600" y="4048125"/>
            <a:ext cx="27432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本演示共</a:t>
            </a:r>
            <a:r>
              <a:rPr lang="en-US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18 </a:t>
            </a: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页，按路演</a:t>
            </a:r>
            <a:r>
              <a:rPr lang="en-US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 xml:space="preserve"> 6—8 </a:t>
            </a:r>
            <a:r>
              <a:rPr lang="zh-CN" sz="1200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分钟节奏编排，每个数据均可现场核验。</a:t>
            </a:r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4800600" y="23907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现有提醒工具的两个毛病：配置门槛高、提醒机械；知歇的定位由此而来。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10058400" y="2286000"/>
            <a:ext cx="552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P03–P05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4800600" y="3552825"/>
            <a:ext cx="5229225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双通道架构、本机规则引擎、校验优先落库，以及低代码</a:t>
            </a:r>
            <a:r>
              <a:rPr lang="en-US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/</a:t>
            </a:r>
            <a:r>
              <a:rPr lang="zh-CN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无代码的使用方式。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0258425" y="3448050"/>
            <a:ext cx="5524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P06–P10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4800600" y="4714875"/>
            <a:ext cx="457200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项自动化测试、数据不出本机、适用场景、创新点与横向对比。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9601200" y="4610100"/>
            <a:ext cx="5429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>
                    <a:alpha val="85000"/>
                  </a:srgbClr>
                </a:solidFill>
                <a:latin typeface="Microsoft YaHei"/>
                <a:ea typeface="Microsoft YaHei"/>
              </a:rPr>
              <a:t>P11–P17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02 / 18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4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657600" y="1695450"/>
            <a:ext cx="51435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500" b="1">
                <a:solidFill>
                  <a:srgbClr val="E8EEF7"/>
                </a:solidFill>
                <a:latin typeface="Microsoft YaHei"/>
                <a:ea typeface="Microsoft YaHei"/>
              </a:rPr>
              <a:t>问题与定位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3657600" y="2676525"/>
            <a:ext cx="104775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657600" y="4229100"/>
            <a:ext cx="514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4FE0B0"/>
                </a:solidFill>
                <a:latin typeface="Consolas"/>
                <a:ea typeface="Consolas"/>
              </a:rPr>
              <a:t>P03 – P05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4FE0B0">
                    <a:alpha val="15000"/>
                  </a:srgbClr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51435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在系统自带提醒和番茄钟都存在的今天，为什么还需要一个知歇？</a:t>
            </a:r>
            <a:endParaRPr/>
          </a:p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这一章只讲清楚一件事：痛点在哪里。</a:t>
            </a:r>
            <a:endParaRPr/>
          </a:p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03 / 18</a:t>
            </a:r>
            <a:endParaRPr/>
          </a:p>
        </p:txBody>
      </p:sp>
    </p:spTree>
  </p:cSld>
</p:sld>
</file>

<file path=ppt/slides/slide4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2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7432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两个绕不开的毛病</a:t>
            </a:r>
            <a:endParaRPr/>
          </a:p>
        </p:txBody>
      </p:sp>
      <p:sp>
        <p:nvSpPr>
          <p:cNvPr id="260" name=""/>
          <p:cNvSpPr/>
          <p:nvPr/>
        </p:nvSpPr>
        <p:spPr>
          <a:xfrm rot="0" flipH="0" flipV="0">
            <a:off x="609600" y="1143000"/>
            <a:ext cx="6667500" cy="4762500"/>
          </a:xfrm>
          <a:prstGeom prst="roundRect">
            <a:avLst>
              <a:gd name="adj" fmla="val 28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857250" y="1390650"/>
            <a:ext cx="6172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毛病一</a:t>
            </a:r>
            <a:r>
              <a:rPr lang="en-US" sz="18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配置门槛高</a:t>
            </a:r>
            <a:endParaRPr/>
          </a:p>
        </p:txBody>
      </p:sp>
      <p:pic>
        <p:nvPicPr>
          <p:cNvPr id="26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2266950"/>
            <a:ext cx="6172200" cy="2038350"/>
          </a:xfrm>
          <a:prstGeom prst="rect">
            <a:avLst/>
          </a:prstGeom>
          <a:ln/>
        </p:spPr>
      </p:pic>
      <p:sp>
        <p:nvSpPr>
          <p:cNvPr id="263" name=""/>
          <p:cNvSpPr/>
          <p:nvPr/>
        </p:nvSpPr>
        <p:spPr>
          <a:xfrm rot="0" flipH="0" flipV="0">
            <a:off x="857250" y="4838700"/>
            <a:ext cx="6172200" cy="819150"/>
          </a:xfrm>
          <a:prstGeom prst="roundRect">
            <a:avLst>
              <a:gd name="adj" fmla="val 11628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7581900" y="1143000"/>
            <a:ext cx="4000500" cy="4762500"/>
          </a:xfrm>
          <a:prstGeom prst="roundRect">
            <a:avLst>
              <a:gd name="adj" fmla="val 333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7829550" y="1390650"/>
            <a:ext cx="3505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毛病二</a:t>
            </a:r>
            <a:r>
              <a:rPr lang="en-US" sz="18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提醒机械</a:t>
            </a:r>
            <a:endParaRPr/>
          </a:p>
        </p:txBody>
      </p:sp>
      <p:pic>
        <p:nvPicPr>
          <p:cNvPr id="26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7829550" y="2266950"/>
            <a:ext cx="3581400" cy="2038350"/>
          </a:xfrm>
          <a:prstGeom prst="rect">
            <a:avLst/>
          </a:prstGeom>
          <a:ln/>
        </p:spPr>
      </p:pic>
      <p:sp>
        <p:nvSpPr>
          <p:cNvPr id="267" name=""/>
          <p:cNvSpPr/>
          <p:nvPr/>
        </p:nvSpPr>
        <p:spPr>
          <a:xfrm rot="0" flipH="0" flipV="0">
            <a:off x="7829550" y="4838700"/>
            <a:ext cx="3505200" cy="819150"/>
          </a:xfrm>
          <a:prstGeom prst="roundRect">
            <a:avLst>
              <a:gd name="adj" fmla="val 11628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不是用户不想休息，是工具不好用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857250" y="1819275"/>
            <a:ext cx="61722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想设一条「每周一三五下午三点半」，得先学会四套概念。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1028700" y="4972050"/>
            <a:ext cx="58293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门槛不在按钮多少，而在</a:t>
            </a:r>
            <a:r>
              <a:rPr lang="en-US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单次</a:t>
            </a:r>
            <a:r>
              <a:rPr lang="en-US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每天</a:t>
            </a:r>
            <a:r>
              <a:rPr lang="en-US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每周</a:t>
            </a:r>
            <a:r>
              <a:rPr lang="en-US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每月</a:t>
            </a:r>
            <a:r>
              <a:rPr lang="en-US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这套概念本身——用户要先成为半个日程软件专家。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7829550" y="1819275"/>
            <a:ext cx="3505200" cy="2952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75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固定文案反复弹出，几轮之后被大脑自动过滤。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8001000" y="4972050"/>
            <a:ext cx="31623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20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提醒的强度随重复次数递减——第三次之后，它和桌面壁纸没有区别。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04 / 18</a:t>
            </a:r>
            <a:endParaRPr/>
          </a:p>
        </p:txBody>
      </p:sp>
    </p:spTree>
  </p:cSld>
</p:sld>
</file>

<file path=ppt/slides/slide5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27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17811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知歇是什么</a:t>
            </a:r>
            <a:endParaRPr/>
          </a:p>
        </p:txBody>
      </p:sp>
      <p:sp>
        <p:nvSpPr>
          <p:cNvPr id="279" name=""/>
          <p:cNvSpPr/>
          <p:nvPr/>
        </p:nvSpPr>
        <p:spPr>
          <a:xfrm rot="0" flipH="0" flipV="0">
            <a:off x="609600" y="1333500"/>
            <a:ext cx="5810250" cy="4381500"/>
          </a:xfrm>
          <a:prstGeom prst="roundRect">
            <a:avLst>
              <a:gd name="adj" fmla="val 3043"/>
            </a:avLst>
          </a:prstGeom>
          <a:solidFill>
            <a:srgbClr val="E8EEF7">
              <a:alpha val="3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2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47725" y="1619250"/>
            <a:ext cx="5334000" cy="3810000"/>
          </a:xfrm>
          <a:prstGeom prst="rect">
            <a:avLst/>
          </a:prstGeom>
          <a:ln/>
        </p:spPr>
      </p:pic>
      <p:pic>
        <p:nvPicPr>
          <p:cNvPr id="28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800850" y="3152775"/>
            <a:ext cx="323850" cy="323850"/>
          </a:xfrm>
          <a:prstGeom prst="rect">
            <a:avLst/>
          </a:prstGeom>
          <a:ln/>
        </p:spPr>
      </p:pic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7258050" y="3143250"/>
            <a:ext cx="17145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E8EEF7"/>
                </a:solidFill>
                <a:latin typeface="Microsoft YaHei"/>
                <a:ea typeface="Microsoft YaHei"/>
              </a:rPr>
              <a:t>一句话生成提醒规则</a:t>
            </a:r>
            <a:endParaRPr/>
          </a:p>
        </p:txBody>
      </p:sp>
      <p:pic>
        <p:nvPicPr>
          <p:cNvPr id="28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800850" y="3667125"/>
            <a:ext cx="323850" cy="323850"/>
          </a:xfrm>
          <a:prstGeom prst="rect">
            <a:avLst/>
          </a:prstGeom>
          <a:ln/>
        </p:spPr>
      </p:pic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7258050" y="3657600"/>
            <a:ext cx="2695575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E8EEF7"/>
                </a:solidFill>
                <a:latin typeface="Microsoft YaHei"/>
                <a:ea typeface="Microsoft YaHei"/>
              </a:rPr>
              <a:t>云端</a:t>
            </a:r>
            <a:r>
              <a:rPr lang="en-US" sz="1500">
                <a:solidFill>
                  <a:srgbClr val="E8EE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>
                <a:solidFill>
                  <a:srgbClr val="E8EEF7"/>
                </a:solidFill>
                <a:latin typeface="Microsoft YaHei"/>
                <a:ea typeface="Microsoft YaHei"/>
              </a:rPr>
              <a:t>本机双通道，断网也能用</a:t>
            </a:r>
            <a:endParaRPr/>
          </a:p>
        </p:txBody>
      </p:sp>
      <p:pic>
        <p:nvPicPr>
          <p:cNvPr id="28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800850" y="4181475"/>
            <a:ext cx="323850" cy="323850"/>
          </a:xfrm>
          <a:prstGeom prst="rect">
            <a:avLst/>
          </a:prstGeom>
          <a:ln/>
        </p:spPr>
      </p:pic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7258050" y="4171950"/>
            <a:ext cx="2667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E8EEF7"/>
                </a:solidFill>
                <a:latin typeface="Microsoft YaHei"/>
                <a:ea typeface="Microsoft YaHei"/>
              </a:rPr>
              <a:t>数据全在本机，零账号、零采集</a:t>
            </a:r>
            <a:endParaRPr/>
          </a:p>
        </p:txBody>
      </p:sp>
      <p:sp>
        <p:nvSpPr>
          <p:cNvPr id="287" name=""/>
          <p:cNvSpPr/>
          <p:nvPr/>
        </p:nvSpPr>
        <p:spPr>
          <a:xfrm rot="0" flipH="0" flipV="0">
            <a:off x="6800850" y="4762500"/>
            <a:ext cx="4781550" cy="533400"/>
          </a:xfrm>
          <a:custGeom>
            <a:pathLst>
              <a:path w="502" h="56">
                <a:moveTo>
                  <a:pt x="0" y="0"/>
                </a:moveTo>
                <a:lnTo>
                  <a:pt x="502" y="0"/>
                </a:lnTo>
                <a:lnTo>
                  <a:pt x="502" y="1"/>
                </a:lnTo>
                <a:lnTo>
                  <a:pt x="0" y="1"/>
                </a:lnTo>
                <a:close/>
              </a:path>
            </a:pathLst>
          </a:custGeom>
          <a:solidFill>
            <a:srgbClr val="E8EEF7">
              <a:alpha val="12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6800850" y="4943475"/>
            <a:ext cx="4781550" cy="342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125" spc="75">
                <a:solidFill>
                  <a:srgbClr val="4FE0B0"/>
                </a:solidFill>
                <a:latin typeface="Consolas"/>
                <a:ea typeface="Consolas"/>
              </a:rPr>
              <a:t>Windows x64 / ARM64 · Apple Silicon macOS · Tauri 2 + Vue 3 + Rust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1781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一句话定义，三个关键词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6800850" y="1762125"/>
            <a:ext cx="4781550" cy="1209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650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一款融合智能体的桌面休息提醒工具：说一句话，智能体把它变成可执行的提醒规则，到点用全屏弹窗把你从屏幕前拉开。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05 / 18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9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3657600" y="1695450"/>
            <a:ext cx="51435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500" b="1">
                <a:solidFill>
                  <a:srgbClr val="E8EEF7"/>
                </a:solidFill>
                <a:latin typeface="Microsoft YaHei"/>
                <a:ea typeface="Microsoft YaHei"/>
              </a:rPr>
              <a:t>智能体开发过程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3657600" y="2676525"/>
            <a:ext cx="104775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98" name="" descr="{&quot;isTemplate&quot;:true,&quot;type&quot;:&quot;text&quot;}"/>
          <p:cNvSpPr txBox="1"/>
          <p:nvPr/>
        </p:nvSpPr>
        <p:spPr>
          <a:xfrm rot="0" flipH="0" flipV="0">
            <a:off x="3657600" y="4229100"/>
            <a:ext cx="514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4FE0B0"/>
                </a:solidFill>
                <a:latin typeface="Consolas"/>
                <a:ea typeface="Consolas"/>
              </a:rPr>
              <a:t>P06 – P10</a:t>
            </a:r>
            <a:endParaRPr/>
          </a:p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4FE0B0">
                    <a:alpha val="15000"/>
                  </a:srgbClr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51435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本赛道最关心的一章。智能体在知歇里不是</a:t>
            </a:r>
            <a:r>
              <a:rPr lang="en-US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加了个对话框</a:t>
            </a:r>
            <a:r>
              <a:rPr lang="en-US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，而是</a:t>
            </a:r>
            <a:endParaRPr/>
          </a:p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同时承担规则生成、休息建议与文案生成三件事。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06 / 18</a:t>
            </a:r>
            <a:endParaRPr/>
          </a:p>
        </p:txBody>
      </p:sp>
    </p:spTree>
  </p:cSld>
</p:sld>
</file>

<file path=ppt/slides/slide7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3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32385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双通道架构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1428750" y="1143000"/>
            <a:ext cx="9334500" cy="552450"/>
          </a:xfrm>
          <a:prstGeom prst="roundRect">
            <a:avLst>
              <a:gd name="adj" fmla="val 17241"/>
            </a:avLst>
          </a:prstGeom>
          <a:solidFill>
            <a:srgbClr val="E8EEF7">
              <a:alpha val="6000"/>
            </a:srgbClr>
          </a:solidFill>
          <a:ln w="12700">
            <a:solidFill>
              <a:srgbClr val="E8EEF7">
                <a:alpha val="18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429000" y="1323975"/>
            <a:ext cx="5343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用户自然语言输入　「每周一三五下午三点半提醒我起来活动，顺便锁屏」</a:t>
            </a:r>
            <a:endParaRPr/>
          </a:p>
        </p:txBody>
      </p:sp>
      <p:pic>
        <p:nvPicPr>
          <p:cNvPr id="30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847850"/>
            <a:ext cx="9334500" cy="266700"/>
          </a:xfrm>
          <a:prstGeom prst="rect">
            <a:avLst/>
          </a:prstGeom>
          <a:ln/>
        </p:spPr>
      </p:pic>
      <p:sp>
        <p:nvSpPr>
          <p:cNvPr id="309" name=""/>
          <p:cNvSpPr/>
          <p:nvPr/>
        </p:nvSpPr>
        <p:spPr>
          <a:xfrm rot="0" flipH="0" flipV="0">
            <a:off x="609600" y="2266950"/>
            <a:ext cx="5334000" cy="1028700"/>
          </a:xfrm>
          <a:prstGeom prst="roundRect">
            <a:avLst>
              <a:gd name="adj" fmla="val 11111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4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800100" y="2419350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云端大模型通道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4533900" y="2457450"/>
            <a:ext cx="1219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FE0B0"/>
                </a:solidFill>
                <a:latin typeface="Consolas"/>
                <a:ea typeface="Consolas"/>
              </a:rPr>
              <a:t>可选</a:t>
            </a:r>
            <a:r>
              <a:rPr lang="en-US" sz="975">
                <a:solidFill>
                  <a:srgbClr val="4FE0B0"/>
                </a:solidFill>
                <a:latin typeface="Consolas"/>
                <a:ea typeface="Consolas"/>
              </a:rPr>
              <a:t xml:space="preserve"> · </a:t>
            </a:r>
            <a:r>
              <a:rPr lang="zh-CN" sz="975">
                <a:solidFill>
                  <a:srgbClr val="4FE0B0"/>
                </a:solidFill>
                <a:latin typeface="Consolas"/>
                <a:ea typeface="Consolas"/>
              </a:rPr>
              <a:t>需用户主动开启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6248400" y="2266950"/>
            <a:ext cx="5334000" cy="1028700"/>
          </a:xfrm>
          <a:prstGeom prst="roundRect">
            <a:avLst>
              <a:gd name="adj" fmla="val 11111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4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3" name="" descr="{&quot;isTemplate&quot;:true,&quot;type&quot;:&quot;text&quot;}"/>
          <p:cNvSpPr txBox="1"/>
          <p:nvPr/>
        </p:nvSpPr>
        <p:spPr>
          <a:xfrm rot="0" flipH="0" flipV="0">
            <a:off x="6438900" y="2419350"/>
            <a:ext cx="1143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本机规则引擎</a:t>
            </a:r>
            <a:endParaRPr/>
          </a:p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10544175" y="2457450"/>
            <a:ext cx="847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FE0B0"/>
                </a:solidFill>
                <a:latin typeface="Consolas"/>
                <a:ea typeface="Consolas"/>
              </a:rPr>
              <a:t>默认</a:t>
            </a:r>
            <a:r>
              <a:rPr lang="en-US" sz="975">
                <a:solidFill>
                  <a:srgbClr val="4FE0B0"/>
                </a:solidFill>
                <a:latin typeface="Consolas"/>
                <a:ea typeface="Consolas"/>
              </a:rPr>
              <a:t xml:space="preserve"> · </a:t>
            </a:r>
            <a:r>
              <a:rPr lang="zh-CN" sz="975">
                <a:solidFill>
                  <a:srgbClr val="4FE0B0"/>
                </a:solidFill>
                <a:latin typeface="Consolas"/>
                <a:ea typeface="Consolas"/>
              </a:rPr>
              <a:t>离线可用</a:t>
            </a:r>
            <a:endParaRPr/>
          </a:p>
        </p:txBody>
      </p:sp>
      <p:pic>
        <p:nvPicPr>
          <p:cNvPr id="31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609600" y="3448050"/>
            <a:ext cx="9334500" cy="266700"/>
          </a:xfrm>
          <a:prstGeom prst="rect">
            <a:avLst/>
          </a:prstGeom>
          <a:ln/>
        </p:spPr>
      </p:pic>
      <p:sp>
        <p:nvSpPr>
          <p:cNvPr id="316" name=""/>
          <p:cNvSpPr/>
          <p:nvPr/>
        </p:nvSpPr>
        <p:spPr>
          <a:xfrm rot="0" flipH="0" flipV="0">
            <a:off x="1428750" y="3867150"/>
            <a:ext cx="9334500" cy="590550"/>
          </a:xfrm>
          <a:prstGeom prst="roundRect">
            <a:avLst>
              <a:gd name="adj" fmla="val 16129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3409950" y="4057650"/>
            <a:ext cx="1266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统一字段校验层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609600" y="4610100"/>
            <a:ext cx="3533775" cy="1295400"/>
          </a:xfrm>
          <a:prstGeom prst="roundRect">
            <a:avLst>
              <a:gd name="adj" fmla="val 73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742950" y="4743450"/>
            <a:ext cx="3267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云端提升上限</a:t>
            </a:r>
            <a:endParaRPr/>
          </a:p>
        </p:txBody>
      </p:sp>
      <p:sp>
        <p:nvSpPr>
          <p:cNvPr id="320" name=""/>
          <p:cNvSpPr/>
          <p:nvPr/>
        </p:nvSpPr>
        <p:spPr>
          <a:xfrm rot="0" flipH="0" flipV="0">
            <a:off x="4333875" y="4610100"/>
            <a:ext cx="3524250" cy="1295400"/>
          </a:xfrm>
          <a:prstGeom prst="roundRect">
            <a:avLst>
              <a:gd name="adj" fmla="val 73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4467225" y="4743450"/>
            <a:ext cx="32575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本机保底可用</a:t>
            </a:r>
            <a:endParaRPr/>
          </a:p>
        </p:txBody>
      </p:sp>
      <p:sp>
        <p:nvSpPr>
          <p:cNvPr id="322" name=""/>
          <p:cNvSpPr/>
          <p:nvPr/>
        </p:nvSpPr>
        <p:spPr>
          <a:xfrm rot="0" flipH="0" flipV="0">
            <a:off x="8048625" y="4610100"/>
            <a:ext cx="3533775" cy="1295400"/>
          </a:xfrm>
          <a:prstGeom prst="roundRect">
            <a:avLst>
              <a:gd name="adj" fmla="val 7353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23" name="" descr="{&quot;isTemplate&quot;:true,&quot;type&quot;:&quot;text&quot;}"/>
          <p:cNvSpPr txBox="1"/>
          <p:nvPr/>
        </p:nvSpPr>
        <p:spPr>
          <a:xfrm rot="0" flipH="0" flipV="0">
            <a:off x="8181975" y="4743450"/>
            <a:ext cx="32670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4FE0B0"/>
                </a:solidFill>
                <a:latin typeface="Microsoft YaHei"/>
                <a:ea typeface="Microsoft YaHei"/>
              </a:rPr>
              <a:t>校验优先落库</a:t>
            </a:r>
            <a:endParaRPr/>
          </a:p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32385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云端提升上限，本机保底可用，校验优先落库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11049000" y="8096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核心架构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800100" y="2724150"/>
            <a:ext cx="4953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OpenAI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兼容接口（默认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DeepSeek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）·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系统提示词约束输出固定字段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· temperature 0.2 · 40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秒超时保护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6438900" y="2724150"/>
            <a:ext cx="49530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纯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Rust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实现，零外部依赖；未配置密钥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断网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接口报错时自动接手，功能不中断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4829175" y="4067175"/>
            <a:ext cx="396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→　合法字段写入提醒数据；非法字段被过滤或回落默认值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742950" y="5010150"/>
            <a:ext cx="32670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E8EEF7">
                    <a:alpha val="68000"/>
                  </a:srgbClr>
                </a:solidFill>
                <a:latin typeface="Microsoft YaHei"/>
                <a:ea typeface="Microsoft YaHei"/>
              </a:rPr>
              <a:t>更自由的表达方式交给大模型理解，用户不必迁就关键词模板。</a:t>
            </a:r>
            <a:endParaRPr/>
          </a:p>
        </p:txBody>
      </p:sp>
      <p:sp>
        <p:nvSpPr>
          <p:cNvPr id="330" name="" descr="{&quot;isTemplate&quot;:true,&quot;type&quot;:&quot;text&quot;}"/>
          <p:cNvSpPr txBox="1"/>
          <p:nvPr/>
        </p:nvSpPr>
        <p:spPr>
          <a:xfrm rot="0" flipH="0" flipV="0">
            <a:off x="4467225" y="5010150"/>
            <a:ext cx="325755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E8EEF7">
                    <a:alpha val="68000"/>
                  </a:srgbClr>
                </a:solidFill>
                <a:latin typeface="Microsoft YaHei"/>
                <a:ea typeface="Microsoft YaHei"/>
              </a:rPr>
              <a:t>断网、未配置、接口报错都不影响使用——网络是可选增强，不是必要依赖。</a:t>
            </a:r>
            <a:endParaRPr/>
          </a:p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8181975" y="5010150"/>
            <a:ext cx="3267075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E8EEF7">
                    <a:alpha val="68000"/>
                  </a:srgbClr>
                </a:solidFill>
                <a:latin typeface="Microsoft YaHei"/>
                <a:ea typeface="Microsoft YaHei"/>
              </a:rPr>
              <a:t>模型只负责提出建议，能否写入由系统判定，幻觉不会污染用户数据。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07 / 18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3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48006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本机规则引擎：断网也能听懂你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609600" y="1143000"/>
            <a:ext cx="3238500" cy="4762500"/>
          </a:xfrm>
          <a:prstGeom prst="roundRect">
            <a:avLst>
              <a:gd name="adj" fmla="val 4118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3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38" name="" descr="{&quot;isTemplate&quot;:true,&quot;type&quot;:&quot;text&quot;}"/>
          <p:cNvSpPr txBox="1"/>
          <p:nvPr/>
        </p:nvSpPr>
        <p:spPr>
          <a:xfrm rot="0" flipH="0" flipV="0">
            <a:off x="838200" y="1371600"/>
            <a:ext cx="2781300" cy="74295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纯</a:t>
            </a:r>
            <a:r>
              <a:rPr lang="en-US" sz="1800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Rust </a:t>
            </a: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实现</a:t>
            </a:r>
            <a:endParaRPr/>
          </a:p>
          <a:p>
            <a:pPr>
              <a:lnSpc>
                <a:spcPct val="135000"/>
              </a:lnSpc>
            </a:pPr>
            <a:r>
              <a:rPr lang="zh-CN" sz="1800" b="1">
                <a:solidFill>
                  <a:srgbClr val="E8EEF7"/>
                </a:solidFill>
                <a:latin typeface="Microsoft YaHei"/>
                <a:ea typeface="Microsoft YaHei"/>
              </a:rPr>
              <a:t>零外部依赖</a:t>
            </a:r>
            <a:endParaRPr/>
          </a:p>
        </p:txBody>
      </p:sp>
      <p:sp>
        <p:nvSpPr>
          <p:cNvPr id="339" name=""/>
          <p:cNvSpPr/>
          <p:nvPr/>
        </p:nvSpPr>
        <p:spPr>
          <a:xfrm rot="0" flipH="0" flipV="0">
            <a:off x="838200" y="2247900"/>
            <a:ext cx="762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40" name=""/>
          <p:cNvSpPr/>
          <p:nvPr/>
        </p:nvSpPr>
        <p:spPr>
          <a:xfrm rot="0" flipH="0" flipV="0">
            <a:off x="838200" y="5000625"/>
            <a:ext cx="2781300" cy="685800"/>
          </a:xfrm>
          <a:custGeom>
            <a:pathLst>
              <a:path w="292" h="72">
                <a:moveTo>
                  <a:pt x="0" y="0"/>
                </a:moveTo>
                <a:lnTo>
                  <a:pt x="292" y="0"/>
                </a:lnTo>
                <a:lnTo>
                  <a:pt x="292" y="1"/>
                </a:lnTo>
                <a:lnTo>
                  <a:pt x="0" y="1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41" name=""/>
          <p:cNvSpPr/>
          <p:nvPr/>
        </p:nvSpPr>
        <p:spPr>
          <a:xfrm rot="0" flipH="0" flipV="0">
            <a:off x="4152900" y="1143000"/>
            <a:ext cx="7429500" cy="257175"/>
          </a:xfrm>
          <a:custGeom>
            <a:pathLst>
              <a:path w="780" h="27">
                <a:moveTo>
                  <a:pt x="0" y="26"/>
                </a:moveTo>
                <a:lnTo>
                  <a:pt x="780" y="26"/>
                </a:lnTo>
                <a:lnTo>
                  <a:pt x="780" y="27"/>
                </a:lnTo>
                <a:lnTo>
                  <a:pt x="0" y="27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42" name=""/>
          <p:cNvSpPr/>
          <p:nvPr/>
        </p:nvSpPr>
        <p:spPr>
          <a:xfrm rot="0" flipH="0" flipV="0">
            <a:off x="4152900" y="1504950"/>
            <a:ext cx="7429500" cy="742950"/>
          </a:xfrm>
          <a:prstGeom prst="roundRect">
            <a:avLst>
              <a:gd name="adj" fmla="val 1282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3" name="" descr="{&quot;isTemplate&quot;:true,&quot;type&quot;:&quot;text&quot;}"/>
          <p:cNvSpPr txBox="1"/>
          <p:nvPr/>
        </p:nvSpPr>
        <p:spPr>
          <a:xfrm rot="0" flipH="0" flipV="0">
            <a:off x="4324350" y="1781175"/>
            <a:ext cx="400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「每天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下午三点</a:t>
            </a: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提醒我喝水」</a:t>
            </a:r>
            <a:endParaRPr/>
          </a:p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8324850" y="178117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每天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15:00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中文数字时间</a:t>
            </a:r>
            <a:endParaRPr/>
          </a:p>
        </p:txBody>
      </p:sp>
      <p:sp>
        <p:nvSpPr>
          <p:cNvPr id="345" name=""/>
          <p:cNvSpPr/>
          <p:nvPr/>
        </p:nvSpPr>
        <p:spPr>
          <a:xfrm rot="0" flipH="0" flipV="0">
            <a:off x="4152900" y="2362200"/>
            <a:ext cx="7429500" cy="742950"/>
          </a:xfrm>
          <a:prstGeom prst="roundRect">
            <a:avLst>
              <a:gd name="adj" fmla="val 1282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4324350" y="2638425"/>
            <a:ext cx="400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「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>30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分钟后</a:t>
            </a: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提醒我休息一下」</a:t>
            </a:r>
            <a:endParaRPr/>
          </a:p>
        </p:txBody>
      </p:sp>
      <p:sp>
        <p:nvSpPr>
          <p:cNvPr id="347" name="" descr="{&quot;isTemplate&quot;:true,&quot;type&quot;:&quot;text&quot;}"/>
          <p:cNvSpPr txBox="1"/>
          <p:nvPr/>
        </p:nvSpPr>
        <p:spPr>
          <a:xfrm rot="0" flipH="0" flipV="0">
            <a:off x="8324850" y="263842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单次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当前时间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+30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分钟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相对时间</a:t>
            </a:r>
            <a:endParaRPr/>
          </a:p>
        </p:txBody>
      </p:sp>
      <p:sp>
        <p:nvSpPr>
          <p:cNvPr id="348" name=""/>
          <p:cNvSpPr/>
          <p:nvPr/>
        </p:nvSpPr>
        <p:spPr>
          <a:xfrm rot="0" flipH="0" flipV="0">
            <a:off x="4152900" y="3219450"/>
            <a:ext cx="7429500" cy="742950"/>
          </a:xfrm>
          <a:prstGeom prst="roundRect">
            <a:avLst>
              <a:gd name="adj" fmla="val 1282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9" name="" descr="{&quot;isTemplate&quot;:true,&quot;type&quot;:&quot;text&quot;}"/>
          <p:cNvSpPr txBox="1"/>
          <p:nvPr/>
        </p:nvSpPr>
        <p:spPr>
          <a:xfrm rot="0" flipH="0" flipV="0">
            <a:off x="4324350" y="3495675"/>
            <a:ext cx="400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「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每周一三五</a:t>
            </a:r>
            <a:r>
              <a:rPr lang="en-US" sz="1275">
                <a:solidFill>
                  <a:srgbClr val="E8EEF7"/>
                </a:solidFill>
                <a:latin typeface="Microsoft YaHei"/>
                <a:ea typeface="Microsoft YaHei"/>
              </a:rPr>
              <a:t xml:space="preserve"> 17:30 </a:t>
            </a: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提醒我锁屏」</a:t>
            </a:r>
            <a:endParaRPr/>
          </a:p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8324850" y="349567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每周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周一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周三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周五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附加锁屏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4152900" y="4076700"/>
            <a:ext cx="7429500" cy="742950"/>
          </a:xfrm>
          <a:prstGeom prst="roundRect">
            <a:avLst>
              <a:gd name="adj" fmla="val 1282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4324350" y="4352925"/>
            <a:ext cx="400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「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明天</a:t>
            </a: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早上八点提醒我交作业」</a:t>
            </a:r>
            <a:endParaRPr/>
          </a:p>
        </p:txBody>
      </p:sp>
      <p:sp>
        <p:nvSpPr>
          <p:cNvPr id="353" name="" descr="{&quot;isTemplate&quot;:true,&quot;type&quot;:&quot;text&quot;}"/>
          <p:cNvSpPr txBox="1"/>
          <p:nvPr/>
        </p:nvSpPr>
        <p:spPr>
          <a:xfrm rot="0" flipH="0" flipV="0">
            <a:off x="8324850" y="435292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单次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次日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08:00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日期词</a:t>
            </a:r>
            <a:endParaRPr/>
          </a:p>
        </p:txBody>
      </p:sp>
      <p:sp>
        <p:nvSpPr>
          <p:cNvPr id="354" name=""/>
          <p:cNvSpPr/>
          <p:nvPr/>
        </p:nvSpPr>
        <p:spPr>
          <a:xfrm rot="0" flipH="0" flipV="0">
            <a:off x="4152900" y="4933950"/>
            <a:ext cx="7429500" cy="742950"/>
          </a:xfrm>
          <a:prstGeom prst="roundRect">
            <a:avLst>
              <a:gd name="adj" fmla="val 12821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4324350" y="5210175"/>
            <a:ext cx="40005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/>
                </a:solidFill>
                <a:latin typeface="Microsoft YaHei"/>
                <a:ea typeface="Microsoft YaHei"/>
              </a:rPr>
              <a:t>「晚上十一点提醒我锁屏睡觉」</a:t>
            </a:r>
            <a:endParaRPr/>
          </a:p>
        </p:txBody>
      </p:sp>
      <p:sp>
        <p:nvSpPr>
          <p:cNvPr id="356" name="" descr="{&quot;isTemplate&quot;:true,&quot;type&quot;:&quot;text&quot;}"/>
          <p:cNvSpPr txBox="1"/>
          <p:nvPr/>
        </p:nvSpPr>
        <p:spPr>
          <a:xfrm rot="0" flipH="0" flipV="0">
            <a:off x="8324850" y="5210175"/>
            <a:ext cx="30861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每天</a:t>
            </a:r>
            <a:r>
              <a:rPr lang="en-US" sz="1275">
                <a:solidFill>
                  <a:srgbClr val="4FE0B0"/>
                </a:solidFill>
                <a:latin typeface="Microsoft YaHei"/>
                <a:ea typeface="Microsoft YaHei"/>
              </a:rPr>
              <a:t xml:space="preserve"> · 23:00 · </a:t>
            </a:r>
            <a:r>
              <a:rPr lang="zh-CN" sz="1275">
                <a:solidFill>
                  <a:srgbClr val="4FE0B0"/>
                </a:solidFill>
                <a:latin typeface="Microsoft YaHei"/>
                <a:ea typeface="Microsoft YaHei"/>
              </a:rPr>
              <a:t>系统操作词</a:t>
            </a:r>
            <a:endParaRPr/>
          </a:p>
        </p:txBody>
      </p:sp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面向中文口语表达优化的五类高频句式</a:t>
            </a:r>
            <a:endParaRPr/>
          </a:p>
        </p:txBody>
      </p:sp>
      <p:sp>
        <p:nvSpPr>
          <p:cNvPr id="358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08</a:t>
            </a:r>
            <a:endParaRPr/>
          </a:p>
        </p:txBody>
      </p:sp>
      <p:sp>
        <p:nvSpPr>
          <p:cNvPr id="359" name="" descr="{&quot;isTemplate&quot;:true,&quot;type&quot;:&quot;text&quot;}"/>
          <p:cNvSpPr txBox="1"/>
          <p:nvPr/>
        </p:nvSpPr>
        <p:spPr>
          <a:xfrm rot="0" flipH="0" flipV="0">
            <a:off x="838200" y="2409825"/>
            <a:ext cx="2781300" cy="8858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不联网、不需要账号、不产生接口费用。未配置密钥时即为默认工作模式，安装完就能用。</a:t>
            </a:r>
            <a:endParaRPr/>
          </a:p>
        </p:txBody>
      </p:sp>
      <p:sp>
        <p:nvSpPr>
          <p:cNvPr id="360" name="" descr="{&quot;isTemplate&quot;:true,&quot;type&quot;:&quot;text&quot;}"/>
          <p:cNvSpPr txBox="1"/>
          <p:nvPr/>
        </p:nvSpPr>
        <p:spPr>
          <a:xfrm rot="0" flipH="0" flipV="0">
            <a:off x="838200" y="5162550"/>
            <a:ext cx="27813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无关键词的句子会回落为「单次提醒」，并保留原句作为标题——不报错、不丢输入。</a:t>
            </a:r>
            <a:endParaRPr/>
          </a:p>
        </p:txBody>
      </p:sp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4152900" y="1143000"/>
            <a:ext cx="40005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你说的（自然表达）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8153400" y="1143000"/>
            <a:ext cx="3429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智能体解析出的（结构化规则）</a:t>
            </a:r>
            <a:endParaRPr/>
          </a:p>
        </p:txBody>
      </p:sp>
      <p:sp>
        <p:nvSpPr>
          <p:cNvPr id="363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64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08 / 18</a:t>
            </a:r>
            <a:endParaRPr/>
          </a:p>
        </p:txBody>
      </p:sp>
    </p:spTree>
  </p:cSld>
</p:sld>
</file>

<file path=ppt/slides/slide9.xml><?xml version="1.0" encoding="utf-8"?>
<p:sld xmlns:asvg="http://schemas.microsoft.com/office/drawing/2016/SVG/main" xmlns:a16="http://schemas.microsoft.com/office/drawing/2014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 a16">
  <p:cSld>
    <p:spTree>
      <p:nvGrpSpPr>
        <p:cNvPr id="3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37719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模型提建议，系统说了算</a:t>
            </a:r>
            <a:endParaRPr/>
          </a:p>
        </p:txBody>
      </p:sp>
      <p:graphicFrame>
        <p:nvGraphicFramePr>
          <p:cNvPr id="368" name=""/>
          <p:cNvGraphicFramePr/>
          <p:nvPr/>
        </p:nvGraphicFramePr>
        <p:xfrm rot="0" flipH="0" flipV="0">
          <a:off x="609600" y="1571625"/>
          <a:ext cx="6667500" cy="3733800"/>
        </p:xfrm>
        <a:graphic>
          <a:graphicData uri="http://schemas.openxmlformats.org/drawingml/2006/table">
            <a:tbl>
              <a:tblGrid>
                <a:gridCol w="1149227">
                  <a:extLst>
                    <a:ext uri="{9D8B030D-6E8A-4147-A177-3AD203B41FA5}">
                      <a16:colId val="1"/>
                    </a:ext>
                  </a:extLst>
                </a:gridCol>
                <a:gridCol w="3626010">
                  <a:extLst>
                    <a:ext uri="{9D8B030D-6E8A-4147-A177-3AD203B41FA5}">
                      <a16:colId val="2"/>
                    </a:ext>
                  </a:extLst>
                </a:gridCol>
                <a:gridCol w="1892262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字段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合法取值范围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非法时的处理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类型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单次 / 每天 / 每周 / 每月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回落为「单次」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合法 HH:MM（时≤23、分≤59）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回落为 09:00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星期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整数且限定 0–6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越界值被过滤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日期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整数且限定 1–31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越界值被过滤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系统操作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锁屏 / 关机 / 重启 / 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非法值置空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5334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标题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非空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回落为用户原句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 rot="0" flipH="0" flipV="0">
            <a:off x="7543800" y="1143000"/>
            <a:ext cx="4038600" cy="2381250"/>
          </a:xfrm>
          <a:prstGeom prst="roundRect">
            <a:avLst>
              <a:gd name="adj" fmla="val 4800"/>
            </a:avLst>
          </a:prstGeom>
          <a:solidFill>
            <a:srgbClr val="E8EEF7">
              <a:alpha val="3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37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7848600" y="1181100"/>
            <a:ext cx="3429000" cy="2095500"/>
          </a:xfrm>
          <a:prstGeom prst="rect">
            <a:avLst/>
          </a:prstGeom>
          <a:ln/>
        </p:spPr>
      </p:pic>
      <p:sp>
        <p:nvSpPr>
          <p:cNvPr id="371" name="" descr="{&quot;isTemplate&quot;:true,&quot;type&quot;:&quot;text&quot;}"/>
          <p:cNvSpPr txBox="1"/>
          <p:nvPr/>
        </p:nvSpPr>
        <p:spPr>
          <a:xfrm rot="0" flipH="0" flipV="0">
            <a:off x="9467850" y="3333750"/>
            <a:ext cx="1276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/>
                </a:solidFill>
                <a:latin typeface="Microsoft YaHei"/>
                <a:ea typeface="Microsoft YaHei"/>
              </a:rPr>
              <a:t>合法</a:t>
            </a:r>
            <a:r>
              <a:rPr lang="en-US" sz="1050">
                <a:solidFill>
                  <a:srgbClr val="4FE0B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4FE0B0"/>
                </a:solidFill>
                <a:latin typeface="Microsoft YaHei"/>
                <a:ea typeface="Microsoft YaHei"/>
              </a:rPr>
              <a:t>写入提醒数据</a:t>
            </a:r>
            <a:endParaRPr/>
          </a:p>
        </p:txBody>
      </p:sp>
      <p:sp>
        <p:nvSpPr>
          <p:cNvPr id="372" name=""/>
          <p:cNvSpPr/>
          <p:nvPr/>
        </p:nvSpPr>
        <p:spPr>
          <a:xfrm rot="0" flipH="0" flipV="0">
            <a:off x="7543800" y="3657600"/>
            <a:ext cx="4038600" cy="876300"/>
          </a:xfrm>
          <a:prstGeom prst="roundRect">
            <a:avLst>
              <a:gd name="adj" fmla="val 13043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73" name="" descr="{&quot;isTemplate&quot;:true,&quot;type&quot;:&quot;text&quot;}"/>
          <p:cNvSpPr txBox="1"/>
          <p:nvPr/>
        </p:nvSpPr>
        <p:spPr>
          <a:xfrm rot="0" flipH="0" flipV="0">
            <a:off x="7715250" y="3810000"/>
            <a:ext cx="369570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模型负责</a:t>
            </a:r>
            <a:r>
              <a:rPr lang="zh-CN" sz="1200" b="1">
                <a:solidFill>
                  <a:srgbClr val="4FE0B0"/>
                </a:solidFill>
                <a:latin typeface="Microsoft YaHei"/>
                <a:ea typeface="Microsoft YaHei"/>
              </a:rPr>
              <a:t>提出建议</a:t>
            </a: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，系统负责</a:t>
            </a:r>
            <a:r>
              <a:rPr lang="zh-CN" sz="1200" b="1">
                <a:solidFill>
                  <a:srgbClr val="4FE0B0"/>
                </a:solidFill>
                <a:latin typeface="Microsoft YaHei"/>
                <a:ea typeface="Microsoft YaHei"/>
              </a:rPr>
              <a:t>判断能否执行</a:t>
            </a: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；结果以表单呈现，</a:t>
            </a:r>
            <a:r>
              <a:rPr lang="zh-CN" sz="1200" b="1">
                <a:solidFill>
                  <a:srgbClr val="4FE0B0"/>
                </a:solidFill>
                <a:latin typeface="Microsoft YaHei"/>
                <a:ea typeface="Microsoft YaHei"/>
              </a:rPr>
              <a:t>用户确认后才写入</a:t>
            </a:r>
            <a:r>
              <a:rPr lang="zh-CN" sz="1200">
                <a:solidFill>
                  <a:srgbClr val="E8EEF7"/>
                </a:solidFill>
                <a:latin typeface="Microsoft YaHei"/>
                <a:ea typeface="Microsoft YaHei"/>
              </a:rPr>
              <a:t>——人始终在最终决策位。</a:t>
            </a:r>
            <a:endParaRPr/>
          </a:p>
        </p:txBody>
      </p:sp>
      <p:sp>
        <p:nvSpPr>
          <p:cNvPr id="374" name=""/>
          <p:cNvSpPr/>
          <p:nvPr/>
        </p:nvSpPr>
        <p:spPr>
          <a:xfrm rot="0" flipH="0" flipV="0">
            <a:off x="7543800" y="4667250"/>
            <a:ext cx="4038600" cy="619125"/>
          </a:xfrm>
          <a:custGeom>
            <a:pathLst>
              <a:path w="424" h="65">
                <a:moveTo>
                  <a:pt x="0" y="0"/>
                </a:moveTo>
                <a:lnTo>
                  <a:pt x="424" y="0"/>
                </a:lnTo>
                <a:lnTo>
                  <a:pt x="424" y="1"/>
                </a:lnTo>
                <a:lnTo>
                  <a:pt x="0" y="1"/>
                </a:lnTo>
                <a:close/>
              </a:path>
            </a:pathLst>
          </a:custGeom>
          <a:solidFill>
            <a:srgbClr val="E8EEF7">
              <a:alpha val="12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75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3771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校验优先落库</a:t>
            </a:r>
            <a:r>
              <a:rPr lang="en-US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本作品最关键的设计选择</a:t>
            </a:r>
            <a:endParaRPr/>
          </a:p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11049000" y="8096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核心论点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609600" y="1143000"/>
            <a:ext cx="6667500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E8EEF7">
                    <a:alpha val="80000"/>
                  </a:srgbClr>
                </a:solidFill>
                <a:latin typeface="Microsoft YaHei"/>
                <a:ea typeface="Microsoft YaHei"/>
              </a:rPr>
              <a:t>五类字段全部走白名单：任何一项不合法，要么被过滤，要么回落到默认值。</a:t>
            </a:r>
            <a:endParaRPr/>
          </a:p>
        </p:txBody>
      </p:sp>
      <p:sp>
        <p:nvSpPr>
          <p:cNvPr id="378" name="" descr="{&quot;isTemplate&quot;:true,&quot;type&quot;:&quot;text&quot;}"/>
          <p:cNvSpPr txBox="1"/>
          <p:nvPr/>
        </p:nvSpPr>
        <p:spPr>
          <a:xfrm rot="0" flipH="0" flipV="0">
            <a:off x="8382000" y="3333750"/>
            <a:ext cx="8763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不合法</a:t>
            </a:r>
            <a:r>
              <a:rPr lang="en-US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7543800" y="4791075"/>
            <a:ext cx="4038600" cy="4857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有测试作证据：构造「非法类型</a:t>
            </a:r>
            <a:r>
              <a:rPr lang="en-US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非法时间</a:t>
            </a:r>
            <a:r>
              <a:rPr lang="en-US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越界星期</a:t>
            </a:r>
            <a:r>
              <a:rPr lang="en-US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越界日期」的脏数据，验证全部被正确拦截。</a:t>
            </a:r>
            <a:endParaRPr/>
          </a:p>
        </p:txBody>
      </p:sp>
      <p:sp>
        <p:nvSpPr>
          <p:cNvPr id="380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381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09 / 18</a:t>
            </a:r>
            <a:endParaRPr/>
          </a:p>
        </p:txBody>
      </p:sp>
    </p:spTree>
  </p:cSld>
</p:sld>
</file>

<file path=ppt/slides/slide10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9146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全程不写一行代码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609600" y="1143000"/>
            <a:ext cx="10972800" cy="1981200"/>
          </a:xfrm>
          <a:prstGeom prst="roundRect">
            <a:avLst>
              <a:gd name="adj" fmla="val 5769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819150" y="13525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4FE0B0"/>
                </a:solidFill>
                <a:latin typeface="Consolas"/>
                <a:ea typeface="Consolas"/>
              </a:rPr>
              <a:t>普通用户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819150" y="1590675"/>
            <a:ext cx="2381250" cy="704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E8EEF7"/>
                </a:solidFill>
                <a:latin typeface="Microsoft YaHei"/>
                <a:ea typeface="Microsoft YaHei"/>
              </a:rPr>
              <a:t>装完即用</a:t>
            </a:r>
            <a:endParaRPr/>
          </a:p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E8EEF7"/>
                </a:solidFill>
                <a:latin typeface="Microsoft YaHei"/>
                <a:ea typeface="Microsoft YaHei"/>
              </a:rPr>
              <a:t>零配置、零联网</a:t>
            </a:r>
            <a:endParaRPr/>
          </a:p>
        </p:txBody>
      </p:sp>
      <p:pic>
        <p:nvPicPr>
          <p:cNvPr id="1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467100" y="1352550"/>
            <a:ext cx="4953000" cy="1562100"/>
          </a:xfrm>
          <a:prstGeom prst="rect">
            <a:avLst/>
          </a:prstGeom>
          <a:ln/>
        </p:spPr>
      </p:pic>
      <p:sp>
        <p:nvSpPr>
          <p:cNvPr id="18" name=""/>
          <p:cNvSpPr/>
          <p:nvPr/>
        </p:nvSpPr>
        <p:spPr>
          <a:xfrm rot="0" flipH="0" flipV="0">
            <a:off x="609600" y="3295650"/>
            <a:ext cx="10972800" cy="1981200"/>
          </a:xfrm>
          <a:prstGeom prst="roundRect">
            <a:avLst>
              <a:gd name="adj" fmla="val 5769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819150" y="350520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4FE0B0"/>
                </a:solidFill>
                <a:latin typeface="Consolas"/>
                <a:ea typeface="Consolas"/>
              </a:rPr>
              <a:t>进阶用户（可选）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819150" y="3743325"/>
            <a:ext cx="2381250" cy="704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E8EEF7"/>
                </a:solidFill>
                <a:latin typeface="Microsoft YaHei"/>
                <a:ea typeface="Microsoft YaHei"/>
              </a:rPr>
              <a:t>三格表单</a:t>
            </a:r>
            <a:endParaRPr/>
          </a:p>
          <a:p>
            <a:pPr>
              <a:lnSpc>
                <a:spcPct val="140000"/>
              </a:lnSpc>
            </a:pPr>
            <a:r>
              <a:rPr lang="zh-CN" sz="1650" b="1">
                <a:solidFill>
                  <a:srgbClr val="E8EEF7"/>
                </a:solidFill>
                <a:latin typeface="Microsoft YaHei"/>
                <a:ea typeface="Microsoft YaHei"/>
              </a:rPr>
              <a:t>完成接入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3467100" y="3762375"/>
            <a:ext cx="2533650" cy="1047750"/>
          </a:xfrm>
          <a:prstGeom prst="roundRect">
            <a:avLst>
              <a:gd name="adj" fmla="val 9091"/>
            </a:avLst>
          </a:prstGeom>
          <a:solidFill>
            <a:srgbClr val="E8EEF7">
              <a:alpha val="5000"/>
            </a:srgbClr>
          </a:solidFill>
          <a:ln w="12700">
            <a:solidFill>
              <a:srgbClr val="E8EEF7">
                <a:alpha val="16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619500" y="4133850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/>
                </a:solidFill>
                <a:latin typeface="Consolas"/>
                <a:ea typeface="Consolas"/>
              </a:rPr>
              <a:t>https://api.deepseek.com/…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3619500" y="4600575"/>
            <a:ext cx="571500" cy="76200"/>
          </a:xfrm>
          <a:prstGeom prst="roundRect">
            <a:avLst>
              <a:gd name="adj" fmla="val 50000"/>
            </a:avLst>
          </a:prstGeom>
          <a:solidFill>
            <a:srgbClr val="4FE0B0">
              <a:alpha val="5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4248150" y="4600575"/>
            <a:ext cx="1600200" cy="76200"/>
          </a:xfrm>
          <a:prstGeom prst="roundRect">
            <a:avLst>
              <a:gd name="adj" fmla="val 50000"/>
            </a:avLst>
          </a:prstGeom>
          <a:solidFill>
            <a:srgbClr val="E8EEF7">
              <a:alpha val="12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6153150" y="3762375"/>
            <a:ext cx="2533650" cy="1047750"/>
          </a:xfrm>
          <a:prstGeom prst="roundRect">
            <a:avLst>
              <a:gd name="adj" fmla="val 9091"/>
            </a:avLst>
          </a:prstGeom>
          <a:solidFill>
            <a:srgbClr val="E8EEF7">
              <a:alpha val="5000"/>
            </a:srgbClr>
          </a:solidFill>
          <a:ln w="12700">
            <a:solidFill>
              <a:srgbClr val="E8EEF7">
                <a:alpha val="16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305550" y="4133850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/>
                </a:solidFill>
                <a:latin typeface="Consolas"/>
                <a:ea typeface="Consolas"/>
              </a:rPr>
              <a:t>deepseek-chat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305550" y="4600575"/>
            <a:ext cx="857250" cy="76200"/>
          </a:xfrm>
          <a:prstGeom prst="roundRect">
            <a:avLst>
              <a:gd name="adj" fmla="val 50000"/>
            </a:avLst>
          </a:prstGeom>
          <a:solidFill>
            <a:srgbClr val="4FE0B0">
              <a:alpha val="5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7219950" y="4600575"/>
            <a:ext cx="1314450" cy="76200"/>
          </a:xfrm>
          <a:prstGeom prst="roundRect">
            <a:avLst>
              <a:gd name="adj" fmla="val 50000"/>
            </a:avLst>
          </a:prstGeom>
          <a:solidFill>
            <a:srgbClr val="E8EEF7">
              <a:alpha val="12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8839200" y="3762375"/>
            <a:ext cx="2533650" cy="1047750"/>
          </a:xfrm>
          <a:prstGeom prst="roundRect">
            <a:avLst>
              <a:gd name="adj" fmla="val 9091"/>
            </a:avLst>
          </a:prstGeom>
          <a:solidFill>
            <a:srgbClr val="E8EEF7">
              <a:alpha val="5000"/>
            </a:srgbClr>
          </a:solidFill>
          <a:ln w="12700">
            <a:solidFill>
              <a:srgbClr val="E8EEF7">
                <a:alpha val="16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8991600" y="4133850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050">
                <a:solidFill>
                  <a:srgbClr val="4FE0B0"/>
                </a:solidFill>
                <a:latin typeface="Consolas"/>
                <a:ea typeface="Consolas"/>
              </a:rPr>
              <a:t>•••••••••••••••</a:t>
            </a:r>
            <a:endParaRPr/>
          </a:p>
        </p:txBody>
      </p:sp>
      <p:sp>
        <p:nvSpPr>
          <p:cNvPr id="31" name=""/>
          <p:cNvSpPr/>
          <p:nvPr/>
        </p:nvSpPr>
        <p:spPr>
          <a:xfrm rot="0" flipH="0" flipV="0">
            <a:off x="8991600" y="4600575"/>
            <a:ext cx="1143000" cy="76200"/>
          </a:xfrm>
          <a:prstGeom prst="roundRect">
            <a:avLst>
              <a:gd name="adj" fmla="val 50000"/>
            </a:avLst>
          </a:prstGeom>
          <a:solidFill>
            <a:srgbClr val="4FE0B0">
              <a:alpha val="5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10191750" y="4600575"/>
            <a:ext cx="1028700" cy="76200"/>
          </a:xfrm>
          <a:prstGeom prst="roundRect">
            <a:avLst>
              <a:gd name="adj" fmla="val 50000"/>
            </a:avLst>
          </a:prstGeom>
          <a:solidFill>
            <a:srgbClr val="E8EEF7">
              <a:alpha val="12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09600" y="5448300"/>
            <a:ext cx="10972800" cy="457200"/>
          </a:xfrm>
          <a:prstGeom prst="roundRect">
            <a:avLst>
              <a:gd name="adj" fmla="val 20833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914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低代码</a:t>
            </a:r>
            <a:r>
              <a:rPr lang="en-US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无代码：两档用户，同一套能力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10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819150" y="2400300"/>
            <a:ext cx="2381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不需要账号，不需要密钥，不产生任何费用。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8686800" y="1619250"/>
            <a:ext cx="2686050" cy="3905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en-US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安装应用　→　②</a:t>
            </a:r>
            <a:r>
              <a:rPr lang="en-US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打开即用　→　③</a:t>
            </a:r>
            <a:r>
              <a:rPr lang="en-US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智能体已在工作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8686800" y="2105025"/>
            <a:ext cx="26860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默认即以本机规则引擎模式运行，用户不需要知道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模型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""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接口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""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密钥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这些词。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819150" y="4552950"/>
            <a:ext cx="23812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兼容任意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OpenAI 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格式接口，不限于默认服务商。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619500" y="3895725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接口地址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6305550" y="3895725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模型名称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8991600" y="3895725"/>
            <a:ext cx="2228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API </a:t>
            </a:r>
            <a:r>
              <a:rPr lang="zh-CN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密钥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800100" y="5581650"/>
            <a:ext cx="10591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低代码体现在三处：</a:t>
            </a:r>
            <a:r>
              <a:rPr lang="zh-CN" sz="1200">
                <a:solidFill>
                  <a:srgbClr val="4FE0B0">
                    <a:alpha val="90000"/>
                  </a:srgbClr>
                </a:solidFill>
                <a:latin typeface="Microsoft YaHei"/>
                <a:ea typeface="Microsoft YaHei"/>
              </a:rPr>
              <a:t>可视化配置</a:t>
            </a: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（三格表单完成接入）·</a:t>
            </a:r>
            <a:r>
              <a:rPr lang="zh-CN" sz="1200">
                <a:solidFill>
                  <a:srgbClr val="4FE0B0">
                    <a:alpha val="90000"/>
                  </a:srgbClr>
                </a:solidFill>
                <a:latin typeface="Microsoft YaHei"/>
                <a:ea typeface="Microsoft YaHei"/>
              </a:rPr>
              <a:t>可视化确认</a:t>
            </a: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（解析结果确认后才写入）·</a:t>
            </a:r>
            <a:r>
              <a:rPr lang="zh-CN" sz="1200">
                <a:solidFill>
                  <a:srgbClr val="4FE0B0">
                    <a:alpha val="90000"/>
                  </a:srgbClr>
                </a:solidFill>
                <a:latin typeface="Microsoft YaHei"/>
                <a:ea typeface="Microsoft YaHei"/>
              </a:rPr>
              <a:t>可视化调校</a:t>
            </a: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（弹窗样式实时预览）。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10 / 18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3657600" y="1695450"/>
            <a:ext cx="5143500" cy="790575"/>
          </a:xfrm>
          <a:prstGeom prst="rect"/>
        </p:spPr>
        <p:txBody>
          <a:bodyPr wrap="none" lIns="0" tIns="0" rIns="0" bIns="0"/>
          <a:p>
            <a:pPr>
              <a:lnSpc>
                <a:spcPct val="114999"/>
              </a:lnSpc>
            </a:pPr>
            <a:r>
              <a:rPr lang="zh-CN" sz="4500" b="1">
                <a:solidFill>
                  <a:srgbClr val="E8EEF7"/>
                </a:solidFill>
                <a:latin typeface="Microsoft YaHei"/>
                <a:ea typeface="Microsoft YaHei"/>
              </a:rPr>
              <a:t>工程质量与应用价值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3657600" y="2676525"/>
            <a:ext cx="1047750" cy="381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3657600" y="4229100"/>
            <a:ext cx="5143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spc="150">
                <a:solidFill>
                  <a:srgbClr val="4FE0B0"/>
                </a:solidFill>
                <a:latin typeface="Consolas"/>
                <a:ea typeface="Consolas"/>
              </a:rPr>
              <a:t>P11 – P17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09600" y="1733550"/>
            <a:ext cx="2438400" cy="2628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7250" b="1">
                <a:solidFill>
                  <a:srgbClr val="4FE0B0">
                    <a:alpha val="15000"/>
                  </a:srgbClr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3657600" y="2905125"/>
            <a:ext cx="5143500" cy="11334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用可核验的数字回答一个问题：这不是一个只有演示效果的作品。</a:t>
            </a:r>
            <a:endParaRPr/>
          </a:p>
          <a:p>
            <a:pPr>
              <a:lnSpc>
                <a:spcPct val="165000"/>
              </a:lnSpc>
            </a:pPr>
            <a:r>
              <a:rPr lang="zh-CN" sz="15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最后落到适用场景、创新点与横向对比。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11182350" y="6115050"/>
            <a:ext cx="4000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11 / 18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7432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可靠性由测试保证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609600" y="1743075"/>
            <a:ext cx="4476750" cy="1714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0" b="1">
                <a:solidFill>
                  <a:srgbClr val="4FE0B0"/>
                </a:solidFill>
                <a:latin typeface="Consolas"/>
                <a:ea typeface="Consolas"/>
              </a:rPr>
              <a:t>138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609600" y="3629025"/>
            <a:ext cx="44767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>
                <a:solidFill>
                  <a:srgbClr val="E8EEF7"/>
                </a:solidFill>
                <a:latin typeface="Microsoft YaHei"/>
                <a:ea typeface="Microsoft YaHei"/>
              </a:rPr>
              <a:t>项自动化测试</a:t>
            </a:r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609600" y="4457700"/>
            <a:ext cx="9144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61" name=""/>
          <p:cNvSpPr/>
          <p:nvPr/>
        </p:nvSpPr>
        <p:spPr>
          <a:xfrm rot="0" flipH="0" flipV="0">
            <a:off x="5619750" y="2133600"/>
            <a:ext cx="5962650" cy="628650"/>
          </a:xfrm>
          <a:prstGeom prst="roundRect">
            <a:avLst>
              <a:gd name="adj" fmla="val 15152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5829300" y="234315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前端单元测试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0868025" y="2324100"/>
            <a:ext cx="504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FE0B0"/>
                </a:solidFill>
                <a:latin typeface="Consolas"/>
                <a:ea typeface="Consolas"/>
              </a:rPr>
              <a:t xml:space="preserve">77 </a:t>
            </a:r>
            <a:r>
              <a:rPr lang="zh-CN" sz="1650" b="1">
                <a:solidFill>
                  <a:srgbClr val="4FE0B0"/>
                </a:solidFill>
                <a:latin typeface="Consolas"/>
                <a:ea typeface="Consolas"/>
              </a:rPr>
              <a:t>项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5619750" y="2895600"/>
            <a:ext cx="5962650" cy="628650"/>
          </a:xfrm>
          <a:prstGeom prst="roundRect">
            <a:avLst>
              <a:gd name="adj" fmla="val 15152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829300" y="3105150"/>
            <a:ext cx="10953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Rust </a:t>
            </a: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单元测试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0868025" y="3086100"/>
            <a:ext cx="504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FE0B0"/>
                </a:solidFill>
                <a:latin typeface="Consolas"/>
                <a:ea typeface="Consolas"/>
              </a:rPr>
              <a:t xml:space="preserve">61 </a:t>
            </a:r>
            <a:r>
              <a:rPr lang="zh-CN" sz="1650" b="1">
                <a:solidFill>
                  <a:srgbClr val="4FE0B0"/>
                </a:solidFill>
                <a:latin typeface="Consolas"/>
                <a:ea typeface="Consolas"/>
              </a:rPr>
              <a:t>项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5619750" y="3657600"/>
            <a:ext cx="5962650" cy="628650"/>
          </a:xfrm>
          <a:prstGeom prst="roundRect">
            <a:avLst>
              <a:gd name="adj" fmla="val 15152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5829300" y="3867150"/>
            <a:ext cx="514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通过率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10829925" y="3848100"/>
            <a:ext cx="5429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4FE0B0"/>
                </a:solidFill>
                <a:latin typeface="Consolas"/>
                <a:ea typeface="Consolas"/>
              </a:rPr>
              <a:t>100%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5619750" y="4476750"/>
            <a:ext cx="1895475" cy="438150"/>
          </a:xfrm>
          <a:prstGeom prst="roundRect">
            <a:avLst>
              <a:gd name="adj" fmla="val 21739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7648575" y="4476750"/>
            <a:ext cx="1905000" cy="438150"/>
          </a:xfrm>
          <a:prstGeom prst="roundRect">
            <a:avLst>
              <a:gd name="adj" fmla="val 21739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9686925" y="4476750"/>
            <a:ext cx="1895475" cy="438150"/>
          </a:xfrm>
          <a:prstGeom prst="roundRect">
            <a:avLst>
              <a:gd name="adj" fmla="val 21739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743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不靠演示运气，靠可重复的结果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11049000" y="8096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质量证据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609600" y="4029075"/>
            <a:ext cx="4476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全部通过</a:t>
            </a:r>
            <a:r>
              <a:rPr lang="en-US" sz="12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· 0 </a:t>
            </a:r>
            <a:r>
              <a:rPr lang="zh-CN" sz="127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失败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609600" y="4714875"/>
            <a:ext cx="447675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这个数字意味着：每次改动后全量重跑，新功能不会悄悄破坏既有行为——演示时看到的每个结果都是可复现的。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6067425" y="4610100"/>
            <a:ext cx="1000125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88000"/>
                  </a:srgbClr>
                </a:solidFill>
                <a:latin typeface="Microsoft YaHei"/>
                <a:ea typeface="Microsoft YaHei"/>
              </a:rPr>
              <a:t>双平台构建通过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8172450" y="4610100"/>
            <a:ext cx="857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88000"/>
                  </a:srgbClr>
                </a:solidFill>
                <a:latin typeface="Microsoft YaHei"/>
                <a:ea typeface="Microsoft YaHei"/>
              </a:rPr>
              <a:t>类型全量检查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0210800" y="4610100"/>
            <a:ext cx="857250" cy="1714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88000"/>
                  </a:srgbClr>
                </a:solidFill>
                <a:latin typeface="Microsoft YaHei"/>
                <a:ea typeface="Microsoft YaHei"/>
              </a:rPr>
              <a:t>数据原子写入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12 / 18</a:t>
            </a:r>
            <a:endParaRPr/>
          </a:p>
        </p:txBody>
      </p:sp>
    </p:spTree>
  </p:cSld>
</p:sld>
</file>

<file path=ppt/slides/slide13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8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55054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测什么：容易出错的地方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609600" y="1143000"/>
            <a:ext cx="109728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819150" y="1352550"/>
            <a:ext cx="2381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触发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390900" y="1352550"/>
            <a:ext cx="1143000" cy="381000"/>
          </a:xfrm>
          <a:prstGeom prst="rect">
            <a:avLst/>
          </a:prstGeom>
          <a:ln/>
        </p:spPr>
      </p:pic>
      <p:pic>
        <p:nvPicPr>
          <p:cNvPr id="8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2"/>
              </a:ext>
            </a:extLst>
          </a:blip>
          <a:stretch>
            <a:fillRect/>
          </a:stretch>
        </p:blipFill>
        <p:spPr>
          <a:xfrm rot="0" flipH="0" flipV="0">
            <a:off x="4724400" y="1419225"/>
            <a:ext cx="247650" cy="247650"/>
          </a:xfrm>
          <a:prstGeom prst="rect">
            <a:avLst/>
          </a:prstGeom>
          <a:ln/>
        </p:spPr>
      </p:pic>
      <p:sp>
        <p:nvSpPr>
          <p:cNvPr id="89" name=""/>
          <p:cNvSpPr/>
          <p:nvPr/>
        </p:nvSpPr>
        <p:spPr>
          <a:xfrm rot="0" flipH="0" flipV="0">
            <a:off x="609600" y="2076450"/>
            <a:ext cx="10972800" cy="800100"/>
          </a:xfrm>
          <a:prstGeom prst="roundRect">
            <a:avLst>
              <a:gd name="adj" fmla="val 11905"/>
            </a:avLst>
          </a:prstGeom>
          <a:solidFill>
            <a:srgbClr val="4FE0B0">
              <a:alpha val="10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819150" y="2286000"/>
            <a:ext cx="2381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E8EEF7"/>
                </a:solidFill>
                <a:latin typeface="Microsoft YaHei"/>
                <a:ea typeface="Microsoft YaHei"/>
              </a:rPr>
              <a:t>触发</a:t>
            </a:r>
            <a:r>
              <a:rPr lang="en-US" sz="1350">
                <a:solidFill>
                  <a:srgbClr val="E8EEF7"/>
                </a:solidFill>
                <a:latin typeface="Microsoft YaHei"/>
                <a:ea typeface="Microsoft YaHei"/>
              </a:rPr>
              <a:t xml:space="preserve"> B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819150" y="251460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FE0B0"/>
                </a:solidFill>
                <a:latin typeface="Consolas"/>
                <a:ea typeface="Consolas"/>
              </a:rPr>
              <a:t xml:space="preserve">00:01 </a:t>
            </a:r>
            <a:r>
              <a:rPr lang="zh-CN" sz="1050">
                <a:solidFill>
                  <a:srgbClr val="4FE0B0"/>
                </a:solidFill>
                <a:latin typeface="Consolas"/>
                <a:ea typeface="Consolas"/>
              </a:rPr>
              <a:t>到点</a:t>
            </a:r>
            <a:r>
              <a:rPr lang="en-US" sz="1050">
                <a:solidFill>
                  <a:srgbClr val="4FE0B0"/>
                </a:solidFill>
                <a:latin typeface="Consolas"/>
                <a:ea typeface="Consolas"/>
              </a:rPr>
              <a:t xml:space="preserve"> · </a:t>
            </a:r>
            <a:r>
              <a:rPr lang="zh-CN" sz="1050">
                <a:solidFill>
                  <a:srgbClr val="4FE0B0"/>
                </a:solidFill>
                <a:latin typeface="Consolas"/>
                <a:ea typeface="Consolas"/>
              </a:rPr>
              <a:t>后发生</a:t>
            </a:r>
            <a:endParaRPr/>
          </a:p>
        </p:txBody>
      </p:sp>
      <p:pic>
        <p:nvPicPr>
          <p:cNvPr id="9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3"/>
              </a:ext>
            </a:extLst>
          </a:blip>
          <a:stretch>
            <a:fillRect/>
          </a:stretch>
        </p:blipFill>
        <p:spPr>
          <a:xfrm rot="0" flipH="0" flipV="0">
            <a:off x="3390900" y="2286000"/>
            <a:ext cx="1143000" cy="381000"/>
          </a:xfrm>
          <a:prstGeom prst="rect">
            <a:avLst/>
          </a:prstGeom>
          <a:ln/>
        </p:spPr>
      </p:pic>
      <p:pic>
        <p:nvPicPr>
          <p:cNvPr id="9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4"/>
              </a:ext>
            </a:extLst>
          </a:blip>
          <a:stretch>
            <a:fillRect/>
          </a:stretch>
        </p:blipFill>
        <p:spPr>
          <a:xfrm rot="0" flipH="0" flipV="0">
            <a:off x="4724400" y="2352675"/>
            <a:ext cx="247650" cy="247650"/>
          </a:xfrm>
          <a:prstGeom prst="rect">
            <a:avLst/>
          </a:prstGeom>
          <a:ln/>
        </p:spPr>
      </p:pic>
      <p:sp>
        <p:nvSpPr>
          <p:cNvPr id="94" name=""/>
          <p:cNvSpPr/>
          <p:nvPr/>
        </p:nvSpPr>
        <p:spPr>
          <a:xfrm rot="0" flipH="0" flipV="0">
            <a:off x="609600" y="4000500"/>
            <a:ext cx="3533775" cy="1905000"/>
          </a:xfrm>
          <a:prstGeom prst="roundRect">
            <a:avLst>
              <a:gd name="adj" fmla="val 60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800100" y="4191000"/>
            <a:ext cx="3152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FE0B0"/>
                </a:solidFill>
                <a:latin typeface="Microsoft YaHei"/>
                <a:ea typeface="Microsoft YaHei"/>
              </a:rPr>
              <a:t>时序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4333875" y="4000500"/>
            <a:ext cx="3524250" cy="1905000"/>
          </a:xfrm>
          <a:prstGeom prst="roundRect">
            <a:avLst>
              <a:gd name="adj" fmla="val 60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524375" y="4191000"/>
            <a:ext cx="3143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FE0B0"/>
                </a:solidFill>
                <a:latin typeface="Microsoft YaHei"/>
                <a:ea typeface="Microsoft YaHei"/>
              </a:rPr>
              <a:t>数据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8048625" y="4000500"/>
            <a:ext cx="3533775" cy="1905000"/>
          </a:xfrm>
          <a:prstGeom prst="roundRect">
            <a:avLst>
              <a:gd name="adj" fmla="val 6000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8239125" y="4191000"/>
            <a:ext cx="3152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4FE0B0"/>
                </a:solidFill>
                <a:latin typeface="Microsoft YaHei"/>
                <a:ea typeface="Microsoft YaHei"/>
              </a:rPr>
              <a:t>智能体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5505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测试集中在时序与状态——功能演示时看不出来、但真实使用中一定会踩的坑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13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819150" y="1581150"/>
            <a:ext cx="2381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50000"/>
                  </a:srgbClr>
                </a:solidFill>
                <a:latin typeface="Consolas"/>
                <a:ea typeface="Consolas"/>
              </a:rPr>
              <a:t xml:space="preserve">00:00 </a:t>
            </a:r>
            <a:r>
              <a:rPr lang="zh-CN" sz="1050">
                <a:solidFill>
                  <a:srgbClr val="E8EEF7">
                    <a:alpha val="50000"/>
                  </a:srgbClr>
                </a:solidFill>
                <a:latin typeface="Consolas"/>
                <a:ea typeface="Consolas"/>
              </a:rPr>
              <a:t>到点</a:t>
            </a:r>
            <a:r>
              <a:rPr lang="en-US" sz="1050">
                <a:solidFill>
                  <a:srgbClr val="E8EEF7">
                    <a:alpha val="50000"/>
                  </a:srgbClr>
                </a:solidFill>
                <a:latin typeface="Consolas"/>
                <a:ea typeface="Consolas"/>
              </a:rPr>
              <a:t xml:space="preserve"> · </a:t>
            </a:r>
            <a:r>
              <a:rPr lang="zh-CN" sz="1050">
                <a:solidFill>
                  <a:srgbClr val="E8EEF7">
                    <a:alpha val="50000"/>
                  </a:srgbClr>
                </a:solidFill>
                <a:latin typeface="Consolas"/>
                <a:ea typeface="Consolas"/>
              </a:rPr>
              <a:t>先发生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086350" y="1447800"/>
            <a:ext cx="2124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延迟到达</a:t>
            </a:r>
            <a:r>
              <a:rPr lang="en-US" sz="120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不能覆盖后到的触发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5086350" y="2381250"/>
            <a:ext cx="22764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成为当前弹窗</a:t>
            </a:r>
            <a:r>
              <a:rPr lang="en-US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旧状态被正确丢弃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609600" y="3009900"/>
            <a:ext cx="10972800" cy="25717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12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这类竞态在手动测试里极难复现，只能靠针对性的单元测试守住。同批测试还覆盖：按</a:t>
            </a:r>
            <a:r>
              <a:rPr lang="en-US" sz="112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Escape </a:t>
            </a:r>
            <a:r>
              <a:rPr lang="zh-CN" sz="112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关闭不会重复隐藏前端状态、关机失败时弹窗保留并提供重试。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800100" y="4514850"/>
            <a:ext cx="31527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延迟旧触发不覆盖新触发；弹窗状态机幂等；暂停与恢复不丢轮次。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524375" y="4514850"/>
            <a:ext cx="31432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原子写入中途失败不损坏原文件；导入文件校验；旧版本配置先备份再重建。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8239125" y="4514850"/>
            <a:ext cx="31527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中文时间与周几解析；系统操作识别；云端结果校验；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JSON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提取容错。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13 / 18</a:t>
            </a:r>
            <a:endParaRPr/>
          </a:p>
        </p:txBody>
      </p:sp>
    </p:spTree>
  </p:cSld>
</p:sld>
</file>

<file path=ppt/slides/slide14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1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42887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数据不出本机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609600" y="1143000"/>
            <a:ext cx="3543300" cy="4762500"/>
          </a:xfrm>
          <a:prstGeom prst="roundRect">
            <a:avLst>
              <a:gd name="adj" fmla="val 3763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3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838200" y="1371600"/>
            <a:ext cx="3086100" cy="51435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2550" b="1">
                <a:solidFill>
                  <a:srgbClr val="E8EEF7"/>
                </a:solidFill>
                <a:latin typeface="Microsoft YaHei"/>
                <a:ea typeface="Microsoft YaHei"/>
              </a:rPr>
              <a:t>三个零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838200" y="2095500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4FE0B0"/>
                </a:solidFill>
                <a:latin typeface="Consolas"/>
                <a:ea typeface="Consolas"/>
              </a:rPr>
              <a:t>零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200150" y="2143125"/>
            <a:ext cx="160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账号</a:t>
            </a:r>
            <a:r>
              <a:rPr lang="en-US" sz="1425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无需注册登录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838200" y="2552700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4FE0B0"/>
                </a:solidFill>
                <a:latin typeface="Consolas"/>
                <a:ea typeface="Consolas"/>
              </a:rPr>
              <a:t>零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200150" y="2600325"/>
            <a:ext cx="160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遥测</a:t>
            </a:r>
            <a:r>
              <a:rPr lang="en-US" sz="1425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无埋点无广告</a:t>
            </a:r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838200" y="3009900"/>
            <a:ext cx="2476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4FE0B0"/>
                </a:solidFill>
                <a:latin typeface="Consolas"/>
                <a:ea typeface="Consolas"/>
              </a:rPr>
              <a:t>零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200150" y="3057525"/>
            <a:ext cx="1609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联网</a:t>
            </a:r>
            <a:r>
              <a:rPr lang="en-US" sz="1425">
                <a:solidFill>
                  <a:srgbClr val="E8EEF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425">
                <a:solidFill>
                  <a:srgbClr val="E8EEF7"/>
                </a:solidFill>
                <a:latin typeface="Microsoft YaHei"/>
                <a:ea typeface="Microsoft YaHei"/>
              </a:rPr>
              <a:t>默认完全离线</a:t>
            </a:r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4457700" y="1143000"/>
            <a:ext cx="7124700" cy="2552700"/>
          </a:xfrm>
          <a:prstGeom prst="roundRect">
            <a:avLst>
              <a:gd name="adj" fmla="val 4478"/>
            </a:avLst>
          </a:prstGeom>
          <a:solidFill>
            <a:srgbClr val="E8EEF7">
              <a:alpha val="3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pic>
        <p:nvPicPr>
          <p:cNvPr id="12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4686300" y="1209675"/>
            <a:ext cx="6667500" cy="2190750"/>
          </a:xfrm>
          <a:prstGeom prst="rect">
            <a:avLst/>
          </a:prstGeom>
          <a:ln/>
        </p:spPr>
      </p:pic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772525" y="3476625"/>
            <a:ext cx="1066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/>
                </a:solidFill>
                <a:latin typeface="Microsoft YaHei"/>
                <a:ea typeface="Microsoft YaHei"/>
              </a:rPr>
              <a:t>留在本机（终点）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4457700" y="3867150"/>
            <a:ext cx="7124700" cy="895350"/>
          </a:xfrm>
          <a:prstGeom prst="roundRect">
            <a:avLst>
              <a:gd name="adj" fmla="val 10638"/>
            </a:avLst>
          </a:prstGeom>
          <a:solidFill>
            <a:srgbClr val="4FE0B0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428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隐私不是功能开关，而是默认状态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14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838200" y="5124450"/>
            <a:ext cx="3086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提醒数据、弹窗底图、智能体配置全部保存在本机应用配置目录。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200775" y="3476625"/>
            <a:ext cx="12001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用户输入的那一句话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7686675" y="3476625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本机数据文件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4648200" y="4019550"/>
            <a:ext cx="67437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云端通道是</a:t>
            </a:r>
            <a:r>
              <a:rPr lang="zh-CN" sz="1200">
                <a:solidFill>
                  <a:srgbClr val="4FE0B0">
                    <a:alpha val="90000"/>
                  </a:srgbClr>
                </a:solidFill>
                <a:latin typeface="Microsoft YaHei"/>
                <a:ea typeface="Microsoft YaHei"/>
              </a:rPr>
              <a:t>可选</a:t>
            </a:r>
            <a:r>
              <a:rPr lang="zh-CN" sz="1200">
                <a:solidFill>
                  <a:srgbClr val="E8EEF7">
                    <a:alpha val="90000"/>
                  </a:srgbClr>
                </a:solidFill>
                <a:latin typeface="Microsoft YaHei"/>
                <a:ea typeface="Microsoft YaHei"/>
              </a:rPr>
              <a:t>的：开启后也只发送用户输入的那一句话，不发送锚点列表、设置或设备信息；密钥仅存本机，导出备份也不会带出。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14 / 18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4003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谁在什么时候用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609600" y="1143000"/>
            <a:ext cx="6667500" cy="1085850"/>
          </a:xfrm>
          <a:prstGeom prst="roundRect">
            <a:avLst>
              <a:gd name="adj" fmla="val 10526"/>
            </a:avLst>
          </a:prstGeom>
          <a:solidFill>
            <a:srgbClr val="4FE0B0">
              <a:alpha val="12000"/>
            </a:srgbClr>
          </a:solidFill>
          <a:ln w="12700">
            <a:solidFill>
              <a:srgbClr val="4FE0B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800100" y="1295400"/>
            <a:ext cx="1524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高校机房与实训室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6715125" y="1333500"/>
            <a:ext cx="3714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FE0B0"/>
                </a:solidFill>
                <a:latin typeface="Consolas"/>
                <a:ea typeface="Consolas"/>
              </a:rPr>
              <a:t>主场景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609600" y="2343150"/>
            <a:ext cx="6667500" cy="1085850"/>
          </a:xfrm>
          <a:prstGeom prst="roundRect">
            <a:avLst>
              <a:gd name="adj" fmla="val 1052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800100" y="2495550"/>
            <a:ext cx="6286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备考与自学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609600" y="3543300"/>
            <a:ext cx="6667500" cy="1085850"/>
          </a:xfrm>
          <a:prstGeom prst="roundRect">
            <a:avLst>
              <a:gd name="adj" fmla="val 1052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800100" y="3695700"/>
            <a:ext cx="6286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远程办公与自由职业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609600" y="4743450"/>
            <a:ext cx="6667500" cy="1085850"/>
          </a:xfrm>
          <a:prstGeom prst="roundRect">
            <a:avLst>
              <a:gd name="adj" fmla="val 10526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800100" y="4895850"/>
            <a:ext cx="6286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8EEF7"/>
                </a:solidFill>
                <a:latin typeface="Microsoft YaHei"/>
                <a:ea typeface="Microsoft YaHei"/>
              </a:rPr>
              <a:t>家庭电脑</a:t>
            </a:r>
            <a:endParaRPr/>
          </a:p>
        </p:txBody>
      </p:sp>
      <p:sp>
        <p:nvSpPr>
          <p:cNvPr id="146" name=""/>
          <p:cNvSpPr/>
          <p:nvPr/>
        </p:nvSpPr>
        <p:spPr>
          <a:xfrm rot="0" flipH="0" flipV="0">
            <a:off x="7581900" y="1143000"/>
            <a:ext cx="4000500" cy="2495550"/>
          </a:xfrm>
          <a:prstGeom prst="roundRect">
            <a:avLst>
              <a:gd name="adj" fmla="val 4580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7791450" y="1352550"/>
            <a:ext cx="3581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4FE0B0"/>
                </a:solidFill>
                <a:latin typeface="Consolas"/>
                <a:ea typeface="Consolas"/>
              </a:rPr>
              <a:t>主要用户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7791450" y="1647825"/>
            <a:ext cx="3581400" cy="70485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75" b="1">
                <a:solidFill>
                  <a:srgbClr val="E8EEF7"/>
                </a:solidFill>
                <a:latin typeface="Microsoft YaHei"/>
                <a:ea typeface="Microsoft YaHei"/>
              </a:rPr>
              <a:t>日均在电脑前</a:t>
            </a:r>
            <a:r>
              <a:rPr lang="en-US" sz="1575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 b="1">
                <a:solidFill>
                  <a:srgbClr val="E8EEF7"/>
                </a:solidFill>
                <a:latin typeface="Microsoft YaHei"/>
                <a:ea typeface="Microsoft YaHei"/>
              </a:rPr>
              <a:t>小时以上的</a:t>
            </a:r>
            <a:endParaRPr/>
          </a:p>
          <a:p>
            <a:pPr>
              <a:lnSpc>
                <a:spcPct val="145000"/>
              </a:lnSpc>
            </a:pPr>
            <a:r>
              <a:rPr lang="zh-CN" sz="1575" b="1">
                <a:solidFill>
                  <a:srgbClr val="E8EEF7"/>
                </a:solidFill>
                <a:latin typeface="Microsoft YaHei"/>
                <a:ea typeface="Microsoft YaHei"/>
              </a:rPr>
              <a:t>学生与年轻职场人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7791450" y="3057525"/>
            <a:ext cx="3581400" cy="381000"/>
          </a:xfrm>
          <a:custGeom>
            <a:pathLst>
              <a:path w="376" h="40">
                <a:moveTo>
                  <a:pt x="0" y="0"/>
                </a:moveTo>
                <a:lnTo>
                  <a:pt x="376" y="0"/>
                </a:lnTo>
                <a:lnTo>
                  <a:pt x="376" y="1"/>
                </a:lnTo>
                <a:lnTo>
                  <a:pt x="0" y="1"/>
                </a:lnTo>
                <a:close/>
              </a:path>
            </a:pathLst>
          </a:custGeom>
          <a:solidFill>
            <a:srgbClr val="E8EEF7">
              <a:alpha val="14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50" name=""/>
          <p:cNvSpPr/>
          <p:nvPr/>
        </p:nvSpPr>
        <p:spPr>
          <a:xfrm rot="0" flipH="0" flipV="0">
            <a:off x="7581900" y="3790950"/>
            <a:ext cx="4000500" cy="2114550"/>
          </a:xfrm>
          <a:prstGeom prst="roundRect">
            <a:avLst>
              <a:gd name="adj" fmla="val 54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7791450" y="4000500"/>
            <a:ext cx="3581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spc="150">
                <a:solidFill>
                  <a:srgbClr val="4FE0B0"/>
                </a:solidFill>
                <a:latin typeface="Consolas"/>
                <a:ea typeface="Consolas"/>
              </a:rPr>
              <a:t>次要用户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400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四类场景，一个主要人群</a:t>
            </a:r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15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800100" y="1600200"/>
            <a:ext cx="6286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>
                <a:solidFill>
                  <a:srgbClr val="E8EEF7">
                    <a:alpha val="82000"/>
                  </a:srgbClr>
                </a:solidFill>
                <a:latin typeface="Microsoft YaHei"/>
                <a:ea typeface="Microsoft YaHei"/>
              </a:rPr>
              <a:t>学生长时间上机实训，教师希望统一引入休息节律；弹窗文案可换成校风文案，零账号、零联网，适合机房批量部署。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800100" y="2800350"/>
            <a:ext cx="6286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番茄式节奏但不拘泥于固定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25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分钟：休息间隔与提示语随时可调，语言表达自由，无需迁就关键词模板。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800100" y="4000500"/>
            <a:ext cx="6286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久坐人群需要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到点真正离开屏幕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的约束力：可附加锁屏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关机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重启，触发前有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60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秒可撤销倒计时。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800100" y="5200650"/>
            <a:ext cx="628650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家长为孩子管理电脑使用时段：每天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每周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每月重复锚点，到点弹窗并可锁屏，无需为孩子注册任何账号。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791450" y="2486025"/>
            <a:ext cx="35814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典型画像：知道自己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该休息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，但一进入专注状态就忘记时间；嫌传统提醒工具配置繁琐，更愿意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说一句话</a:t>
            </a:r>
            <a:r>
              <a:rPr lang="en-US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0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7791450" y="3181350"/>
            <a:ext cx="3581400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年龄区间约</a:t>
            </a:r>
            <a:r>
              <a:rPr lang="en-US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 xml:space="preserve"> 18—30 </a:t>
            </a:r>
            <a:r>
              <a:rPr lang="zh-CN" sz="1050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岁。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7791450" y="4257675"/>
            <a:ext cx="3581400" cy="60960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家长（孩子用电脑时段管理）</a:t>
            </a:r>
            <a:endParaRPr/>
          </a:p>
          <a:p>
            <a:pPr>
              <a:lnSpc>
                <a:spcPct val="155000"/>
              </a:lnSpc>
            </a:pP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教师</a:t>
            </a:r>
            <a:r>
              <a:rPr lang="en-US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E8EEF7">
                    <a:alpha val="85000"/>
                  </a:srgbClr>
                </a:solidFill>
                <a:latin typeface="Microsoft YaHei"/>
                <a:ea typeface="Microsoft YaHei"/>
              </a:rPr>
              <a:t>机房管理员（统一休息节律）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15 / 18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27527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五个创新点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609600" y="1143000"/>
            <a:ext cx="3162300" cy="4762500"/>
          </a:xfrm>
          <a:prstGeom prst="roundRect">
            <a:avLst>
              <a:gd name="adj" fmla="val 4217"/>
            </a:avLst>
          </a:prstGeom>
          <a:solidFill>
            <a:srgbClr val="4FE0B0">
              <a:alpha val="8000"/>
            </a:srgbClr>
          </a:solidFill>
          <a:ln w="12700">
            <a:solidFill>
              <a:srgbClr val="4FE0B0">
                <a:alpha val="3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838200" y="1371600"/>
            <a:ext cx="2705100" cy="8382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从交互到工程的</a:t>
            </a:r>
            <a:endParaRPr/>
          </a:p>
          <a:p>
            <a:pPr>
              <a:lnSpc>
                <a:spcPct val="140000"/>
              </a:lnSpc>
            </a:pPr>
            <a:r>
              <a:rPr lang="zh-CN" sz="1950" b="1">
                <a:solidFill>
                  <a:srgbClr val="E8EEF7"/>
                </a:solidFill>
                <a:latin typeface="Microsoft YaHei"/>
                <a:ea typeface="Microsoft YaHei"/>
              </a:rPr>
              <a:t>五个差异点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838200" y="2343150"/>
            <a:ext cx="7620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69" name=""/>
          <p:cNvSpPr/>
          <p:nvPr/>
        </p:nvSpPr>
        <p:spPr>
          <a:xfrm rot="0" flipH="0" flipV="0">
            <a:off x="4114800" y="1143000"/>
            <a:ext cx="74676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4305300" y="131445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4FE0B0"/>
                </a:solidFill>
                <a:latin typeface="Consolas"/>
                <a:ea typeface="Consolas"/>
              </a:rPr>
              <a:t>01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4905375" y="1333500"/>
            <a:ext cx="32099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一句话生成提醒规则</a:t>
            </a:r>
            <a:endParaRPr/>
          </a:p>
        </p:txBody>
      </p:sp>
      <p:sp>
        <p:nvSpPr>
          <p:cNvPr id="172" name=""/>
          <p:cNvSpPr/>
          <p:nvPr/>
        </p:nvSpPr>
        <p:spPr>
          <a:xfrm rot="0" flipH="0" flipV="0">
            <a:off x="4114800" y="2057400"/>
            <a:ext cx="74676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4305300" y="222885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4FE0B0"/>
                </a:solidFill>
                <a:latin typeface="Consolas"/>
                <a:ea typeface="Consolas"/>
              </a:rPr>
              <a:t>02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4905375" y="2247900"/>
            <a:ext cx="3571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云端</a:t>
            </a:r>
            <a:r>
              <a:rPr lang="en-US" sz="1425" b="1">
                <a:solidFill>
                  <a:srgbClr val="E8EEF7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本机双通道</a:t>
            </a:r>
            <a:endParaRPr/>
          </a:p>
        </p:txBody>
      </p:sp>
      <p:sp>
        <p:nvSpPr>
          <p:cNvPr id="175" name=""/>
          <p:cNvSpPr/>
          <p:nvPr/>
        </p:nvSpPr>
        <p:spPr>
          <a:xfrm rot="0" flipH="0" flipV="0">
            <a:off x="4114800" y="2971800"/>
            <a:ext cx="74676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4305300" y="314325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4FE0B0"/>
                </a:solidFill>
                <a:latin typeface="Consolas"/>
                <a:ea typeface="Consolas"/>
              </a:rPr>
              <a:t>03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905375" y="3162300"/>
            <a:ext cx="2895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校验优先的落地设计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4114800" y="3886200"/>
            <a:ext cx="74676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4305300" y="405765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4FE0B0"/>
                </a:solidFill>
                <a:latin typeface="Consolas"/>
                <a:ea typeface="Consolas"/>
              </a:rPr>
              <a:t>04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4905375" y="4076700"/>
            <a:ext cx="38862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人机协同的开发范式</a:t>
            </a:r>
            <a:endParaRPr/>
          </a:p>
        </p:txBody>
      </p:sp>
      <p:sp>
        <p:nvSpPr>
          <p:cNvPr id="181" name=""/>
          <p:cNvSpPr/>
          <p:nvPr/>
        </p:nvSpPr>
        <p:spPr>
          <a:xfrm rot="0" flipH="0" flipV="0">
            <a:off x="4114800" y="4800600"/>
            <a:ext cx="7467600" cy="800100"/>
          </a:xfrm>
          <a:prstGeom prst="roundRect">
            <a:avLst>
              <a:gd name="adj" fmla="val 11905"/>
            </a:avLst>
          </a:prstGeom>
          <a:solidFill>
            <a:srgbClr val="E8EEF7">
              <a:alpha val="4000"/>
            </a:srgbClr>
          </a:solidFill>
          <a:ln w="12700">
            <a:solidFill>
              <a:srgbClr val="E8EEF7">
                <a:alpha val="10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4305300" y="4972050"/>
            <a:ext cx="428625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3000" b="1">
                <a:solidFill>
                  <a:srgbClr val="4FE0B0"/>
                </a:solidFill>
                <a:latin typeface="Consolas"/>
                <a:ea typeface="Consolas"/>
              </a:rPr>
              <a:t>05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4905375" y="4991100"/>
            <a:ext cx="31051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E8EEF7"/>
                </a:solidFill>
                <a:latin typeface="Microsoft YaHei"/>
                <a:ea typeface="Microsoft YaHei"/>
              </a:rPr>
              <a:t>温和的休息倡议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27527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每条都落到一个具体动作，不只是概念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11049000" y="80962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FE0B0">
                    <a:alpha val="80000"/>
                  </a:srgbClr>
                </a:solidFill>
                <a:latin typeface="Consolas"/>
                <a:ea typeface="Consolas"/>
              </a:rPr>
              <a:t>核心创新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838200" y="2505075"/>
            <a:ext cx="27051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前三条解决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好不好用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，第四条回答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怎么做的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，第五条说明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站什么立场</a:t>
            </a:r>
            <a:r>
              <a:rPr lang="en-US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838200" y="5124450"/>
            <a:ext cx="2705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其中第四条是本项目作为</a:t>
            </a:r>
            <a:r>
              <a:rPr lang="en-US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 xml:space="preserve"> AIGC </a:t>
            </a:r>
            <a:r>
              <a:rPr lang="zh-CN" sz="1125">
                <a:solidFill>
                  <a:srgbClr val="E8EEF7">
                    <a:alpha val="60000"/>
                  </a:srgbClr>
                </a:solidFill>
                <a:latin typeface="Microsoft YaHei"/>
                <a:ea typeface="Microsoft YaHei"/>
              </a:rPr>
              <a:t>作品最想强调的开发方式本身。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4905375" y="1590675"/>
            <a:ext cx="32099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意味着：配置门槛从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学一套概念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降到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说一句话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4905375" y="2505075"/>
            <a:ext cx="3571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意味着：既拿到大模型的理解力，又不牺牲离线可用性。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4905375" y="3419475"/>
            <a:ext cx="2895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意味着：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的不确定性被挡在用户数据之外。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4905375" y="433387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意味着：学生独立主导，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辅助实现，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 xml:space="preserve">138 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项测试形成闭环。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905375" y="5248275"/>
            <a:ext cx="3105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意味着：产品立场是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知时而歇</a:t>
            </a:r>
            <a:r>
              <a:rPr lang="en-US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65000"/>
                  </a:srgbClr>
                </a:solidFill>
                <a:latin typeface="Microsoft YaHei"/>
                <a:ea typeface="Microsoft YaHei"/>
              </a:rPr>
              <a:t>，不是效率压榨。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16 / 18</a:t>
            </a:r>
            <a:endParaRPr/>
          </a:p>
        </p:txBody>
      </p:sp>
    </p:spTree>
  </p:cSld>
</p:sld>
</file>

<file path=ppt/slides/slide17.xml><?xml version="1.0" encoding="utf-8"?>
<p:sld xmlns:a16="http://schemas.microsoft.com/office/drawing/2014/main" xmlns:p="http://schemas.openxmlformats.org/presentationml/2006/main" xmlns:a="http://schemas.openxmlformats.org/drawingml/2006/main" xmlns:mc="http://schemas.openxmlformats.org/markup-compatibility/2006" mc:Ignorable="a16">
  <p:cSld>
    <p:spTree>
      <p:nvGrpSpPr>
        <p:cNvPr id="19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09600" y="304800"/>
            <a:ext cx="30480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E8EEF7"/>
                </a:solidFill>
                <a:latin typeface="Microsoft YaHei"/>
                <a:ea typeface="Microsoft YaHei"/>
              </a:rPr>
              <a:t>对比与价值</a:t>
            </a:r>
            <a:endParaRPr/>
          </a:p>
        </p:txBody>
      </p:sp>
      <p:graphicFrame>
        <p:nvGraphicFramePr>
          <p:cNvPr id="198" name=""/>
          <p:cNvGraphicFramePr/>
          <p:nvPr/>
        </p:nvGraphicFramePr>
        <p:xfrm rot="0" flipH="0" flipV="0">
          <a:off x="609600" y="1143000"/>
          <a:ext cx="10972800" cy="2781300"/>
        </p:xfrm>
        <a:graphic>
          <a:graphicData uri="http://schemas.openxmlformats.org/drawingml/2006/table">
            <a:tbl>
              <a:tblGrid>
                <a:gridCol w="3585706">
                  <a:extLst>
                    <a:ext uri="{9D8B030D-6E8A-4147-A177-3AD203B41FA5}">
                      <a16:colId val="1"/>
                    </a:ext>
                  </a:extLst>
                </a:gridCol>
                <a:gridCol w="2237696">
                  <a:extLst>
                    <a:ext uri="{9D8B030D-6E8A-4147-A177-3AD203B41FA5}">
                      <a16:colId val="2"/>
                    </a:ext>
                  </a:extLst>
                </a:gridCol>
                <a:gridCol w="2237696">
                  <a:extLst>
                    <a:ext uri="{9D8B030D-6E8A-4147-A177-3AD203B41FA5}">
                      <a16:colId val="3"/>
                    </a:ext>
                  </a:extLst>
                </a:gridCol>
                <a:gridCol w="291170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对比维度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系统自带提醒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番茄钟类工具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0B1220"/>
                          </a:solidFill>
                          <a:latin typeface="Microsoft YaHei"/>
                          <a:ea typeface="Microsoft YaHei"/>
                        </a:rPr>
                        <a:t>知歇 ZhiXie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4FE0B0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一句话创建提醒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不支持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不支持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离线可用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部分需联网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支持（含智能体）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系统操作 · 锁屏 / 关机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部分支持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不支持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数据本地化 · 无需账号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部分需登录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AI 输出经校验后落库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8EEF7">
                        <a:alpha val="5000"/>
                      </a:srgbClr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97329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跨平台（同一套代码）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各自独立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>
                          <a:solidFill>
                            <a:srgbClr val="E8EEF7"/>
                          </a:solidFill>
                          <a:latin typeface="Microsoft YaHei"/>
                          <a:ea typeface="Microsoft YaHei"/>
                        </a:rPr>
                        <a:t>部分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125" b="1">
                          <a:solidFill>
                            <a:srgbClr val="4FE0B0"/>
                          </a:solidFill>
                          <a:latin typeface="Microsoft YaHei"/>
                          <a:ea typeface="Microsoft YaHei"/>
                        </a:rPr>
                        <a:t>支持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199" name=""/>
          <p:cNvSpPr/>
          <p:nvPr/>
        </p:nvSpPr>
        <p:spPr>
          <a:xfrm rot="0" flipH="0" flipV="0">
            <a:off x="609600" y="4114800"/>
            <a:ext cx="3533775" cy="1790700"/>
          </a:xfrm>
          <a:prstGeom prst="roundRect">
            <a:avLst>
              <a:gd name="adj" fmla="val 6383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781050" y="4286250"/>
            <a:ext cx="319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4FE0B0"/>
                </a:solidFill>
                <a:latin typeface="Microsoft YaHei"/>
                <a:ea typeface="Microsoft YaHei"/>
              </a:rPr>
              <a:t>健康价值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4333875" y="4114800"/>
            <a:ext cx="3524250" cy="1790700"/>
          </a:xfrm>
          <a:prstGeom prst="roundRect">
            <a:avLst>
              <a:gd name="adj" fmla="val 6383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4505325" y="4286250"/>
            <a:ext cx="3181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4FE0B0"/>
                </a:solidFill>
                <a:latin typeface="Microsoft YaHei"/>
                <a:ea typeface="Microsoft YaHei"/>
              </a:rPr>
              <a:t>教育价值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8048625" y="4114800"/>
            <a:ext cx="3533775" cy="1790700"/>
          </a:xfrm>
          <a:prstGeom prst="roundRect">
            <a:avLst>
              <a:gd name="adj" fmla="val 6383"/>
            </a:avLst>
          </a:prstGeom>
          <a:solidFill>
            <a:srgbClr val="E8EEF7">
              <a:alpha val="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8220075" y="4286250"/>
            <a:ext cx="31908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4FE0B0"/>
                </a:solidFill>
                <a:latin typeface="Microsoft YaHei"/>
                <a:ea typeface="Microsoft YaHei"/>
              </a:rPr>
              <a:t>推广价值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609600" y="781050"/>
            <a:ext cx="3048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差异化不在</a:t>
            </a:r>
            <a:r>
              <a:rPr lang="en-US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提醒</a:t>
            </a:r>
            <a:r>
              <a:rPr lang="en-US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200" spc="75">
                <a:solidFill>
                  <a:srgbClr val="E8EEF7">
                    <a:alpha val="55000"/>
                  </a:srgbClr>
                </a:solidFill>
                <a:latin typeface="Microsoft YaHei"/>
                <a:ea typeface="Microsoft YaHei"/>
              </a:rPr>
              <a:t>，而在创建成本与约束力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1430000" y="809625"/>
            <a:ext cx="152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35000"/>
                  </a:srgbClr>
                </a:solidFill>
                <a:latin typeface="Consolas"/>
                <a:ea typeface="Consolas"/>
              </a:rPr>
              <a:t>17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781050" y="4581525"/>
            <a:ext cx="3190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久坐是学生与办公人群的高频健康风险，定时强制休息是最直接的干预手段。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505325" y="4581525"/>
            <a:ext cx="318135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为</a:t>
            </a:r>
            <a:r>
              <a:rPr lang="en-US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"AI </a:t>
            </a: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辅助开发</a:t>
            </a:r>
            <a:r>
              <a:rPr lang="en-US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提供一个可检验的案例：用</a:t>
            </a:r>
            <a:r>
              <a:rPr lang="en-US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把一个人的想法做成工程级作品。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8220075" y="4581525"/>
            <a:ext cx="31908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125">
                <a:solidFill>
                  <a:srgbClr val="E8EEF7">
                    <a:alpha val="72000"/>
                  </a:srgbClr>
                </a:solidFill>
                <a:latin typeface="Microsoft YaHei"/>
                <a:ea typeface="Microsoft YaHei"/>
              </a:rPr>
              <a:t>零账号、默认零联网、零广告，适合机房批量部署与家庭场景推广。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609600" y="6115050"/>
            <a:ext cx="1190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>知歇</a:t>
            </a:r>
            <a:r>
              <a:rPr lang="en-US" sz="1050">
                <a:solidFill>
                  <a:srgbClr val="E8EEF7">
                    <a:alpha val="42000"/>
                  </a:srgbClr>
                </a:solidFill>
                <a:latin typeface="Microsoft YaHei"/>
                <a:ea typeface="Microsoft YaHei"/>
              </a:rPr>
              <a:t xml:space="preserve"> ZhiXie · V1.0.0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11172825" y="6115050"/>
            <a:ext cx="409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E8EEF7">
                    <a:alpha val="42000"/>
                  </a:srgbClr>
                </a:solidFill>
                <a:latin typeface="Consolas"/>
                <a:ea typeface="Consolas"/>
              </a:rPr>
              <a:t>17 / 18</a:t>
            </a:r>
            <a:endParaRPr/>
          </a:p>
        </p:txBody>
      </p:sp>
    </p:spTree>
  </p:cSld>
</p:sld>
</file>

<file path=ppt/slides/slide18.xml><?xml version="1.0" encoding="utf-8"?>
<p:sld xmlns:asvg="http://schemas.microsoft.com/office/drawing/2016/SVG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mc:Ignorable="asvg">
  <p:cSld>
    <p:spTree>
      <p:nvGrpSpPr>
        <p:cNvPr id="21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/>
        </p:spPr>
        <p:txBody>
          <a:bodyPr/>
          <a:p>
            <a:pPr/>
            <a:endParaRPr/>
          </a:p>
        </p:txBody>
      </p:sp>
      <p:pic>
        <p:nvPicPr>
          <p:cNvPr id="2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3619500" y="1362075"/>
            <a:ext cx="4953000" cy="1600200"/>
          </a:xfrm>
          <a:prstGeom prst="rect">
            <a:avLst/>
          </a:prstGeom>
          <a:ln/>
        </p:spPr>
      </p:pic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3524250" y="3171825"/>
            <a:ext cx="514350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200" b="1" spc="300">
                <a:solidFill>
                  <a:srgbClr val="E8EEF7"/>
                </a:solidFill>
                <a:latin typeface="Microsoft YaHei"/>
                <a:ea typeface="Microsoft YaHei"/>
              </a:rPr>
              <a:t>知时而歇，张弛有度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4257675" y="4029075"/>
            <a:ext cx="36861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4FE0B0"/>
                </a:solidFill>
                <a:latin typeface="Microsoft YaHei"/>
                <a:ea typeface="Microsoft YaHei"/>
              </a:rPr>
              <a:t>知歇</a:t>
            </a:r>
            <a:r>
              <a:rPr lang="en-US" sz="1500" spc="150">
                <a:solidFill>
                  <a:srgbClr val="4FE0B0"/>
                </a:solidFill>
                <a:latin typeface="Microsoft YaHei"/>
                <a:ea typeface="Microsoft YaHei"/>
              </a:rPr>
              <a:t xml:space="preserve"> ZhiXie · </a:t>
            </a:r>
            <a:r>
              <a:rPr lang="zh-CN" sz="1500" spc="150">
                <a:solidFill>
                  <a:srgbClr val="4FE0B0"/>
                </a:solidFill>
                <a:latin typeface="Microsoft YaHei"/>
                <a:ea typeface="Microsoft YaHei"/>
              </a:rPr>
              <a:t>会听人话的桌面休息提醒</a:t>
            </a:r>
            <a:endParaRPr/>
          </a:p>
        </p:txBody>
      </p:sp>
      <p:sp>
        <p:nvSpPr>
          <p:cNvPr id="217" name=""/>
          <p:cNvSpPr/>
          <p:nvPr/>
        </p:nvSpPr>
        <p:spPr>
          <a:xfrm rot="0" flipH="0" flipV="0">
            <a:off x="5429250" y="4524375"/>
            <a:ext cx="1333500" cy="28575"/>
          </a:xfrm>
          <a:prstGeom prst="roundRect">
            <a:avLst>
              <a:gd name="adj" fmla="val 66667"/>
            </a:avLst>
          </a:prstGeom>
          <a:gradFill>
            <a:gsLst>
              <a:gs pos="0">
                <a:srgbClr val="4FE0B0"/>
              </a:gs>
              <a:gs pos="100000">
                <a:srgbClr val="2E9E8F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3429000" y="4800600"/>
            <a:ext cx="53435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E8EEF7">
                    <a:alpha val="62000"/>
                  </a:srgbClr>
                </a:solidFill>
                <a:latin typeface="Microsoft YaHei"/>
                <a:ea typeface="Microsoft YaHei"/>
              </a:rPr>
              <a:t>我们希望做的，不是一个催你干活的工具，而是一个提醒你停下来的工具。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4029075" y="5305425"/>
            <a:ext cx="413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spc="75">
                <a:solidFill>
                  <a:srgbClr val="E8EEF7">
                    <a:alpha val="50000"/>
                  </a:srgbClr>
                </a:solidFill>
                <a:latin typeface="Microsoft YaHei"/>
                <a:ea typeface="Microsoft YaHei"/>
              </a:rPr>
              <a:t>创新主赛道 · AIGC 创新组</a:t>
            </a:r>
            <a:endParaRPr lang="zh-CN" sz="1200" spc="75">
              <a:solidFill>
                <a:srgbClr val="E8EEF7">
                  <a:alpha val="50000"/>
                </a:srgbClr>
              </a:solidFill>
              <a:latin typeface="Microsoft YaHei"/>
              <a:ea typeface="Microsoft YaHei"/>
            </a:endParaRP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2026-10-10T15:05:19Z</dcterms:created>
  <dcterms:modified xsi:type="dcterms:W3CDTF">2026-10-10T15:05:19Z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{"AIGC":{"Label":"1","ContentProducer":"00119111010856365494821B355","ProduceID":"0fe1b61f82594c9f9e9ef9fedcbcddc0","ReservedCode1":"","ContentPropagator":"00119111010856365494821B355","PropagateID":"0fe1b61f82594c9f9e9ef9fedcbcddc0","ReservedCode2":""}}</vt:lpwstr>
  </property>
</Properties>
</file>