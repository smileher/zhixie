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29.xml" ContentType="application/vnd.openxmlformats-officedocument.presentationml.slide+xml"/>
  <Override PartName="/ppt/slides/slide6.xml" ContentType="application/vnd.openxmlformats-officedocument.presentationml.slide+xml"/>
  <Override PartName="/ppt/slides/slide13.xml" ContentType="application/vnd.openxmlformats-officedocument.presentationml.slide+xml"/>
  <Override PartName="/ppt/slides/slide30.xml" ContentType="application/vnd.openxmlformats-officedocument.presentationml.slide+xml"/>
  <Override PartName="/ppt/slides/slide11.xml" ContentType="application/vnd.openxmlformats-officedocument.presentationml.slide+xml"/>
  <Override PartName="/ppt/slides/slide23.xml" ContentType="application/vnd.openxmlformats-officedocument.presentationml.slide+xml"/>
  <Override PartName="/ppt/slides/slide19.xml" ContentType="application/vnd.openxmlformats-officedocument.presentationml.slide+xml"/>
  <Override PartName="/docProps/custom.xml" ContentType="application/vnd.openxmlformats-officedocument.custom-properties+xml"/>
  <Override PartName="/ppt/slides/slide38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8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8.xml" ContentType="application/vnd.openxmlformats-officedocument.presentationml.slide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33.xml" ContentType="application/vnd.openxmlformats-officedocument.presentationml.slide+xml"/>
  <Override PartName="/ppt/slides/slide37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slides/slide16.xml" ContentType="application/vnd.openxmlformats-officedocument.presentationml.slide+xml"/>
  <Override PartName="/docProps/core.xml" ContentType="application/vnd.openxmlformats-package.core-properties+xml"/>
  <Override PartName="/ppt/slides/slide36.xml" ContentType="application/vnd.openxmlformats-officedocument.presentationml.slid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s/slide32.xml" ContentType="application/vnd.openxmlformats-officedocument.presentationml.slide+xml"/>
  <Override PartName="/ppt/slides/slide21.xml" ContentType="application/vnd.openxmlformats-officedocument.presentationml.slide+xml"/>
  <Override PartName="/ppt/slides/slide9.xml" ContentType="application/vnd.openxmlformats-officedocument.presentationml.slide+xml"/>
  <Override PartName="/ppt/slides/slide24.xml" ContentType="application/vnd.openxmlformats-officedocument.presentationml.slide+xml"/>
  <Override PartName="/ppt/slides/slide15.xml" ContentType="application/vnd.openxmlformats-officedocument.presentationml.slide+xml"/>
  <Override PartName="/ppt/slides/slide34.xml" ContentType="application/vnd.openxmlformats-officedocument.presentationml.slide+xml"/>
  <Override PartName="/ppt/slideLayouts/slideLayout1.xml" ContentType="application/vnd.openxmlformats-officedocument.presentationml.slideLayout+xml"/>
  <Override PartName="/ppt/tableStyles.xml" ContentType="application/vnd.openxmlformats-officedocument.presentationml.tableStyles+xml"/>
  <Override PartName="/ppt/slides/slide5.xml" ContentType="application/vnd.openxmlformats-officedocument.presentationml.slide+xml"/>
  <Override PartName="/ppt/slides/slide1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/Relationships>
</file>

<file path=ppt/presentation.xml><?xml version="1.0" encoding="utf-8"?>
<p:presentation xmlns:r="http://schemas.openxmlformats.org/officeDocument/2006/relationships" xmlns:p="http://schemas.openxmlformats.org/presentationml/2006/main" xmlns:a="http://schemas.openxmlformats.org/drawing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5" Type="http://schemas.openxmlformats.org/officeDocument/2006/relationships/slide" Target="slides/slide5.xml" /><Relationship Id="rId40" Type="http://schemas.openxmlformats.org/officeDocument/2006/relationships/presProps" Target="presProps.xml" /><Relationship Id="rId39" Type="http://schemas.openxmlformats.org/officeDocument/2006/relationships/notesMaster" Target="notesMasters/notesMaster1.xml" /><Relationship Id="rId38" Type="http://schemas.openxmlformats.org/officeDocument/2006/relationships/slide" Target="slides/slide38.xml" /><Relationship Id="rId37" Type="http://schemas.openxmlformats.org/officeDocument/2006/relationships/slide" Target="slides/slide37.xml" /><Relationship Id="rId36" Type="http://schemas.openxmlformats.org/officeDocument/2006/relationships/slide" Target="slides/slide36.xml" /><Relationship Id="rId35" Type="http://schemas.openxmlformats.org/officeDocument/2006/relationships/slide" Target="slides/slide35.xml" /><Relationship Id="rId32" Type="http://schemas.openxmlformats.org/officeDocument/2006/relationships/slide" Target="slides/slide32.xml" /><Relationship Id="rId31" Type="http://schemas.openxmlformats.org/officeDocument/2006/relationships/slide" Target="slides/slide31.xml" /><Relationship Id="rId8" Type="http://schemas.openxmlformats.org/officeDocument/2006/relationships/slide" Target="slides/slide8.xml" /><Relationship Id="rId3" Type="http://schemas.openxmlformats.org/officeDocument/2006/relationships/slide" Target="slides/slide3.xml" /><Relationship Id="rId28" Type="http://schemas.openxmlformats.org/officeDocument/2006/relationships/slide" Target="slides/slide28.xml" /><Relationship Id="rId42" Type="http://schemas.openxmlformats.org/officeDocument/2006/relationships/viewProps" Target="viewProps.xml" /><Relationship Id="rId27" Type="http://schemas.openxmlformats.org/officeDocument/2006/relationships/slide" Target="slides/slide27.xml" /><Relationship Id="rId20" Type="http://schemas.openxmlformats.org/officeDocument/2006/relationships/slide" Target="slides/slide20.xml" /><Relationship Id="rId29" Type="http://schemas.openxmlformats.org/officeDocument/2006/relationships/slide" Target="slides/slide29.xml" /><Relationship Id="rId4" Type="http://schemas.openxmlformats.org/officeDocument/2006/relationships/slide" Target="slides/slide4.xml" /><Relationship Id="rId26" Type="http://schemas.openxmlformats.org/officeDocument/2006/relationships/slide" Target="slides/slide26.xml" /><Relationship Id="rId33" Type="http://schemas.openxmlformats.org/officeDocument/2006/relationships/slide" Target="slides/slide33.xml" /><Relationship Id="rId17" Type="http://schemas.openxmlformats.org/officeDocument/2006/relationships/slide" Target="slides/slide17.xml" /><Relationship Id="rId25" Type="http://schemas.openxmlformats.org/officeDocument/2006/relationships/slide" Target="slides/slide25.xml" /><Relationship Id="rId41" Type="http://schemas.openxmlformats.org/officeDocument/2006/relationships/tableStyles" Target="tableStyles.xml" /><Relationship Id="rId34" Type="http://schemas.openxmlformats.org/officeDocument/2006/relationships/slide" Target="slides/slide34.xml" /><Relationship Id="rId23" Type="http://schemas.openxmlformats.org/officeDocument/2006/relationships/slide" Target="slides/slide23.xml" /><Relationship Id="rId21" Type="http://schemas.openxmlformats.org/officeDocument/2006/relationships/slide" Target="slides/slide21.xml" /><Relationship Id="rId2" Type="http://schemas.openxmlformats.org/officeDocument/2006/relationships/slide" Target="slides/slide2.xml" /><Relationship Id="rId18" Type="http://schemas.openxmlformats.org/officeDocument/2006/relationships/slide" Target="slides/slide18.xml" /><Relationship Id="rId16" Type="http://schemas.openxmlformats.org/officeDocument/2006/relationships/slide" Target="slides/slide16.xml" /><Relationship Id="rId15" Type="http://schemas.openxmlformats.org/officeDocument/2006/relationships/slide" Target="slides/slide15.xml" /><Relationship Id="rId11" Type="http://schemas.openxmlformats.org/officeDocument/2006/relationships/slide" Target="slides/slide11.xml" /><Relationship Id="rId0" Type="http://schemas.openxmlformats.org/officeDocument/2006/relationships/slideMaster" Target="slideMasters/slideMaster1.xml" /><Relationship Id="rId14" Type="http://schemas.openxmlformats.org/officeDocument/2006/relationships/slide" Target="slides/slide14.xml" /><Relationship Id="rId30" Type="http://schemas.openxmlformats.org/officeDocument/2006/relationships/slide" Target="slides/slide30.xml" /><Relationship Id="rId22" Type="http://schemas.openxmlformats.org/officeDocument/2006/relationships/slide" Target="slides/slide22.xml" /><Relationship Id="rId19" Type="http://schemas.openxmlformats.org/officeDocument/2006/relationships/slide" Target="slides/slide19.xml" /><Relationship Id="rId13" Type="http://schemas.openxmlformats.org/officeDocument/2006/relationships/slide" Target="slides/slide13.xml" /><Relationship Id="rId6" Type="http://schemas.openxmlformats.org/officeDocument/2006/relationships/slide" Target="slides/slide6.xml" /><Relationship Id="rId10" Type="http://schemas.openxmlformats.org/officeDocument/2006/relationships/slide" Target="slides/slide10.xml" /><Relationship Id="rId7" Type="http://schemas.openxmlformats.org/officeDocument/2006/relationships/slide" Target="slides/slide7.xml" /><Relationship Id="rId24" Type="http://schemas.openxmlformats.org/officeDocument/2006/relationships/slide" Target="slides/slide24.xml" /><Relationship Id="rId12" Type="http://schemas.openxmlformats.org/officeDocument/2006/relationships/slide" Target="slides/slide12.xml" /><Relationship Id="rId1" Type="http://schemas.openxmlformats.org/officeDocument/2006/relationships/slide" Target="slides/slide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3" Type="http://schemas.openxmlformats.org/officeDocument/2006/relationships/image" Target="media/image3.svg" /><Relationship Id="rId2" Type="http://schemas.openxmlformats.org/officeDocument/2006/relationships/image" Target="media/image2.svg" /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2" Type="http://schemas.openxmlformats.org/officeDocument/2006/relationships/image" Target="media/image2.svg" /><Relationship Id="rId1" Type="http://schemas.openxmlformats.org/officeDocument/2006/relationships/image" Target="media/image5.svg" /><Relationship Id="rId0" Type="http://schemas.openxmlformats.org/officeDocument/2006/relationships/slideLayout" Target="../slideLayouts/slideLayout1.xml" /></Relationships>
</file>

<file path=ppt/slides/slide1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" name="" descr="&lt;Slide style={{ width: 1280, height: 720, background: '#F5F9FC', padding: '64px 80px', flexDirection: 'row', alignItems: 'center', justifyContent: 'space-between' }}&gt;&#10;    &lt;Box style={{ width: 660, flexDirection: 'column', gap: 20 }}&gt;&#10;        &lt;Box style={{ flexDirection: 'row', alignItems: 'center', gap: 14 }}&gt;&#10;            &lt;svg width={44} height={44} viewBox='0 0 40 40'&gt;&#10;                &lt;circle cx='20' cy='20' r='17' fill='none' stroke='#0D9488' strokeWidth='1' opacity='0.4' /&gt;&#10;                &lt;path d='M28 10 A17 17 0 1 0 28 30' fill='none' stroke='#0D9488' strokeWidth='2.5' /&gt;&#10;                &lt;rect x='15' y='15' width='2.4' height='10' rx='1.2' fill='#0D9488' /&gt;&#10;                &lt;rect x='20' y='15' width='2.4' height='10' rx='1.2' fill='#0D9488' /&gt;&#10;            &lt;/svg&gt;&#10;            &lt;Text style={{ fontSize: 22, color: '#0D9488', opacity: 0.7, letterSpacing: 6 }}&gt;Z H I X I E&lt;/Text&gt;&#10;        &lt;/Box&gt;&#10;        &lt;Text style={{ fontSize: 76, fontWeight: 'bold', color: '#0B1220', lineHeight: 1.15 }}&gt;知歇 &lt;span style={{ color: '#0D9488' }}&gt;ZhiXie&lt;/span&gt;&lt;/Text&gt;&#10;        &lt;Text style={{ fontSize: 30, color: '#0D9488', letterSpacing: 3 }}&gt;知时而歇，张弛有度&lt;/Text&gt;&#10;        &lt;Box style={{ height: 3, width: 120, background: 'linear-gradient(135deg, #4FE0B0 0%, #0D9488 100%)', borderRadius: 2 }} /&gt;&#10;        &lt;Text style={{ fontSize: 28, color: '#0B1220', opacity: 0.78, lineHeight: 1.55 }}&gt;会听人话的桌面休息提醒。&lt;br /&gt;说一句话，它就把提醒设好。&lt;/Text&gt;&#10;        &lt;Box style={{ flexDirection: 'row', alignItems: 'center', gap: 12, marginTop: 8 }}&gt;&#10;            &lt;svg width={26} height={26} viewBox='0 0 22 22'&gt;&#10;                &lt;circle cx='11' cy='11' r='10' fill='rgba(13,148,136,0.12)' stroke='#0D9488' strokeWidth='1.5' /&gt;&#10;                &lt;path d='M6 11 L9.5 14.5 L16 8' fill='none' stroke='#0D9488' strokeWidth='2' /&gt;&#10;            &lt;/svg&gt;&#10;            &lt;Text style={{ fontSize: 26, color: '#0D9488' }}&gt;已经做完 · 官网可直接下载安装&lt;/Text&gt;&#10;        &lt;/Box&gt;&#10;        &lt;Text style={{ fontSize: 22, color: '#0B1220', opacity: 0.5, letterSpacing: 1, marginTop: 8 }}&gt;创新主赛道 · AIGC 创新组&lt;/Text&gt;&#10;    &lt;/Box&gt;&#10;    &lt;Box style={{ width: 420, height: 420, justifyContent: 'center', alignItems: 'center' }}&gt;&#10;        &lt;svg width={420} height={420} viewBox='0 0 440 440'&gt;&#10;            &lt;circle cx='220' cy='220' r='200' fill='rgba(13,148,136,0.05)' /&gt;&#10;            &lt;circle cx='220' cy='220' r='200' fill='none' stroke='#0D9488' strokeWidth='1' opacity='0.22' /&gt;&#10;            &lt;circle cx='220' cy='220' r='146' fill='none' stroke='#0D9488' strokeWidth='1' opacity='0.32' /&gt;&#10;            &lt;circle cx='220' cy='220' r='92' fill='none' stroke='#0D9488' strokeWidth='1.5' opacity='0.5' /&gt;&#10;            &lt;circle cx='220' cy='220' r='5' fill='#0D9488' /&gt;&#10;            &lt;path d='M220 220 L392 112' fill='none' stroke='#0D9488' strokeWidth='2' opacity='0.7' /&gt;&#10;            &lt;path d='M330 128 A200 200 0 0 1 392 214' fill='none' stroke='#4FE0B0' strokeWidth='2.5' opacity='0.9' /&gt;&#10;            &lt;circle cx='392' cy='112' r='4' fill='#0D9488' /&gt;&#10;        &lt;/svg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" y="1104900"/>
            <a:ext cx="419100" cy="419100"/>
          </a:xfrm>
          <a:prstGeom prst="rect">
            <a:avLst/>
          </a:prstGeom>
          <a:ln/>
        </p:spPr>
      </p:pic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62000" y="1714500"/>
            <a:ext cx="6286500" cy="10001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5700" b="1">
                <a:solidFill>
                  <a:srgbClr val="0B1220"/>
                </a:solidFill>
                <a:latin typeface="Microsoft YaHei"/>
                <a:ea typeface="Microsoft YaHei"/>
              </a:rPr>
              <a:t>知歇</a:t>
            </a:r>
            <a:r>
              <a:rPr lang="en-US" sz="5700" b="1">
                <a:solidFill>
                  <a:srgbClr val="0B122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5700" b="1">
                <a:solidFill>
                  <a:srgbClr val="0D9488"/>
                </a:solidFill>
                <a:latin typeface="Microsoft YaHei"/>
                <a:ea typeface="Microsoft YaHei"/>
              </a:rPr>
              <a:t>ZhiXie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2905125"/>
            <a:ext cx="6286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spc="225">
                <a:solidFill>
                  <a:srgbClr val="0D9488"/>
                </a:solidFill>
                <a:latin typeface="Microsoft YaHei"/>
                <a:ea typeface="Microsoft YaHei"/>
              </a:rPr>
              <a:t>知时而歇，张弛有度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762000" y="3438525"/>
            <a:ext cx="11430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0D9488"/>
              </a:gs>
            </a:gsLst>
            <a:lin ang="2700000" scaled="1"/>
          </a:gradFill>
          <a:ln/>
        </p:spPr>
        <p:txBody>
          <a:bodyPr/>
          <a:p/>
        </p:txBody>
      </p:sp>
      <p:pic>
        <p:nvPicPr>
          <p:cNvPr id="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62000" y="4953000"/>
            <a:ext cx="247650" cy="247650"/>
          </a:xfrm>
          <a:prstGeom prst="rect">
            <a:avLst/>
          </a:prstGeom>
          <a:ln/>
        </p:spPr>
      </p:pic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123950" y="4924425"/>
            <a:ext cx="34480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0D9488"/>
                </a:solidFill>
                <a:latin typeface="Microsoft YaHei"/>
                <a:ea typeface="Microsoft YaHei"/>
              </a:rPr>
              <a:t>已经做完</a:t>
            </a:r>
            <a:r>
              <a:rPr lang="en-US" sz="1950">
                <a:solidFill>
                  <a:srgbClr val="0D948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950">
                <a:solidFill>
                  <a:srgbClr val="0D9488"/>
                </a:solidFill>
                <a:latin typeface="Microsoft YaHei"/>
                <a:ea typeface="Microsoft YaHei"/>
              </a:rPr>
              <a:t>官网可直接下载安装</a:t>
            </a:r>
            <a:endParaRPr/>
          </a:p>
        </p:txBody>
      </p:sp>
      <p:pic>
        <p:nvPicPr>
          <p:cNvPr id="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429500" y="1428750"/>
            <a:ext cx="4000500" cy="4000500"/>
          </a:xfrm>
          <a:prstGeom prst="rect">
            <a:avLst/>
          </a:prstGeom>
          <a:ln/>
        </p:spPr>
      </p:pic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1314450" y="1190625"/>
            <a:ext cx="1600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spc="450">
                <a:solidFill>
                  <a:srgbClr val="0D9488">
                    <a:alpha val="70000"/>
                  </a:srgbClr>
                </a:solidFill>
                <a:latin typeface="Microsoft YaHei"/>
                <a:ea typeface="Microsoft YaHei"/>
              </a:rPr>
              <a:t>Z H I X I E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62000" y="3657600"/>
            <a:ext cx="6286500" cy="1000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210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>会听人话的桌面休息提醒。</a:t>
            </a:r>
            <a:endParaRPr/>
          </a:p>
          <a:p>
            <a:pPr>
              <a:lnSpc>
                <a:spcPct val="155000"/>
              </a:lnSpc>
            </a:pPr>
            <a:r>
              <a:rPr lang="zh-CN" sz="210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>说一句话，它就把提醒设好。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62000" y="5495925"/>
            <a:ext cx="6286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创新主赛道</a:t>
            </a:r>
            <a:r>
              <a:rPr lang="en-US" sz="1650" spc="75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 xml:space="preserve"> · AIGC </a:t>
            </a:r>
            <a:r>
              <a:rPr lang="zh-CN" sz="1650" spc="75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创新组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80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目录&lt;/Text&gt;&#10;            &lt;Text style={{ fontSize: 28, color: '#0B1220', opacity: 0.6, letterSpacing: 1 }}&gt;八章主线：从为什么需要，到值不值得&lt;/Text&gt;&#10;        &lt;/Box&gt;&#10;        &lt;Text style={{ fontSize: 22, fontFamily: 'Consolas', color: '#0B1220', opacity: 0.35 }}&gt;02&lt;/Text&gt;&#10;    &lt;/Box&gt;&#10;    &lt;Box style={{ height: 476, flexDirection: 'row', gap: 20 }}&gt;&#10;        &lt;Box style={{ flex: 1, flexDirection: 'column', gap: 12 }}&gt;&#10;            &lt;Box style={{ height: 110, flexDirection: 'row', alignItems: 'center', gap: 18, padding: '0 22px', background: '#FFFFFF', border: '1px solid rgba(11,18,32,0.10)', borderRadius: 12 }}&gt;&#10;                &lt;Text style={{ fontSize: 42, fontWeight: 'bold', fontFamily: 'Consolas', color: '#0D9488', width: 60 }}&gt;01&lt;/Text&gt;&#10;                &lt;Text style={{ fontSize: 30, fontWeight: 'bold', color: '#0B1220', flex: 1 }}&gt;应用场景&lt;/Text&gt;&#10;                &lt;Text style={{ fontSize: 22, color: '#0B1220', opacity: 0.5, fontFamily: 'Consolas' }}&gt;P03–P06&lt;/Text&gt;&#10;            &lt;/Box&gt;&#10;            &lt;Box style={{ height: 110, flexDirection: 'row', alignItems: 'center', gap: 18, padding: '0 22px', background: '#FFFFFF', border: '1px solid rgba(11,18,32,0.10)', borderRadius: 12 }}&gt;&#10;                &lt;Text style={{ fontSize: 42, fontWeight: 'bold', fontFamily: 'Consolas', color: '#0D9488', width: 60 }}&gt;02&lt;/Text&gt;&#10;                &lt;Text style={{ fontSize: 30, fontWeight: 'bold', color: '#0B1220', flex: 1 }}&gt;项目概述&lt;/Text&gt;&#10;                &lt;Text style={{ fontSize: 22, color: '#0B1220', opacity: 0.5, fontFamily: 'Consolas' }}&gt;P07–P11&lt;/Text&gt;&#10;            &lt;/Box&gt;&#10;            &lt;Box style={{ height: 110, flexDirection: 'row', alignItems: 'center', gap: 18, padding: '0 22px', background: '#FFFFFF', border: '1px solid rgba(11,18,32,0.10)', borderRadius: 12 }}&gt;&#10;                &lt;Text style={{ fontSize: 42, fontWeight: 'bold', fontFamily: 'Consolas', color: '#0D9488', width: 60 }}&gt;03&lt;/Text&gt;&#10;                &lt;Text style={{ fontSize: 30, fontWeight: 'bold', color: '#0B1220', flex: 1 }}&gt;目标用户群体&lt;/Text&gt;&#10;                &lt;Text style={{ fontSize: 22, color: '#0B1220', opacity: 0.5, fontFamily: 'Consolas' }}&gt;P12–P15&lt;/Text&gt;&#10;            &lt;/Box&gt;&#10;            &lt;Box style={{ height: 110, flexDirection: 'row', alignItems: 'center', gap: 18, padding: '0 22px', background: '#FFFFFF', border: '1px solid rgba(11,18,32,0.10)', borderRadius: 12 }}&gt;&#10;                &lt;Text style={{ fontSize: 42, fontWeight: 'bold', fontFamily: 'Consolas', color: '#0D9488', width: 60 }}&gt;04&lt;/Text&gt;&#10;                &lt;Text style={{ fontSize: 30, fontWeight: 'bold', color: '#0B1220', flex: 1 }}&gt;智能体开发过程&lt;/Text&gt;&#10;                &lt;Text style={{ fontSize: 22, color: '#0B1220', opacity: 0.5, fontFamily: 'Consolas' }}&gt;P16–P23&lt;/Text&gt;&#10;            &lt;/Box&gt;&#10;        &lt;/Box&gt;&#10;        &lt;Box style={{ flex: 1, flexDirection: 'column', gap: 12 }}&gt;&#10;            &lt;Box style={{ height: 110, flexDirection: 'row', alignItems: 'center', gap: 18, padding: '0 22px', background: '#FFFFFF', border: '1px solid rgba(11,18,32,0.10)', borderRadius: 12 }}&gt;&#10;                &lt;Text style={{ fontSize: 42, fontWeight: 'bold', fontFamily: 'Consolas', color: '#0D9488', width: 60 }}&gt;05&lt;/Text&gt;&#10;                &lt;Text style={{ fontSize: 30, fontWeight: 'bold', color: '#0B1220', flex: 1 }}&gt;实施计划&lt;/Text&gt;&#10;                &lt;Text style={{ fontSize: 22, color: '#0B1220', opacity: 0.5, fontFamily: 'Consolas' }}&gt;P24–P26&lt;/Text&gt;&#10;            &lt;/Box&gt;&#10;            &lt;Box style={{ height: 110, flexDirection: 'row', alignItems: 'center', gap: 18, padding: '0 22px', background: '#FFFFFF', border: '1px solid rgba(11,18,32,0.10)', borderRadius: 12 }}&gt;&#10;                &lt;Text style={{ fontSize: 42, fontWeight: 'bold', fontFamily: 'Consolas', color: '#0D9488', width: 60 }}&gt;06&lt;/Text&gt;&#10;                &lt;Text style={{ fontSize: 30, fontWeight: 'bold', color: '#0B1220', flex: 1 }}&gt;预期成果&lt;/Text&gt;&#10;                &lt;Text style={{ fontSize: 22, color: '#0B1220', opacity: 0.5, fontFamily: 'Consolas' }}&gt;P27–P29&lt;/Text&gt;&#10;            &lt;/Box&gt;&#10;            &lt;Box style={{ height: 110, flexDirection: 'row', alignItems: 'center', gap: 18, padding: '0 22px', background: 'rgba(79,224,176,0.16)', border: '1px solid rgba(13,148,136,0.35)', borderRadius: 12 }}&gt;&#10;                &lt;Text style={{ fontSize: 42, fontWeight: 'bold', fontFamily: 'Consolas', color: '#0D9488', width: 60 }}&gt;07&lt;/Text&gt;&#10;                &lt;Text style={{ fontSize: 30, fontWeight: 'bold', color: '#0B1220', flex: 1 }}&gt;创新点&lt;/Text&gt;&#10;                &lt;Text style={{ fontSize: 22, color: '#0B1220', opacity: 0.5, fontFamily: 'Consolas' }}&gt;P30–P35&lt;/Text&gt;&#10;            &lt;/Box&gt;&#10;            &lt;Box style={{ height: 110, flexDirection: 'row', alignItems: 'center', gap: 18, padding: '0 22px', background: '#FFFFFF', border: '1px solid rgba(11,18,32,0.10)', borderRadius: 12 }}&gt;&#10;                &lt;Text style={{ fontSize: 42, fontWeight: 'bold', fontFamily: 'Consolas', color: '#0D9488', width: 60 }}&gt;08&lt;/Text&gt;&#10;                &lt;Text style={{ fontSize: 30, fontWeight: 'bold', color: '#0B1220', flex: 1 }}&gt;应用价值&lt;/Text&gt;&#10;                &lt;Text style={{ fontSize: 22, color: '#0B1220', opacity: 0.5, fontFamily: 'Consolas' }}&gt;P36–P38&lt;/Text&gt;&#10;            &lt;/Box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02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69582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609600" y="1371600"/>
            <a:ext cx="53911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819150" y="1657350"/>
            <a:ext cx="57150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0D9488"/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1562100" y="1724025"/>
            <a:ext cx="31908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B1220"/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609600" y="2533650"/>
            <a:ext cx="53911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819150" y="2819400"/>
            <a:ext cx="57150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0D9488"/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1562100" y="2886075"/>
            <a:ext cx="3209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B1220"/>
                </a:solidFill>
                <a:latin typeface="Microsoft YaHei"/>
                <a:ea typeface="Microsoft YaHei"/>
              </a:rPr>
              <a:t>项目概述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609600" y="3695700"/>
            <a:ext cx="53911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819150" y="3981450"/>
            <a:ext cx="57150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0D9488"/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1562100" y="4048125"/>
            <a:ext cx="31908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B1220"/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609600" y="4857750"/>
            <a:ext cx="53911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819150" y="5143500"/>
            <a:ext cx="57150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0D9488"/>
                </a:solidFill>
                <a:latin typeface="Consolas"/>
                <a:ea typeface="Consolas"/>
              </a:rPr>
              <a:t>04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1562100" y="5210175"/>
            <a:ext cx="31908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B1220"/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6191250" y="1371600"/>
            <a:ext cx="53911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6400800" y="1657350"/>
            <a:ext cx="57150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0D9488"/>
                </a:solidFill>
                <a:latin typeface="Consolas"/>
                <a:ea typeface="Consolas"/>
              </a:rPr>
              <a:t>05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7143750" y="1724025"/>
            <a:ext cx="31908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B1220"/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6191250" y="2533650"/>
            <a:ext cx="53911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6400800" y="2819400"/>
            <a:ext cx="57150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0D9488"/>
                </a:solidFill>
                <a:latin typeface="Consolas"/>
                <a:ea typeface="Consolas"/>
              </a:rPr>
              <a:t>06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7143750" y="2886075"/>
            <a:ext cx="31908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B1220"/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6191250" y="3695700"/>
            <a:ext cx="5391150" cy="1047750"/>
          </a:xfrm>
          <a:prstGeom prst="roundRect">
            <a:avLst>
              <a:gd name="adj" fmla="val 10909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6400800" y="3981450"/>
            <a:ext cx="57150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0D9488"/>
                </a:solidFill>
                <a:latin typeface="Consolas"/>
                <a:ea typeface="Consolas"/>
              </a:rPr>
              <a:t>07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7143750" y="4048125"/>
            <a:ext cx="31908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B1220"/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6191250" y="4857750"/>
            <a:ext cx="53911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6400800" y="5143500"/>
            <a:ext cx="57150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0D9488"/>
                </a:solidFill>
                <a:latin typeface="Consolas"/>
                <a:ea typeface="Consolas"/>
              </a:rPr>
              <a:t>08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7143750" y="5210175"/>
            <a:ext cx="31908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B1220"/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6958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八章主线：从为什么需要，到值不值得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4924425" y="1771650"/>
            <a:ext cx="866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50000"/>
                  </a:srgbClr>
                </a:solidFill>
                <a:latin typeface="Consolas"/>
                <a:ea typeface="Consolas"/>
              </a:rPr>
              <a:t>P03–P06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4943475" y="2933700"/>
            <a:ext cx="8477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50000"/>
                  </a:srgbClr>
                </a:solidFill>
                <a:latin typeface="Consolas"/>
                <a:ea typeface="Consolas"/>
              </a:rPr>
              <a:t>P07–P11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4924425" y="4095750"/>
            <a:ext cx="866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50000"/>
                  </a:srgbClr>
                </a:solidFill>
                <a:latin typeface="Consolas"/>
                <a:ea typeface="Consolas"/>
              </a:rPr>
              <a:t>P12–P15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4924425" y="5257800"/>
            <a:ext cx="866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50000"/>
                  </a:srgbClr>
                </a:solidFill>
                <a:latin typeface="Consolas"/>
                <a:ea typeface="Consolas"/>
              </a:rPr>
              <a:t>P16–P23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0506075" y="1771650"/>
            <a:ext cx="866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50000"/>
                  </a:srgbClr>
                </a:solidFill>
                <a:latin typeface="Consolas"/>
                <a:ea typeface="Consolas"/>
              </a:rPr>
              <a:t>P24–P26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10506075" y="2933700"/>
            <a:ext cx="866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50000"/>
                  </a:srgbClr>
                </a:solidFill>
                <a:latin typeface="Consolas"/>
                <a:ea typeface="Consolas"/>
              </a:rPr>
              <a:t>P27–P29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10506075" y="4095750"/>
            <a:ext cx="866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50000"/>
                  </a:srgbClr>
                </a:solidFill>
                <a:latin typeface="Consolas"/>
                <a:ea typeface="Consolas"/>
              </a:rPr>
              <a:t>P30–P35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10506075" y="5257800"/>
            <a:ext cx="866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50000"/>
                  </a:srgbClr>
                </a:solidFill>
                <a:latin typeface="Consolas"/>
                <a:ea typeface="Consolas"/>
              </a:rPr>
              <a:t>P36–P38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02 / 38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421" name="" descr="&lt;Slide style={{ width: 1280, height: 720, background: '#F5F9FC', padding: '20px 64px' }}&gt;&#10;    &lt;Box style={{ height: 600, flexDirection: 'row', alignItems: 'center', gap: 64 }}&gt;&#10;        &lt;Text style={{ fontSize: 230, fontWeight: 'bold', fontFamily: 'Consolas', color: '#0D9488', opacity: 0.18, lineHeight: 1 }}&gt;01&lt;/Text&gt;&#10;        &lt;Box style={{ flexDirection: 'column', gap: 22, width: 640 }}&gt;&#10;            &lt;Text style={{ fontSize: 64, fontWeight: 'bold', color: '#0B1220', lineHeight: 1.15 }}&gt;应用场景&lt;/Text&gt;&#10;            &lt;Box style={{ height: 4, width: 120, background: 'linear-gradient(135deg, #4FE0B0 0%, #0D9488 100%)', borderRadius: 2 }} /&gt;&#10;            &lt;Text style={{ fontSize: 30, color: '#0B1220', opacity: 0.72, lineHeight: 1.6 }}&gt;先讲清楚：&lt;br /&gt;谁会在什么情况下需要它。&lt;/Text&gt;&#10;            &lt;Text style={{ fontSize: 24, fontFamily: 'Consolas', color: '#0D9488', letterSpacing: 2 }}&gt;P03 – P06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03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3657600" y="1600200"/>
            <a:ext cx="60960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0B1220"/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424" name=""/>
          <p:cNvSpPr/>
          <p:nvPr/>
        </p:nvSpPr>
        <p:spPr>
          <a:xfrm rot="0" flipH="0" flipV="0">
            <a:off x="3657600" y="2657475"/>
            <a:ext cx="1143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4FE0B0"/>
              </a:gs>
              <a:gs pos="100000">
                <a:srgbClr val="0D948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3657600" y="4219575"/>
            <a:ext cx="6096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150">
                <a:solidFill>
                  <a:srgbClr val="0D9488"/>
                </a:solidFill>
                <a:latin typeface="Consolas"/>
                <a:ea typeface="Consolas"/>
              </a:rPr>
              <a:t>P03 – P06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609600" y="1733550"/>
            <a:ext cx="2438400" cy="2628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0" b="1">
                <a:solidFill>
                  <a:srgbClr val="0D9488">
                    <a:alpha val="18000"/>
                  </a:srgbClr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3657600" y="2905125"/>
            <a:ext cx="6096000" cy="11049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22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先讲清楚：</a:t>
            </a:r>
            <a:endParaRPr/>
          </a:p>
          <a:p>
            <a:pPr>
              <a:lnSpc>
                <a:spcPct val="160000"/>
              </a:lnSpc>
            </a:pPr>
            <a:r>
              <a:rPr lang="zh-CN" sz="22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谁会在什么情况下需要它。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03 / 38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581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一坐就是三四个小时&lt;/Text&gt;&#10;            &lt;Text style={{ fontSize: 28, color: '#0B1220', opacity: 0.6, letterSpacing: 1 }}&gt;不是不想休息，是一进入专注就忘了时间&lt;/Text&gt;&#10;        &lt;/Box&gt;&#10;        &lt;Text style={{ fontSize: 22, fontFamily: 'Consolas', color: '#0B1220', opacity: 0.35 }}&gt;04&lt;/Text&gt;&#10;    &lt;/Box&gt;&#10;    &lt;Box style={{ height: 476, flexDirection: 'row', gap: 40, alignItems: 'center' }}&gt;&#10;        &lt;Box style={{ width: 560, height: 420, flexDirection: 'column', justifyContent: 'center', alignItems: 'center', gap: 12, background: 'rgba(13,148,136,0.07)', border: '2px dashed rgba(13,148,136,0.5)', borderRadius: 12, padding: '0 20px' }}&gt;&#10;            &lt;Text style={{ fontSize: 22, fontFamily: 'Consolas', color: '#0D9488', letterSpacing: 1 }}&gt;截图 ①&lt;/Text&gt;&#10;            &lt;Text style={{ fontSize: 28, fontWeight: 'bold', color: '#0B1220', textAlign: 'center' }}&gt;长时间用电脑的画面&lt;/Text&gt;&#10;            &lt;Text style={{ fontSize: 22, color: '#0B1220', opacity: 0.5, textAlign: 'center', lineHeight: 1.6 }}&gt;建议画面：能说明&quot;连续用了几小时&quot;的&lt;br /&gt;界面或计时画面&lt;br /&gt;（也可用系统的屏幕使用时间统计）&lt;/Text&gt;&#10;        &lt;/Box&gt;&#10;        &lt;Box style={{ flex: 1, flexDirection: 'column', gap: 18, justifyContent: 'center' }}&gt;&#10;            &lt;Text style={{ fontSize: 36, fontWeight: 'bold', color: '#0D9488', lineHeight: 1.4 }}&gt;您上一次连续坐在电脑前，&lt;br /&gt;是多久？&lt;/Text&gt;&#10;            &lt;Text style={{ fontSize: 28, color: '#0B1220', opacity: 0.8, lineHeight: 1.5 }}&gt;一进入专注，时间感就没了。&lt;/Text&gt;&#10;            &lt;Text style={{ fontSize: 28, color: '#0B1220', opacity: 0.8, lineHeight: 1.5 }}&gt;身体一直在发信号，只是被忽略。&lt;/Text&gt;&#10;            &lt;Box style={{ padding: '18px 22px', background: 'rgba(79,224,176,0.16)', border: '1px solid rgba(13,148,136,0.35)', borderRadius: 12 }}&gt;&#10;                &lt;Text style={{ fontSize: 28, color: '#0B1220', lineHeight: 1.5 }}&gt;谁能用上：&lt;span style={{ color: '#0D9488', fontWeight: 'bold' }}&gt;学生、久坐办公的人&lt;/span&gt;&lt;/Text&gt;&#10;            &lt;/Box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04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9720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一坐就是三四个小时</a:t>
            </a:r>
            <a:endParaRPr/>
          </a:p>
        </p:txBody>
      </p:sp>
      <p:sp>
        <p:nvSpPr>
          <p:cNvPr id="584" name=""/>
          <p:cNvSpPr/>
          <p:nvPr/>
        </p:nvSpPr>
        <p:spPr>
          <a:xfrm rot="0" flipH="0" flipV="0">
            <a:off x="609600" y="1638300"/>
            <a:ext cx="5334000" cy="4000500"/>
          </a:xfrm>
          <a:prstGeom prst="roundRect">
            <a:avLst>
              <a:gd name="adj" fmla="val 2857"/>
            </a:avLst>
          </a:prstGeom>
          <a:solidFill>
            <a:srgbClr val="0D9488">
              <a:alpha val="7000"/>
            </a:srgbClr>
          </a:solidFill>
          <a:ln w="25400">
            <a:solidFill>
              <a:srgbClr val="0D9488">
                <a:alpha val="50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2914650" y="2628900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0D9488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0D9488"/>
                </a:solidFill>
                <a:latin typeface="Consolas"/>
                <a:ea typeface="Consolas"/>
              </a:rPr>
              <a:t xml:space="preserve"> ①</a:t>
            </a:r>
            <a:endParaRPr/>
          </a:p>
        </p:txBody>
      </p:sp>
      <p:sp>
        <p:nvSpPr>
          <p:cNvPr id="586" name="" descr="{&quot;isTemplate&quot;:true,&quot;type&quot;:&quot;text&quot;}"/>
          <p:cNvSpPr txBox="1"/>
          <p:nvPr/>
        </p:nvSpPr>
        <p:spPr>
          <a:xfrm rot="0" flipH="0" flipV="0">
            <a:off x="2076450" y="3000375"/>
            <a:ext cx="24003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0B1220"/>
                </a:solidFill>
                <a:latin typeface="Microsoft YaHei"/>
                <a:ea typeface="Microsoft YaHei"/>
              </a:rPr>
              <a:t>长时间用电脑的画面</a:t>
            </a:r>
            <a:endParaRPr/>
          </a:p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6324600" y="1905000"/>
            <a:ext cx="5257800" cy="11525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您上一次连续坐在电脑前，</a:t>
            </a:r>
            <a:endParaRPr/>
          </a:p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是多久？</a:t>
            </a:r>
            <a:endParaRPr/>
          </a:p>
        </p:txBody>
      </p:sp>
      <p:sp>
        <p:nvSpPr>
          <p:cNvPr id="588" name=""/>
          <p:cNvSpPr/>
          <p:nvPr/>
        </p:nvSpPr>
        <p:spPr>
          <a:xfrm rot="0" flipH="0" flipV="0">
            <a:off x="6324600" y="4543425"/>
            <a:ext cx="5257800" cy="828675"/>
          </a:xfrm>
          <a:prstGeom prst="roundRect">
            <a:avLst>
              <a:gd name="adj" fmla="val 13793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6534150" y="4714875"/>
            <a:ext cx="48387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谁能用上：</a:t>
            </a:r>
            <a:r>
              <a:rPr lang="zh-CN" sz="2100" b="1">
                <a:solidFill>
                  <a:srgbClr val="0D9488"/>
                </a:solidFill>
                <a:latin typeface="Microsoft YaHei"/>
                <a:ea typeface="Microsoft YaHei"/>
              </a:rPr>
              <a:t>学生、久坐办公的人</a:t>
            </a:r>
            <a:endParaRPr/>
          </a:p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9720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不是不想休息，是一进入专注就忘了时间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04</a:t>
            </a:r>
            <a:endParaRPr/>
          </a:p>
        </p:txBody>
      </p:sp>
      <p:sp>
        <p:nvSpPr>
          <p:cNvPr id="592" name="" descr="{&quot;isTemplate&quot;:true,&quot;type&quot;:&quot;text&quot;}"/>
          <p:cNvSpPr txBox="1"/>
          <p:nvPr/>
        </p:nvSpPr>
        <p:spPr>
          <a:xfrm rot="0" flipH="0" flipV="0">
            <a:off x="1524000" y="3438525"/>
            <a:ext cx="3505200" cy="120967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建议画面：能说明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连续用了几小时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的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界面或计时画面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（也可用系统的屏幕使用时间统计）</a:t>
            </a:r>
            <a:endParaRPr/>
          </a:p>
        </p:txBody>
      </p:sp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6324600" y="3228975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一进入专注，时间感就没了。</a:t>
            </a:r>
            <a:endParaRPr/>
          </a:p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6324600" y="3886200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身体一直在发信号，只是被忽略。</a:t>
            </a:r>
            <a:endParaRPr/>
          </a:p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597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身体先扛不住的，是眼睛和脖子&lt;/Text&gt;&#10;            &lt;Text style={{ fontSize: 28, color: '#0B1220', opacity: 0.6, letterSpacing: 1 }}&gt;久坐办公人群，一天里最缺的就是&quot;停一下&quot;&lt;/Text&gt;&#10;        &lt;/Box&gt;&#10;        &lt;Text style={{ fontSize: 22, fontFamily: 'Consolas', color: '#0B1220', opacity: 0.35 }}&gt;05&lt;/Text&gt;&#10;    &lt;/Box&gt;&#10;    &lt;Box style={{ height: 476, flexDirection: 'row', gap: 40, alignItems: 'center' }}&gt;&#10;        &lt;Box style={{ width: 560, height: 420, flexDirection: 'column', justifyContent: 'center', alignItems: 'center', gap: 12, background: 'rgba(13,148,136,0.07)', border: '2px dashed rgba(13,148,136,0.5)', borderRadius: 12, padding: '0 20px' }}&gt;&#10;            &lt;Text style={{ fontSize: 22, fontFamily: 'Consolas', color: '#0D9488', letterSpacing: 1 }}&gt;截图 ②&lt;/Text&gt;&#10;            &lt;Text style={{ fontSize: 28, fontWeight: 'bold', color: '#0B1220', textAlign: 'center' }}&gt;职场久坐办公画面&lt;/Text&gt;&#10;            &lt;Text style={{ fontSize: 22, color: '#0B1220', opacity: 0.5, textAlign: 'center', lineHeight: 1.6 }}&gt;建议画面：伏案工作的桌面或工位&lt;br /&gt;（程序、文案、设计等长期面对屏幕的角色）&lt;/Text&gt;&#10;        &lt;/Box&gt;&#10;        &lt;Box style={{ flex: 1, flexDirection: 'column', gap: 18, justifyContent: 'center' }}&gt;&#10;            &lt;Text style={{ fontSize: 36, fontWeight: 'bold', color: '#0D9488', lineHeight: 1.4 }}&gt;盯着屏幕久了，&lt;br /&gt;人会习惯性硬撑。&lt;/Text&gt;&#10;            &lt;Text style={{ fontSize: 28, color: '#0B1220', opacity: 0.8, lineHeight: 1.5 }}&gt;视疲劳、肩颈僵硬，都是慢性的。&lt;/Text&gt;&#10;            &lt;Text style={{ fontSize: 28, color: '#0B1220', opacity: 0.8, lineHeight: 1.5 }}&gt;不是靠意志力，而是靠一个提醒。&lt;/Text&gt;&#10;            &lt;Box style={{ padding: '18px 22px', background: 'rgba(79,224,176,0.16)', border: '1px solid rgba(13,148,136,0.35)', borderRadius: 12 }}&gt;&#10;                &lt;Text style={{ fontSize: 28, color: '#0B1220', lineHeight: 1.5 }}&gt;提醒的意义：&lt;span style={{ color: '#0D9488', fontWeight: 'bold' }}&gt;把&quot;该歇了&quot;说出口&lt;/span&gt;&lt;/Text&gt;&#10;            &lt;/Box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05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599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61341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身体先扛不住的，是眼睛和脖子</a:t>
            </a:r>
            <a:endParaRPr/>
          </a:p>
        </p:txBody>
      </p:sp>
      <p:sp>
        <p:nvSpPr>
          <p:cNvPr id="600" name=""/>
          <p:cNvSpPr/>
          <p:nvPr/>
        </p:nvSpPr>
        <p:spPr>
          <a:xfrm rot="0" flipH="0" flipV="0">
            <a:off x="609600" y="1638300"/>
            <a:ext cx="5334000" cy="4000500"/>
          </a:xfrm>
          <a:prstGeom prst="roundRect">
            <a:avLst>
              <a:gd name="adj" fmla="val 2857"/>
            </a:avLst>
          </a:prstGeom>
          <a:solidFill>
            <a:srgbClr val="0D9488">
              <a:alpha val="7000"/>
            </a:srgbClr>
          </a:solidFill>
          <a:ln w="25400">
            <a:solidFill>
              <a:srgbClr val="0D9488">
                <a:alpha val="50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601" name="" descr="{&quot;isTemplate&quot;:true,&quot;type&quot;:&quot;text&quot;}"/>
          <p:cNvSpPr txBox="1"/>
          <p:nvPr/>
        </p:nvSpPr>
        <p:spPr>
          <a:xfrm rot="0" flipH="0" flipV="0">
            <a:off x="2914650" y="2828925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0D9488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0D9488"/>
                </a:solidFill>
                <a:latin typeface="Consolas"/>
                <a:ea typeface="Consolas"/>
              </a:rPr>
              <a:t xml:space="preserve"> ②</a:t>
            </a:r>
            <a:endParaRPr/>
          </a:p>
        </p:txBody>
      </p:sp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2209800" y="3200400"/>
            <a:ext cx="21336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0B1220"/>
                </a:solidFill>
                <a:latin typeface="Microsoft YaHei"/>
                <a:ea typeface="Microsoft YaHei"/>
              </a:rPr>
              <a:t>职场久坐办公画面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6324600" y="1905000"/>
            <a:ext cx="5257800" cy="11525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盯着屏幕久了，</a:t>
            </a:r>
            <a:endParaRPr/>
          </a:p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人会习惯性硬撑。</a:t>
            </a:r>
            <a:endParaRPr/>
          </a:p>
        </p:txBody>
      </p:sp>
      <p:sp>
        <p:nvSpPr>
          <p:cNvPr id="604" name=""/>
          <p:cNvSpPr/>
          <p:nvPr/>
        </p:nvSpPr>
        <p:spPr>
          <a:xfrm rot="0" flipH="0" flipV="0">
            <a:off x="6324600" y="4543425"/>
            <a:ext cx="5257800" cy="828675"/>
          </a:xfrm>
          <a:prstGeom prst="roundRect">
            <a:avLst>
              <a:gd name="adj" fmla="val 13793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5" name="" descr="{&quot;isTemplate&quot;:true,&quot;type&quot;:&quot;text&quot;}"/>
          <p:cNvSpPr txBox="1"/>
          <p:nvPr/>
        </p:nvSpPr>
        <p:spPr>
          <a:xfrm rot="0" flipH="0" flipV="0">
            <a:off x="6534150" y="4714875"/>
            <a:ext cx="48387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提醒的意义：</a:t>
            </a:r>
            <a:r>
              <a:rPr lang="zh-CN" sz="2100" b="1">
                <a:solidFill>
                  <a:srgbClr val="0D9488"/>
                </a:solidFill>
                <a:latin typeface="Microsoft YaHei"/>
                <a:ea typeface="Microsoft YaHei"/>
              </a:rPr>
              <a:t>把</a:t>
            </a:r>
            <a:r>
              <a:rPr lang="en-US" sz="2100" b="1">
                <a:solidFill>
                  <a:srgbClr val="0D9488"/>
                </a:solidFill>
                <a:latin typeface="Microsoft YaHei"/>
                <a:ea typeface="Microsoft YaHei"/>
              </a:rPr>
              <a:t>"</a:t>
            </a:r>
            <a:r>
              <a:rPr lang="zh-CN" sz="2100" b="1">
                <a:solidFill>
                  <a:srgbClr val="0D9488"/>
                </a:solidFill>
                <a:latin typeface="Microsoft YaHei"/>
                <a:ea typeface="Microsoft YaHei"/>
              </a:rPr>
              <a:t>该歇了</a:t>
            </a:r>
            <a:r>
              <a:rPr lang="en-US" sz="2100" b="1">
                <a:solidFill>
                  <a:srgbClr val="0D9488"/>
                </a:solidFill>
                <a:latin typeface="Microsoft YaHei"/>
                <a:ea typeface="Microsoft YaHei"/>
              </a:rPr>
              <a:t>"</a:t>
            </a:r>
            <a:r>
              <a:rPr lang="zh-CN" sz="2100" b="1">
                <a:solidFill>
                  <a:srgbClr val="0D9488"/>
                </a:solidFill>
                <a:latin typeface="Microsoft YaHei"/>
                <a:ea typeface="Microsoft YaHei"/>
              </a:rPr>
              <a:t>说出口</a:t>
            </a:r>
            <a:endParaRPr/>
          </a:p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61341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久坐办公人群，一天里最缺的就是</a:t>
            </a: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停一下</a:t>
            </a: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05</a:t>
            </a:r>
            <a:endParaRPr/>
          </a:p>
        </p:txBody>
      </p:sp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1181100" y="3638550"/>
            <a:ext cx="4191000" cy="80962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建议画面：伏案工作的桌面或工位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（程序、文案、设计等长期面对屏幕的角色）</a:t>
            </a:r>
            <a:endParaRPr/>
          </a:p>
        </p:txBody>
      </p:sp>
      <p:sp>
        <p:nvSpPr>
          <p:cNvPr id="609" name="" descr="{&quot;isTemplate&quot;:true,&quot;type&quot;:&quot;text&quot;}"/>
          <p:cNvSpPr txBox="1"/>
          <p:nvPr/>
        </p:nvSpPr>
        <p:spPr>
          <a:xfrm rot="0" flipH="0" flipV="0">
            <a:off x="6324600" y="3228975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视疲劳、肩颈僵硬，都是慢性的。</a:t>
            </a:r>
            <a:endParaRPr/>
          </a:p>
        </p:txBody>
      </p:sp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6324600" y="3886200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不是靠意志力，而是靠一个提醒。</a:t>
            </a:r>
            <a:endParaRPr/>
          </a:p>
        </p:txBody>
      </p:sp>
      <p:sp>
        <p:nvSpPr>
          <p:cNvPr id="611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05 / 38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613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换台电脑，它也跟着你&lt;/Text&gt;&#10;            &lt;Text style={{ fontSize: 28, color: '#0B1220', opacity: 0.6, letterSpacing: 1 }}&gt;Windows 与 macOS 都能用，数据在本机不依赖云&lt;/Text&gt;&#10;        &lt;/Box&gt;&#10;        &lt;Text style={{ fontSize: 22, fontFamily: 'Consolas', color: '#0B1220', opacity: 0.35 }}&gt;06&lt;/Text&gt;&#10;    &lt;/Box&gt;&#10;    &lt;Box style={{ height: 476, flexDirection: 'row', gap: 40, alignItems: 'center' }}&gt;&#10;        &lt;Box style={{ flex: 1, flexDirection: 'column', gap: 18, justifyContent: 'center' }}&gt;&#10;            &lt;Text style={{ fontSize: 36, fontWeight: 'bold', color: '#0D9488', lineHeight: 1.4 }}&gt;同一套提醒，&lt;br /&gt;两套系统都能跑。&lt;/Text&gt;&#10;            &lt;Text style={{ fontSize: 28, color: '#0B1220', opacity: 0.8, lineHeight: 1.5 }}&gt; Windows x64 / ARM64 与 macOS 都提供支持。&lt;/Text&gt;&#10;            &lt;Text style={{ fontSize: 28, color: '#0B1220', opacity: 0.8, lineHeight: 1.5 }}&gt;提醒数据存在本机，不上传、不绑定账号。&lt;/Text&gt;&#10;            &lt;Box style={{ padding: '18px 22px', background: 'rgba(79,224,176,0.16)', border: '1px solid rgba(13,148,136,0.35)', borderRadius: 12 }}&gt;&#10;                &lt;Text style={{ fontSize: 28, color: '#0B1220', lineHeight: 1.5 }}&gt;隐私立场：&lt;span style={{ color: '#0D9488', fontWeight: 'bold' }}&gt;数据留在本机，你说了算&lt;/span&gt;&lt;/Text&gt;&#10;            &lt;/Box&gt;&#10;        &lt;/Box&gt;&#10;        &lt;Box style={{ width: 560, height: 420, flexDirection: 'column', justifyContent: 'center', alignItems: 'center', gap: 16, background: '#FFFFFF', border: '1px solid rgba(11,18,32,0.10)', borderRadius: 12 }}&gt;&#10;            &lt;svg width={500} height={260} viewBox='0 0 500 260'&gt;&#10;                &lt;rect x='20' y='30' width='200' height='150' rx='10' fill='#F5F9FC' stroke='rgba(11,18,32,0.12)' strokeWidth='1.5' /&gt;&#10;                &lt;rect x='20' y='30' width='200' height='28' rx='10' fill='rgba(13,148,136,0.12)' /&gt;&#10;                &lt;circle cx='38' cy='44' r='4' fill='#0D9488' /&gt;&lt;circle cx='54' cy='44' r='4' fill='#4FE0B0' /&gt;&#10;                &lt;text x='120' y='120' fontFamily='微软雅黑' fontSize='22' fill='#0B1220'&gt;Windows&lt;/text&gt;&#10;                &lt;rect x='280' y='30' width='200' height='150' rx='10' fill='#F5F9FC' stroke='rgba(11,18,32,0.12)' strokeWidth='1.5' /&gt;&#10;                &lt;rect x='280' y='30' width='200' height='28' rx='10' fill='rgba(13,148,136,0.12)' /&gt;&#10;                &lt;circle cx='298' cy='44' r='4' fill='#0D9488' /&gt;&lt;circle cx='314' cy='44' r='4' fill='#4FE0B0' /&gt;&#10;                &lt;text x='380' y='120' fontFamily='微软雅黑' fontSize='22' fill='#0B1220'&gt;macOS&lt;/text&gt;&#10;                &lt;circle cx='250' cy='105' r='17' fill='rgba(79,224,176,0.20)' stroke='#0D9488' strokeWidth='1.5' /&gt;&#10;                &lt;path d='M242 105 L247 110 L257 99' stroke='#0D9488' strokeWidth='2.5' fill='none' /&gt;&#10;            &lt;/svg&gt;&#10;            &lt;Text style={{ fontSize: 26, color: '#0B1220', opacity: 0.7, textAlign: 'center', lineHeight: 1.5 }}&gt;双平台安装包，下载即用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06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615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62103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换台电脑，它也跟着你</a:t>
            </a:r>
            <a:endParaRPr/>
          </a:p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609600" y="1666875"/>
            <a:ext cx="5257800" cy="11525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同一套提醒，</a:t>
            </a:r>
            <a:endParaRPr/>
          </a:p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两套系统都能跑。</a:t>
            </a:r>
            <a:endParaRPr/>
          </a:p>
        </p:txBody>
      </p:sp>
      <p:sp>
        <p:nvSpPr>
          <p:cNvPr id="617" name=""/>
          <p:cNvSpPr/>
          <p:nvPr/>
        </p:nvSpPr>
        <p:spPr>
          <a:xfrm rot="0" flipH="0" flipV="0">
            <a:off x="609600" y="4781550"/>
            <a:ext cx="5257800" cy="828675"/>
          </a:xfrm>
          <a:prstGeom prst="roundRect">
            <a:avLst>
              <a:gd name="adj" fmla="val 13793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819150" y="4953000"/>
            <a:ext cx="48387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隐私立场：</a:t>
            </a:r>
            <a:r>
              <a:rPr lang="zh-CN" sz="2100" b="1">
                <a:solidFill>
                  <a:srgbClr val="0D9488"/>
                </a:solidFill>
                <a:latin typeface="Microsoft YaHei"/>
                <a:ea typeface="Microsoft YaHei"/>
              </a:rPr>
              <a:t>数据留在本机，你说了算</a:t>
            </a:r>
            <a:endParaRPr/>
          </a:p>
        </p:txBody>
      </p:sp>
      <p:sp>
        <p:nvSpPr>
          <p:cNvPr id="619" name=""/>
          <p:cNvSpPr/>
          <p:nvPr/>
        </p:nvSpPr>
        <p:spPr>
          <a:xfrm rot="0" flipH="0" flipV="0">
            <a:off x="6248400" y="1638300"/>
            <a:ext cx="5334000" cy="4000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6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534150" y="2105025"/>
            <a:ext cx="4762500" cy="2476500"/>
          </a:xfrm>
          <a:prstGeom prst="rect">
            <a:avLst/>
          </a:prstGeom>
          <a:ln/>
        </p:spPr>
      </p:pic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62103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 xml:space="preserve">Windows </a:t>
            </a: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与</a:t>
            </a: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 xml:space="preserve"> macOS </a:t>
            </a: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都能用，数据在本机不依赖云</a:t>
            </a:r>
            <a:endParaRPr/>
          </a:p>
        </p:txBody>
      </p:sp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06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609600" y="2990850"/>
            <a:ext cx="52578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 xml:space="preserve"> Windows x64 / ARM64 </a:t>
            </a: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与</a:t>
            </a:r>
            <a:r>
              <a:rPr lang="en-US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 xml:space="preserve"> macOS </a:t>
            </a: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都提供支持。</a:t>
            </a:r>
            <a:endParaRPr/>
          </a:p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609600" y="4124325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提醒数据存在本机，不上传、不绑定账号。</a:t>
            </a:r>
            <a:endParaRPr/>
          </a:p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7553325" y="4733925"/>
            <a:ext cx="2724150" cy="44767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950">
                <a:solidFill>
                  <a:srgbClr val="0B1220">
                    <a:alpha val="70000"/>
                  </a:srgbClr>
                </a:solidFill>
                <a:latin typeface="Microsoft YaHei"/>
                <a:ea typeface="Microsoft YaHei"/>
              </a:rPr>
              <a:t>双平台安装包，下载即用</a:t>
            </a:r>
            <a:endParaRPr/>
          </a:p>
        </p:txBody>
      </p:sp>
      <p:sp>
        <p:nvSpPr>
          <p:cNvPr id="626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628" name="" descr="&lt;Slide style={{ width: 1280, height: 720, background: '#F5F9FC', padding: '20px 64px' }}&gt;&#10;    &lt;Box style={{ height: 600, flexDirection: 'row', alignItems: 'center', gap: 64 }}&gt;&#10;        &lt;Text style={{ fontSize: 230, fontWeight: 'bold', fontFamily: 'Consolas', color: '#0D9488', opacity: 0.18, lineHeight: 1 }}&gt;02&lt;/Text&gt;&#10;        &lt;Box style={{ flexDirection: 'column', gap: 22, width: 640 }}&gt;&#10;            &lt;Text style={{ fontSize: 64, fontWeight: 'bold', color: '#0B1220', lineHeight: 1.15 }}&gt;项目概述&lt;/Text&gt;&#10;            &lt;Box style={{ height: 4, width: 120, background: 'linear-gradient(135deg, #4FE0B0 0%, #0D9488 100%)', borderRadius: 2 }} /&gt;&#10;            &lt;Text style={{ fontSize: 30, color: '#0B1220', opacity: 0.72, lineHeight: 1.6 }}&gt;这东西到底是什么、&lt;br /&gt;做成了什么程度。&lt;/Text&gt;&#10;            &lt;Text style={{ fontSize: 24, fontFamily: 'Consolas', color: '#0D9488', letterSpacing: 2 }}&gt;P07 – P11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07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3657600" y="1600200"/>
            <a:ext cx="60960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0B1220"/>
                </a:solidFill>
                <a:latin typeface="Microsoft YaHei"/>
                <a:ea typeface="Microsoft YaHei"/>
              </a:rPr>
              <a:t>项目概述</a:t>
            </a:r>
            <a:endParaRPr/>
          </a:p>
        </p:txBody>
      </p:sp>
      <p:sp>
        <p:nvSpPr>
          <p:cNvPr id="631" name=""/>
          <p:cNvSpPr/>
          <p:nvPr/>
        </p:nvSpPr>
        <p:spPr>
          <a:xfrm rot="0" flipH="0" flipV="0">
            <a:off x="3657600" y="2657475"/>
            <a:ext cx="1143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4FE0B0"/>
              </a:gs>
              <a:gs pos="100000">
                <a:srgbClr val="0D948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632" name="" descr="{&quot;isTemplate&quot;:true,&quot;type&quot;:&quot;text&quot;}"/>
          <p:cNvSpPr txBox="1"/>
          <p:nvPr/>
        </p:nvSpPr>
        <p:spPr>
          <a:xfrm rot="0" flipH="0" flipV="0">
            <a:off x="3657600" y="4219575"/>
            <a:ext cx="6096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150">
                <a:solidFill>
                  <a:srgbClr val="0D9488"/>
                </a:solidFill>
                <a:latin typeface="Consolas"/>
                <a:ea typeface="Consolas"/>
              </a:rPr>
              <a:t>P07 – P11</a:t>
            </a:r>
            <a:endParaRPr/>
          </a:p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609600" y="1733550"/>
            <a:ext cx="2438400" cy="2628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0" b="1">
                <a:solidFill>
                  <a:srgbClr val="0D9488">
                    <a:alpha val="18000"/>
                  </a:srgbClr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3657600" y="2905125"/>
            <a:ext cx="6096000" cy="11049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22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这东西到底是什么、</a:t>
            </a:r>
            <a:endParaRPr/>
          </a:p>
          <a:p>
            <a:pPr>
              <a:lnSpc>
                <a:spcPct val="160000"/>
              </a:lnSpc>
            </a:pPr>
            <a:r>
              <a:rPr lang="zh-CN" sz="22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做成了什么程度。</a:t>
            </a:r>
            <a:endParaRPr/>
          </a:p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636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07 / 38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637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它到底是什么&lt;/Text&gt;&#10;            &lt;Text style={{ fontSize: 28, color: '#0B1220', opacity: 0.6, letterSpacing: 1 }}&gt;一个会听人话的桌面休息提醒，已经能下载安装&lt;/Text&gt;&#10;        &lt;/Box&gt;&#10;        &lt;Text style={{ fontSize: 22, fontFamily: 'Consolas', color: '#0B1220', opacity: 0.35 }}&gt;08&lt;/Text&gt;&#10;    &lt;/Box&gt;&#10;    &lt;Box style={{ height: 476, flexDirection: 'row', gap: 40, alignItems: 'center' }}&gt;&#10;        &lt;Box style={{ width: 560, flexDirection: 'column', gap: 20 }}&gt;&#10;            &lt;Box style={{ width: 560, height: 200, flexDirection: 'column', justifyContent: 'center', alignItems: 'center', gap: 10, background: 'rgba(13,148,136,0.07)', border: '2px dashed rgba(13,148,136,0.5)', borderRadius: 12, padding: '0 20px' }}&gt;&#10;                &lt;Text style={{ fontSize: 22, fontFamily: 'Consolas', color: '#0D9488', letterSpacing: 1 }}&gt;截图 ③&lt;/Text&gt;&#10;                &lt;Text style={{ fontSize: 28, fontWeight: 'bold', color: '#0B1220', textAlign: 'center' }}&gt;知歇官网首页&lt;/Text&gt;&#10;                &lt;Text style={{ fontSize: 22, color: '#0B1220', opacity: 0.5, textAlign: 'center', lineHeight: 1.6 }}&gt;首屏产品名 + 口号 + 下载按钮&lt;/Text&gt;&#10;            &lt;/Box&gt;&#10;            &lt;Box style={{ width: 560, height: 200, flexDirection: 'column', justifyContent: 'center', alignItems: 'center', gap: 10, background: 'rgba(13,148,136,0.07)', border: '2px dashed rgba(13,148,136,0.5)', borderRadius: 12, padding: '0 20px' }}&gt;&#10;                &lt;Text style={{ fontSize: 22, fontFamily: 'Consolas', color: '#0D9488', letterSpacing: 1 }}&gt;截图 ④&lt;/Text&gt;&#10;                &lt;Text style={{ fontSize: 28, fontWeight: 'bold', color: '#0B1220', textAlign: 'center' }}&gt;安装包 / 安装完成&lt;/Text&gt;&#10;                &lt;Text style={{ fontSize: 22, color: '#0B1220', opacity: 0.5, textAlign: 'center', lineHeight: 1.6 }}&gt;安装向导完成页或桌面图标&lt;/Text&gt;&#10;            &lt;/Box&gt;&#10;        &lt;/Box&gt;&#10;        &lt;Box style={{ flex: 1, flexDirection: 'column', gap: 18, justifyContent: 'center' }}&gt;&#10;            &lt;Text style={{ fontSize: 36, fontWeight: 'bold', color: '#0D9488', lineHeight: 1.4 }}&gt;说一句话，&lt;br /&gt;提醒就建好了。&lt;/Text&gt;&#10;            &lt;Text style={{ fontSize: 28, color: '#0B1220', opacity: 0.8, lineHeight: 1.5 }}&gt;「每久坐 50 分钟提醒我」——不必填表单。&lt;/Text&gt;&#10;            &lt;Text style={{ fontSize: 28, color: '#0B1220', opacity: 0.8, lineHeight: 1.5 }}&gt;到点弹窗，可推迟，也能顺带锁屏。&lt;/Text&gt;&#10;            &lt;Box style={{ padding: '18px 22px', background: 'rgba(79,224,176,0.16)', border: '1px solid rgba(13,148,136,0.35)', borderRadius: 12 }}&gt;&#10;                &lt;Text style={{ fontSize: 28, color: '#0B1220', lineHeight: 1.5 }}&gt;状态：&lt;span style={{ color: '#0D9488', fontWeight: 'bold' }}&gt;官网可直接下载，装上就能用&lt;/span&gt;&lt;/Text&gt;&#10;            &lt;/Box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08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580072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它到底是什么</a:t>
            </a:r>
            <a:endParaRPr/>
          </a:p>
        </p:txBody>
      </p:sp>
      <p:sp>
        <p:nvSpPr>
          <p:cNvPr id="640" name=""/>
          <p:cNvSpPr/>
          <p:nvPr/>
        </p:nvSpPr>
        <p:spPr>
          <a:xfrm rot="0" flipH="0" flipV="0">
            <a:off x="609600" y="1638300"/>
            <a:ext cx="5334000" cy="1905000"/>
          </a:xfrm>
          <a:prstGeom prst="roundRect">
            <a:avLst>
              <a:gd name="adj" fmla="val 6000"/>
            </a:avLst>
          </a:prstGeom>
          <a:solidFill>
            <a:srgbClr val="0D9488">
              <a:alpha val="7000"/>
            </a:srgbClr>
          </a:solidFill>
          <a:ln w="25400">
            <a:solidFill>
              <a:srgbClr val="0D9488">
                <a:alpha val="50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2914650" y="2000250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0D9488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0D9488"/>
                </a:solidFill>
                <a:latin typeface="Consolas"/>
                <a:ea typeface="Consolas"/>
              </a:rPr>
              <a:t xml:space="preserve"> ③</a:t>
            </a:r>
            <a:endParaRPr/>
          </a:p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2476500" y="2352675"/>
            <a:ext cx="16002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0B1220"/>
                </a:solidFill>
                <a:latin typeface="Microsoft YaHei"/>
                <a:ea typeface="Microsoft YaHei"/>
              </a:rPr>
              <a:t>知歇官网首页</a:t>
            </a:r>
            <a:endParaRPr/>
          </a:p>
        </p:txBody>
      </p:sp>
      <p:sp>
        <p:nvSpPr>
          <p:cNvPr id="643" name=""/>
          <p:cNvSpPr/>
          <p:nvPr/>
        </p:nvSpPr>
        <p:spPr>
          <a:xfrm rot="0" flipH="0" flipV="0">
            <a:off x="609600" y="3733800"/>
            <a:ext cx="5334000" cy="1905000"/>
          </a:xfrm>
          <a:prstGeom prst="roundRect">
            <a:avLst>
              <a:gd name="adj" fmla="val 6000"/>
            </a:avLst>
          </a:prstGeom>
          <a:solidFill>
            <a:srgbClr val="0D9488">
              <a:alpha val="7000"/>
            </a:srgbClr>
          </a:solidFill>
          <a:ln w="25400">
            <a:solidFill>
              <a:srgbClr val="0D9488">
                <a:alpha val="50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644" name="" descr="{&quot;isTemplate&quot;:true,&quot;type&quot;:&quot;text&quot;}"/>
          <p:cNvSpPr txBox="1"/>
          <p:nvPr/>
        </p:nvSpPr>
        <p:spPr>
          <a:xfrm rot="0" flipH="0" flipV="0">
            <a:off x="2914650" y="4095750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0D9488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0D9488"/>
                </a:solidFill>
                <a:latin typeface="Consolas"/>
                <a:ea typeface="Consolas"/>
              </a:rPr>
              <a:t xml:space="preserve"> ④</a:t>
            </a:r>
            <a:endParaRPr/>
          </a:p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2228850" y="4448175"/>
            <a:ext cx="20955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0B1220"/>
                </a:solidFill>
                <a:latin typeface="Microsoft YaHei"/>
                <a:ea typeface="Microsoft YaHei"/>
              </a:rPr>
              <a:t>安装包</a:t>
            </a:r>
            <a:r>
              <a:rPr lang="en-US" sz="2100" b="1">
                <a:solidFill>
                  <a:srgbClr val="0B122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100" b="1">
                <a:solidFill>
                  <a:srgbClr val="0B1220"/>
                </a:solidFill>
                <a:latin typeface="Microsoft YaHei"/>
                <a:ea typeface="Microsoft YaHei"/>
              </a:rPr>
              <a:t>安装完成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6324600" y="1905000"/>
            <a:ext cx="5257800" cy="11525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说一句话，</a:t>
            </a:r>
            <a:endParaRPr/>
          </a:p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提醒就建好了。</a:t>
            </a:r>
            <a:endParaRPr/>
          </a:p>
        </p:txBody>
      </p:sp>
      <p:sp>
        <p:nvSpPr>
          <p:cNvPr id="647" name=""/>
          <p:cNvSpPr/>
          <p:nvPr/>
        </p:nvSpPr>
        <p:spPr>
          <a:xfrm rot="0" flipH="0" flipV="0">
            <a:off x="6324600" y="4543425"/>
            <a:ext cx="5257800" cy="828675"/>
          </a:xfrm>
          <a:prstGeom prst="roundRect">
            <a:avLst>
              <a:gd name="adj" fmla="val 13793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6534150" y="4714875"/>
            <a:ext cx="48387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状态：</a:t>
            </a:r>
            <a:r>
              <a:rPr lang="zh-CN" sz="2100" b="1">
                <a:solidFill>
                  <a:srgbClr val="0D9488"/>
                </a:solidFill>
                <a:latin typeface="Microsoft YaHei"/>
                <a:ea typeface="Microsoft YaHei"/>
              </a:rPr>
              <a:t>官网可直接下载，装上就能用</a:t>
            </a:r>
            <a:endParaRPr/>
          </a:p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58007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一个会听人话的桌面休息提醒，已经能下载安装</a:t>
            </a:r>
            <a:endParaRPr/>
          </a:p>
        </p:txBody>
      </p:sp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08</a:t>
            </a:r>
            <a:endParaRPr/>
          </a:p>
        </p:txBody>
      </p:sp>
      <p:sp>
        <p:nvSpPr>
          <p:cNvPr id="651" name="" descr="{&quot;isTemplate&quot;:true,&quot;type&quot;:&quot;text&quot;}"/>
          <p:cNvSpPr txBox="1"/>
          <p:nvPr/>
        </p:nvSpPr>
        <p:spPr>
          <a:xfrm rot="0" flipH="0" flipV="0">
            <a:off x="1885950" y="2771775"/>
            <a:ext cx="2790825" cy="40957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首屏产品名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口号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下载按钮</a:t>
            </a:r>
            <a:endParaRPr/>
          </a:p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2019300" y="4867275"/>
            <a:ext cx="2514600" cy="40957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安装向导完成页或桌面图标</a:t>
            </a:r>
            <a:endParaRPr/>
          </a:p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6324600" y="3228975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「每久坐</a:t>
            </a:r>
            <a:r>
              <a:rPr lang="en-US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分钟提醒我」——不必填表单。</a:t>
            </a:r>
            <a:endParaRPr/>
          </a:p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6324600" y="3886200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到点弹窗，可推迟，也能顺带锁屏。</a:t>
            </a:r>
            <a:endParaRPr/>
          </a:p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656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08 / 38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657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核心功能一览&lt;/Text&gt;&#10;            &lt;Text style={{ fontSize: 28, color: '#0B1220', opacity: 0.6, letterSpacing: 1 }}&gt;五个入口，各管一件事&lt;/Text&gt;&#10;        &lt;/Box&gt;&#10;        &lt;Text style={{ fontSize: 22, fontFamily: 'Consolas', color: '#0B1220', opacity: 0.35 }}&gt;09&lt;/Text&gt;&#10;    &lt;/Box&gt;&#10;    &lt;Box style={{ height: 476, flexDirection: 'row', gap: 18, alignItems: 'stretch' }}&gt;&#10;        &lt;Box style={{ flex: 1, flexDirection: 'column', alignItems: 'center', gap: 14, padding: '30px 14px', background: '#FFFFFF', border: '1px solid rgba(11,18,32,0.10)', borderRadius: 12 }}&gt;&#10;            &lt;Box style={{ width: 56, height: 56, borderRadius: 28, backgroundColor: 'rgba(13,148,136,0.12)', justifyContent: 'center', alignItems: 'center' }}&gt;&#10;                &lt;Text style={{ fontSize: 28, fontWeight: 'bold', color: '#0D9488', fontFamily: 'Consolas' }}&gt;1&lt;/Text&gt;&#10;            &lt;/Box&gt;&#10;            &lt;Text style={{ fontSize: 30, fontWeight: 'bold', color: '#0B1220', textAlign: 'center' }}&gt;休息节律&lt;/Text&gt;&#10;            &lt;Text style={{ fontSize: 26, color: '#0B1220', opacity: 0.7, textAlign: 'center', lineHeight: 1.45 }}&gt;定下工作与休息的节奏&lt;/Text&gt;&#10;        &lt;/Box&gt;&#10;        &lt;Box style={{ flex: 1, flexDirection: 'column', alignItems: 'center', gap: 14, padding: '30px 14px', background: '#FFFFFF', border: '1px solid rgba(11,18,32,0.10)', borderRadius: 12 }}&gt;&#10;            &lt;Box style={{ width: 56, height: 56, borderRadius: 28, backgroundColor: 'rgba(13,148,136,0.12)', justifyContent: 'center', alignItems: 'center' }}&gt;&#10;                &lt;Text style={{ fontSize: 28, fontWeight: 'bold', color: '#0D9488', fontFamily: 'Consolas' }}&gt;2&lt;/Text&gt;&#10;            &lt;/Box&gt;&#10;            &lt;Text style={{ fontSize: 30, fontWeight: 'bold', color: '#0B1220', textAlign: 'center' }}&gt;时间锚点&lt;/Text&gt;&#10;            &lt;Text style={{ fontSize: 26, color: '#0B1220', opacity: 0.7, textAlign: 'center', lineHeight: 1.45 }}&gt;到固定时刻就提醒你&lt;/Text&gt;&#10;        &lt;/Box&gt;&#10;        &lt;Box style={{ flex: 1, flexDirection: 'column', alignItems: 'center', gap: 14, padding: '30px 14px', background: '#FFFFFF', border: '1px solid rgba(11,18,32,0.10)', borderRadius: 12 }}&gt;&#10;            &lt;Box style={{ width: 56, height: 56, borderRadius: 28, backgroundColor: 'rgba(13,148,136,0.12)', justifyContent: 'center', alignItems: 'center' }}&gt;&#10;                &lt;Text style={{ fontSize: 28, fontWeight: 'bold', color: '#0D9488', fontFamily: 'Consolas' }}&gt;3&lt;/Text&gt;&#10;            &lt;/Box&gt;&#10;            &lt;Text style={{ fontSize: 30, fontWeight: 'bold', color: '#0B1220', textAlign: 'center' }}&gt;智能体&lt;/Text&gt;&#10;            &lt;Text style={{ fontSize: 26, color: '#0B1220', opacity: 0.7, textAlign: 'center', lineHeight: 1.45 }}&gt;说一句话就建好提醒&lt;/Text&gt;&#10;        &lt;/Box&gt;&#10;        &lt;Box style={{ flex: 1, flexDirection: 'column', alignItems: 'center', gap: 14, padding: '30px 14px', background: '#FFFFFF', border: '1px solid rgba(11,18,32,0.10)', borderRadius: 12 }}&gt;&#10;            &lt;Box style={{ width: 56, height: 56, borderRadius: 28, backgroundColor: 'rgba(13,148,136,0.12)', justifyContent: 'center', alignItems: 'center' }}&gt;&#10;                &lt;Text style={{ fontSize: 28, fontWeight: 'bold', color: '#0D9488', fontFamily: 'Consolas' }}&gt;4&lt;/Text&gt;&#10;            &lt;/Box&gt;&#10;            &lt;Text style={{ fontSize: 30, fontWeight: 'bold', color: '#0B1220', textAlign: 'center' }}&gt;偏好调校&lt;/Text&gt;&#10;            &lt;Text style={{ fontSize: 26, color: '#0B1220', opacity: 0.7, textAlign: 'center', lineHeight: 1.45 }}&gt;主题、音效、可推迟&lt;/Text&gt;&#10;        &lt;/Box&gt;&#10;        &lt;Box style={{ flex: 1, flexDirection: 'column', alignItems: 'center', gap: 14, padding: '30px 14px', background: '#FFFFFF', border: '1px solid rgba(11,18,32,0.10)', borderRadius: 12 }}&gt;&#10;            &lt;Box style={{ width: 56, height: 56, borderRadius: 28, backgroundColor: 'rgba(13,148,136,0.12)', justifyContent: 'center', alignItems: 'center' }}&gt;&#10;                &lt;Text style={{ fontSize: 28, fontWeight: 'bold', color: '#0D9488', fontFamily: 'Consolas' }}&gt;5&lt;/Text&gt;&#10;            &lt;/Box&gt;&#10;            &lt;Text style={{ fontSize: 30, fontWeight: 'bold', color: '#0B1220', textAlign: 'center' }}&gt;本机数据&lt;/Text&gt;&#10;            &lt;Text style={{ fontSize: 26, color: '#0B1220', opacity: 0.7, textAlign: 'center', lineHeight: 1.45 }}&gt;提醒记录留在本机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09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27622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核心功能一览</a:t>
            </a:r>
            <a:endParaRPr/>
          </a:p>
        </p:txBody>
      </p:sp>
      <p:sp>
        <p:nvSpPr>
          <p:cNvPr id="660" name=""/>
          <p:cNvSpPr/>
          <p:nvPr/>
        </p:nvSpPr>
        <p:spPr>
          <a:xfrm rot="0" flipH="0" flipV="0">
            <a:off x="609600" y="1371600"/>
            <a:ext cx="2057400" cy="45339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1" name=""/>
          <p:cNvSpPr/>
          <p:nvPr/>
        </p:nvSpPr>
        <p:spPr>
          <a:xfrm rot="0" flipH="0" flipV="0">
            <a:off x="1371600" y="16573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D9488">
              <a:alpha val="12000"/>
            </a:srgbClr>
          </a:solidFill>
          <a:ln/>
        </p:spPr>
        <p:txBody>
          <a:bodyPr/>
          <a:p/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1562100" y="1762125"/>
            <a:ext cx="15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D9488"/>
                </a:solidFill>
                <a:latin typeface="Consolas"/>
                <a:ea typeface="Consolas"/>
              </a:rPr>
              <a:t>1</a:t>
            </a:r>
            <a:endParaRPr/>
          </a:p>
        </p:txBody>
      </p:sp>
      <p:sp>
        <p:nvSpPr>
          <p:cNvPr id="663" name="" descr="{&quot;isTemplate&quot;:true,&quot;type&quot;:&quot;text&quot;}"/>
          <p:cNvSpPr txBox="1"/>
          <p:nvPr/>
        </p:nvSpPr>
        <p:spPr>
          <a:xfrm rot="0" flipH="0" flipV="0">
            <a:off x="1066800" y="2324100"/>
            <a:ext cx="114300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0B1220"/>
                </a:solidFill>
                <a:latin typeface="Microsoft YaHei"/>
                <a:ea typeface="Microsoft YaHei"/>
              </a:rPr>
              <a:t>休息节律</a:t>
            </a:r>
            <a:endParaRPr/>
          </a:p>
        </p:txBody>
      </p:sp>
      <p:sp>
        <p:nvSpPr>
          <p:cNvPr id="664" name=""/>
          <p:cNvSpPr/>
          <p:nvPr/>
        </p:nvSpPr>
        <p:spPr>
          <a:xfrm rot="0" flipH="0" flipV="0">
            <a:off x="2838450" y="1371600"/>
            <a:ext cx="2057400" cy="45339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5" name=""/>
          <p:cNvSpPr/>
          <p:nvPr/>
        </p:nvSpPr>
        <p:spPr>
          <a:xfrm rot="0" flipH="0" flipV="0">
            <a:off x="3600450" y="16573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D9488">
              <a:alpha val="12000"/>
            </a:srgbClr>
          </a:solidFill>
          <a:ln/>
        </p:spPr>
        <p:txBody>
          <a:bodyPr/>
          <a:p/>
        </p:txBody>
      </p:sp>
      <p:sp>
        <p:nvSpPr>
          <p:cNvPr id="666" name="" descr="{&quot;isTemplate&quot;:true,&quot;type&quot;:&quot;text&quot;}"/>
          <p:cNvSpPr txBox="1"/>
          <p:nvPr/>
        </p:nvSpPr>
        <p:spPr>
          <a:xfrm rot="0" flipH="0" flipV="0">
            <a:off x="3790950" y="1762125"/>
            <a:ext cx="15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D9488"/>
                </a:solidFill>
                <a:latin typeface="Consolas"/>
                <a:ea typeface="Consolas"/>
              </a:rPr>
              <a:t>2</a:t>
            </a:r>
            <a:endParaRPr/>
          </a:p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3295650" y="2324100"/>
            <a:ext cx="114300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0B1220"/>
                </a:solidFill>
                <a:latin typeface="Microsoft YaHei"/>
                <a:ea typeface="Microsoft YaHei"/>
              </a:rPr>
              <a:t>时间锚点</a:t>
            </a:r>
            <a:endParaRPr/>
          </a:p>
        </p:txBody>
      </p:sp>
      <p:sp>
        <p:nvSpPr>
          <p:cNvPr id="668" name=""/>
          <p:cNvSpPr/>
          <p:nvPr/>
        </p:nvSpPr>
        <p:spPr>
          <a:xfrm rot="0" flipH="0" flipV="0">
            <a:off x="5067300" y="1371600"/>
            <a:ext cx="2057400" cy="45339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9" name=""/>
          <p:cNvSpPr/>
          <p:nvPr/>
        </p:nvSpPr>
        <p:spPr>
          <a:xfrm rot="0" flipH="0" flipV="0">
            <a:off x="5829300" y="16573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D9488">
              <a:alpha val="12000"/>
            </a:srgbClr>
          </a:solidFill>
          <a:ln/>
        </p:spPr>
        <p:txBody>
          <a:bodyPr/>
          <a:p/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6019800" y="1762125"/>
            <a:ext cx="15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D9488"/>
                </a:solidFill>
                <a:latin typeface="Consolas"/>
                <a:ea typeface="Consolas"/>
              </a:rPr>
              <a:t>3</a:t>
            </a:r>
            <a:endParaRPr/>
          </a:p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5667375" y="2324100"/>
            <a:ext cx="85725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0B1220"/>
                </a:solidFill>
                <a:latin typeface="Microsoft YaHei"/>
                <a:ea typeface="Microsoft YaHei"/>
              </a:rPr>
              <a:t>智能体</a:t>
            </a:r>
            <a:endParaRPr/>
          </a:p>
        </p:txBody>
      </p:sp>
      <p:sp>
        <p:nvSpPr>
          <p:cNvPr id="672" name=""/>
          <p:cNvSpPr/>
          <p:nvPr/>
        </p:nvSpPr>
        <p:spPr>
          <a:xfrm rot="0" flipH="0" flipV="0">
            <a:off x="7296150" y="1371600"/>
            <a:ext cx="2057400" cy="45339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3" name=""/>
          <p:cNvSpPr/>
          <p:nvPr/>
        </p:nvSpPr>
        <p:spPr>
          <a:xfrm rot="0" flipH="0" flipV="0">
            <a:off x="8058150" y="16573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D9488">
              <a:alpha val="12000"/>
            </a:srgbClr>
          </a:solidFill>
          <a:ln/>
        </p:spPr>
        <p:txBody>
          <a:bodyPr/>
          <a:p/>
        </p:txBody>
      </p:sp>
      <p:sp>
        <p:nvSpPr>
          <p:cNvPr id="674" name="" descr="{&quot;isTemplate&quot;:true,&quot;type&quot;:&quot;text&quot;}"/>
          <p:cNvSpPr txBox="1"/>
          <p:nvPr/>
        </p:nvSpPr>
        <p:spPr>
          <a:xfrm rot="0" flipH="0" flipV="0">
            <a:off x="8248650" y="1762125"/>
            <a:ext cx="15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D9488"/>
                </a:solidFill>
                <a:latin typeface="Consolas"/>
                <a:ea typeface="Consolas"/>
              </a:rPr>
              <a:t>4</a:t>
            </a:r>
            <a:endParaRPr/>
          </a:p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7753350" y="2324100"/>
            <a:ext cx="114300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0B1220"/>
                </a:solidFill>
                <a:latin typeface="Microsoft YaHei"/>
                <a:ea typeface="Microsoft YaHei"/>
              </a:rPr>
              <a:t>偏好调校</a:t>
            </a:r>
            <a:endParaRPr/>
          </a:p>
        </p:txBody>
      </p:sp>
      <p:sp>
        <p:nvSpPr>
          <p:cNvPr id="676" name=""/>
          <p:cNvSpPr/>
          <p:nvPr/>
        </p:nvSpPr>
        <p:spPr>
          <a:xfrm rot="0" flipH="0" flipV="0">
            <a:off x="9525000" y="1371600"/>
            <a:ext cx="2057400" cy="45339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7" name=""/>
          <p:cNvSpPr/>
          <p:nvPr/>
        </p:nvSpPr>
        <p:spPr>
          <a:xfrm rot="0" flipH="0" flipV="0">
            <a:off x="10287000" y="16573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D9488">
              <a:alpha val="12000"/>
            </a:srgbClr>
          </a:solidFill>
          <a:ln/>
        </p:spPr>
        <p:txBody>
          <a:bodyPr/>
          <a:p/>
        </p:txBody>
      </p:sp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10477500" y="1762125"/>
            <a:ext cx="15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D9488"/>
                </a:solidFill>
                <a:latin typeface="Consolas"/>
                <a:ea typeface="Consolas"/>
              </a:rPr>
              <a:t>5</a:t>
            </a:r>
            <a:endParaRPr/>
          </a:p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9982200" y="2324100"/>
            <a:ext cx="114300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0B1220"/>
                </a:solidFill>
                <a:latin typeface="Microsoft YaHei"/>
                <a:ea typeface="Microsoft YaHei"/>
              </a:rPr>
              <a:t>本机数据</a:t>
            </a:r>
            <a:endParaRPr/>
          </a:p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27622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五个入口，各管一件事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09</a:t>
            </a:r>
            <a:endParaRPr/>
          </a:p>
        </p:txBody>
      </p:sp>
      <p:sp>
        <p:nvSpPr>
          <p:cNvPr id="682" name="" descr="{&quot;isTemplate&quot;:true,&quot;type&quot;:&quot;text&quot;}"/>
          <p:cNvSpPr txBox="1"/>
          <p:nvPr/>
        </p:nvSpPr>
        <p:spPr>
          <a:xfrm rot="0" flipH="0" flipV="0">
            <a:off x="742950" y="2800350"/>
            <a:ext cx="1790700" cy="8667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zh-CN" sz="1950">
                <a:solidFill>
                  <a:srgbClr val="0B1220">
                    <a:alpha val="70000"/>
                  </a:srgbClr>
                </a:solidFill>
                <a:latin typeface="Microsoft YaHei"/>
                <a:ea typeface="Microsoft YaHei"/>
              </a:rPr>
              <a:t>定下工作与休息的节奏</a:t>
            </a:r>
            <a:endParaRPr/>
          </a:p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2971800" y="2800350"/>
            <a:ext cx="1790700" cy="8667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zh-CN" sz="1950">
                <a:solidFill>
                  <a:srgbClr val="0B1220">
                    <a:alpha val="70000"/>
                  </a:srgbClr>
                </a:solidFill>
                <a:latin typeface="Microsoft YaHei"/>
                <a:ea typeface="Microsoft YaHei"/>
              </a:rPr>
              <a:t>到固定时刻就提醒你</a:t>
            </a:r>
            <a:endParaRPr/>
          </a:p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5200650" y="2800350"/>
            <a:ext cx="1790700" cy="8667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zh-CN" sz="1950">
                <a:solidFill>
                  <a:srgbClr val="0B1220">
                    <a:alpha val="70000"/>
                  </a:srgbClr>
                </a:solidFill>
                <a:latin typeface="Microsoft YaHei"/>
                <a:ea typeface="Microsoft YaHei"/>
              </a:rPr>
              <a:t>说一句话就建好提醒</a:t>
            </a:r>
            <a:endParaRPr/>
          </a:p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7429500" y="2800350"/>
            <a:ext cx="1790700" cy="8667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zh-CN" sz="1950">
                <a:solidFill>
                  <a:srgbClr val="0B1220">
                    <a:alpha val="70000"/>
                  </a:srgbClr>
                </a:solidFill>
                <a:latin typeface="Microsoft YaHei"/>
                <a:ea typeface="Microsoft YaHei"/>
              </a:rPr>
              <a:t>主题、音效、可推迟</a:t>
            </a:r>
            <a:endParaRPr/>
          </a:p>
        </p:txBody>
      </p:sp>
      <p:sp>
        <p:nvSpPr>
          <p:cNvPr id="686" name="" descr="{&quot;isTemplate&quot;:true,&quot;type&quot;:&quot;text&quot;}"/>
          <p:cNvSpPr txBox="1"/>
          <p:nvPr/>
        </p:nvSpPr>
        <p:spPr>
          <a:xfrm rot="0" flipH="0" flipV="0">
            <a:off x="9658350" y="2800350"/>
            <a:ext cx="1790700" cy="8667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zh-CN" sz="1950">
                <a:solidFill>
                  <a:srgbClr val="0B1220">
                    <a:alpha val="70000"/>
                  </a:srgbClr>
                </a:solidFill>
                <a:latin typeface="Microsoft YaHei"/>
                <a:ea typeface="Microsoft YaHei"/>
              </a:rPr>
              <a:t>提醒记录留在本机</a:t>
            </a:r>
            <a:endParaRPr/>
          </a:p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688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09 / 38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3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技术架构总览&lt;/Text&gt;&#10;            &lt;Text style={{ fontSize: 28, color: '#0B1220', opacity: 0.6, letterSpacing: 1 }}&gt;一句话进来，一条提醒出去：两条路 + 同一道检查&lt;/Text&gt;&#10;        &lt;/Box&gt;&#10;        &lt;Text style={{ fontSize: 22, fontFamily: 'Consolas', color: '#0B1220', opacity: 0.35 }}&gt;10&lt;/Text&gt;&#10;    &lt;/Box&gt;&#10;    &lt;Box style={{ height: 476, flexDirection: 'column', justifyContent: 'center', alignItems: 'center', gap: 20 }}&gt;&#10;        &lt;svg width={1112} height={300} viewBox='0 0 1112 300'&gt;&#10;            &lt;rect x='20' y='118' width='180' height='64' rx='10' fill='#FFFFFF' stroke='rgba(11,18,32,0.15)' strokeWidth='1.5' /&gt;&#10;            &lt;text x='110' y='158' fontFamily='微软雅黑' fontSize='24' fill='#0B1220' textAnchor='middle'&gt;你说一句话&lt;/text&gt;&#10;            &lt;path d='M200 150 L262 150' stroke='#0D9488' strokeWidth='2' /&gt;&#10;            &lt;rect x='272' y='44' width='240' height='70' rx='10' fill='rgba(13,148,136,0.10)' stroke='#0D9488' strokeWidth='1.5' /&gt;&#10;            &lt;text x='392' y='86' fontFamily='微软雅黑' fontSize='24' fill='#0B1220' textAnchor='middle'&gt;云端大模型&lt;/text&gt;&#10;            &lt;rect x='272' y='186' width='240' height='70' rx='10' fill='rgba(13,148,136,0.10)' stroke='#0D9488' strokeWidth='1.5' /&gt;&#10;            &lt;text x='392' y='228' fontFamily='微软雅黑' fontSize='24' fill='#0B1220' textAnchor='middle'&gt;本机规则引擎&lt;/text&gt;&#10;            &lt;path d='M512 79 L606 150' stroke='#0D9488' strokeWidth='2' /&gt;&#10;            &lt;path d='M512 221 L606 150' stroke='#0D9488' strokeWidth='2' /&gt;&#10;            &lt;rect x='616' y='114' width='210' height='72' rx='10' fill='#FFFFFF' stroke='#0D9488' strokeWidth='1.5' /&gt;&#10;            &lt;text x='721' y='156' fontFamily='微软雅黑' fontSize='23' fill='#0B1220' textAnchor='middle'&gt;校验层（白名单）&lt;/text&gt;&#10;            &lt;path d='M826 150 L894 150' stroke='#0D9488' strokeWidth='2' /&gt;&#10;            &lt;rect x='904' y='114' width='188' height='72' rx='10' fill='rgba(79,224,176,0.20)' stroke='#0D9488' strokeWidth='1.5' /&gt;&#10;            &lt;text x='998' y='156' fontFamily='微软雅黑' fontSize='24' fill='#0B1220' textAnchor='middle'&gt;提醒列表&lt;/text&gt;&#10;        &lt;/svg&gt;&#10;        &lt;Box style={{ padding: '16px 24px', background: 'rgba(79,224,176,0.16)', border: '1px solid rgba(13,148,136,0.35)', borderRadius: 12 }}&gt;&#10;            &lt;Text style={{ fontSize: 28, color: '#0B1220', lineHeight: 1.5 }}&gt;联网走云端、断网走本机——&lt;span style={{ color: '#0D9488', fontWeight: 'bold' }}&gt;两条通道，同一道校验&lt;/span&gt;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10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61341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技术架构总览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724025"/>
            <a:ext cx="10591800" cy="285750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2800350" y="4772025"/>
            <a:ext cx="6591300" cy="790575"/>
          </a:xfrm>
          <a:prstGeom prst="roundRect">
            <a:avLst>
              <a:gd name="adj" fmla="val 14458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028950" y="4924425"/>
            <a:ext cx="61341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联网走云端、断网走本机——</a:t>
            </a:r>
            <a:r>
              <a:rPr lang="zh-CN" sz="2100" b="1">
                <a:solidFill>
                  <a:srgbClr val="0D9488"/>
                </a:solidFill>
                <a:latin typeface="Microsoft YaHei"/>
                <a:ea typeface="Microsoft YaHei"/>
              </a:rPr>
              <a:t>两条通道，同一道校验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61341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一句话进来，一条提醒出去：两条路</a:t>
            </a: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同一道检查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10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10 / 38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23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工作流程：五步走&lt;/Text&gt;&#10;            &lt;Text style={{ fontSize: 28, color: '#0B1220', opacity: 0.6, letterSpacing: 1 }}&gt;从你开口到提醒生效，中间只有五步&lt;/Text&gt;&#10;        &lt;/Box&gt;&#10;        &lt;Text style={{ fontSize: 22, fontFamily: 'Consolas', color: '#0B1220', opacity: 0.35 }}&gt;11&lt;/Text&gt;&#10;    &lt;/Box&gt;&#10;    &lt;Box style={{ height: 476, flexDirection: 'column', gap: 8 }}&gt;&#10;        &lt;Box style={{ height: 88, flexDirection: 'row', alignItems: 'center', gap: 24, padding: '0 24px', background: '#FFFFFF', border: '1px solid rgba(11,18,32,0.10)', borderRadius: 12 }}&gt;&#10;            &lt;Text style={{ fontSize: 52, fontWeight: 'bold', fontFamily: 'Consolas', color: '#0D9488', lineHeight: 1 }}&gt;01&lt;/Text&gt;&#10;            &lt;Text style={{ fontSize: 32, fontWeight: 'bold', color: '#0B1220', width: 260 }}&gt;你说一句话&lt;/Text&gt;&#10;            &lt;Text style={{ fontSize: 28, color: '#0B1220', opacity: 0.75, flex: 1 }}&gt;时间、重复、要干什么说清楚就行，语序随便。&lt;/Text&gt;&#10;        &lt;/Box&gt;&#10;        &lt;Box style={{ height: 88, flexDirection: 'row', alignItems: 'center', gap: 24, padding: '0 24px', background: '#FFFFFF', border: '1px solid rgba(11,18,32,0.10)', borderRadius: 12 }}&gt;&#10;            &lt;Text style={{ fontSize: 52, fontWeight: 'bold', fontFamily: 'Consolas', color: '#0D9488', lineHeight: 1 }}&gt;02&lt;/Text&gt;&#10;            &lt;Text style={{ fontSize: 32, fontWeight: 'bold', color: '#0B1220', width: 260 }}&gt;智能体去理解&lt;/Text&gt;&#10;            &lt;Text style={{ fontSize: 28, color: '#0B1220', opacity: 0.75, flex: 1 }}&gt;联网交给大模型，没网用自带规则，你不用管走的哪条。&lt;/Text&gt;&#10;        &lt;/Box&gt;&#10;        &lt;Box style={{ height: 88, flexDirection: 'row', alignItems: 'center', gap: 24, padding: '0 24px', background: '#FFFFFF', border: '1px solid rgba(11,18,32,0.10)', borderRadius: 12 }}&gt;&#10;            &lt;Text style={{ fontSize: 52, fontWeight: 'bold', fontFamily: 'Consolas', color: '#0D9488', lineHeight: 1 }}&gt;03&lt;/Text&gt;&#10;            &lt;Text style={{ fontSize: 32, fontWeight: 'bold', color: '#0B1220', width: 260 }}&gt;系统先核一遍&lt;/Text&gt;&#10;            &lt;Text style={{ fontSize: 28, color: '#0B1220', opacity: 0.75, flex: 1 }}&gt;不合规的字段被退回或丢掉，不会混进你的提醒列表。&lt;/Text&gt;&#10;        &lt;/Box&gt;&#10;        &lt;Box style={{ height: 88, flexDirection: 'row', alignItems: 'center', gap: 24, padding: '0 24px', background: '#FFFFFF', border: '1px solid rgba(11,18,32,0.10)', borderRadius: 12 }}&gt;&#10;            &lt;Text style={{ fontSize: 52, fontWeight: 'bold', fontFamily: 'Consolas', color: '#0D9488', lineHeight: 1 }}&gt;04&lt;/Text&gt;&#10;            &lt;Text style={{ fontSize: 32, fontWeight: 'bold', color: '#0B1220', width: 260 }}&gt;你点确认&lt;/Text&gt;&#10;            &lt;Text style={{ fontSize: 28, color: '#0B1220', opacity: 0.75, flex: 1 }}&gt;结果摆成一张表单，对不对一眼看得出，你点头才算数。&lt;/Text&gt;&#10;        &lt;/Box&gt;&#10;        &lt;Box style={{ height: 88, flexDirection: 'row', alignItems: 'center', gap: 24, padding: '0 24px', background: 'rgba(79,224,176,0.16)', border: '1px solid rgba(13,148,136,0.35)', borderRadius: 12 }}&gt;&#10;            &lt;Text style={{ fontSize: 52, fontWeight: 'bold', fontFamily: 'Consolas', color: '#0D9488', lineHeight: 1 }}&gt;05&lt;/Text&gt;&#10;            &lt;Text style={{ fontSize: 32, fontWeight: 'bold', color: '#0B1220', width: 260 }}&gt;写进提醒列表&lt;/Text&gt;&#10;            &lt;Text style={{ fontSize: 28, color: '#0B1220', opacity: 0.85, flex: 1 }}&gt;到点弹出，可以推迟，也可以顺带锁屏、关机。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11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4196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工作流程：五步走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609600" y="1371600"/>
            <a:ext cx="109728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38200" y="1495425"/>
            <a:ext cx="5524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0D9488"/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1619250" y="1609725"/>
            <a:ext cx="24765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B1220"/>
                </a:solidFill>
                <a:latin typeface="Microsoft YaHei"/>
                <a:ea typeface="Microsoft YaHei"/>
              </a:rPr>
              <a:t>你说一句话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609600" y="2286000"/>
            <a:ext cx="109728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38200" y="2409825"/>
            <a:ext cx="5524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0D9488"/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1619250" y="2524125"/>
            <a:ext cx="24765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B1220"/>
                </a:solidFill>
                <a:latin typeface="Microsoft YaHei"/>
                <a:ea typeface="Microsoft YaHei"/>
              </a:rPr>
              <a:t>智能体去理解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609600" y="3200400"/>
            <a:ext cx="109728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838200" y="3324225"/>
            <a:ext cx="5524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0D9488"/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1619250" y="3438525"/>
            <a:ext cx="24765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B1220"/>
                </a:solidFill>
                <a:latin typeface="Microsoft YaHei"/>
                <a:ea typeface="Microsoft YaHei"/>
              </a:rPr>
              <a:t>系统先核一遍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609600" y="4114800"/>
            <a:ext cx="109728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838200" y="4238625"/>
            <a:ext cx="5524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0D9488"/>
                </a:solidFill>
                <a:latin typeface="Consolas"/>
                <a:ea typeface="Consolas"/>
              </a:rPr>
              <a:t>04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1619250" y="4352925"/>
            <a:ext cx="24765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B1220"/>
                </a:solidFill>
                <a:latin typeface="Microsoft YaHei"/>
                <a:ea typeface="Microsoft YaHei"/>
              </a:rPr>
              <a:t>你点确认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609600" y="5029200"/>
            <a:ext cx="10972800" cy="838200"/>
          </a:xfrm>
          <a:prstGeom prst="roundRect">
            <a:avLst>
              <a:gd name="adj" fmla="val 13636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838200" y="5153025"/>
            <a:ext cx="5524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0D9488"/>
                </a:solidFill>
                <a:latin typeface="Consolas"/>
                <a:ea typeface="Consolas"/>
              </a:rPr>
              <a:t>05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619250" y="5267325"/>
            <a:ext cx="24765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B1220"/>
                </a:solidFill>
                <a:latin typeface="Microsoft YaHei"/>
                <a:ea typeface="Microsoft YaHei"/>
              </a:rPr>
              <a:t>写进提醒列表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4196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从你开口到提醒生效，中间只有五步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11363325" y="962025"/>
            <a:ext cx="219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11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4324350" y="1628775"/>
            <a:ext cx="70294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75000"/>
                  </a:srgbClr>
                </a:solidFill>
                <a:latin typeface="Microsoft YaHei"/>
                <a:ea typeface="Microsoft YaHei"/>
              </a:rPr>
              <a:t>时间、重复、要干什么说清楚就行，语序随便。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4324350" y="2543175"/>
            <a:ext cx="70294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75000"/>
                  </a:srgbClr>
                </a:solidFill>
                <a:latin typeface="Microsoft YaHei"/>
                <a:ea typeface="Microsoft YaHei"/>
              </a:rPr>
              <a:t>联网交给大模型，没网用自带规则，你不用管走的哪条。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4324350" y="3457575"/>
            <a:ext cx="70294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75000"/>
                  </a:srgbClr>
                </a:solidFill>
                <a:latin typeface="Microsoft YaHei"/>
                <a:ea typeface="Microsoft YaHei"/>
              </a:rPr>
              <a:t>不合规的字段被退回或丢掉，不会混进你的提醒列表。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4324350" y="4371975"/>
            <a:ext cx="70294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75000"/>
                  </a:srgbClr>
                </a:solidFill>
                <a:latin typeface="Microsoft YaHei"/>
                <a:ea typeface="Microsoft YaHei"/>
              </a:rPr>
              <a:t>结果摆成一张表单，对不对一眼看得出，你点头才算数。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4324350" y="5286375"/>
            <a:ext cx="70294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85000"/>
                  </a:srgbClr>
                </a:solidFill>
                <a:latin typeface="Microsoft YaHei"/>
                <a:ea typeface="Microsoft YaHei"/>
              </a:rPr>
              <a:t>到点弹出，可以推迟，也可以顺带锁屏、关机。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0953750" y="6067425"/>
            <a:ext cx="628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11 / 38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0" name="" descr="&lt;Slide style={{ width: 1280, height: 720, background: '#F5F9FC', padding: '20px 64px' }}&gt;&#10;    &lt;Box style={{ height: 600, flexDirection: 'row', alignItems: 'center', gap: 64 }}&gt;&#10;        &lt;Text style={{ fontSize: 230, fontWeight: 'bold', fontFamily: 'Consolas', color: '#0D9488', opacity: 0.18, lineHeight: 1 }}&gt;03&lt;/Text&gt;&#10;        &lt;Box style={{ flexDirection: 'column', gap: 22, width: 640 }}&gt;&#10;            &lt;Text style={{ fontSize: 64, fontWeight: 'bold', color: '#0B1220', lineHeight: 1.15 }}&gt;目标用户群体&lt;/Text&gt;&#10;            &lt;Box style={{ height: 4, width: 120, background: 'linear-gradient(135deg, #4FE0B0 0%, #0D9488 100%)', borderRadius: 2 }} /&gt;&#10;            &lt;Text style={{ fontSize: 30, color: '#0B1220', opacity: 0.72, lineHeight: 1.6 }}&gt;不是拍脑袋：&lt;br /&gt;谁会用、规模有多大，用数据说话。&lt;/Text&gt;&#10;            &lt;Text style={{ fontSize: 24, fontFamily: 'Consolas', color: '#0D9488', letterSpacing: 2 }}&gt;P12 – P15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12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3657600" y="1600200"/>
            <a:ext cx="60960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0B1220"/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3657600" y="2657475"/>
            <a:ext cx="1143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4FE0B0"/>
              </a:gs>
              <a:gs pos="100000">
                <a:srgbClr val="0D948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3657600" y="4219575"/>
            <a:ext cx="6096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150">
                <a:solidFill>
                  <a:srgbClr val="0D9488"/>
                </a:solidFill>
                <a:latin typeface="Consolas"/>
                <a:ea typeface="Consolas"/>
              </a:rPr>
              <a:t>P12 – P15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09600" y="1733550"/>
            <a:ext cx="2438400" cy="2628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0" b="1">
                <a:solidFill>
                  <a:srgbClr val="0D9488">
                    <a:alpha val="18000"/>
                  </a:srgbClr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3657600" y="2905125"/>
            <a:ext cx="6096000" cy="11049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22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不是拍脑袋：</a:t>
            </a:r>
            <a:endParaRPr/>
          </a:p>
          <a:p>
            <a:pPr>
              <a:lnSpc>
                <a:spcPct val="160000"/>
              </a:lnSpc>
            </a:pPr>
            <a:r>
              <a:rPr lang="zh-CN" sz="22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谁会用、规模有多大，用数据说话。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12 / 38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59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用户画像 · 学生群体&lt;/Text&gt;&#10;            &lt;Text style={{ fontSize: 28, color: '#0B1220', opacity: 0.6, letterSpacing: 1 }}&gt;在校生、备考族，最容易&quot;坐忘了&quot;&lt;/Text&gt;&#10;        &lt;/Box&gt;&#10;        &lt;Text style={{ fontSize: 22, fontFamily: 'Consolas', color: '#0B1220', opacity: 0.35 }}&gt;13&lt;/Text&gt;&#10;    &lt;/Box&gt;&#10;    &lt;Box style={{ height: 476, flexDirection: 'row', gap: 40, alignItems: 'center' }}&gt;&#10;        &lt;Box style={{ width: 560, height: 420, flexDirection: 'column', justifyContent: 'center', alignItems: 'center', gap: 12, background: 'rgba(13,148,136,0.07)', border: '2px dashed rgba(13,148,136,0.5)', borderRadius: 12, padding: '0 20px' }}&gt;&#10;            &lt;Text style={{ fontSize: 22, fontFamily: 'Consolas', color: '#0D9488', letterSpacing: 1 }}&gt;数据图 ⑪&lt;/Text&gt;&#10;            &lt;Text style={{ fontSize: 28, fontWeight: 'bold', color: '#0B1220', textAlign: 'center' }}&gt;学生群体规模 / 占比&lt;/Text&gt;&#10;            &lt;Text style={{ fontSize: 22, color: '#0B1220', opacity: 0.5, textAlign: 'center', lineHeight: 1.6 }}&gt;建议画面：在校生或备考人群的&lt;br /&gt;柱状 / 饼图（规模或占比）&lt;/Text&gt;&#10;            &lt;Text style={{ fontSize: 22, color: '#0D9488', textAlign: 'center', lineHeight: 1.5 }}&gt;※ 建议补充真实调研数据，不编造&lt;/Text&gt;&#10;        &lt;/Box&gt;&#10;        &lt;Box style={{ flex: 1, flexDirection: 'column', gap: 18, justifyContent: 'center' }}&gt;&#10;            &lt;Text style={{ fontSize: 36, fontWeight: 'bold', color: '#0D9488', lineHeight: 1.4 }}&gt;最容易坐忘的，&lt;br /&gt;是在校生。&lt;/Text&gt;&#10;            &lt;Text style={{ fontSize: 28, color: '#0B1220', opacity: 0.8, lineHeight: 1.5 }}&gt;备考、写论文、做实验，一坐一整天。&lt;/Text&gt;&#10;            &lt;Text style={{ fontSize: 28, color: '#0B1220', opacity: 0.8, lineHeight: 1.5 }}&gt;有手机有电脑，却少一个提醒自己休息的。&lt;/Text&gt;&#10;            &lt;Box style={{ padding: '18px 22px', background: 'rgba(79,224,176,0.16)', border: '1px solid rgba(13,148,136,0.35)', borderRadius: 12 }}&gt;&#10;                &lt;Text style={{ fontSize: 28, color: '#0B1220', lineHeight: 1.5 }}&gt;典型：&lt;span style={{ color: '#0D9488', fontWeight: 'bold' }}&gt;大学生、考研 / 考公族&lt;/span&gt;&lt;/Text&gt;&#10;            &lt;/Box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13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0767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用户画像</a:t>
            </a:r>
            <a:r>
              <a:rPr lang="en-US" sz="3450" b="1">
                <a:solidFill>
                  <a:srgbClr val="0B122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学生群体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609600" y="1638300"/>
            <a:ext cx="5334000" cy="4000500"/>
          </a:xfrm>
          <a:prstGeom prst="roundRect">
            <a:avLst>
              <a:gd name="adj" fmla="val 2857"/>
            </a:avLst>
          </a:prstGeom>
          <a:solidFill>
            <a:srgbClr val="0D9488">
              <a:alpha val="7000"/>
            </a:srgbClr>
          </a:solidFill>
          <a:ln w="25400">
            <a:solidFill>
              <a:srgbClr val="0D9488">
                <a:alpha val="50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2800350" y="2581275"/>
            <a:ext cx="952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0D9488"/>
                </a:solidFill>
                <a:latin typeface="Consolas"/>
                <a:ea typeface="Consolas"/>
              </a:rPr>
              <a:t>数据图</a:t>
            </a:r>
            <a:r>
              <a:rPr lang="en-US" sz="1650" spc="75">
                <a:solidFill>
                  <a:srgbClr val="0D9488"/>
                </a:solidFill>
                <a:latin typeface="Consolas"/>
                <a:ea typeface="Consolas"/>
              </a:rPr>
              <a:t xml:space="preserve"> ⑪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2095500" y="2952750"/>
            <a:ext cx="23622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0B1220"/>
                </a:solidFill>
                <a:latin typeface="Microsoft YaHei"/>
                <a:ea typeface="Microsoft YaHei"/>
              </a:rPr>
              <a:t>学生群体规模</a:t>
            </a:r>
            <a:r>
              <a:rPr lang="en-US" sz="2100" b="1">
                <a:solidFill>
                  <a:srgbClr val="0B122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100" b="1">
                <a:solidFill>
                  <a:srgbClr val="0B1220"/>
                </a:solidFill>
                <a:latin typeface="Microsoft YaHei"/>
                <a:ea typeface="Microsoft YaHei"/>
              </a:rPr>
              <a:t>占比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724025" y="4314825"/>
            <a:ext cx="3114675" cy="3810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650">
                <a:solidFill>
                  <a:srgbClr val="0D9488"/>
                </a:solidFill>
                <a:latin typeface="Microsoft YaHei"/>
                <a:ea typeface="Microsoft YaHei"/>
              </a:rPr>
              <a:t xml:space="preserve">※ </a:t>
            </a:r>
            <a:r>
              <a:rPr lang="zh-CN" sz="1650">
                <a:solidFill>
                  <a:srgbClr val="0D9488"/>
                </a:solidFill>
                <a:latin typeface="Microsoft YaHei"/>
                <a:ea typeface="Microsoft YaHei"/>
              </a:rPr>
              <a:t>建议补充真实调研数据，不编造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6324600" y="1905000"/>
            <a:ext cx="5257800" cy="11525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最容易坐忘的，</a:t>
            </a:r>
            <a:endParaRPr/>
          </a:p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是在校生。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6324600" y="4543425"/>
            <a:ext cx="5257800" cy="828675"/>
          </a:xfrm>
          <a:prstGeom prst="roundRect">
            <a:avLst>
              <a:gd name="adj" fmla="val 13793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534150" y="4714875"/>
            <a:ext cx="48387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典型：</a:t>
            </a:r>
            <a:r>
              <a:rPr lang="zh-CN" sz="2100" b="1">
                <a:solidFill>
                  <a:srgbClr val="0D9488"/>
                </a:solidFill>
                <a:latin typeface="Microsoft YaHei"/>
                <a:ea typeface="Microsoft YaHei"/>
              </a:rPr>
              <a:t>大学生、考研</a:t>
            </a:r>
            <a:r>
              <a:rPr lang="en-US" sz="2100" b="1">
                <a:solidFill>
                  <a:srgbClr val="0D948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100" b="1">
                <a:solidFill>
                  <a:srgbClr val="0D9488"/>
                </a:solidFill>
                <a:latin typeface="Microsoft YaHei"/>
                <a:ea typeface="Microsoft YaHei"/>
              </a:rPr>
              <a:t>考公族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076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在校生、备考族，最容易</a:t>
            </a: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坐忘了</a:t>
            </a: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13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1809750" y="3390900"/>
            <a:ext cx="2933700" cy="80962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建议画面：在校生或备考人群的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柱状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饼图（规模或占比）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324600" y="3228975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备考、写论文、做实验，一坐一整天。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6324600" y="3886200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有手机有电脑，却少一个提醒自己休息的。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13 / 38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76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用户画像 · 职场人群&lt;/Text&gt;&#10;            &lt;Text style={{ fontSize: 28, color: '#0B1220', opacity: 0.6, letterSpacing: 1 }}&gt;久坐办公族，视疲劳与颈椎负担最重&lt;/Text&gt;&#10;        &lt;/Box&gt;&#10;        &lt;Text style={{ fontSize: 22, fontFamily: 'Consolas', color: '#0B1220', opacity: 0.35 }}&gt;14&lt;/Text&gt;&#10;    &lt;/Box&gt;&#10;    &lt;Box style={{ height: 476, flexDirection: 'row', gap: 40, alignItems: 'center' }}&gt;&#10;        &lt;Box style={{ width: 560, height: 420, flexDirection: 'column', justifyContent: 'center', alignItems: 'center', gap: 12, background: 'rgba(13,148,136,0.07)', border: '2px dashed rgba(13,148,136,0.5)', borderRadius: 12, padding: '0 20px' }}&gt;&#10;            &lt;Text style={{ fontSize: 22, fontFamily: 'Consolas', color: '#0D9488', letterSpacing: 1 }}&gt;数据图 ⑫&lt;/Text&gt;&#10;            &lt;Text style={{ fontSize: 28, fontWeight: 'bold', color: '#0B1220', textAlign: 'center' }}&gt;职场久坐人群规模&lt;/Text&gt;&#10;            &lt;Text style={{ fontSize: 22, color: '#0B1220', opacity: 0.5, textAlign: 'center', lineHeight: 1.6 }}&gt;建议画面：办公族久坐时长的&lt;br /&gt;分布（如日均久坐小时数）&lt;/Text&gt;&#10;            &lt;Text style={{ fontSize: 22, color: '#0D9488', textAlign: 'center', lineHeight: 1.5 }}&gt;※ 建议补充真实调研数据，不编造&lt;/Text&gt;&#10;        &lt;/Box&gt;&#10;        &lt;Box style={{ flex: 1, flexDirection: 'column', gap: 18, justifyContent: 'center' }}&gt;&#10;            &lt;Text style={{ fontSize: 36, fontWeight: 'bold', color: '#0D9488', lineHeight: 1.4 }}&gt;久坐办公族，&lt;br /&gt;负担最重。&lt;/Text&gt;&#10;            &lt;Text style={{ fontSize: 28, color: '#0B1220', opacity: 0.8, lineHeight: 1.5 }}&gt;视疲劳、肩颈问题，常年排在前面。&lt;/Text&gt;&#10;            &lt;Text style={{ fontSize: 28, color: '#0B1220', opacity: 0.8, lineHeight: 1.5 }}&gt;他们要的是不打断、又能见效的提醒。&lt;/Text&gt;&#10;            &lt;Box style={{ padding: '18px 22px', background: 'rgba(79,224,176,0.16)', border: '1px solid rgba(13,148,136,0.35)', borderRadius: 12 }}&gt;&#10;                &lt;Text style={{ fontSize: 28, color: '#0B1220', lineHeight: 1.5 }}&gt;典型：&lt;span style={{ color: '#0D9488', fontWeight: 'bold' }}&gt;程序、文案、设计、运营&lt;/span&gt;&lt;/Text&gt;&#10;            &lt;/Box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14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4196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用户画像</a:t>
            </a:r>
            <a:r>
              <a:rPr lang="en-US" sz="3450" b="1">
                <a:solidFill>
                  <a:srgbClr val="0B122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职场人群</a:t>
            </a:r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609600" y="1638300"/>
            <a:ext cx="5334000" cy="4000500"/>
          </a:xfrm>
          <a:prstGeom prst="roundRect">
            <a:avLst>
              <a:gd name="adj" fmla="val 2857"/>
            </a:avLst>
          </a:prstGeom>
          <a:solidFill>
            <a:srgbClr val="0D9488">
              <a:alpha val="7000"/>
            </a:srgbClr>
          </a:solidFill>
          <a:ln w="25400">
            <a:solidFill>
              <a:srgbClr val="0D9488">
                <a:alpha val="50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2800350" y="2581275"/>
            <a:ext cx="952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0D9488"/>
                </a:solidFill>
                <a:latin typeface="Consolas"/>
                <a:ea typeface="Consolas"/>
              </a:rPr>
              <a:t>数据图</a:t>
            </a:r>
            <a:r>
              <a:rPr lang="en-US" sz="1650" spc="75">
                <a:solidFill>
                  <a:srgbClr val="0D9488"/>
                </a:solidFill>
                <a:latin typeface="Consolas"/>
                <a:ea typeface="Consolas"/>
              </a:rPr>
              <a:t xml:space="preserve"> ⑫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2209800" y="2952750"/>
            <a:ext cx="21336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0B1220"/>
                </a:solidFill>
                <a:latin typeface="Microsoft YaHei"/>
                <a:ea typeface="Microsoft YaHei"/>
              </a:rPr>
              <a:t>职场久坐人群规模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1724025" y="4314825"/>
            <a:ext cx="3114675" cy="3810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650">
                <a:solidFill>
                  <a:srgbClr val="0D9488"/>
                </a:solidFill>
                <a:latin typeface="Microsoft YaHei"/>
                <a:ea typeface="Microsoft YaHei"/>
              </a:rPr>
              <a:t xml:space="preserve">※ </a:t>
            </a:r>
            <a:r>
              <a:rPr lang="zh-CN" sz="1650">
                <a:solidFill>
                  <a:srgbClr val="0D9488"/>
                </a:solidFill>
                <a:latin typeface="Microsoft YaHei"/>
                <a:ea typeface="Microsoft YaHei"/>
              </a:rPr>
              <a:t>建议补充真实调研数据，不编造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324600" y="1905000"/>
            <a:ext cx="5257800" cy="11525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久坐办公族，</a:t>
            </a:r>
            <a:endParaRPr/>
          </a:p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负担最重。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6324600" y="4543425"/>
            <a:ext cx="5257800" cy="828675"/>
          </a:xfrm>
          <a:prstGeom prst="roundRect">
            <a:avLst>
              <a:gd name="adj" fmla="val 13793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6534150" y="4714875"/>
            <a:ext cx="48387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典型：</a:t>
            </a:r>
            <a:r>
              <a:rPr lang="zh-CN" sz="2100" b="1">
                <a:solidFill>
                  <a:srgbClr val="0D9488"/>
                </a:solidFill>
                <a:latin typeface="Microsoft YaHei"/>
                <a:ea typeface="Microsoft YaHei"/>
              </a:rPr>
              <a:t>程序、文案、设计、运营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4196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久坐办公族，视疲劳与颈椎负担最重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14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1914525" y="3390900"/>
            <a:ext cx="2724150" cy="80962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建议画面：办公族久坐时长的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分布（如日均久坐小时数）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6324600" y="3228975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视疲劳、肩颈问题，常年排在前面。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6324600" y="3886200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他们要的是不打断、又能见效的提醒。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14 / 38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93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调研数据支撑&lt;/Text&gt;&#10;            &lt;Text style={{ fontSize: 28, color: '#0B1220', opacity: 0.6, letterSpacing: 1 }}&gt;用真实问卷，印证&quot;需要被提醒休息&quot;&lt;/Text&gt;&#10;        &lt;/Box&gt;&#10;        &lt;Text style={{ fontSize: 22, fontFamily: 'Consolas', color: '#0B1220', opacity: 0.35 }}&gt;15&lt;/Text&gt;&#10;    &lt;/Box&gt;&#10;    &lt;Box style={{ height: 476, flexDirection: 'column', gap: 22, justifyContent: 'center' }}&gt;&#10;        &lt;Box style={{ width: 1112, height: 270, flexDirection: 'column', justifyContent: 'center', alignItems: 'center', gap: 12, background: 'rgba(13,148,136,0.07)', border: '2px dashed rgba(13,148,136,0.5)', borderRadius: 12, padding: '0 20px' }}&gt;&#10;            &lt;Text style={{ fontSize: 22, fontFamily: 'Consolas', color: '#0D9488', letterSpacing: 1 }}&gt;数据图 ⑬&lt;/Text&gt;&#10;            &lt;Text style={{ fontSize: 28, fontWeight: 'bold', color: '#0B1220', textAlign: 'center' }}&gt;需求印证问卷结果&lt;/Text&gt;&#10;            &lt;Text style={{ fontSize: 22, color: '#0B1220', opacity: 0.5, textAlign: 'center', lineHeight: 1.6 }}&gt;建议画面：&quot;是否需要被提醒休息&quot;的问卷结果&lt;br /&gt;（如&quot;需要 / 偶尔 / 不需要&quot;的占比）&lt;/Text&gt;&#10;            &lt;Text style={{ fontSize: 22, color: '#0D9488', textAlign: 'center', lineHeight: 1.5 }}&gt;※ 建议补充真实调研数据，不编造&lt;/Text&gt;&#10;        &lt;/Box&gt;&#10;        &lt;Box style={{ padding: '18px 24px', background: 'rgba(79,224,176,0.16)', border: '1px solid rgba(13,148,136,0.35)', borderRadius: 12, alignSelf: 'center' }}&gt;&#10;            &lt;Text style={{ fontSize: 28, color: '#0B1220', lineHeight: 1.5 }}&gt;把问卷结果填进来：&lt;span style={{ color: '#0D9488', fontWeight: 'bold' }}&gt;多数人说&quot;需要被提醒&quot;&lt;/span&gt;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15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35292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调研数据支撑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609600" y="1838325"/>
            <a:ext cx="10591800" cy="2571750"/>
          </a:xfrm>
          <a:prstGeom prst="roundRect">
            <a:avLst>
              <a:gd name="adj" fmla="val 4444"/>
            </a:avLst>
          </a:prstGeom>
          <a:solidFill>
            <a:srgbClr val="0D9488">
              <a:alpha val="7000"/>
            </a:srgbClr>
          </a:solidFill>
          <a:ln w="25400">
            <a:solidFill>
              <a:srgbClr val="0D9488">
                <a:alpha val="50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5429250" y="2066925"/>
            <a:ext cx="952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0D9488"/>
                </a:solidFill>
                <a:latin typeface="Consolas"/>
                <a:ea typeface="Consolas"/>
              </a:rPr>
              <a:t>数据图</a:t>
            </a:r>
            <a:r>
              <a:rPr lang="en-US" sz="1650" spc="75">
                <a:solidFill>
                  <a:srgbClr val="0D9488"/>
                </a:solidFill>
                <a:latin typeface="Consolas"/>
                <a:ea typeface="Consolas"/>
              </a:rPr>
              <a:t xml:space="preserve"> ⑬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4838700" y="2438400"/>
            <a:ext cx="21336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0B1220"/>
                </a:solidFill>
                <a:latin typeface="Microsoft YaHei"/>
                <a:ea typeface="Microsoft YaHei"/>
              </a:rPr>
              <a:t>需求印证问卷结果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4352925" y="3800475"/>
            <a:ext cx="3114675" cy="3810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650">
                <a:solidFill>
                  <a:srgbClr val="0D9488"/>
                </a:solidFill>
                <a:latin typeface="Microsoft YaHei"/>
                <a:ea typeface="Microsoft YaHei"/>
              </a:rPr>
              <a:t xml:space="preserve">※ </a:t>
            </a:r>
            <a:r>
              <a:rPr lang="zh-CN" sz="1650">
                <a:solidFill>
                  <a:srgbClr val="0D9488"/>
                </a:solidFill>
                <a:latin typeface="Microsoft YaHei"/>
                <a:ea typeface="Microsoft YaHei"/>
              </a:rPr>
              <a:t>建议补充真实调研数据，不编造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3343275" y="4619625"/>
            <a:ext cx="5514975" cy="828675"/>
          </a:xfrm>
          <a:prstGeom prst="roundRect">
            <a:avLst>
              <a:gd name="adj" fmla="val 13793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3571875" y="4791075"/>
            <a:ext cx="5057775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把问卷结果填进来：</a:t>
            </a:r>
            <a:r>
              <a:rPr lang="zh-CN" sz="2100" b="1">
                <a:solidFill>
                  <a:srgbClr val="0D9488"/>
                </a:solidFill>
                <a:latin typeface="Microsoft YaHei"/>
                <a:ea typeface="Microsoft YaHei"/>
              </a:rPr>
              <a:t>多数人说</a:t>
            </a:r>
            <a:r>
              <a:rPr lang="en-US" sz="2100" b="1">
                <a:solidFill>
                  <a:srgbClr val="0D9488"/>
                </a:solidFill>
                <a:latin typeface="Microsoft YaHei"/>
                <a:ea typeface="Microsoft YaHei"/>
              </a:rPr>
              <a:t>"</a:t>
            </a:r>
            <a:r>
              <a:rPr lang="zh-CN" sz="2100" b="1">
                <a:solidFill>
                  <a:srgbClr val="0D9488"/>
                </a:solidFill>
                <a:latin typeface="Microsoft YaHei"/>
                <a:ea typeface="Microsoft YaHei"/>
              </a:rPr>
              <a:t>需要被提醒</a:t>
            </a:r>
            <a:r>
              <a:rPr lang="en-US" sz="2100" b="1">
                <a:solidFill>
                  <a:srgbClr val="0D9488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3529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用真实问卷，印证</a:t>
            </a: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需要被提醒休息</a:t>
            </a: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15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3838575" y="2876550"/>
            <a:ext cx="4133850" cy="80962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建议画面：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是否需要被提醒休息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的问卷结果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（如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需要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偶尔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不需要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的占比）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15 / 38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07" name="" descr="&lt;Slide style={{ width: 1280, height: 720, background: '#F5F9FC', padding: '20px 64px' }}&gt;&#10;    &lt;Box style={{ height: 600, flexDirection: 'row', alignItems: 'center', gap: 64 }}&gt;&#10;        &lt;Text style={{ fontSize: 230, fontWeight: 'bold', fontFamily: 'Consolas', color: '#0D9488', opacity: 0.18, lineHeight: 1 }}&gt;04&lt;/Text&gt;&#10;        &lt;Box style={{ flexDirection: 'column', gap: 22, width: 660 }}&gt;&#10;            &lt;Text style={{ fontSize: 64, fontWeight: 'bold', color: '#0B1220', lineHeight: 1.15 }}&gt;智能体开发过程&lt;/Text&gt;&#10;            &lt;Box style={{ height: 4, width: 120, background: 'linear-gradient(135deg, #4FE0B0 0%, #0D9488 100%)', borderRadius: 2 }} /&gt;&#10;            &lt;Text style={{ fontSize: 30, color: '#0B1220', opacity: 0.72, lineHeight: 1.6 }}&gt;一个人 + AI 助手，&lt;br /&gt;是怎么把它做出来的。&lt;/Text&gt;&#10;            &lt;Text style={{ fontSize: 24, fontFamily: 'Consolas', color: '#0D9488', letterSpacing: 2 }}&gt;P16 – P23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16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3657600" y="1600200"/>
            <a:ext cx="62865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0B1220"/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3657600" y="2657475"/>
            <a:ext cx="1143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4FE0B0"/>
              </a:gs>
              <a:gs pos="100000">
                <a:srgbClr val="0D948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657600" y="4219575"/>
            <a:ext cx="6286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150">
                <a:solidFill>
                  <a:srgbClr val="0D9488"/>
                </a:solidFill>
                <a:latin typeface="Consolas"/>
                <a:ea typeface="Consolas"/>
              </a:rPr>
              <a:t>P16 – P23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609600" y="1733550"/>
            <a:ext cx="2438400" cy="2628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0" b="1">
                <a:solidFill>
                  <a:srgbClr val="0D9488">
                    <a:alpha val="18000"/>
                  </a:srgbClr>
                </a:solidFill>
                <a:latin typeface="Consolas"/>
                <a:ea typeface="Consolas"/>
              </a:rPr>
              <a:t>04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3657600" y="2905125"/>
            <a:ext cx="6286500" cy="11049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22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一个人</a:t>
            </a:r>
            <a:r>
              <a:rPr lang="en-US" sz="22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 xml:space="preserve"> + AI </a:t>
            </a:r>
            <a:r>
              <a:rPr lang="zh-CN" sz="22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助手，</a:t>
            </a:r>
            <a:endParaRPr/>
          </a:p>
          <a:p>
            <a:pPr>
              <a:lnSpc>
                <a:spcPct val="160000"/>
              </a:lnSpc>
            </a:pPr>
            <a:r>
              <a:rPr lang="zh-CN" sz="22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是怎么把它做出来的。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>
  <p:cSld>
    <p:spTree>
      <p:nvGrpSpPr>
        <p:cNvPr id="116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一个人 + AI 助手怎么配合&lt;/Text&gt;&#10;            &lt;Text style={{ fontSize: 28, color: '#0B1220', opacity: 0.6, letterSpacing: 1 }}&gt;想法和结构是我定的，AI 帮忙写代码和文案&lt;/Text&gt;&#10;        &lt;/Box&gt;&#10;        &lt;Text style={{ fontSize: 22, fontFamily: 'Consolas', color: '#0B1220', opacity: 0.35 }}&gt;17&lt;/Text&gt;&#10;    &lt;/Box&gt;&#10;    &lt;Box style={{ height: 476, flexDirection: 'row', gap: 28, alignItems: 'stretch' }}&gt;&#10;        &lt;Box style={{ flex: 1, flexDirection: 'column', gap: 16, padding: '26px 28px', background: '#FFFFFF', border: '1px solid rgba(11,18,32,0.10)', borderRadius: 12 }}&gt;&#10;            &lt;Text style={{ fontSize: 34, fontWeight: 'bold', color: '#0D9488' }}&gt;我（开发者）负责&lt;/Text&gt;&#10;            &lt;Text style={{ fontSize: 28, color: '#0B1220', opacity: 0.82, lineHeight: 1.55 }}&gt;· 定产品方向与功能边界&lt;/Text&gt;&#10;            &lt;Text style={{ fontSize: 28, color: '#0B1220', opacity: 0.82, lineHeight: 1.55 }}&gt;· 设计数据结构和交互&lt;/Text&gt;&#10;            &lt;Text style={{ fontSize: 28, color: '#0B1220', opacity: 0.82, lineHeight: 1.55 }}&gt;· 做关键判断与取舍&lt;/Text&gt;&#10;            &lt;Text style={{ fontSize: 28, color: '#0B1220', opacity: 0.82, lineHeight: 1.55 }}&gt;· 跑测试、把关质量&lt;/Text&gt;&#10;        &lt;/Box&gt;&#10;        &lt;Box style={{ flex: 1, flexDirection: 'column', gap: 16, padding: '26px 28px', background: 'rgba(79,224,176,0.16)', border: '1px solid rgba(13,148,136,0.35)', borderRadius: 12 }}&gt;&#10;            &lt;Text style={{ fontSize: 34, fontWeight: 'bold', color: '#0D9488' }}&gt;AI 助手负责&lt;/Text&gt;&#10;            &lt;Text style={{ fontSize: 28, color: '#0B1220', opacity: 0.82, lineHeight: 1.55 }}&gt;· 按需求写代码与界面&lt;/Text&gt;&#10;            &lt;Text style={{ fontSize: 28, color: '#0B1220', opacity: 0.82, lineHeight: 1.55 }}&gt;· 起草说明文档与文案&lt;/Text&gt;&#10;            &lt;Text style={{ fontSize: 28, color: '#0B1220', opacity: 0.82, lineHeight: 1.55 }}&gt;· 查资料、给实现建议&lt;/Text&gt;&#10;            &lt;Text style={{ fontSize: 28, color: '#0B1220', opacity: 0.82, lineHeight: 1.55 }}&gt;· 出初稿，我来审改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17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5334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一个人</a:t>
            </a:r>
            <a:r>
              <a:rPr lang="en-US" sz="3450" b="1">
                <a:solidFill>
                  <a:srgbClr val="0B1220"/>
                </a:solidFill>
                <a:latin typeface="Microsoft YaHei"/>
                <a:ea typeface="Microsoft YaHei"/>
              </a:rPr>
              <a:t xml:space="preserve"> + AI </a:t>
            </a: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助手怎么配合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609600" y="1371600"/>
            <a:ext cx="5353050" cy="4533900"/>
          </a:xfrm>
          <a:prstGeom prst="roundRect">
            <a:avLst>
              <a:gd name="adj" fmla="val 2521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876300" y="1619250"/>
            <a:ext cx="48196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D9488"/>
                </a:solidFill>
                <a:latin typeface="Microsoft YaHei"/>
                <a:ea typeface="Microsoft YaHei"/>
              </a:rPr>
              <a:t>我（开发者）负责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6229350" y="1371600"/>
            <a:ext cx="5353050" cy="4533900"/>
          </a:xfrm>
          <a:prstGeom prst="roundRect">
            <a:avLst>
              <a:gd name="adj" fmla="val 2521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496050" y="1619250"/>
            <a:ext cx="48196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D9488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0D9488"/>
                </a:solidFill>
                <a:latin typeface="Microsoft YaHei"/>
                <a:ea typeface="Microsoft YaHei"/>
              </a:rPr>
              <a:t>助手负责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5334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想法和结构是我定的，</a:t>
            </a: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帮忙写代码和文案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17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876300" y="2162175"/>
            <a:ext cx="48196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定产品方向与功能边界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876300" y="2819400"/>
            <a:ext cx="48196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设计数据结构和交互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876300" y="3476625"/>
            <a:ext cx="48196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做关键判断与取舍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876300" y="4133850"/>
            <a:ext cx="48196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跑测试、把关质量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6496050" y="2162175"/>
            <a:ext cx="48196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按需求写代码与界面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6496050" y="2819400"/>
            <a:ext cx="48196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起草说明文档与文案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6496050" y="3476625"/>
            <a:ext cx="48196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查资料、给实现建议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496050" y="4133850"/>
            <a:ext cx="48196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出初稿，我来审改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17 / 38</a:t>
            </a:r>
            <a:endParaRPr/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>
  <p:cSld>
    <p:spTree>
      <p:nvGrpSpPr>
        <p:cNvPr id="135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提示词怎么设计&lt;/Text&gt;&#10;            &lt;Text style={{ fontSize: 28, color: '#0B1220', opacity: 0.6, letterSpacing: 1 }}&gt;先约束输出格式，再谈理解力&lt;/Text&gt;&#10;        &lt;/Box&gt;&#10;        &lt;Text style={{ fontSize: 22, fontFamily: 'Consolas', color: '#0B1220', opacity: 0.35 }}&gt;18&lt;/Text&gt;&#10;    &lt;/Box&gt;&#10;    &lt;Box style={{ height: 476, flexDirection: 'column', gap: 18, justifyContent: 'center' }}&gt;&#10;        &lt;Box style={{ flexDirection: 'row', gap: 20, alignItems: 'stretch' }}&gt;&#10;            &lt;Box style={{ flex: 1, flexDirection: 'column', gap: 10, padding: '22px 24px', background: '#FFFFFF', border: '1px solid rgba(11,18,32,0.10)', borderRadius: 12 }}&gt;&#10;                &lt;Text style={{ fontSize: 26, fontWeight: 'bold', color: '#0D9488' }}&gt;提示词（约束格式）&lt;/Text&gt;&#10;                &lt;Text style={{ fontSize: 26, color: '#0B1220', opacity: 0.78, lineHeight: 1.5 }}&gt;&quot;只输出 JSON：type / time / repeat / action，不要解释。&quot;&lt;/Text&gt;&#10;            &lt;/Box&gt;&#10;            &lt;Box style={{ width: 70, justifyContent: 'center', alignItems: 'center' }}&gt;&#10;                &lt;Text style={{ fontSize: 40, color: '#0D9488', fontWeight: 'bold' }}&gt;→&lt;/Text&gt;&#10;            &lt;/Box&gt;&#10;            &lt;Box style={{ flex: 1, flexDirection: 'column', gap: 10, padding: '22px 24px', background: 'rgba(79,224,176,0.16)', border: '1px solid rgba(13,148,136,0.35)', borderRadius: 12 }}&gt;&#10;                &lt;Text style={{ fontSize: 26, fontWeight: 'bold', color: '#0D9488' }}&gt;结构化结果（JSON）&lt;/Text&gt;&#10;                &lt;Text style={{ fontSize: 26, color: '#0B1220', opacity: 0.78, lineHeight: 1.5 }}&gt;{ '{ type:&quot;rest&quot;, time:&quot;50m&quot;, repeat:&quot;daily&quot;, action:&quot;notify&quot; }' }&lt;/Text&gt;&#10;            &lt;/Box&gt;&#10;        &lt;/Box&gt;&#10;        &lt;Box style={{ flexDirection: 'row', gap: 18 }}&gt;&#10;            &lt;Box style={{ flex: 1, flexDirection: 'row', alignItems: 'center', gap: 16, padding: '18px 22px', background: '#FFFFFF', border: '1px solid rgba(11,18,32,0.10)', borderRadius: 12 }}&gt;&#10;                &lt;Text style={{ fontSize: 40, fontWeight: 'bold', fontFamily: 'Consolas', color: '#0D9488' }}&gt;1&lt;/Text&gt;&#10;                &lt;Text style={{ fontSize: 28, color: '#0B1220', opacity: 0.82 }}&gt;先定输出格式，避免天马行空&lt;/Text&gt;&#10;            &lt;/Box&gt;&#10;            &lt;Box style={{ flex: 1, flexDirection: 'row', alignItems: 'center', gap: 16, padding: '18px 22px', background: '#FFFFFF', border: '1px solid rgba(11,18,32,0.10)', borderRadius: 12 }}&gt;&#10;                &lt;Text style={{ fontSize: 40, fontWeight: 'bold', fontFamily: 'Consolas', color: '#0D9488' }}&gt;2&lt;/Text&gt;&#10;                &lt;Text style={{ fontSize: 28, color: '#0B1220', opacity: 0.82 }}&gt;再让模型去理解自然语言&lt;/Text&gt;&#10;            &lt;/Box&gt;&#10;            &lt;Box style={{ flex: 1, flexDirection: 'row', alignItems: 'center', gap: 16, padding: '18px 22px', background: '#FFFFFF', border: '1px solid rgba(11,18,32,0.10)', borderRadius: 12 }}&gt;&#10;                &lt;Text style={{ fontSize: 40, fontWeight: 'bold', fontFamily: 'Consolas', color: '#0D9488' }}&gt;3&lt;/Text&gt;&#10;                &lt;Text style={{ fontSize: 28, color: '#0B1220', opacity: 0.82 }}&gt;结果永远过一遍校验层&lt;/Text&gt;&#10;            &lt;/Box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18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359092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提示词怎么设计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609600" y="2200275"/>
            <a:ext cx="4962525" cy="1714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838200" y="2409825"/>
            <a:ext cx="4505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0D9488"/>
                </a:solidFill>
                <a:latin typeface="Microsoft YaHei"/>
                <a:ea typeface="Microsoft YaHei"/>
              </a:rPr>
              <a:t>提示词（约束格式）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5905500" y="2828925"/>
            <a:ext cx="381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3000" b="1">
                <a:solidFill>
                  <a:srgbClr val="0D948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6619875" y="2200275"/>
            <a:ext cx="4962525" cy="1714500"/>
          </a:xfrm>
          <a:prstGeom prst="roundRect">
            <a:avLst>
              <a:gd name="adj" fmla="val 6667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6848475" y="2409825"/>
            <a:ext cx="4505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0D9488"/>
                </a:solidFill>
                <a:latin typeface="Microsoft YaHei"/>
                <a:ea typeface="Microsoft YaHei"/>
              </a:rPr>
              <a:t>结构化结果（</a:t>
            </a:r>
            <a:r>
              <a:rPr lang="en-US" sz="1950" b="1">
                <a:solidFill>
                  <a:srgbClr val="0D9488"/>
                </a:solidFill>
                <a:latin typeface="Microsoft YaHei"/>
                <a:ea typeface="Microsoft YaHei"/>
              </a:rPr>
              <a:t>JSON</a:t>
            </a:r>
            <a:r>
              <a:rPr lang="zh-CN" sz="1950" b="1">
                <a:solidFill>
                  <a:srgbClr val="0D9488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609600" y="4086225"/>
            <a:ext cx="35433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819150" y="4352925"/>
            <a:ext cx="1905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D9488"/>
                </a:solidFill>
                <a:latin typeface="Consolas"/>
                <a:ea typeface="Consolas"/>
              </a:rPr>
              <a:t>1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4324350" y="4086225"/>
            <a:ext cx="35433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4533900" y="4352925"/>
            <a:ext cx="2095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D9488"/>
                </a:solidFill>
                <a:latin typeface="Consolas"/>
                <a:ea typeface="Consolas"/>
              </a:rPr>
              <a:t>2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8039100" y="4086225"/>
            <a:ext cx="35433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8248650" y="4352925"/>
            <a:ext cx="2190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D9488"/>
                </a:solidFill>
                <a:latin typeface="Consolas"/>
                <a:ea typeface="Consolas"/>
              </a:rPr>
              <a:t>3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35909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先约束输出格式，再谈理解力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18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838200" y="2809875"/>
            <a:ext cx="4505325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95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95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>只输出</a:t>
            </a:r>
            <a:r>
              <a:rPr lang="en-US" sz="195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 xml:space="preserve"> JSON</a:t>
            </a:r>
            <a:r>
              <a:rPr lang="zh-CN" sz="195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>：</a:t>
            </a:r>
            <a:r>
              <a:rPr lang="en-US" sz="195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>type / time / repeat / action</a:t>
            </a:r>
            <a:r>
              <a:rPr lang="zh-CN" sz="195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>，不要解释。</a:t>
            </a:r>
            <a:r>
              <a:rPr lang="en-US" sz="195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848475" y="2809875"/>
            <a:ext cx="4505325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95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>{ type:"rest", time:"50m", repeat:"daily", action:"notify" }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1162050" y="4257675"/>
            <a:ext cx="2781300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先定输出格式，避免天马行空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4895850" y="4419600"/>
            <a:ext cx="27622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再让模型去理解自然语言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8620125" y="4419600"/>
            <a:ext cx="2667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结果永远过一遍校验层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18 / 38</a:t>
            </a:r>
            <a:endParaRPr/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>
  <p:cSld>
    <p:spTree>
      <p:nvGrpSpPr>
        <p:cNvPr id="158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模型选型：选谁、怎么换&lt;/Text&gt;&#10;            &lt;Text style={{ fontSize: 28, color: '#0B1220', opacity: 0.6, letterSpacing: 1 }}&gt;不绑定一家，改两格就能换&lt;/Text&gt;&#10;        &lt;/Box&gt;&#10;        &lt;Text style={{ fontSize: 22, fontFamily: 'Consolas', color: '#0B1220', opacity: 0.35 }}&gt;19&lt;/Text&gt;&#10;    &lt;/Box&gt;&#10;    &lt;Box style={{ height: 476, flexDirection: 'row', gap: 40, alignItems: 'center' }}&gt;&#10;        &lt;Box style={{ flex: 1, flexDirection: 'column', gap: 18, justifyContent: 'center' }}&gt;&#10;            &lt;Text style={{ fontSize: 36, fontWeight: 'bold', color: '#0D9488', lineHeight: 1.4 }}&gt;不绑定某一家。&lt;/Text&gt;&#10;            &lt;Text style={{ fontSize: 28, color: '#0B1220', opacity: 0.8, lineHeight: 1.5 }}&gt;云端地址、模型名、密钥，三格配置。&lt;/Text&gt;&#10;            &lt;Text style={{ fontSize: 28, color: '#0B1220', opacity: 0.8, lineHeight: 1.5 }}&gt;想换 DeepSeek / 通义 / 本地模型，改一下就行。&lt;/Text&gt;&#10;            &lt;Box style={{ padding: '18px 22px', background: 'rgba(79,224,176,0.16)', border: '1px solid rgba(13,148,136,0.35)', borderRadius: 12 }}&gt;&#10;                &lt;Text style={{ fontSize: 28, color: '#0B1220', lineHeight: 1.5 }}&gt;换模型 = &lt;span style={{ color: '#0D9488', fontWeight: 'bold' }}&gt;改配置，不重写&lt;/span&gt;&lt;/Text&gt;&#10;            &lt;/Box&gt;&#10;        &lt;/Box&gt;&#10;        &lt;Box style={{ width: 560, height: 420, flexDirection: 'column', gap: 16, padding: '28px 30px', background: '#FFFFFF', border: '1px solid rgba(11,18,32,0.10)', borderRadius: 12, justifyContent: 'center' }}&gt;&#10;            &lt;Text style={{ fontSize: 26, fontWeight: 'bold', color: '#0D9488' }}&gt;配置（三格）&lt;/Text&gt;&#10;            &lt;Box style={{ flexDirection: 'row', justifyContent: 'space-between', alignItems: 'center', padding: '14px 0', borderBottom: '1px solid rgba(11,18,32,0.08)' }}&gt;&#10;                &lt;Text style={{ fontSize: 26, color: '#0B1220', opacity: 0.6 }}&gt;服务商&lt;/Text&gt;&#10;                &lt;Text style={{ fontSize: 28, fontWeight: 'bold', color: '#0B1220' }}&gt;DeepSeek（可改）&lt;/Text&gt;&#10;            &lt;/Box&gt;&#10;            &lt;Box style={{ flexDirection: 'row', justifyContent: 'space-between', alignItems: 'center', padding: '14px 0', borderBottom: '1px solid rgba(11,18,32,0.08)' }}&gt;&#10;                &lt;Text style={{ fontSize: 26, color: '#0B1220', opacity: 0.6 }}&gt;接口地址&lt;/Text&gt;&#10;                &lt;Text style={{ fontSize: 26, color: '#0B1220' }}&gt;/v1/chat/completions&lt;/Text&gt;&#10;            &lt;/Box&gt;&#10;            &lt;Box style={{ flexDirection: 'row', justifyContent: 'space-between', alignItems: 'center', padding: '14px 0' }}&gt;&#10;                &lt;Text style={{ fontSize: 26, color: '#0B1220', opacity: 0.6 }}&gt;密钥&lt;/Text&gt;&#10;                &lt;Text style={{ fontSize: 26, color: '#0B1220' }}&gt;sk-****（本地保存）&lt;/Text&gt;&#10;            &lt;/Box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19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8196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模型选型：选谁、怎么换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609600" y="1952625"/>
            <a:ext cx="5257800" cy="581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不绑定某一家。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609600" y="4495800"/>
            <a:ext cx="5257800" cy="828675"/>
          </a:xfrm>
          <a:prstGeom prst="roundRect">
            <a:avLst>
              <a:gd name="adj" fmla="val 13793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819150" y="4667250"/>
            <a:ext cx="48387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换模型</a:t>
            </a:r>
            <a:r>
              <a:rPr lang="en-US" sz="2100">
                <a:solidFill>
                  <a:srgbClr val="0B122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2100" b="1">
                <a:solidFill>
                  <a:srgbClr val="0D9488"/>
                </a:solidFill>
                <a:latin typeface="Microsoft YaHei"/>
                <a:ea typeface="Microsoft YaHei"/>
              </a:rPr>
              <a:t>改配置，不重写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6248400" y="1638300"/>
            <a:ext cx="5334000" cy="4000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6534150" y="2381250"/>
            <a:ext cx="47625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0D9488"/>
                </a:solidFill>
                <a:latin typeface="Microsoft YaHei"/>
                <a:ea typeface="Microsoft YaHei"/>
              </a:rPr>
              <a:t>配置（三格）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6534150" y="2838450"/>
            <a:ext cx="4762500" cy="609600"/>
          </a:xfrm>
          <a:custGeom>
            <a:pathLst>
              <a:path w="500" h="64">
                <a:moveTo>
                  <a:pt x="0" y="63"/>
                </a:moveTo>
                <a:lnTo>
                  <a:pt x="500" y="63"/>
                </a:lnTo>
                <a:lnTo>
                  <a:pt x="500" y="64"/>
                </a:lnTo>
                <a:lnTo>
                  <a:pt x="0" y="64"/>
                </a:lnTo>
                <a:close/>
              </a:path>
            </a:pathLst>
          </a:custGeom>
          <a:solidFill>
            <a:srgbClr val="0B1220">
              <a:alpha val="8000"/>
            </a:srgbClr>
          </a:solidFill>
          <a:ln/>
        </p:spPr>
        <p:txBody>
          <a:bodyPr/>
          <a:p/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8953500" y="2971800"/>
            <a:ext cx="23431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B1220"/>
                </a:solidFill>
                <a:latin typeface="Microsoft YaHei"/>
                <a:ea typeface="Microsoft YaHei"/>
              </a:rPr>
              <a:t>DeepSeek</a:t>
            </a:r>
            <a:r>
              <a:rPr lang="zh-CN" sz="2100" b="1">
                <a:solidFill>
                  <a:srgbClr val="0B1220"/>
                </a:solidFill>
                <a:latin typeface="Microsoft YaHei"/>
                <a:ea typeface="Microsoft YaHei"/>
              </a:rPr>
              <a:t>（可改）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6534150" y="3590925"/>
            <a:ext cx="4762500" cy="590550"/>
          </a:xfrm>
          <a:custGeom>
            <a:pathLst>
              <a:path w="500" h="62">
                <a:moveTo>
                  <a:pt x="0" y="61"/>
                </a:moveTo>
                <a:lnTo>
                  <a:pt x="500" y="61"/>
                </a:lnTo>
                <a:lnTo>
                  <a:pt x="500" y="62"/>
                </a:lnTo>
                <a:lnTo>
                  <a:pt x="0" y="62"/>
                </a:lnTo>
                <a:close/>
              </a:path>
            </a:pathLst>
          </a:custGeom>
          <a:solidFill>
            <a:srgbClr val="0B1220">
              <a:alpha val="8000"/>
            </a:srgbClr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9029700" y="3724275"/>
            <a:ext cx="22669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>
                <a:solidFill>
                  <a:srgbClr val="0B1220"/>
                </a:solidFill>
                <a:latin typeface="Microsoft YaHei"/>
                <a:ea typeface="Microsoft YaHei"/>
              </a:rPr>
              <a:t>/v1/chat/completions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9086850" y="4457700"/>
            <a:ext cx="22098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>
                <a:solidFill>
                  <a:srgbClr val="0B1220"/>
                </a:solidFill>
                <a:latin typeface="Microsoft YaHei"/>
                <a:ea typeface="Microsoft YaHei"/>
              </a:rPr>
              <a:t>sk-****</a:t>
            </a:r>
            <a:r>
              <a:rPr lang="zh-CN" sz="1950">
                <a:solidFill>
                  <a:srgbClr val="0B1220"/>
                </a:solidFill>
                <a:latin typeface="Microsoft YaHei"/>
                <a:ea typeface="Microsoft YaHei"/>
              </a:rPr>
              <a:t>（本地保存）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8196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不绑定一家，改两格就能换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19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609600" y="2705100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云端地址、模型名、密钥，三格配置。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609600" y="3362325"/>
            <a:ext cx="52578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想换</a:t>
            </a:r>
            <a:r>
              <a:rPr lang="en-US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 xml:space="preserve"> DeepSeek / </a:t>
            </a: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通义</a:t>
            </a:r>
            <a:r>
              <a:rPr lang="en-US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本地模型，改一下就行。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6534150" y="2981325"/>
            <a:ext cx="7429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服务商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6534150" y="3724275"/>
            <a:ext cx="99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接口地址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6534150" y="4457700"/>
            <a:ext cx="4953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密钥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19 / 38</a:t>
            </a:r>
            <a:endParaRPr/>
          </a:p>
        </p:txBody>
      </p:sp>
    </p:spTree>
  </p:cSld>
</p:sld>
</file>

<file path=ppt/slides/slide20.xml><?xml version="1.0" encoding="utf-8"?>
<p:sld xmlns:p="http://schemas.openxmlformats.org/presentationml/2006/main" xmlns:a="http://schemas.openxmlformats.org/drawingml/2006/main">
  <p:cSld>
    <p:spTree>
      <p:nvGrpSpPr>
        <p:cNvPr id="219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通道一 · 联网交给大模型&lt;/Text&gt;&#10;            &lt;Text style={{ fontSize: 28, color: '#0B1220', opacity: 0.6, letterSpacing: 1 }}&gt;能听懂更自由的说法；它只提建议&lt;/Text&gt;&#10;        &lt;/Box&gt;&#10;        &lt;Text style={{ fontSize: 22, fontFamily: 'Consolas', color: '#0B1220', opacity: 0.35 }}&gt;20&lt;/Text&gt;&#10;    &lt;/Box&gt;&#10;    &lt;Box style={{ height: 476, flexDirection: 'row', gap: 40, alignItems: 'center' }}&gt;&#10;        &lt;Box style={{ flex: 1, flexDirection: 'column', gap: 18, justifyContent: 'center' }}&gt;&#10;            &lt;Text style={{ fontSize: 36, fontWeight: 'bold', color: '#0D9488', lineHeight: 1.4 }}&gt;说得越口语，&lt;br /&gt;它越懂。&lt;/Text&gt;&#10;            &lt;Text style={{ fontSize: 28, color: '#0B1220', opacity: 0.8, lineHeight: 1.5 }}&gt;「周五下午提醒我站起来走走」也能接住。&lt;/Text&gt;&#10;            &lt;Text style={{ fontSize: 28, color: '#0B1220', opacity: 0.8, lineHeight: 1.5 }}&gt;大模型负责&quot;理解&quot;，不负责&quot;写进列表&quot;。&lt;/Text&gt;&#10;            &lt;Box style={{ padding: '18px 22px', background: 'rgba(79,224,176,0.16)', border: '1px solid rgba(13,148,136,0.35)', borderRadius: 12 }}&gt;&#10;                &lt;Text style={{ fontSize: 28, color: '#0B1220', lineHeight: 1.5 }}&gt;它只提建议，&lt;span style={{ color: '#0D9488', fontWeight: 'bold' }}&gt;下决定的是你&lt;/span&gt;&lt;/Text&gt;&#10;            &lt;/Box&gt;&#10;        &lt;/Box&gt;&#10;        &lt;Box style={{ width: 560, height: 420, flexDirection: 'column', justifyContent: 'center', alignItems: 'center', gap: 12, background: 'rgba(13,148,136,0.07)', border: '2px dashed rgba(13,148,136,0.5)', borderRadius: 12, padding: '0 20px' }}&gt;&#10;            &lt;Text style={{ fontSize: 22, fontFamily: 'Consolas', color: '#0D9488', letterSpacing: 1 }}&gt;截图 ⑯&lt;/Text&gt;&#10;            &lt;Text style={{ fontSize: 28, fontWeight: 'bold', color: '#0B1220', textAlign: 'center' }}&gt;云端大模型解析结果&lt;/Text&gt;&#10;            &lt;Text style={{ fontSize: 22, color: '#0B1220', opacity: 0.5, textAlign: 'center', lineHeight: 1.6 }}&gt;建议画面：顶部胶囊&quot;云端大模型&quot;&lt;br /&gt;下方列出解析出的 类型 / 时间 / 重复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20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77202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通道一</a:t>
            </a:r>
            <a:r>
              <a:rPr lang="en-US" sz="3450" b="1">
                <a:solidFill>
                  <a:srgbClr val="0B122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联网交给大模型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609600" y="1905000"/>
            <a:ext cx="5257800" cy="11525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说得越口语，</a:t>
            </a:r>
            <a:endParaRPr/>
          </a:p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它越懂。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609600" y="4543425"/>
            <a:ext cx="5257800" cy="828675"/>
          </a:xfrm>
          <a:prstGeom prst="roundRect">
            <a:avLst>
              <a:gd name="adj" fmla="val 13793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819150" y="4714875"/>
            <a:ext cx="48387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它只提建议，</a:t>
            </a:r>
            <a:r>
              <a:rPr lang="zh-CN" sz="2100" b="1">
                <a:solidFill>
                  <a:srgbClr val="0D9488"/>
                </a:solidFill>
                <a:latin typeface="Microsoft YaHei"/>
                <a:ea typeface="Microsoft YaHei"/>
              </a:rPr>
              <a:t>下决定的是你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6248400" y="1638300"/>
            <a:ext cx="5334000" cy="4000500"/>
          </a:xfrm>
          <a:prstGeom prst="roundRect">
            <a:avLst>
              <a:gd name="adj" fmla="val 2857"/>
            </a:avLst>
          </a:prstGeom>
          <a:solidFill>
            <a:srgbClr val="0D9488">
              <a:alpha val="7000"/>
            </a:srgbClr>
          </a:solidFill>
          <a:ln w="25400">
            <a:solidFill>
              <a:srgbClr val="0D9488">
                <a:alpha val="50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8553450" y="2828925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0D9488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0D9488"/>
                </a:solidFill>
                <a:latin typeface="Consolas"/>
                <a:ea typeface="Consolas"/>
              </a:rPr>
              <a:t xml:space="preserve"> ⑯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7715250" y="3200400"/>
            <a:ext cx="24003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0B1220"/>
                </a:solidFill>
                <a:latin typeface="Microsoft YaHei"/>
                <a:ea typeface="Microsoft YaHei"/>
              </a:rPr>
              <a:t>云端大模型解析结果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7720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能听懂更自由的说法；它只提建议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20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09600" y="3228975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「周五下午提醒我站起来走走」也能接住。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09600" y="3886200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大模型负责</a:t>
            </a:r>
            <a:r>
              <a:rPr lang="en-US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理解</a:t>
            </a:r>
            <a:r>
              <a:rPr lang="en-US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，不负责</a:t>
            </a:r>
            <a:r>
              <a:rPr lang="en-US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写进列表</a:t>
            </a:r>
            <a:r>
              <a:rPr lang="en-US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7248525" y="3638550"/>
            <a:ext cx="3343275" cy="80962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建议画面：顶部胶囊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云端大模型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"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下方列出解析出的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类型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时间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重复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20 / 38</a:t>
            </a:r>
            <a:endParaRPr/>
          </a:p>
        </p:txBody>
      </p:sp>
    </p:spTree>
  </p:cSld>
</p:sld>
</file>

<file path=ppt/slides/slide21.xml><?xml version="1.0" encoding="utf-8"?>
<p:sld xmlns:p="http://schemas.openxmlformats.org/presentationml/2006/main" xmlns:a="http://schemas.openxmlformats.org/drawingml/2006/main">
  <p:cSld>
    <p:spTree>
      <p:nvGrpSpPr>
        <p:cNvPr id="235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通道二 · 断网用自带规则&lt;/Text&gt;&#10;            &lt;Text style={{ fontSize: 28, color: '#0B1220', opacity: 0.6, letterSpacing: 1 }}&gt;软件自带规则，断网照样听懂&lt;/Text&gt;&#10;        &lt;/Box&gt;&#10;        &lt;Text style={{ fontSize: 22, fontFamily: 'Consolas', color: '#0B1220', opacity: 0.35 }}&gt;21&lt;/Text&gt;&#10;    &lt;/Box&gt;&#10;    &lt;Box style={{ height: 476, flexDirection: 'row', gap: 40, alignItems: 'center' }}&gt;&#10;        &lt;Box style={{ flex: 1, flexDirection: 'column', gap: 14, justifyContent: 'center' }}&gt;&#10;            &lt;Text style={{ fontSize: 34, fontWeight: 'bold', color: '#0D9488' }}&gt;本机引擎认五类说法&lt;/Text&gt;&#10;            &lt;Box style={{ flexDirection: 'row', alignItems: 'center', gap: 14, padding: '12px 18px', background: '#FFFFFF', border: '1px solid rgba(11,18,32,0.10)', borderRadius: 10 }}&gt;&#10;                &lt;Text style={{ fontSize: 28, color: '#0B1220' }}&gt;① 中文数字时间&lt;/Text&gt;&#10;            &lt;/Box&gt;&#10;            &lt;Box style={{ flexDirection: 'row', alignItems: 'center', gap: 14, padding: '12px 18px', background: '#FFFFFF', border: '1px solid rgba(11,18,32,0.10)', borderRadius: 10 }}&gt;&#10;                &lt;Text style={{ fontSize: 28, color: '#0B1220' }}&gt;② 相对时间（半小时后）&lt;/Text&gt;&#10;            &lt;/Box&gt;&#10;            &lt;Box style={{ flexDirection: 'row', alignItems: 'center', gap: 14, padding: '12px 18px', background: '#FFFFFF', border: '1px solid rgba(11,18,32,0.10)', borderRadius: 10 }}&gt;&#10;                &lt;Text style={{ fontSize: 28, color: '#0B1220' }}&gt;③ 连写周几（周一二三）&lt;/Text&gt;&#10;            &lt;/Box&gt;&#10;            &lt;Box style={{ flexDirection: 'row', alignItems: 'center', gap: 14, padding: '12px 18px', background: '#FFFFFF', border: '1px solid rgba(11,18,32,0.10)', borderRadius: 10 }}&gt;&#10;                &lt;Text style={{ fontSize: 28, color: '#0B1220' }}&gt;④ 日期词（明早 / 周五）&lt;/Text&gt;&#10;            &lt;/Box&gt;&#10;            &lt;Box style={{ flexDirection: 'row', alignItems: 'center', gap: 14, padding: '12px 18px', background: '#FFFFFF', border: '1px solid rgba(11,18,32,0.10)', borderRadius: 10 }}&gt;&#10;                &lt;Text style={{ fontSize: 28, color: '#0B1220' }}&gt;⑤ 系统操作词（锁屏）&lt;/Text&gt;&#10;            &lt;/Box&gt;&#10;        &lt;/Box&gt;&#10;        &lt;Box style={{ width: 460, height: 420, flexDirection: 'column', justifyContent: 'center', alignItems: 'center', gap: 12, background: 'rgba(13,148,136,0.07)', border: '2px dashed rgba(13,148,136,0.5)', borderRadius: 12, padding: '0 20px' }}&gt;&#10;            &lt;Text style={{ fontSize: 22, fontFamily: 'Consolas', color: '#0D9488', letterSpacing: 1 }}&gt;截图 ⑳&lt;/Text&gt;&#10;            &lt;Text style={{ fontSize: 28, fontWeight: 'bold', color: '#0B1220', textAlign: 'center' }}&gt;本机引擎解析结果&lt;/Text&gt;&#10;            &lt;Text style={{ fontSize: 22, color: '#0B1220', opacity: 0.5, textAlign: 'center', lineHeight: 1.6 }}&gt;建议画面：顶部胶囊&quot;本机引擎&quot;&lt;br /&gt;断网也能解析出同样的提醒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21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77202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通道二</a:t>
            </a:r>
            <a:r>
              <a:rPr lang="en-US" sz="3450" b="1">
                <a:solidFill>
                  <a:srgbClr val="0B122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断网用自带规则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09600" y="1733550"/>
            <a:ext cx="62103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D9488"/>
                </a:solidFill>
                <a:latin typeface="Microsoft YaHei"/>
                <a:ea typeface="Microsoft YaHei"/>
              </a:rPr>
              <a:t>本机引擎认五类说法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609600" y="2257425"/>
            <a:ext cx="6210300" cy="55245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781050" y="2371725"/>
            <a:ext cx="19431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>
                <a:solidFill>
                  <a:srgbClr val="0B122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中文数字时间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609600" y="2943225"/>
            <a:ext cx="6210300" cy="55245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781050" y="3057525"/>
            <a:ext cx="3009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>
                <a:solidFill>
                  <a:srgbClr val="0B122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相对时间（半小时后）</a:t>
            </a:r>
            <a:endParaRPr/>
          </a:p>
        </p:txBody>
      </p:sp>
      <p:sp>
        <p:nvSpPr>
          <p:cNvPr id="243" name=""/>
          <p:cNvSpPr/>
          <p:nvPr/>
        </p:nvSpPr>
        <p:spPr>
          <a:xfrm rot="0" flipH="0" flipV="0">
            <a:off x="609600" y="3629025"/>
            <a:ext cx="6210300" cy="55245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781050" y="3743325"/>
            <a:ext cx="3009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>
                <a:solidFill>
                  <a:srgbClr val="0B122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连写周几（周一二三）</a:t>
            </a:r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609600" y="4314825"/>
            <a:ext cx="6210300" cy="55245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781050" y="4429125"/>
            <a:ext cx="2971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>
                <a:solidFill>
                  <a:srgbClr val="0B122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日期词（明早</a:t>
            </a:r>
            <a:r>
              <a:rPr lang="en-US" sz="2100">
                <a:solidFill>
                  <a:srgbClr val="0B122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周五）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609600" y="5000625"/>
            <a:ext cx="6210300" cy="55245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781050" y="5114925"/>
            <a:ext cx="2743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>
                <a:solidFill>
                  <a:srgbClr val="0B1220"/>
                </a:solidFill>
                <a:latin typeface="Microsoft YaHei"/>
                <a:ea typeface="Microsoft YaHei"/>
              </a:rPr>
              <a:t xml:space="preserve">⑤ </a:t>
            </a: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系统操作词（锁屏）</a:t>
            </a:r>
            <a:endParaRPr/>
          </a:p>
        </p:txBody>
      </p:sp>
      <p:sp>
        <p:nvSpPr>
          <p:cNvPr id="249" name=""/>
          <p:cNvSpPr/>
          <p:nvPr/>
        </p:nvSpPr>
        <p:spPr>
          <a:xfrm rot="0" flipH="0" flipV="0">
            <a:off x="7200900" y="1638300"/>
            <a:ext cx="4381500" cy="4000500"/>
          </a:xfrm>
          <a:prstGeom prst="roundRect">
            <a:avLst>
              <a:gd name="adj" fmla="val 2857"/>
            </a:avLst>
          </a:prstGeom>
          <a:solidFill>
            <a:srgbClr val="0D9488">
              <a:alpha val="7000"/>
            </a:srgbClr>
          </a:solidFill>
          <a:ln w="25400">
            <a:solidFill>
              <a:srgbClr val="0D9488">
                <a:alpha val="50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9029700" y="2828925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0D9488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0D9488"/>
                </a:solidFill>
                <a:latin typeface="Consolas"/>
                <a:ea typeface="Consolas"/>
              </a:rPr>
              <a:t xml:space="preserve"> ⑳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8324850" y="3200400"/>
            <a:ext cx="21336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0B1220"/>
                </a:solidFill>
                <a:latin typeface="Microsoft YaHei"/>
                <a:ea typeface="Microsoft YaHei"/>
              </a:rPr>
              <a:t>本机引擎解析结果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7720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软件自带规则，断网照样听懂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21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7953375" y="3638550"/>
            <a:ext cx="2876550" cy="80962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建议画面：顶部胶囊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本机引擎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"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断网也能解析出同样的提醒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p="http://schemas.openxmlformats.org/presentationml/2006/main" xmlns:a="http://schemas.openxmlformats.org/drawingml/2006/main">
  <p:cSld>
    <p:spTree>
      <p:nvGrpSpPr>
        <p:cNvPr id="257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校验层 · AI 说的先核一遍&lt;/Text&gt;&#10;            &lt;Text style={{ fontSize: 28, color: '#0B1220', opacity: 0.6, letterSpacing: 1 }}&gt;只认列举出来的，不合规就不写进去&lt;/Text&gt;&#10;        &lt;/Box&gt;&#10;        &lt;Text style={{ fontSize: 22, fontFamily: 'Consolas', color: '#0B1220', opacity: 0.35 }}&gt;22&lt;/Text&gt;&#10;    &lt;/Box&gt;&#10;    &lt;Box style={{ height: 476, flexDirection: 'row', gap: 36, alignItems: 'center' }}&gt;&#10;        &lt;Box style={{ width: 660, flexDirection: 'column', gap: 8 }}&gt;&#10;            &lt;Box style={{ height: 60, flexDirection: 'row', alignItems: 'center', padding: '0 20px', background: 'rgba(13,148,136,0.12)', borderRadius: '10px 10px 0 0' }}&gt;&#10;                &lt;Text style={{ fontSize: 28, fontWeight: 'bold', color: '#0B1220', width: 220 }}&gt;检查项&lt;/Text&gt;&#10;                &lt;Text style={{ fontSize: 28, fontWeight: 'bold', color: '#0B1220', flex: 1 }}&gt;规则&lt;/Text&gt;&#10;            &lt;/Box&gt;&#10;            &lt;Box style={{ height: 58, flexDirection: 'row', alignItems: 'center', padding: '0 20px', background: '#FFFFFF', borderBottom: '1px solid rgba(11,18,32,0.08)' }}&gt;&#10;                &lt;Text style={{ fontSize: 28, color: '#0B1220', width: 220 }}&gt;类型&lt;/Text&gt;&#10;                &lt;Text style={{ fontSize: 28, color: '#0B1220', opacity: 0.8, flex: 1 }}&gt;只收 rest / notify 等白名单&lt;/Text&gt;&#10;            &lt;/Box&gt;&#10;            &lt;Box style={{ height: 58, flexDirection: 'row', alignItems: 'center', padding: '0 20px', background: '#FFFFFF', borderBottom: '1px solid rgba(11,18,32,0.08)' }}&gt;&#10;                &lt;Text style={{ fontSize: 28, color: '#0B1220', width: 220 }}&gt;时间&lt;/Text&gt;&#10;                &lt;Text style={{ fontSize: 28, color: '#0B1220', opacity: 0.8, flex: 1 }}&gt;必须能解析为具体时刻&lt;/Text&gt;&#10;            &lt;/Box&gt;&#10;            &lt;Box style={{ height: 58, flexDirection: 'row', alignItems: 'center', padding: '0 20px', background: '#FFFFFF', borderBottom: '1px solid rgba(11,18,32,0.08)' }}&gt;&#10;                &lt;Text style={{ fontSize: 28, color: '#0B1220', width: 220 }}&gt;重复&lt;/Text&gt;&#10;                &lt;Text style={{ fontSize: 28, color: '#0B1220', opacity: 0.8, flex: 1 }}&gt;限定在枚举值内&lt;/Text&gt;&#10;            &lt;/Box&gt;&#10;            &lt;Box style={{ height: 58, flexDirection: 'row', alignItems: 'center', padding: '0 20px', background: '#FFFFFF', borderBottom: '1px solid rgba(11,18,32,0.08)' }}&gt;&#10;                &lt;Text style={{ fontSize: 28, color: '#0B1220', width: 220 }}&gt;系统操作&lt;/Text&gt;&#10;                &lt;Text style={{ fontSize: 28, color: '#0B1220', opacity: 0.8, flex: 1 }}&gt;锁屏 / 关机走白名单&lt;/Text&gt;&#10;            &lt;/Box&gt;&#10;            &lt;Box style={{ height: 58, flexDirection: 'row', alignItems: 'center', padding: '0 20px', background: '#FFFFFF', borderRadius: '0 0 10px 10px' }}&gt;&#10;                &lt;Text style={{ fontSize: 28, color: '#0B1220', width: 220 }}&gt;越界&lt;/Text&gt;&#10;                &lt;Text style={{ fontSize: 28, color: '#0B1220', opacity: 0.8, flex: 1 }}&gt;一律丢弃，不写进列表&lt;/Text&gt;&#10;            &lt;/Box&gt;&#10;        &lt;/Box&gt;&#10;        &lt;Box style={{ width: 440, height: 420, flexDirection: 'column', justifyContent: 'center', alignItems: 'center', gap: 12, background: 'rgba(13,148,136,0.07)', border: '2px dashed rgba(13,148,136,0.5)', borderRadius: 12, padding: '0 20px' }}&gt;&#10;            &lt;Text style={{ fontSize: 22, fontFamily: 'Consolas', color: '#0D9488', letterSpacing: 1 }}&gt;截图 ⑮&lt;/Text&gt;&#10;            &lt;Text style={{ fontSize: 28, fontWeight: 'bold', color: '#0B1220', textAlign: 'center' }}&gt;解析结果页（标注来源）&lt;/Text&gt;&#10;            &lt;Text style={{ fontSize: 22, color: '#0B1220', opacity: 0.5, textAlign: 'center', lineHeight: 1.6 }}&gt;建议画面：结果旁标注&lt;br /&gt;&quot;来自云端 / 本机&quot;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22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8958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校验层</a:t>
            </a:r>
            <a:r>
              <a:rPr lang="en-US" sz="3450" b="1">
                <a:solidFill>
                  <a:srgbClr val="0B1220"/>
                </a:solidFill>
                <a:latin typeface="Microsoft YaHei"/>
                <a:ea typeface="Microsoft YaHei"/>
              </a:rPr>
              <a:t xml:space="preserve"> · AI </a:t>
            </a: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说的先核一遍</a:t>
            </a:r>
            <a:endParaRPr/>
          </a:p>
        </p:txBody>
      </p:sp>
      <p:sp>
        <p:nvSpPr>
          <p:cNvPr id="260" name=""/>
          <p:cNvSpPr/>
          <p:nvPr/>
        </p:nvSpPr>
        <p:spPr>
          <a:xfrm rot="0" flipH="0" flipV="0">
            <a:off x="609600" y="1781175"/>
            <a:ext cx="6286500" cy="571500"/>
          </a:xfrm>
          <a:custGeom>
            <a:pathLst>
              <a:path w="660" h="60">
                <a:moveTo>
                  <a:pt x="10" y="0"/>
                </a:moveTo>
                <a:lnTo>
                  <a:pt x="650" y="0"/>
                </a:lnTo>
                <a:cubicBezTo>
                  <a:pt x="656" y="0"/>
                  <a:pt x="660" y="4"/>
                  <a:pt x="660" y="10"/>
                </a:cubicBezTo>
                <a:lnTo>
                  <a:pt x="660" y="60"/>
                </a:lnTo>
                <a:lnTo>
                  <a:pt x="660" y="60"/>
                </a:lnTo>
                <a:lnTo>
                  <a:pt x="0" y="60"/>
                </a:lnTo>
                <a:lnTo>
                  <a:pt x="0" y="60"/>
                </a:lnTo>
                <a:lnTo>
                  <a:pt x="0" y="10"/>
                </a:lnTo>
                <a:cubicBezTo>
                  <a:pt x="0" y="4"/>
                  <a:pt x="4" y="0"/>
                  <a:pt x="10" y="0"/>
                </a:cubicBezTo>
                <a:close/>
              </a:path>
            </a:pathLst>
          </a:custGeom>
          <a:solidFill>
            <a:srgbClr val="0D9488">
              <a:alpha val="12000"/>
            </a:srgbClr>
          </a:solidFill>
          <a:ln/>
        </p:spPr>
        <p:txBody>
          <a:bodyPr/>
          <a:p/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800100" y="1905000"/>
            <a:ext cx="2095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0B1220"/>
                </a:solidFill>
                <a:latin typeface="Microsoft YaHei"/>
                <a:ea typeface="Microsoft YaHei"/>
              </a:rPr>
              <a:t>检查项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2895600" y="1905000"/>
            <a:ext cx="3810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0B1220"/>
                </a:solidFill>
                <a:latin typeface="Microsoft YaHei"/>
                <a:ea typeface="Microsoft YaHei"/>
              </a:rPr>
              <a:t>规则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609600" y="2428875"/>
            <a:ext cx="6286500" cy="5429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609600" y="2428875"/>
            <a:ext cx="6286500" cy="552450"/>
          </a:xfrm>
          <a:custGeom>
            <a:pathLst>
              <a:path w="660" h="58">
                <a:moveTo>
                  <a:pt x="0" y="57"/>
                </a:moveTo>
                <a:lnTo>
                  <a:pt x="660" y="57"/>
                </a:lnTo>
                <a:lnTo>
                  <a:pt x="660" y="58"/>
                </a:lnTo>
                <a:lnTo>
                  <a:pt x="0" y="58"/>
                </a:lnTo>
                <a:close/>
              </a:path>
            </a:pathLst>
          </a:custGeom>
          <a:solidFill>
            <a:srgbClr val="0B1220">
              <a:alpha val="8000"/>
            </a:srgbClr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800100" y="2543175"/>
            <a:ext cx="2095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类型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609600" y="3057525"/>
            <a:ext cx="6286500" cy="5429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7" name=""/>
          <p:cNvSpPr/>
          <p:nvPr/>
        </p:nvSpPr>
        <p:spPr>
          <a:xfrm rot="0" flipH="0" flipV="0">
            <a:off x="609600" y="3057525"/>
            <a:ext cx="6286500" cy="552450"/>
          </a:xfrm>
          <a:custGeom>
            <a:pathLst>
              <a:path w="660" h="58">
                <a:moveTo>
                  <a:pt x="0" y="57"/>
                </a:moveTo>
                <a:lnTo>
                  <a:pt x="660" y="57"/>
                </a:lnTo>
                <a:lnTo>
                  <a:pt x="660" y="58"/>
                </a:lnTo>
                <a:lnTo>
                  <a:pt x="0" y="58"/>
                </a:lnTo>
                <a:close/>
              </a:path>
            </a:pathLst>
          </a:custGeom>
          <a:solidFill>
            <a:srgbClr val="0B1220">
              <a:alpha val="8000"/>
            </a:srgbClr>
          </a:solidFill>
          <a:ln/>
        </p:spPr>
        <p:txBody>
          <a:bodyPr/>
          <a:p/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800100" y="3171825"/>
            <a:ext cx="2095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时间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609600" y="3686175"/>
            <a:ext cx="6286500" cy="5429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609600" y="3686175"/>
            <a:ext cx="6286500" cy="552450"/>
          </a:xfrm>
          <a:custGeom>
            <a:pathLst>
              <a:path w="660" h="58">
                <a:moveTo>
                  <a:pt x="0" y="57"/>
                </a:moveTo>
                <a:lnTo>
                  <a:pt x="660" y="57"/>
                </a:lnTo>
                <a:lnTo>
                  <a:pt x="660" y="58"/>
                </a:lnTo>
                <a:lnTo>
                  <a:pt x="0" y="58"/>
                </a:lnTo>
                <a:close/>
              </a:path>
            </a:pathLst>
          </a:custGeom>
          <a:solidFill>
            <a:srgbClr val="0B1220">
              <a:alpha val="8000"/>
            </a:srgbClr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800100" y="3800475"/>
            <a:ext cx="2095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重复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609600" y="4314825"/>
            <a:ext cx="6286500" cy="5429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3" name=""/>
          <p:cNvSpPr/>
          <p:nvPr/>
        </p:nvSpPr>
        <p:spPr>
          <a:xfrm rot="0" flipH="0" flipV="0">
            <a:off x="609600" y="4314825"/>
            <a:ext cx="6286500" cy="552450"/>
          </a:xfrm>
          <a:custGeom>
            <a:pathLst>
              <a:path w="660" h="58">
                <a:moveTo>
                  <a:pt x="0" y="57"/>
                </a:moveTo>
                <a:lnTo>
                  <a:pt x="660" y="57"/>
                </a:lnTo>
                <a:lnTo>
                  <a:pt x="660" y="58"/>
                </a:lnTo>
                <a:lnTo>
                  <a:pt x="0" y="58"/>
                </a:lnTo>
                <a:close/>
              </a:path>
            </a:pathLst>
          </a:custGeom>
          <a:solidFill>
            <a:srgbClr val="0B1220">
              <a:alpha val="8000"/>
            </a:srgbClr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800100" y="4429125"/>
            <a:ext cx="2095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系统操作</a:t>
            </a:r>
            <a:endParaRPr/>
          </a:p>
        </p:txBody>
      </p:sp>
      <p:sp>
        <p:nvSpPr>
          <p:cNvPr id="275" name=""/>
          <p:cNvSpPr/>
          <p:nvPr/>
        </p:nvSpPr>
        <p:spPr>
          <a:xfrm rot="0" flipH="0" flipV="0">
            <a:off x="609600" y="4943475"/>
            <a:ext cx="6286500" cy="552450"/>
          </a:xfrm>
          <a:custGeom>
            <a:pathLst>
              <a:path w="660" h="58">
                <a:moveTo>
                  <a:pt x="0" y="0"/>
                </a:moveTo>
                <a:lnTo>
                  <a:pt x="660" y="0"/>
                </a:lnTo>
                <a:lnTo>
                  <a:pt x="660" y="0"/>
                </a:lnTo>
                <a:lnTo>
                  <a:pt x="660" y="48"/>
                </a:lnTo>
                <a:cubicBezTo>
                  <a:pt x="660" y="54"/>
                  <a:pt x="656" y="58"/>
                  <a:pt x="650" y="58"/>
                </a:cubicBezTo>
                <a:lnTo>
                  <a:pt x="10" y="58"/>
                </a:lnTo>
                <a:cubicBezTo>
                  <a:pt x="4" y="58"/>
                  <a:pt x="0" y="54"/>
                  <a:pt x="0" y="48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800100" y="5057775"/>
            <a:ext cx="2095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越界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7239000" y="1638300"/>
            <a:ext cx="4191000" cy="4000500"/>
          </a:xfrm>
          <a:prstGeom prst="roundRect">
            <a:avLst>
              <a:gd name="adj" fmla="val 2857"/>
            </a:avLst>
          </a:prstGeom>
          <a:solidFill>
            <a:srgbClr val="0D9488">
              <a:alpha val="7000"/>
            </a:srgbClr>
          </a:solidFill>
          <a:ln w="25400">
            <a:solidFill>
              <a:srgbClr val="0D9488">
                <a:alpha val="50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8972550" y="2828925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0D9488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0D9488"/>
                </a:solidFill>
                <a:latin typeface="Consolas"/>
                <a:ea typeface="Consolas"/>
              </a:rPr>
              <a:t xml:space="preserve"> ⑮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7867650" y="3200400"/>
            <a:ext cx="29337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0B1220"/>
                </a:solidFill>
                <a:latin typeface="Microsoft YaHei"/>
                <a:ea typeface="Microsoft YaHei"/>
              </a:rPr>
              <a:t>解析结果页（标注来源）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8958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只认列举出来的，不合规就不写进去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22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2895600" y="2543175"/>
            <a:ext cx="3810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只收</a:t>
            </a:r>
            <a:r>
              <a:rPr lang="en-US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 xml:space="preserve"> rest / notify </a:t>
            </a: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等白名单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2895600" y="3171825"/>
            <a:ext cx="3810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必须能解析为具体时刻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2895600" y="3800475"/>
            <a:ext cx="3810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限定在枚举值内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2895600" y="4429125"/>
            <a:ext cx="3810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锁屏</a:t>
            </a:r>
            <a:r>
              <a:rPr lang="en-US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关机走白名单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2895600" y="5057775"/>
            <a:ext cx="3810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一律丢弃，不写进列表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8286750" y="3638550"/>
            <a:ext cx="2095500" cy="80962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建议画面：结果旁标注</a:t>
            </a:r>
            <a:endParaRPr/>
          </a:p>
          <a:p>
            <a:pPr algn="ctr">
              <a:lnSpc>
                <a:spcPct val="160000"/>
              </a:lnSpc>
            </a:pP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来自云端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本机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22 / 38</a:t>
            </a:r>
            <a:endParaRPr/>
          </a:p>
        </p:txBody>
      </p:sp>
    </p:spTree>
  </p:cSld>
</p:sld>
</file>

<file path=ppt/slides/slide23.xml><?xml version="1.0" encoding="utf-8"?>
<p:sld xmlns:p="http://schemas.openxmlformats.org/presentationml/2006/main" xmlns:a="http://schemas.openxmlformats.org/drawingml/2006/main">
  <p:cSld>
    <p:spTree>
      <p:nvGrpSpPr>
        <p:cNvPr id="290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调试实录 + 138 项兜底&lt;/Text&gt;&#10;            &lt;Text style={{ fontSize: 28, color: '#0B1220', opacity: 0.6, letterSpacing: 1 }}&gt;真实返工&quot;三十分钟后&quot;；每项改动自动跑测试&lt;/Text&gt;&#10;        &lt;/Box&gt;&#10;        &lt;Text style={{ fontSize: 22, fontFamily: 'Consolas', color: '#0B1220', opacity: 0.35 }}&gt;23&lt;/Text&gt;&#10;    &lt;/Box&gt;&#10;    &lt;Box style={{ height: 476, flexDirection: 'row', gap: 36, alignItems: 'center' }}&gt;&#10;        &lt;Box style={{ flex: 1, flexDirection: 'column', gap: 14, justifyContent: 'center' }}&gt;&#10;            &lt;Box style={{ flexDirection: 'row', alignItems: 'flex-start', gap: 14, padding: '14px 18px', background: '#FFFFFF', border: '1px solid rgba(11,18,32,0.10)', borderRadius: 10 }}&gt;&#10;                &lt;Text style={{ fontSize: 34, fontWeight: 'bold', fontFamily: 'Consolas', color: '#0D9488' }}&gt;1&lt;/Text&gt;&#10;                &lt;Text style={{ fontSize: 28, color: '#0B1220', opacity: 0.82, lineHeight: 1.45, flex: 1 }}&gt;案例：&quot;三十分钟后&quot;被理解成次日 09:00&lt;/Text&gt;&#10;            &lt;/Box&gt;&#10;            &lt;Box style={{ flexDirection: 'row', alignItems: 'flex-start', gap: 14, padding: '14px 18px', background: '#FFFFFF', border: '1px solid rgba(11,18,32,0.10)', borderRadius: 10 }}&gt;&#10;                &lt;Text style={{ fontSize: 34, fontWeight: 'bold', fontFamily: 'Consolas', color: '#0D9488' }}&gt;2&lt;/Text&gt;&#10;                &lt;Text style={{ fontSize: 28, color: '#0B1220', opacity: 0.82, lineHeight: 1.45, flex: 1 }}&gt;根因：ASCII 数字解析的边界 bug&lt;/Text&gt;&#10;            &lt;/Box&gt;&#10;            &lt;Box style={{ flexDirection: 'row', alignItems: 'flex-start', gap: 14, padding: '14px 18px', background: '#FFFFFF', border: '1px solid rgba(11,18,32,0.10)', borderRadius: 10 }}&gt;&#10;                &lt;Text style={{ fontSize: 34, fontWeight: 'bold', fontFamily: 'Consolas', color: '#0D9488' }}&gt;3&lt;/Text&gt;&#10;                &lt;Text style={{ fontSize: 28, color: '#0B1220', opacity: 0.82, lineHeight: 1.45, flex: 1 }}&gt;修法：改用中文数词扫描（数量+单位+后）&lt;/Text&gt;&#10;            &lt;/Box&gt;&#10;            &lt;Box style={{ flexDirection: 'row', alignItems: 'flex-start', gap: 14, padding: '14px 18px', background: 'rgba(79,224,176,0.16)', border: '1px solid rgba(13,148,136,0.35)', borderRadius: 10 }}&gt;&#10;                &lt;Text style={{ fontSize: 34, fontWeight: 'bold', fontFamily: 'Consolas', color: '#0D9488' }}&gt;4&lt;/Text&gt;&#10;                &lt;Text style={{ fontSize: 28, color: '#0B1220', opacity: 0.85, lineHeight: 1.45, flex: 1 }}&gt;兜底：每次改动自动跑 &lt;Text style={{ fontWeight: 'bold', color: '#0D9488' }}&gt;138 项&lt;/Text&gt; 测试&lt;/Text&gt;&#10;            &lt;/Box&gt;&#10;        &lt;/Box&gt;&#10;        &lt;Box style={{ width: 440, flexDirection: 'column', gap: 16 }}&gt;&#10;            &lt;Box style={{ width: 440, height: 200, flexDirection: 'column', justifyContent: 'center', alignItems: 'center', gap: 10, background: 'rgba(13,148,136,0.07)', border: '2px dashed rgba(13,148,136,0.5)', borderRadius: 12, padding: '0 18px' }}&gt;&#10;                &lt;Text style={{ fontSize: 22, fontFamily: 'Consolas', color: '#0D9488', letterSpacing: 1 }}&gt;截图 ⑲&lt;/Text&gt;&#10;                &lt;Text style={{ fontSize: 26, fontWeight: 'bold', color: '#0B1220', textAlign: 'center' }}&gt;修复前后对比&lt;/Text&gt;&#10;                &lt;Text style={{ fontSize: 22, color: '#0B1220', opacity: 0.5, textAlign: 'center', lineHeight: 1.5 }}&gt;&quot;次日 09:00&quot; 与 &quot;30 分钟后&quot; 并列&lt;/Text&gt;&#10;            &lt;/Box&gt;&#10;            &lt;Box style={{ width: 440, height: 200, flexDirection: 'column', justifyContent: 'center', alignItems: 'center', gap: 10, background: 'rgba(13,148,136,0.07)', border: '2px dashed rgba(13,148,136,0.5)', borderRadius: 12, padding: '0 18px' }}&gt;&#10;                &lt;Text style={{ fontSize: 22, fontFamily: 'Consolas', color: '#0D9488', letterSpacing: 1 }}&gt;截图 ⑱&lt;/Text&gt;&#10;                &lt;Text style={{ fontSize: 26, fontWeight: 'bold', color: '#0B1220', textAlign: 'center' }}&gt;测试通过截图&lt;/Text&gt;&#10;                &lt;Text style={{ fontSize: 22, color: '#0B1220', opacity: 0.5, textAlign: 'center', lineHeight: 1.5 }}&gt;pnpm test / cargo test 全绿&lt;/Text&gt;&#10;            &lt;/Box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23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545782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调试实录</a:t>
            </a:r>
            <a:r>
              <a:rPr lang="en-US" sz="3450" b="1">
                <a:solidFill>
                  <a:srgbClr val="0B1220"/>
                </a:solidFill>
                <a:latin typeface="Microsoft YaHei"/>
                <a:ea typeface="Microsoft YaHei"/>
              </a:rPr>
              <a:t xml:space="preserve"> + 138 </a:t>
            </a: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项兜底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609600" y="1971675"/>
            <a:ext cx="6438900" cy="733425"/>
          </a:xfrm>
          <a:prstGeom prst="roundRect">
            <a:avLst>
              <a:gd name="adj" fmla="val 12987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781050" y="2105025"/>
            <a:ext cx="1809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D9488"/>
                </a:solidFill>
                <a:latin typeface="Consolas"/>
                <a:ea typeface="Consolas"/>
              </a:rPr>
              <a:t>1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609600" y="2838450"/>
            <a:ext cx="6438900" cy="733425"/>
          </a:xfrm>
          <a:prstGeom prst="roundRect">
            <a:avLst>
              <a:gd name="adj" fmla="val 12987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81050" y="2971800"/>
            <a:ext cx="1809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D9488"/>
                </a:solidFill>
                <a:latin typeface="Consolas"/>
                <a:ea typeface="Consolas"/>
              </a:rPr>
              <a:t>2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609600" y="3705225"/>
            <a:ext cx="6438900" cy="733425"/>
          </a:xfrm>
          <a:prstGeom prst="roundRect">
            <a:avLst>
              <a:gd name="adj" fmla="val 12987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781050" y="3838575"/>
            <a:ext cx="1809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D9488"/>
                </a:solidFill>
                <a:latin typeface="Consolas"/>
                <a:ea typeface="Consolas"/>
              </a:rPr>
              <a:t>3</a:t>
            </a:r>
            <a:endParaRPr/>
          </a:p>
        </p:txBody>
      </p:sp>
      <p:sp>
        <p:nvSpPr>
          <p:cNvPr id="299" name=""/>
          <p:cNvSpPr/>
          <p:nvPr/>
        </p:nvSpPr>
        <p:spPr>
          <a:xfrm rot="0" flipH="0" flipV="0">
            <a:off x="609600" y="4572000"/>
            <a:ext cx="6438900" cy="733425"/>
          </a:xfrm>
          <a:prstGeom prst="roundRect">
            <a:avLst>
              <a:gd name="adj" fmla="val 12987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781050" y="4705350"/>
            <a:ext cx="1809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D9488"/>
                </a:solidFill>
                <a:latin typeface="Consolas"/>
                <a:ea typeface="Consolas"/>
              </a:rPr>
              <a:t>4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7391400" y="1657350"/>
            <a:ext cx="4191000" cy="1905000"/>
          </a:xfrm>
          <a:prstGeom prst="roundRect">
            <a:avLst>
              <a:gd name="adj" fmla="val 6000"/>
            </a:avLst>
          </a:prstGeom>
          <a:solidFill>
            <a:srgbClr val="0D9488">
              <a:alpha val="7000"/>
            </a:srgbClr>
          </a:solidFill>
          <a:ln w="25400">
            <a:solidFill>
              <a:srgbClr val="0D9488">
                <a:alpha val="50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9124950" y="2047875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0D9488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0D9488"/>
                </a:solidFill>
                <a:latin typeface="Consolas"/>
                <a:ea typeface="Consolas"/>
              </a:rPr>
              <a:t xml:space="preserve"> ⑲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8743950" y="2400300"/>
            <a:ext cx="1485900" cy="304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950" b="1">
                <a:solidFill>
                  <a:srgbClr val="0B1220"/>
                </a:solidFill>
                <a:latin typeface="Microsoft YaHei"/>
                <a:ea typeface="Microsoft YaHei"/>
              </a:rPr>
              <a:t>修复前后对比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7391400" y="3714750"/>
            <a:ext cx="4191000" cy="1905000"/>
          </a:xfrm>
          <a:prstGeom prst="roundRect">
            <a:avLst>
              <a:gd name="adj" fmla="val 6000"/>
            </a:avLst>
          </a:prstGeom>
          <a:solidFill>
            <a:srgbClr val="0D9488">
              <a:alpha val="7000"/>
            </a:srgbClr>
          </a:solidFill>
          <a:ln w="25400">
            <a:solidFill>
              <a:srgbClr val="0D9488">
                <a:alpha val="50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9124950" y="4105275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0D9488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0D9488"/>
                </a:solidFill>
                <a:latin typeface="Consolas"/>
                <a:ea typeface="Consolas"/>
              </a:rPr>
              <a:t xml:space="preserve"> ⑱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8743950" y="4457700"/>
            <a:ext cx="1485900" cy="304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950" b="1">
                <a:solidFill>
                  <a:srgbClr val="0B1220"/>
                </a:solidFill>
                <a:latin typeface="Microsoft YaHei"/>
                <a:ea typeface="Microsoft YaHei"/>
              </a:rPr>
              <a:t>测试通过截图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54578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真实返工</a:t>
            </a: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三十分钟后</a:t>
            </a: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；每项改动自动跑测试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23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1095375" y="2105025"/>
            <a:ext cx="5781675" cy="4667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案例：</a:t>
            </a: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三十分钟后</a:t>
            </a: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被理解成次日</a:t>
            </a: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 xml:space="preserve"> 09:00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1095375" y="2971800"/>
            <a:ext cx="5781675" cy="4667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根因：</a:t>
            </a: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 xml:space="preserve">ASCII 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数字解析的边界</a:t>
            </a: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 xml:space="preserve"> bug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095375" y="3838575"/>
            <a:ext cx="5781675" cy="4667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修法：改用中文数词扫描（数量</a:t>
            </a: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+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单位</a:t>
            </a: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+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后）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095375" y="4705350"/>
            <a:ext cx="5781675" cy="4667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100">
                <a:solidFill>
                  <a:srgbClr val="0B1220">
                    <a:alpha val="85000"/>
                  </a:srgbClr>
                </a:solidFill>
                <a:latin typeface="Microsoft YaHei"/>
                <a:ea typeface="Microsoft YaHei"/>
              </a:rPr>
              <a:t>兜底：每次改动自动跑</a:t>
            </a:r>
            <a:r>
              <a:rPr lang="en-US" sz="2100">
                <a:solidFill>
                  <a:srgbClr val="0B1220">
                    <a:alpha val="85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2100">
                <a:solidFill>
                  <a:srgbClr val="0B1220">
                    <a:alpha val="85000"/>
                  </a:srgbClr>
                </a:solidFill>
                <a:latin typeface="Microsoft YaHei"/>
                <a:ea typeface="Microsoft YaHei"/>
              </a:rPr>
              <a:t xml:space="preserve">138 </a:t>
            </a:r>
            <a:r>
              <a:rPr lang="zh-CN" sz="2100">
                <a:solidFill>
                  <a:srgbClr val="0B1220">
                    <a:alpha val="85000"/>
                  </a:srgbClr>
                </a:solidFill>
                <a:latin typeface="Microsoft YaHei"/>
                <a:ea typeface="Microsoft YaHei"/>
              </a:rPr>
              <a:t>项</a:t>
            </a:r>
            <a:r>
              <a:rPr lang="en-US" sz="2100">
                <a:solidFill>
                  <a:srgbClr val="0B1220">
                    <a:alpha val="85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2100">
                <a:solidFill>
                  <a:srgbClr val="0B1220">
                    <a:alpha val="85000"/>
                  </a:srgbClr>
                </a:solidFill>
                <a:latin typeface="Microsoft YaHei"/>
                <a:ea typeface="Microsoft YaHei"/>
              </a:rPr>
              <a:t>测试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7972425" y="2800350"/>
            <a:ext cx="3028950" cy="3810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次日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 xml:space="preserve"> 09:00" 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与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 xml:space="preserve"> "30 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分钟后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 xml:space="preserve">" 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并列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8239125" y="4857750"/>
            <a:ext cx="2495550" cy="3810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 xml:space="preserve">pnpm test / cargo test 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全绿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23 / 38</a:t>
            </a:r>
            <a:endParaRPr/>
          </a:p>
        </p:txBody>
      </p:sp>
    </p:spTree>
  </p:cSld>
</p:sld>
</file>

<file path=ppt/slides/slide24.xml><?xml version="1.0" encoding="utf-8"?>
<p:sld xmlns:p="http://schemas.openxmlformats.org/presentationml/2006/main" xmlns:a="http://schemas.openxmlformats.org/drawingml/2006/main">
  <p:cSld>
    <p:spTree>
      <p:nvGrpSpPr>
        <p:cNvPr id="317" name="" descr="&lt;Slide style={{ width: 1280, height: 720, background: '#F5F9FC', padding: '20px 64px' }}&gt;&#10;    &lt;Box style={{ height: 600, flexDirection: 'row', alignItems: 'center', gap: 64 }}&gt;&#10;        &lt;Text style={{ fontSize: 230, fontWeight: 'bold', fontFamily: 'Consolas', color: '#0D9488', opacity: 0.18, lineHeight: 1 }}&gt;05&lt;/Text&gt;&#10;        &lt;Box style={{ flexDirection: 'column', gap: 22, width: 640 }}&gt;&#10;            &lt;Text style={{ fontSize: 64, fontWeight: 'bold', color: '#0B1220', lineHeight: 1.15 }}&gt;实施计划&lt;/Text&gt;&#10;            &lt;Box style={{ height: 4, width: 120, background: 'linear-gradient(135deg, #4FE0B0 0%, #0D9488 100%)', borderRadius: 2 }} /&gt;&#10;            &lt;Text style={{ fontSize: 30, color: '#0B1220', opacity: 0.72, lineHeight: 1.6 }}&gt;什么时候做完、&lt;br /&gt;怎么一步步走到参赛。&lt;/Text&gt;&#10;            &lt;Text style={{ fontSize: 24, fontFamily: 'Consolas', color: '#0D9488', letterSpacing: 2 }}&gt;P24 – P26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24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3657600" y="1600200"/>
            <a:ext cx="60960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0B1220"/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320" name=""/>
          <p:cNvSpPr/>
          <p:nvPr/>
        </p:nvSpPr>
        <p:spPr>
          <a:xfrm rot="0" flipH="0" flipV="0">
            <a:off x="3657600" y="2657475"/>
            <a:ext cx="1143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4FE0B0"/>
              </a:gs>
              <a:gs pos="100000">
                <a:srgbClr val="0D948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3657600" y="4219575"/>
            <a:ext cx="6096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150">
                <a:solidFill>
                  <a:srgbClr val="0D9488"/>
                </a:solidFill>
                <a:latin typeface="Consolas"/>
                <a:ea typeface="Consolas"/>
              </a:rPr>
              <a:t>P24 – P26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609600" y="1733550"/>
            <a:ext cx="2438400" cy="2628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0" b="1">
                <a:solidFill>
                  <a:srgbClr val="0D9488">
                    <a:alpha val="18000"/>
                  </a:srgbClr>
                </a:solidFill>
                <a:latin typeface="Consolas"/>
                <a:ea typeface="Consolas"/>
              </a:rPr>
              <a:t>05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657600" y="2905125"/>
            <a:ext cx="6096000" cy="11049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22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什么时候做完、</a:t>
            </a:r>
            <a:endParaRPr/>
          </a:p>
          <a:p>
            <a:pPr>
              <a:lnSpc>
                <a:spcPct val="160000"/>
              </a:lnSpc>
            </a:pPr>
            <a:r>
              <a:rPr lang="zh-CN" sz="22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怎么一步步走到参赛。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24 / 38</a:t>
            </a:r>
            <a:endParaRPr/>
          </a:p>
        </p:txBody>
      </p:sp>
    </p:spTree>
  </p:cSld>
</p:sld>
</file>

<file path=ppt/slides/slide25.xml><?xml version="1.0" encoding="utf-8"?>
<p:sld xmlns:p="http://schemas.openxmlformats.org/presentationml/2006/main" xmlns:a="http://schemas.openxmlformats.org/drawingml/2006/main">
  <p:cSld>
    <p:spTree>
      <p:nvGrpSpPr>
        <p:cNvPr id="326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实施计划总览&lt;/Text&gt;&#10;            &lt;Text style={{ fontSize: 28, color: '#0B1220', opacity: 0.6, letterSpacing: 1 }}&gt;从初赛到决赛，时间轴一目了然&lt;/Text&gt;&#10;        &lt;/Box&gt;&#10;        &lt;Text style={{ fontSize: 22, fontFamily: 'Consolas', color: '#0B1220', opacity: 0.35 }}&gt;25&lt;/Text&gt;&#10;    &lt;/Box&gt;&#10;    &lt;Box style={{ height: 476, flexDirection: 'column', justifyContent: 'center', gap: 28 }}&gt;&#10;        &lt;Box style={{ height: 4, width: 1112, background: 'rgba(13,148,136,0.30)', borderRadius: 2 }} /&gt;&#10;        &lt;Box style={{ flexDirection: 'row', gap: 18, alignItems: 'flex-start' }}&gt;&#10;            &lt;Box style={{ flex: 1, flexDirection: 'column', alignItems: 'center', gap: 12 }}&gt;&#10;                &lt;Box style={{ width: 56, height: 56, borderRadius: 28, backgroundColor: '#0D9488', justifyContent: 'center', alignItems: 'center' }}&gt;&#10;                    &lt;Text style={{ fontSize: 28, fontWeight: 'bold', color: '#FFFFFF', fontFamily: 'Consolas' }}&gt;1&lt;/Text&gt;&#10;                &lt;/Box&gt;&#10;                &lt;Text style={{ fontSize: 30, fontWeight: 'bold', color: '#0B1220', textAlign: 'center' }}&gt;校级初赛&lt;/Text&gt;&#10;                &lt;Text style={{ fontSize: 26, color: '#0D9488', textAlign: 'center' }}&gt;10/15 前&lt;/Text&gt;&#10;                &lt;Text style={{ fontSize: 26, color: '#0B1220', opacity: 0.72, textAlign: 'center', lineHeight: 1.4 }}&gt;完成作品与材料&lt;/Text&gt;&#10;            &lt;/Box&gt;&#10;            &lt;Box style={{ flex: 1, flexDirection: 'column', alignItems: 'center', gap: 12 }}&gt;&#10;                &lt;Box style={{ width: 56, height: 56, borderRadius: 28, backgroundColor: '#0D9488', justifyContent: 'center', alignItems: 'center' }}&gt;&#10;                    &lt;Text style={{ fontSize: 28, fontWeight: 'bold', color: '#FFFFFF', fontFamily: 'Consolas' }}&gt;2&lt;/Text&gt;&#10;                &lt;/Box&gt;&#10;                &lt;Text style={{ fontSize: 30, fontWeight: 'bold', color: '#0B1220', textAlign: 'center' }}&gt;复赛&lt;/Text&gt;&#10;                &lt;Text style={{ fontSize: 26, color: '#0D9488', textAlign: 'center' }}&gt;10/16–10/26&lt;/Text&gt;&#10;                &lt;Text style={{ fontSize: 26, color: '#0B1220', opacity: 0.72, textAlign: 'center', lineHeight: 1.4 }}&gt;官网报名交材料&lt;/Text&gt;&#10;            &lt;/Box&gt;&#10;            &lt;Box style={{ flex: 1, flexDirection: 'column', alignItems: 'center', gap: 12 }}&gt;&#10;                &lt;Box style={{ width: 56, height: 56, borderRadius: 28, backgroundColor: '#0D9488', justifyContent: 'center', alignItems: 'center' }}&gt;&#10;                    &lt;Text style={{ fontSize: 28, fontWeight: 'bold', color: '#FFFFFF', fontFamily: 'Consolas' }}&gt;3&lt;/Text&gt;&#10;                &lt;/Box&gt;&#10;                &lt;Text style={{ fontSize: 30, fontWeight: 'bold', color: '#0B1220', textAlign: 'center' }}&gt;网络评审&lt;/Text&gt;&#10;                &lt;Text style={{ fontSize: 26, color: '#0D9488', textAlign: 'center' }}&gt;10 月底&lt;/Text&gt;&#10;                &lt;Text style={{ fontSize: 26, color: '#0B1220', opacity: 0.72, textAlign: 'center', lineHeight: 1.4 }}&gt;线上材料评审&lt;/Text&gt;&#10;            &lt;/Box&gt;&#10;            &lt;Box style={{ flex: 1, flexDirection: 'column', alignItems: 'center', gap: 12 }}&gt;&#10;                &lt;Box style={{ width: 56, height: 56, borderRadius: 28, backgroundColor: 'rgba(79,224,176,0.30)', border: '1px solid #0D9488', justifyContent: 'center', alignItems: 'center' }}&gt;&#10;                    &lt;Text style={{ fontSize: 28, fontWeight: 'bold', color: '#0D9488', fontFamily: 'Consolas' }}&gt;4&lt;/Text&gt;&#10;                &lt;/Box&gt;&#10;                &lt;Text style={{ fontSize: 30, fontWeight: 'bold', color: '#0B1220', textAlign: 'center' }}&gt;决赛路演&lt;/Text&gt;&#10;                &lt;Text style={{ fontSize: 26, color: '#0D9488', textAlign: 'center' }}&gt;11 月中旬&lt;/Text&gt;&#10;                &lt;Text style={{ fontSize: 26, color: '#0B1220', opacity: 0.72, textAlign: 'center', lineHeight: 1.4 }}&gt;现场答辩演示&lt;/Text&gt;&#10;            &lt;/Box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25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38671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实施计划总览</a:t>
            </a:r>
            <a:endParaRPr/>
          </a:p>
        </p:txBody>
      </p:sp>
      <p:sp>
        <p:nvSpPr>
          <p:cNvPr id="329" name=""/>
          <p:cNvSpPr/>
          <p:nvPr/>
        </p:nvSpPr>
        <p:spPr>
          <a:xfrm rot="0" flipH="0" flipV="0">
            <a:off x="609600" y="2514600"/>
            <a:ext cx="10591800" cy="38100"/>
          </a:xfrm>
          <a:prstGeom prst="roundRect">
            <a:avLst>
              <a:gd name="adj" fmla="val 50000"/>
            </a:avLst>
          </a:prstGeom>
          <a:solidFill>
            <a:srgbClr val="0D9488">
              <a:alpha val="30000"/>
            </a:srgbClr>
          </a:solidFill>
          <a:ln/>
        </p:spPr>
        <p:txBody>
          <a:bodyPr/>
          <a:p/>
        </p:txBody>
      </p:sp>
      <p:sp>
        <p:nvSpPr>
          <p:cNvPr id="330" name=""/>
          <p:cNvSpPr/>
          <p:nvPr/>
        </p:nvSpPr>
        <p:spPr>
          <a:xfrm rot="0" flipH="0" flipV="0">
            <a:off x="1657350" y="28194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1847850" y="2924175"/>
            <a:ext cx="15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FFFFFF"/>
                </a:solidFill>
                <a:latin typeface="Consolas"/>
                <a:ea typeface="Consolas"/>
              </a:rPr>
              <a:t>1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1352550" y="3467100"/>
            <a:ext cx="114300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0B1220"/>
                </a:solidFill>
                <a:latin typeface="Microsoft YaHei"/>
                <a:ea typeface="Microsoft YaHei"/>
              </a:rPr>
              <a:t>校级初赛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1447800" y="3924300"/>
            <a:ext cx="942975" cy="304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950">
                <a:solidFill>
                  <a:srgbClr val="0D9488"/>
                </a:solidFill>
                <a:latin typeface="Microsoft YaHei"/>
                <a:ea typeface="Microsoft YaHei"/>
              </a:rPr>
              <a:t xml:space="preserve">10/15 </a:t>
            </a:r>
            <a:r>
              <a:rPr lang="zh-CN" sz="1950">
                <a:solidFill>
                  <a:srgbClr val="0D9488"/>
                </a:solidFill>
                <a:latin typeface="Microsoft YaHei"/>
                <a:ea typeface="Microsoft YaHei"/>
              </a:rPr>
              <a:t>前</a:t>
            </a:r>
            <a:endParaRPr/>
          </a:p>
        </p:txBody>
      </p:sp>
      <p:sp>
        <p:nvSpPr>
          <p:cNvPr id="334" name=""/>
          <p:cNvSpPr/>
          <p:nvPr/>
        </p:nvSpPr>
        <p:spPr>
          <a:xfrm rot="0" flipH="0" flipV="0">
            <a:off x="4438650" y="28194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4629150" y="2924175"/>
            <a:ext cx="15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FFFFFF"/>
                </a:solidFill>
                <a:latin typeface="Consolas"/>
                <a:ea typeface="Consolas"/>
              </a:rPr>
              <a:t>2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4419600" y="3467100"/>
            <a:ext cx="57150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0B1220"/>
                </a:solidFill>
                <a:latin typeface="Microsoft YaHei"/>
                <a:ea typeface="Microsoft YaHei"/>
              </a:rPr>
              <a:t>复赛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4019550" y="3924300"/>
            <a:ext cx="1381125" cy="304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950">
                <a:solidFill>
                  <a:srgbClr val="0D9488"/>
                </a:solidFill>
                <a:latin typeface="Microsoft YaHei"/>
                <a:ea typeface="Microsoft YaHei"/>
              </a:rPr>
              <a:t>10/16–10/26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7229475" y="28194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419975" y="2924175"/>
            <a:ext cx="15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FFFFFF"/>
                </a:solidFill>
                <a:latin typeface="Consolas"/>
                <a:ea typeface="Consolas"/>
              </a:rPr>
              <a:t>3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6924675" y="3467100"/>
            <a:ext cx="114300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0B1220"/>
                </a:solidFill>
                <a:latin typeface="Microsoft YaHei"/>
                <a:ea typeface="Microsoft YaHei"/>
              </a:rPr>
              <a:t>网络评审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7067550" y="3924300"/>
            <a:ext cx="847725" cy="304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950">
                <a:solidFill>
                  <a:srgbClr val="0D9488"/>
                </a:solidFill>
                <a:latin typeface="Microsoft YaHei"/>
                <a:ea typeface="Microsoft YaHei"/>
              </a:rPr>
              <a:t xml:space="preserve">10 </a:t>
            </a:r>
            <a:r>
              <a:rPr lang="zh-CN" sz="1950">
                <a:solidFill>
                  <a:srgbClr val="0D9488"/>
                </a:solidFill>
                <a:latin typeface="Microsoft YaHei"/>
                <a:ea typeface="Microsoft YaHei"/>
              </a:rPr>
              <a:t>月底</a:t>
            </a:r>
            <a:endParaRPr/>
          </a:p>
        </p:txBody>
      </p:sp>
      <p:sp>
        <p:nvSpPr>
          <p:cNvPr id="342" name=""/>
          <p:cNvSpPr/>
          <p:nvPr/>
        </p:nvSpPr>
        <p:spPr>
          <a:xfrm rot="0" flipH="0" flipV="0">
            <a:off x="10010775" y="28194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4FE0B0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10201275" y="2924175"/>
            <a:ext cx="15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D9488"/>
                </a:solidFill>
                <a:latin typeface="Consolas"/>
                <a:ea typeface="Consolas"/>
              </a:rPr>
              <a:t>4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9705975" y="3467100"/>
            <a:ext cx="114300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0B1220"/>
                </a:solidFill>
                <a:latin typeface="Microsoft YaHei"/>
                <a:ea typeface="Microsoft YaHei"/>
              </a:rPr>
              <a:t>决赛路演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9744075" y="3924300"/>
            <a:ext cx="1076325" cy="304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950">
                <a:solidFill>
                  <a:srgbClr val="0D9488"/>
                </a:solidFill>
                <a:latin typeface="Microsoft YaHei"/>
                <a:ea typeface="Microsoft YaHei"/>
              </a:rPr>
              <a:t xml:space="preserve">11 </a:t>
            </a:r>
            <a:r>
              <a:rPr lang="zh-CN" sz="1950">
                <a:solidFill>
                  <a:srgbClr val="0D9488"/>
                </a:solidFill>
                <a:latin typeface="Microsoft YaHei"/>
                <a:ea typeface="Microsoft YaHei"/>
              </a:rPr>
              <a:t>月中旬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38671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从初赛到决赛，时间轴一目了然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25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1057275" y="4343400"/>
            <a:ext cx="1733550" cy="41910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zh-CN" sz="19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完成作品与材料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3838575" y="4343400"/>
            <a:ext cx="1733550" cy="41910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zh-CN" sz="19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官网报名交材料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753225" y="4343400"/>
            <a:ext cx="1485900" cy="41910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zh-CN" sz="19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线上材料评审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9534525" y="4343400"/>
            <a:ext cx="1485900" cy="41910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zh-CN" sz="19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现场答辩演示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25 / 38</a:t>
            </a:r>
            <a:endParaRPr/>
          </a:p>
        </p:txBody>
      </p:sp>
    </p:spTree>
  </p:cSld>
</p:sld>
</file>

<file path=ppt/slides/slide26.xml><?xml version="1.0" encoding="utf-8"?>
<p:sld xmlns:p="http://schemas.openxmlformats.org/presentationml/2006/main" xmlns:a="http://schemas.openxmlformats.org/drawingml/2006/main">
  <p:cSld>
    <p:spTree>
      <p:nvGrpSpPr>
        <p:cNvPr id="354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两阶段：开发与参赛&lt;/Text&gt;&#10;            &lt;Text style={{ fontSize: 28, color: '#0B1220', opacity: 0.6, letterSpacing: 1 }}&gt;阶段一已完；阶段二官网 + CI + 路演进行中&lt;/Text&gt;&#10;        &lt;/Box&gt;&#10;        &lt;Text style={{ fontSize: 22, fontFamily: 'Consolas', color: '#0B1220', opacity: 0.35 }}&gt;26&lt;/Text&gt;&#10;    &lt;/Box&gt;&#10;    &lt;Box style={{ height: 476, flexDirection: 'row', gap: 28, alignItems: 'stretch' }}&gt;&#10;        &lt;Box style={{ flex: 1, flexDirection: 'column', gap: 18, padding: '30px 32px', background: 'rgba(79,224,176,0.16)', border: '1px solid rgba(13,148,136,0.35)', borderRadius: 12 }}&gt;&#10;            &lt;Box style={{ flexDirection: 'row', alignItems: 'center', justifyContent: 'space-between' }}&gt;&#10;                &lt;Text style={{ fontSize: 36, fontWeight: 'bold', color: '#0D9488' }}&gt;阶段一 · 开发内测&lt;/Text&gt;&#10;                &lt;Text style={{ fontSize: 24, color: '#0D9488', fontFamily: 'Consolas' }}&gt;已完成&lt;/Text&gt;&#10;            &lt;/Box&gt;&#10;            &lt;Text style={{ fontSize: 28, color: '#0B1220', opacity: 0.82, lineHeight: 1.55 }}&gt;· 完成双平台工程实现&lt;/Text&gt;&#10;            &lt;Text style={{ fontSize: 28, color: '#0B1220', opacity: 0.82, lineHeight: 1.55 }}&gt;· 智能体双通道打通&lt;/Text&gt;&#10;            &lt;Text style={{ fontSize: 28, color: '#0B1220', opacity: 0.82, lineHeight: 1.55 }}&gt;· 138 项自动化测试全绿&lt;/Text&gt;&#10;            &lt;Text style={{ fontSize: 28, color: '#0B1220', opacity: 0.82, lineHeight: 1.55 }}&gt;· 小范围内测可用&lt;/Text&gt;&#10;        &lt;/Box&gt;&#10;        &lt;Box style={{ flex: 1, flexDirection: 'column', gap: 18, padding: '30px 32px', background: '#FFFFFF', border: '1px solid rgba(11,18,32,0.10)', borderRadius: 12 }}&gt;&#10;            &lt;Box style={{ flexDirection: 'row', alignItems: 'center', justifyContent: 'space-between' }}&gt;&#10;                &lt;Text style={{ fontSize: 36, fontWeight: 'bold', color: '#0D9488' }}&gt;阶段二 · 发布参赛&lt;/Text&gt;&#10;                &lt;Text style={{ fontSize: 24, color: '#0D9488', fontFamily: 'Consolas' }}&gt;进行中&lt;/Text&gt;&#10;            &lt;/Box&gt;&#10;            &lt;Text style={{ fontSize: 28, color: '#0B1220', opacity: 0.82, lineHeight: 1.55 }}&gt;· 官网提供下载安装&lt;/Text&gt;&#10;            &lt;Text style={{ fontSize: 28, color: '#0B1220', opacity: 0.82, lineHeight: 1.55 }}&gt;· CI 自动打包双平台&lt;/Text&gt;&#10;            &lt;Text style={{ fontSize: 28, color: '#0B1220', opacity: 0.82, lineHeight: 1.55 }}&gt;· 参赛材料与路演准备&lt;/Text&gt;&#10;            &lt;Text style={{ fontSize: 28, color: '#0B1220', opacity: 0.82, lineHeight: 1.55 }}&gt;· 决赛答辩演示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26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53721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两阶段：开发与参赛</a:t>
            </a:r>
            <a:endParaRPr/>
          </a:p>
        </p:txBody>
      </p:sp>
      <p:sp>
        <p:nvSpPr>
          <p:cNvPr id="357" name=""/>
          <p:cNvSpPr/>
          <p:nvPr/>
        </p:nvSpPr>
        <p:spPr>
          <a:xfrm rot="0" flipH="0" flipV="0">
            <a:off x="609600" y="1371600"/>
            <a:ext cx="5353050" cy="4533900"/>
          </a:xfrm>
          <a:prstGeom prst="roundRect">
            <a:avLst>
              <a:gd name="adj" fmla="val 2521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914400" y="1657350"/>
            <a:ext cx="27051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阶段一</a:t>
            </a:r>
            <a:r>
              <a:rPr lang="en-US" sz="2700" b="1">
                <a:solidFill>
                  <a:srgbClr val="0D948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开发内测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4972050" y="1733550"/>
            <a:ext cx="685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0D9488"/>
                </a:solidFill>
                <a:latin typeface="Consolas"/>
                <a:ea typeface="Consolas"/>
              </a:rPr>
              <a:t>已完成</a:t>
            </a:r>
            <a:endParaRPr/>
          </a:p>
        </p:txBody>
      </p:sp>
      <p:sp>
        <p:nvSpPr>
          <p:cNvPr id="360" name=""/>
          <p:cNvSpPr/>
          <p:nvPr/>
        </p:nvSpPr>
        <p:spPr>
          <a:xfrm rot="0" flipH="0" flipV="0">
            <a:off x="6229350" y="1371600"/>
            <a:ext cx="5353050" cy="4533900"/>
          </a:xfrm>
          <a:prstGeom prst="roundRect">
            <a:avLst>
              <a:gd name="adj" fmla="val 2521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6534150" y="1657350"/>
            <a:ext cx="27051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阶段二</a:t>
            </a:r>
            <a:r>
              <a:rPr lang="en-US" sz="2700" b="1">
                <a:solidFill>
                  <a:srgbClr val="0D948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发布参赛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10591800" y="1733550"/>
            <a:ext cx="685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0D9488"/>
                </a:solidFill>
                <a:latin typeface="Consolas"/>
                <a:ea typeface="Consolas"/>
              </a:rPr>
              <a:t>进行中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53721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阶段一已完；阶段二官网</a:t>
            </a: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 xml:space="preserve"> + CI + </a:t>
            </a: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路演进行中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26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914400" y="2247900"/>
            <a:ext cx="47434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完成双平台工程实现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914400" y="2924175"/>
            <a:ext cx="47434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智能体双通道打通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914400" y="3600450"/>
            <a:ext cx="47434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 xml:space="preserve">· 138 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项自动化测试全绿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914400" y="4276725"/>
            <a:ext cx="47434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小范围内测可用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6534150" y="2247900"/>
            <a:ext cx="47434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官网提供下载安装</a:t>
            </a:r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6534150" y="2924175"/>
            <a:ext cx="47434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 xml:space="preserve">· CI 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自动打包双平台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6534150" y="3600450"/>
            <a:ext cx="47434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参赛材料与路演准备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6534150" y="4276725"/>
            <a:ext cx="47434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0B1220">
                    <a:alpha val="82000"/>
                  </a:srgbClr>
                </a:solidFill>
                <a:latin typeface="Microsoft YaHei"/>
                <a:ea typeface="Microsoft YaHei"/>
              </a:rPr>
              <a:t>决赛答辩演示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26 / 38</a:t>
            </a:r>
            <a:endParaRPr/>
          </a:p>
        </p:txBody>
      </p:sp>
    </p:spTree>
  </p:cSld>
</p:sld>
</file>

<file path=ppt/slides/slide27.xml><?xml version="1.0" encoding="utf-8"?>
<p:sld xmlns:p="http://schemas.openxmlformats.org/presentationml/2006/main" xmlns:a="http://schemas.openxmlformats.org/drawingml/2006/main">
  <p:cSld>
    <p:spTree>
      <p:nvGrpSpPr>
        <p:cNvPr id="375" name="" descr="&lt;Slide style={{ width: 1280, height: 720, background: '#F5F9FC', padding: '20px 64px' }}&gt;&#10;    &lt;Box style={{ height: 600, flexDirection: 'row', alignItems: 'center', gap: 64 }}&gt;&#10;        &lt;Text style={{ fontSize: 230, fontWeight: 'bold', fontFamily: 'Consolas', color: '#0D9488', opacity: 0.18, lineHeight: 1 }}&gt;06&lt;/Text&gt;&#10;        &lt;Box style={{ flexDirection: 'column', gap: 22, width: 640 }}&gt;&#10;            &lt;Text style={{ fontSize: 64, fontWeight: 'bold', color: '#0B1220', lineHeight: 1.15 }}&gt;预期成果&lt;/Text&gt;&#10;            &lt;Box style={{ height: 4, width: 120, background: 'linear-gradient(135deg, #4FE0B0 0%, #0D9488 100%)', borderRadius: 2 }} /&gt;&#10;            &lt;Text style={{ fontSize: 30, color: '#0B1220', opacity: 0.72, lineHeight: 1.6 }}&gt;不看演示也知道：&lt;br /&gt;已经做成了多少。&lt;/Text&gt;&#10;            &lt;Text style={{ fontSize: 24, fontFamily: 'Consolas', color: '#0D9488', letterSpacing: 2 }}&gt;P27 – P29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27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3657600" y="1600200"/>
            <a:ext cx="60960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0B1220"/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378" name=""/>
          <p:cNvSpPr/>
          <p:nvPr/>
        </p:nvSpPr>
        <p:spPr>
          <a:xfrm rot="0" flipH="0" flipV="0">
            <a:off x="3657600" y="2657475"/>
            <a:ext cx="1143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4FE0B0"/>
              </a:gs>
              <a:gs pos="100000">
                <a:srgbClr val="0D948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3657600" y="4219575"/>
            <a:ext cx="6096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150">
                <a:solidFill>
                  <a:srgbClr val="0D9488"/>
                </a:solidFill>
                <a:latin typeface="Consolas"/>
                <a:ea typeface="Consolas"/>
              </a:rPr>
              <a:t>P27 – P29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609600" y="1733550"/>
            <a:ext cx="2438400" cy="2628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0" b="1">
                <a:solidFill>
                  <a:srgbClr val="0D9488">
                    <a:alpha val="18000"/>
                  </a:srgbClr>
                </a:solidFill>
                <a:latin typeface="Consolas"/>
                <a:ea typeface="Consolas"/>
              </a:rPr>
              <a:t>06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3657600" y="2905125"/>
            <a:ext cx="6096000" cy="11049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22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不看演示也知道：</a:t>
            </a:r>
            <a:endParaRPr/>
          </a:p>
          <a:p>
            <a:pPr>
              <a:lnSpc>
                <a:spcPct val="160000"/>
              </a:lnSpc>
            </a:pPr>
            <a:r>
              <a:rPr lang="zh-CN" sz="22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已经做成了多少。</a:t>
            </a:r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27 / 38</a:t>
            </a:r>
            <a:endParaRPr/>
          </a:p>
        </p:txBody>
      </p:sp>
    </p:spTree>
  </p:cSld>
</p:sld>
</file>

<file path=ppt/slides/slide28.xml><?xml version="1.0" encoding="utf-8"?>
<p:sld xmlns:p="http://schemas.openxmlformats.org/presentationml/2006/main" xmlns:a="http://schemas.openxmlformats.org/drawingml/2006/main">
  <p:cSld>
    <p:spTree>
      <p:nvGrpSpPr>
        <p:cNvPr id="384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已经做成的成果&lt;/Text&gt;&#10;            &lt;Text style={{ fontSize: 28, color: '#0B1220', opacity: 0.6, letterSpacing: 1 }}&gt;138 项自动检查全绿，双平台可下载&lt;/Text&gt;&#10;        &lt;/Box&gt;&#10;        &lt;Text style={{ fontSize: 22, fontFamily: 'Consolas', color: '#0B1220', opacity: 0.35 }}&gt;28&lt;/Text&gt;&#10;    &lt;/Box&gt;&#10;    &lt;Box style={{ height: 476, flexDirection: 'row', gap: 40, alignItems: 'center' }}&gt;&#10;        &lt;Box style={{ width: 420, flexDirection: 'column', alignItems: 'center', justifyContent: 'center', gap: 10 }}&gt;&#10;            &lt;Text style={{ fontSize: 160, fontWeight: 'bold', fontFamily: 'Consolas', color: '#0D9488', lineHeight: 1 }}&gt;138&lt;/Text&gt;&#10;            &lt;Text style={{ fontSize: 30, color: '#0B1220', opacity: 0.85, textAlign: 'center' }}&gt;项自动化测试 · 全部通过&lt;/Text&gt;&#10;            &lt;Text style={{ fontSize: 28, color: '#0B1220', opacity: 0.7, textAlign: 'center' }}&gt;77 前端 + 61 Rust&lt;/Text&gt;&#10;        &lt;/Box&gt;&#10;        &lt;Box style={{ flex: 1, flexDirection: 'column', gap: 20, justifyContent: 'center' }}&gt;&#10;            &lt;Box style={{ width: 640, height: 360, flexDirection: 'column', justifyContent: 'center', alignItems: 'center', gap: 12, background: 'rgba(13,148,136,0.07)', border: '2px dashed rgba(13,148,136,0.5)', borderRadius: 12, padding: '0 20px' }}&gt;&#10;                &lt;Text style={{ fontSize: 22, fontFamily: 'Consolas', color: '#0D9488', letterSpacing: 1 }}&gt;截图 ⑰&lt;/Text&gt;&#10;                &lt;Text style={{ fontSize: 28, fontWeight: 'bold', color: '#0B1220', textAlign: 'center' }}&gt;官网下载页&lt;/Text&gt;&#10;                &lt;Text style={{ fontSize: 22, color: '#0B1220', opacity: 0.5, textAlign: 'center', lineHeight: 1.6 }}&gt;建议画面：Windows 与 macOS 两入口同框&lt;br /&gt;（官网地址以实际为准）&lt;/Text&gt;&#10;            &lt;/Box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28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42912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已经做成的成果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1343025" y="2295525"/>
            <a:ext cx="2543175" cy="1828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0" b="1">
                <a:solidFill>
                  <a:srgbClr val="0D9488"/>
                </a:solidFill>
                <a:latin typeface="Consolas"/>
                <a:ea typeface="Consolas"/>
              </a:rPr>
              <a:t>138</a:t>
            </a:r>
            <a:endParaRPr/>
          </a:p>
        </p:txBody>
      </p:sp>
      <p:sp>
        <p:nvSpPr>
          <p:cNvPr id="388" name=""/>
          <p:cNvSpPr/>
          <p:nvPr/>
        </p:nvSpPr>
        <p:spPr>
          <a:xfrm rot="0" flipH="0" flipV="0">
            <a:off x="4991100" y="1924050"/>
            <a:ext cx="6096000" cy="3429000"/>
          </a:xfrm>
          <a:prstGeom prst="roundRect">
            <a:avLst>
              <a:gd name="adj" fmla="val 3333"/>
            </a:avLst>
          </a:prstGeom>
          <a:solidFill>
            <a:srgbClr val="0D9488">
              <a:alpha val="7000"/>
            </a:srgbClr>
          </a:solidFill>
          <a:ln w="25400">
            <a:solidFill>
              <a:srgbClr val="0D9488">
                <a:alpha val="50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7677150" y="2828925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0D9488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0D9488"/>
                </a:solidFill>
                <a:latin typeface="Consolas"/>
                <a:ea typeface="Consolas"/>
              </a:rPr>
              <a:t xml:space="preserve"> ⑰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7372350" y="3200400"/>
            <a:ext cx="13335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0B1220"/>
                </a:solidFill>
                <a:latin typeface="Microsoft YaHei"/>
                <a:ea typeface="Microsoft YaHei"/>
              </a:rPr>
              <a:t>官网下载页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4291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 xml:space="preserve">138 </a:t>
            </a: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项自动检查全绿，双平台可下载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28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1057275" y="4219575"/>
            <a:ext cx="3114675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>
                <a:solidFill>
                  <a:srgbClr val="0B1220">
                    <a:alpha val="85000"/>
                  </a:srgbClr>
                </a:solidFill>
                <a:latin typeface="Microsoft YaHei"/>
                <a:ea typeface="Microsoft YaHei"/>
              </a:rPr>
              <a:t>项自动化测试</a:t>
            </a:r>
            <a:r>
              <a:rPr lang="en-US" sz="2250">
                <a:solidFill>
                  <a:srgbClr val="0B1220">
                    <a:alpha val="85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250">
                <a:solidFill>
                  <a:srgbClr val="0B1220">
                    <a:alpha val="85000"/>
                  </a:srgbClr>
                </a:solidFill>
                <a:latin typeface="Microsoft YaHei"/>
                <a:ea typeface="Microsoft YaHei"/>
              </a:rPr>
              <a:t>全部通过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1543050" y="4657725"/>
            <a:ext cx="21336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2100">
                <a:solidFill>
                  <a:srgbClr val="0B1220">
                    <a:alpha val="70000"/>
                  </a:srgbClr>
                </a:solidFill>
                <a:latin typeface="Microsoft YaHei"/>
                <a:ea typeface="Microsoft YaHei"/>
              </a:rPr>
              <a:t xml:space="preserve">77 </a:t>
            </a:r>
            <a:r>
              <a:rPr lang="zh-CN" sz="2100">
                <a:solidFill>
                  <a:srgbClr val="0B1220">
                    <a:alpha val="70000"/>
                  </a:srgbClr>
                </a:solidFill>
                <a:latin typeface="Microsoft YaHei"/>
                <a:ea typeface="Microsoft YaHei"/>
              </a:rPr>
              <a:t>前端</a:t>
            </a:r>
            <a:r>
              <a:rPr lang="en-US" sz="2100">
                <a:solidFill>
                  <a:srgbClr val="0B1220">
                    <a:alpha val="70000"/>
                  </a:srgbClr>
                </a:solidFill>
                <a:latin typeface="Microsoft YaHei"/>
                <a:ea typeface="Microsoft YaHei"/>
              </a:rPr>
              <a:t xml:space="preserve"> + 61 Rust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6029325" y="3638550"/>
            <a:ext cx="4029075" cy="80962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建议画面：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 xml:space="preserve">Windows 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与</a:t>
            </a:r>
            <a:r>
              <a:rPr lang="en-US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 xml:space="preserve"> macOS </a:t>
            </a: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两入口同框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（官网地址以实际为准）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28 / 38</a:t>
            </a:r>
            <a:endParaRPr/>
          </a:p>
        </p:txBody>
      </p:sp>
    </p:spTree>
  </p:cSld>
</p:sld>
</file>

<file path=ppt/slides/slide29.xml><?xml version="1.0" encoding="utf-8"?>
<p:sld xmlns:p="http://schemas.openxmlformats.org/presentationml/2006/main" xmlns:a="http://schemas.openxmlformats.org/drawingml/2006/main">
  <p:cSld>
    <p:spTree>
      <p:nvGrpSpPr>
        <p:cNvPr id="398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可交付物清单&lt;/Text&gt;&#10;            &lt;Text style={{ fontSize: 28, color: '#0B1220', opacity: 0.6, letterSpacing: 1 }}&gt;软件 / 官网 / 文档 / 测试，四件套齐备&lt;/Text&gt;&#10;        &lt;/Box&gt;&#10;        &lt;Text style={{ fontSize: 22, fontFamily: 'Consolas', color: '#0B1220', opacity: 0.35 }}&gt;29&lt;/Text&gt;&#10;    &lt;/Box&gt;&#10;    &lt;Box style={{ height: 476, flexDirection: 'row', gap: 18, alignItems: 'stretch', justifyContent: 'center' }}&gt;&#10;        &lt;Box style={{ width: 264, flexDirection: 'column', alignItems: 'center', gap: 14, padding: '32px 16px', background: '#FFFFFF', border: '1px solid rgba(11,18,32,0.10)', borderRadius: 12 }}&gt;&#10;            &lt;Text style={{ fontSize: 44, fontWeight: 'bold', color: '#0D9488', fontFamily: 'Consolas' }}&gt;01&lt;/Text&gt;&#10;            &lt;Text style={{ fontSize: 32, fontWeight: 'bold', color: '#0B1220', textAlign: 'center' }}&gt;软件&lt;/Text&gt;&#10;            &lt;Text style={{ fontSize: 26, color: '#0B1220', opacity: 0.72, textAlign: 'center', lineHeight: 1.45 }}&gt;双平台安装包&lt;/Text&gt;&#10;        &lt;/Box&gt;&#10;        &lt;Box style={{ width: 264, flexDirection: 'column', alignItems: 'center', gap: 14, padding: '32px 16px', background: '#FFFFFF', border: '1px solid rgba(11,18,32,0.10)', borderRadius: 12 }}&gt;&#10;            &lt;Text style={{ fontSize: 44, fontWeight: 'bold', color: '#0D9488', fontFamily: 'Consolas' }}&gt;02&lt;/Text&gt;&#10;            &lt;Text style={{ fontSize: 32, fontWeight: 'bold', color: '#0B1220', textAlign: 'center' }}&gt;官网&lt;/Text&gt;&#10;            &lt;Text style={{ fontSize: 26, color: '#0B1220', opacity: 0.72, textAlign: 'center', lineHeight: 1.45 }}&gt;下载与介绍页&lt;/Text&gt;&#10;        &lt;/Box&gt;&#10;        &lt;Box style={{ width: 264, flexDirection: 'column', alignItems: 'center', gap: 14, padding: '32px 16px', background: '#FFFFFF', border: '1px solid rgba(11,18,32,0.10)', borderRadius: 12 }}&gt;&#10;            &lt;Text style={{ fontSize: 44, fontWeight: 'bold', color: '#0D9488', fontFamily: 'Consolas' }}&gt;03&lt;/Text&gt;&#10;            &lt;Text style={{ fontSize: 32, fontWeight: 'bold', color: '#0B1220', textAlign: 'center' }}&gt;文档&lt;/Text&gt;&#10;            &lt;Text style={{ fontSize: 26, color: '#0B1220', opacity: 0.72, textAlign: 'center', lineHeight: 1.45 }}&gt;计划书与使用说明&lt;/Text&gt;&#10;        &lt;/Box&gt;&#10;        &lt;Box style={{ width: 264, flexDirection: 'column', alignItems: 'center', gap: 14, padding: '32px 16px', background: 'rgba(79,224,176,0.16)', border: '1px solid rgba(13,148,136,0.35)', borderRadius: 12 }}&gt;&#10;            &lt;Text style={{ fontSize: 44, fontWeight: 'bold', color: '#0D9488', fontFamily: 'Consolas' }}&gt;04&lt;/Text&gt;&#10;            &lt;Text style={{ fontSize: 32, fontWeight: 'bold', color: '#0B1220', textAlign: 'center' }}&gt;测试&lt;/Text&gt;&#10;            &lt;Text style={{ fontSize: 26, color: '#0B1220', opacity: 0.72, textAlign: 'center', lineHeight: 1.45 }}&gt;138 项自动检查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29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6291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可交付物清单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809625" y="1371600"/>
            <a:ext cx="2514600" cy="45339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1838325" y="1676400"/>
            <a:ext cx="4667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D9488"/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1762125" y="2314575"/>
            <a:ext cx="609600" cy="3714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400" b="1">
                <a:solidFill>
                  <a:srgbClr val="0B1220"/>
                </a:solidFill>
                <a:latin typeface="Microsoft YaHei"/>
                <a:ea typeface="Microsoft YaHei"/>
              </a:rPr>
              <a:t>软件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3495675" y="1371600"/>
            <a:ext cx="2514600" cy="45339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4524375" y="1676400"/>
            <a:ext cx="4667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D9488"/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4448175" y="2314575"/>
            <a:ext cx="609600" cy="3714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400" b="1">
                <a:solidFill>
                  <a:srgbClr val="0B1220"/>
                </a:solidFill>
                <a:latin typeface="Microsoft YaHei"/>
                <a:ea typeface="Microsoft YaHei"/>
              </a:rPr>
              <a:t>官网</a:t>
            </a:r>
            <a:endParaRPr/>
          </a:p>
        </p:txBody>
      </p:sp>
      <p:sp>
        <p:nvSpPr>
          <p:cNvPr id="407" name=""/>
          <p:cNvSpPr/>
          <p:nvPr/>
        </p:nvSpPr>
        <p:spPr>
          <a:xfrm rot="0" flipH="0" flipV="0">
            <a:off x="6181725" y="1371600"/>
            <a:ext cx="2514600" cy="45339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7210425" y="1676400"/>
            <a:ext cx="4667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D9488"/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7134225" y="2314575"/>
            <a:ext cx="609600" cy="3714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400" b="1">
                <a:solidFill>
                  <a:srgbClr val="0B1220"/>
                </a:solidFill>
                <a:latin typeface="Microsoft YaHei"/>
                <a:ea typeface="Microsoft YaHei"/>
              </a:rPr>
              <a:t>文档</a:t>
            </a:r>
            <a:endParaRPr/>
          </a:p>
        </p:txBody>
      </p:sp>
      <p:sp>
        <p:nvSpPr>
          <p:cNvPr id="410" name=""/>
          <p:cNvSpPr/>
          <p:nvPr/>
        </p:nvSpPr>
        <p:spPr>
          <a:xfrm rot="0" flipH="0" flipV="0">
            <a:off x="8867775" y="1371600"/>
            <a:ext cx="2514600" cy="4533900"/>
          </a:xfrm>
          <a:prstGeom prst="roundRect">
            <a:avLst>
              <a:gd name="adj" fmla="val 4545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9896475" y="1676400"/>
            <a:ext cx="4667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D9488"/>
                </a:solidFill>
                <a:latin typeface="Consolas"/>
                <a:ea typeface="Consolas"/>
              </a:rPr>
              <a:t>04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9820275" y="2314575"/>
            <a:ext cx="609600" cy="3714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400" b="1">
                <a:solidFill>
                  <a:srgbClr val="0B1220"/>
                </a:solidFill>
                <a:latin typeface="Microsoft YaHei"/>
                <a:ea typeface="Microsoft YaHei"/>
              </a:rPr>
              <a:t>测试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6291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软件</a:t>
            </a: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官网</a:t>
            </a: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文档</a:t>
            </a: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测试，四件套齐备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29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1323975" y="2819400"/>
            <a:ext cx="1485900" cy="438150"/>
          </a:xfrm>
          <a:prstGeom prst="rect"/>
        </p:spPr>
        <p:txBody>
          <a:bodyPr wrap="none" lIns="0" tIns="0" rIns="0" bIns="0"/>
          <a:p>
            <a:pPr algn="ctr">
              <a:lnSpc>
                <a:spcPct val="145000"/>
              </a:lnSpc>
            </a:pPr>
            <a:r>
              <a:rPr lang="zh-CN" sz="19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双平台安装包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4010025" y="2819400"/>
            <a:ext cx="1485900" cy="438150"/>
          </a:xfrm>
          <a:prstGeom prst="rect"/>
        </p:spPr>
        <p:txBody>
          <a:bodyPr wrap="none" lIns="0" tIns="0" rIns="0" bIns="0"/>
          <a:p>
            <a:pPr algn="ctr">
              <a:lnSpc>
                <a:spcPct val="145000"/>
              </a:lnSpc>
            </a:pPr>
            <a:r>
              <a:rPr lang="zh-CN" sz="19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下载与介绍页</a:t>
            </a:r>
            <a:endParaRPr/>
          </a:p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6448425" y="2819400"/>
            <a:ext cx="1981200" cy="438150"/>
          </a:xfrm>
          <a:prstGeom prst="rect"/>
        </p:spPr>
        <p:txBody>
          <a:bodyPr wrap="none" lIns="0" tIns="0" rIns="0" bIns="0"/>
          <a:p>
            <a:pPr algn="ctr">
              <a:lnSpc>
                <a:spcPct val="145000"/>
              </a:lnSpc>
            </a:pPr>
            <a:r>
              <a:rPr lang="zh-CN" sz="19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计划书与使用说明</a:t>
            </a:r>
            <a:endParaRPr/>
          </a:p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9267825" y="2819400"/>
            <a:ext cx="1724025" cy="438150"/>
          </a:xfrm>
          <a:prstGeom prst="rect"/>
        </p:spPr>
        <p:txBody>
          <a:bodyPr wrap="none" lIns="0" tIns="0" rIns="0" bIns="0"/>
          <a:p>
            <a:pPr algn="ctr">
              <a:lnSpc>
                <a:spcPct val="145000"/>
              </a:lnSpc>
            </a:pPr>
            <a:r>
              <a:rPr lang="en-US" sz="19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 xml:space="preserve">138 </a:t>
            </a:r>
            <a:r>
              <a:rPr lang="zh-CN" sz="19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项自动检查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29 / 38</a:t>
            </a:r>
            <a:endParaRPr/>
          </a:p>
        </p:txBody>
      </p:sp>
    </p:spTree>
  </p:cSld>
</p:sld>
</file>

<file path=ppt/slides/slide30.xml><?xml version="1.0" encoding="utf-8"?>
<p:sld xmlns:p="http://schemas.openxmlformats.org/presentationml/2006/main" xmlns:a="http://schemas.openxmlformats.org/drawingml/2006/main">
  <p:cSld>
    <p:spTree>
      <p:nvGrpSpPr>
        <p:cNvPr id="430" name="" descr="&lt;Slide style={{ width: 1280, height: 720, background: '#F5F9FC', padding: '20px 64px' }}&gt;&#10;    &lt;Box style={{ height: 600, flexDirection: 'row', alignItems: 'center', gap: 64 }}&gt;&#10;        &lt;Text style={{ fontSize: 230, fontWeight: 'bold', fontFamily: 'Consolas', color: '#0D9488', opacity: 0.18, lineHeight: 1 }}&gt;07&lt;/Text&gt;&#10;        &lt;Box style={{ flexDirection: 'column', gap: 22, width: 660 }}&gt;&#10;            &lt;Text style={{ fontSize: 64, fontWeight: 'bold', color: '#0B1220', lineHeight: 1.15 }}&gt;创新点&lt;/Text&gt;&#10;            &lt;Box style={{ height: 4, width: 120, background: 'linear-gradient(135deg, #4FE0B0 0%, #0D9488 100%)', borderRadius: 2 }} /&gt;&#10;            &lt;Text style={{ fontSize: 30, color: '#0B1220', opacity: 0.72, lineHeight: 1.6 }}&gt;我们跟别人&lt;br /&gt;不一样的地方。&lt;/Text&gt;&#10;            &lt;Text style={{ fontSize: 24, fontFamily: 'Consolas', color: '#0D9488', letterSpacing: 2 }}&gt;P30 – P35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30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3657600" y="1600200"/>
            <a:ext cx="62865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0B1220"/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433" name=""/>
          <p:cNvSpPr/>
          <p:nvPr/>
        </p:nvSpPr>
        <p:spPr>
          <a:xfrm rot="0" flipH="0" flipV="0">
            <a:off x="3657600" y="2657475"/>
            <a:ext cx="1143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4FE0B0"/>
              </a:gs>
              <a:gs pos="100000">
                <a:srgbClr val="0D948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3657600" y="4219575"/>
            <a:ext cx="6286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150">
                <a:solidFill>
                  <a:srgbClr val="0D9488"/>
                </a:solidFill>
                <a:latin typeface="Consolas"/>
                <a:ea typeface="Consolas"/>
              </a:rPr>
              <a:t>P30 – P35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609600" y="1733550"/>
            <a:ext cx="2438400" cy="2628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0" b="1">
                <a:solidFill>
                  <a:srgbClr val="0D9488">
                    <a:alpha val="18000"/>
                  </a:srgbClr>
                </a:solidFill>
                <a:latin typeface="Consolas"/>
                <a:ea typeface="Consolas"/>
              </a:rPr>
              <a:t>07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3657600" y="2905125"/>
            <a:ext cx="6286500" cy="11049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22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我们跟别人</a:t>
            </a:r>
            <a:endParaRPr/>
          </a:p>
          <a:p>
            <a:pPr>
              <a:lnSpc>
                <a:spcPct val="160000"/>
              </a:lnSpc>
            </a:pPr>
            <a:r>
              <a:rPr lang="zh-CN" sz="22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不一样的地方。</a:t>
            </a:r>
            <a:endParaRPr/>
          </a:p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30 / 38</a:t>
            </a:r>
            <a:endParaRPr/>
          </a:p>
        </p:txBody>
      </p:sp>
    </p:spTree>
  </p:cSld>
</p:sld>
</file>

<file path=ppt/slides/slide31.xml><?xml version="1.0" encoding="utf-8"?>
<p:sld xmlns:p="http://schemas.openxmlformats.org/presentationml/2006/main" xmlns:a="http://schemas.openxmlformats.org/drawingml/2006/main">
  <p:cSld>
    <p:spTree>
      <p:nvGrpSpPr>
        <p:cNvPr id="439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五个不一样的地方&lt;/Text&gt;&#10;            &lt;Text style={{ fontSize: 28, color: '#0B1220', opacity: 0.6, letterSpacing: 1 }}&gt;一句话概览五条创新&lt;/Text&gt;&#10;        &lt;/Box&gt;&#10;        &lt;Text style={{ fontSize: 22, fontFamily: 'Consolas', color: '#0B1220', opacity: 0.35 }}&gt;31&lt;/Text&gt;&#10;    &lt;/Box&gt;&#10;    &lt;Box style={{ height: 476, flexDirection: 'column', gap: 10 }}&gt;&#10;        &lt;Box style={{ height: 86, flexDirection: 'row', alignItems: 'center', gap: 22, padding: '0 24px', background: '#FFFFFF', border: '1px solid rgba(11,18,32,0.10)', borderRadius: 12 }}&gt;&#10;            &lt;Text style={{ fontSize: 44, fontWeight: 'bold', fontFamily: 'Consolas', color: '#0D9488', width: 56 }}&gt;1&lt;/Text&gt;&#10;            &lt;Text style={{ fontSize: 31, fontWeight: 'bold', color: '#0B1220', width: 420 }}&gt;说一句话建提醒&lt;/Text&gt;&#10;            &lt;Text style={{ fontSize: 28, color: '#0B1220', opacity: 0.75, flex: 1 }}&gt;自然语言替代一堆表单，零学习成本。&lt;/Text&gt;&#10;        &lt;/Box&gt;&#10;        &lt;Box style={{ height: 86, flexDirection: 'row', alignItems: 'center', gap: 22, padding: '0 24px', background: '#FFFFFF', border: '1px solid rgba(11,18,32,0.10)', borderRadius: 12 }}&gt;&#10;            &lt;Text style={{ fontSize: 44, fontWeight: 'bold', fontFamily: 'Consolas', color: '#0D9488', width: 56 }}&gt;2&lt;/Text&gt;&#10;            &lt;Text style={{ fontSize: 31, fontWeight: 'bold', color: '#0B1220', width: 420 }}&gt;AI 校验机制&lt;/Text&gt;&#10;            &lt;Text style={{ fontSize: 28, color: '#0B1220', opacity: 0.75, flex: 1 }}&gt;大模型只提建议，软件把关不让胡写进列表。&lt;/Text&gt;&#10;        &lt;/Box&gt;&#10;        &lt;Box style={{ height: 86, flexDirection: 'row', alignItems: 'center', gap: 22, padding: '0 24px', background: '#FFFFFF', border: '1px solid rgba(11,18,32,0.10)', borderRadius: 12 }}&gt;&#10;            &lt;Text style={{ fontSize: 44, fontWeight: 'bold', fontFamily: 'Consolas', color: '#0D9488', width: 56 }}&gt;3&lt;/Text&gt;&#10;            &lt;Text style={{ fontSize: 31, fontWeight: 'bold', color: '#0B1220', width: 420 }}&gt;人机协同开发&lt;/Text&gt;&#10;            &lt;Text style={{ fontSize: 28, color: '#0B1220', opacity: 0.75, flex: 1 }}&gt;高职生 + AI 助手，做出跨平台软件。&lt;/Text&gt;&#10;        &lt;/Box&gt;&#10;        &lt;Box style={{ height: 86, flexDirection: 'row', alignItems: 'center', gap: 22, padding: '0 24px', background: '#FFFFFF', border: '1px solid rgba(11,18,32,0.10)', borderRadius: 12 }}&gt;&#10;            &lt;Text style={{ fontSize: 44, fontWeight: 'bold', fontFamily: 'Consolas', color: '#0D9488', width: 56 }}&gt;4&lt;/Text&gt;&#10;            &lt;Text style={{ fontSize: 31, fontWeight: 'bold', color: '#0B1220', width: 420 }}&gt;立场让你休息&lt;/Text&gt;&#10;            &lt;Text style={{ fontSize: 28, color: '#0B1220', opacity: 0.75, flex: 1 }}&gt;不催干活、不比拼、文案不制造焦虑。&lt;/Text&gt;&#10;        &lt;/Box&gt;&#10;        &lt;Box style={{ height: 86, flexDirection: 'row', alignItems: 'center', gap: 22, padding: '0 24px', background: 'rgba(79,224,176,0.16)', border: '1px solid rgba(13,148,136,0.35)', borderRadius: 12 }}&gt;&#10;            &lt;Text style={{ fontSize: 44, fontWeight: 'bold', fontFamily: 'Consolas', color: '#0D9488', width: 56 }}&gt;5&lt;/Text&gt;&#10;            &lt;Text style={{ fontSize: 31, fontWeight: 'bold', color: '#0B1220', width: 420 }}&gt;双通道 + 本机数据&lt;/Text&gt;&#10;            &lt;Text style={{ fontSize: 28, color: '#0B1220', opacity: 0.8, flex: 1 }}&gt;断网也能用，数据留本机、隐私可控。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31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35052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五个不一样的地方</a:t>
            </a:r>
            <a:endParaRPr/>
          </a:p>
        </p:txBody>
      </p:sp>
      <p:sp>
        <p:nvSpPr>
          <p:cNvPr id="442" name=""/>
          <p:cNvSpPr/>
          <p:nvPr/>
        </p:nvSpPr>
        <p:spPr>
          <a:xfrm rot="0" flipH="0" flipV="0">
            <a:off x="609600" y="1371600"/>
            <a:ext cx="10972800" cy="81915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838200" y="1533525"/>
            <a:ext cx="533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D9488"/>
                </a:solidFill>
                <a:latin typeface="Consolas"/>
                <a:ea typeface="Consolas"/>
              </a:rPr>
              <a:t>1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1581150" y="1600200"/>
            <a:ext cx="40005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B1220"/>
                </a:solidFill>
                <a:latin typeface="Microsoft YaHei"/>
                <a:ea typeface="Microsoft YaHei"/>
              </a:rPr>
              <a:t>说一句话建提醒</a:t>
            </a:r>
            <a:endParaRPr/>
          </a:p>
        </p:txBody>
      </p:sp>
      <p:sp>
        <p:nvSpPr>
          <p:cNvPr id="445" name=""/>
          <p:cNvSpPr/>
          <p:nvPr/>
        </p:nvSpPr>
        <p:spPr>
          <a:xfrm rot="0" flipH="0" flipV="0">
            <a:off x="609600" y="2286000"/>
            <a:ext cx="10972800" cy="81915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838200" y="2447925"/>
            <a:ext cx="533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D9488"/>
                </a:solidFill>
                <a:latin typeface="Consolas"/>
                <a:ea typeface="Consolas"/>
              </a:rPr>
              <a:t>2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1581150" y="2514600"/>
            <a:ext cx="40005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325" b="1">
                <a:solidFill>
                  <a:srgbClr val="0B122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325" b="1">
                <a:solidFill>
                  <a:srgbClr val="0B1220"/>
                </a:solidFill>
                <a:latin typeface="Microsoft YaHei"/>
                <a:ea typeface="Microsoft YaHei"/>
              </a:rPr>
              <a:t>校验机制</a:t>
            </a:r>
            <a:endParaRPr/>
          </a:p>
        </p:txBody>
      </p:sp>
      <p:sp>
        <p:nvSpPr>
          <p:cNvPr id="448" name=""/>
          <p:cNvSpPr/>
          <p:nvPr/>
        </p:nvSpPr>
        <p:spPr>
          <a:xfrm rot="0" flipH="0" flipV="0">
            <a:off x="609600" y="3200400"/>
            <a:ext cx="10972800" cy="81915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838200" y="3362325"/>
            <a:ext cx="533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D9488"/>
                </a:solidFill>
                <a:latin typeface="Consolas"/>
                <a:ea typeface="Consolas"/>
              </a:rPr>
              <a:t>3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1581150" y="3429000"/>
            <a:ext cx="40005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B1220"/>
                </a:solidFill>
                <a:latin typeface="Microsoft YaHei"/>
                <a:ea typeface="Microsoft YaHei"/>
              </a:rPr>
              <a:t>人机协同开发</a:t>
            </a:r>
            <a:endParaRPr/>
          </a:p>
        </p:txBody>
      </p:sp>
      <p:sp>
        <p:nvSpPr>
          <p:cNvPr id="451" name=""/>
          <p:cNvSpPr/>
          <p:nvPr/>
        </p:nvSpPr>
        <p:spPr>
          <a:xfrm rot="0" flipH="0" flipV="0">
            <a:off x="609600" y="4114800"/>
            <a:ext cx="10972800" cy="81915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838200" y="4276725"/>
            <a:ext cx="533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D9488"/>
                </a:solidFill>
                <a:latin typeface="Consolas"/>
                <a:ea typeface="Consolas"/>
              </a:rPr>
              <a:t>4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1581150" y="4343400"/>
            <a:ext cx="40005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B1220"/>
                </a:solidFill>
                <a:latin typeface="Microsoft YaHei"/>
                <a:ea typeface="Microsoft YaHei"/>
              </a:rPr>
              <a:t>立场让你休息</a:t>
            </a:r>
            <a:endParaRPr/>
          </a:p>
        </p:txBody>
      </p:sp>
      <p:sp>
        <p:nvSpPr>
          <p:cNvPr id="454" name=""/>
          <p:cNvSpPr/>
          <p:nvPr/>
        </p:nvSpPr>
        <p:spPr>
          <a:xfrm rot="0" flipH="0" flipV="0">
            <a:off x="609600" y="5029200"/>
            <a:ext cx="10972800" cy="819150"/>
          </a:xfrm>
          <a:prstGeom prst="roundRect">
            <a:avLst>
              <a:gd name="adj" fmla="val 13953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838200" y="5191125"/>
            <a:ext cx="533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D9488"/>
                </a:solidFill>
                <a:latin typeface="Consolas"/>
                <a:ea typeface="Consolas"/>
              </a:rPr>
              <a:t>5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1581150" y="5257800"/>
            <a:ext cx="40005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B1220"/>
                </a:solidFill>
                <a:latin typeface="Microsoft YaHei"/>
                <a:ea typeface="Microsoft YaHei"/>
              </a:rPr>
              <a:t>双通道</a:t>
            </a:r>
            <a:r>
              <a:rPr lang="en-US" sz="2325" b="1">
                <a:solidFill>
                  <a:srgbClr val="0B122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325" b="1">
                <a:solidFill>
                  <a:srgbClr val="0B1220"/>
                </a:solidFill>
                <a:latin typeface="Microsoft YaHei"/>
                <a:ea typeface="Microsoft YaHei"/>
              </a:rPr>
              <a:t>本机数据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3505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一句话概览五条创新</a:t>
            </a:r>
            <a:endParaRPr/>
          </a:p>
        </p:txBody>
      </p:sp>
      <p:sp>
        <p:nvSpPr>
          <p:cNvPr id="458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31</a:t>
            </a:r>
            <a:endParaRPr/>
          </a:p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5791200" y="1619250"/>
            <a:ext cx="55626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75000"/>
                  </a:srgbClr>
                </a:solidFill>
                <a:latin typeface="Microsoft YaHei"/>
                <a:ea typeface="Microsoft YaHei"/>
              </a:rPr>
              <a:t>自然语言替代一堆表单，零学习成本。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5791200" y="2533650"/>
            <a:ext cx="55626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75000"/>
                  </a:srgbClr>
                </a:solidFill>
                <a:latin typeface="Microsoft YaHei"/>
                <a:ea typeface="Microsoft YaHei"/>
              </a:rPr>
              <a:t>大模型只提建议，软件把关不让胡写进列表。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5791200" y="3448050"/>
            <a:ext cx="55626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75000"/>
                  </a:srgbClr>
                </a:solidFill>
                <a:latin typeface="Microsoft YaHei"/>
                <a:ea typeface="Microsoft YaHei"/>
              </a:rPr>
              <a:t>高职生</a:t>
            </a:r>
            <a:r>
              <a:rPr lang="en-US" sz="2100">
                <a:solidFill>
                  <a:srgbClr val="0B1220">
                    <a:alpha val="75000"/>
                  </a:srgbClr>
                </a:solidFill>
                <a:latin typeface="Microsoft YaHei"/>
                <a:ea typeface="Microsoft YaHei"/>
              </a:rPr>
              <a:t xml:space="preserve"> + AI </a:t>
            </a:r>
            <a:r>
              <a:rPr lang="zh-CN" sz="2100">
                <a:solidFill>
                  <a:srgbClr val="0B1220">
                    <a:alpha val="75000"/>
                  </a:srgbClr>
                </a:solidFill>
                <a:latin typeface="Microsoft YaHei"/>
                <a:ea typeface="Microsoft YaHei"/>
              </a:rPr>
              <a:t>助手，做出跨平台软件。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5791200" y="4362450"/>
            <a:ext cx="55626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75000"/>
                  </a:srgbClr>
                </a:solidFill>
                <a:latin typeface="Microsoft YaHei"/>
                <a:ea typeface="Microsoft YaHei"/>
              </a:rPr>
              <a:t>不催干活、不比拼、文案不制造焦虑。</a:t>
            </a:r>
            <a:endParaRPr/>
          </a:p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5791200" y="5276850"/>
            <a:ext cx="55626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断网也能用，数据留本机、隐私可控。</a:t>
            </a:r>
            <a:endParaRPr/>
          </a:p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31 / 38</a:t>
            </a:r>
            <a:endParaRPr/>
          </a:p>
        </p:txBody>
      </p:sp>
    </p:spTree>
  </p:cSld>
</p:sld>
</file>

<file path=ppt/slides/slide32.xml><?xml version="1.0" encoding="utf-8"?>
<p:sld xmlns:p="http://schemas.openxmlformats.org/presentationml/2006/main" xmlns:a="http://schemas.openxmlformats.org/drawingml/2006/main">
  <p:cSld>
    <p:spTree>
      <p:nvGrpSpPr>
        <p:cNvPr id="466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创新详解① · 说一句话建提醒&lt;/Text&gt;&#10;            &lt;Text style={{ fontSize: 28, color: '#0B1220', opacity: 0.6, letterSpacing: 1 }}&gt;自然语言替代一堆表单，零学习成本&lt;/Text&gt;&#10;        &lt;/Box&gt;&#10;        &lt;Text style={{ fontSize: 22, fontFamily: 'Consolas', color: '#0B1220', opacity: 0.35 }}&gt;32&lt;/Text&gt;&#10;    &lt;/Box&gt;&#10;    &lt;Box style={{ height: 476, flexDirection: 'row', gap: 40, alignItems: 'center' }}&gt;&#10;        &lt;Box style={{ flex: 1, flexDirection: 'column', gap: 18, justifyContent: 'center' }}&gt;&#10;            &lt;Text style={{ fontSize: 36, fontWeight: 'bold', color: '#0D9488', lineHeight: 1.4 }}&gt;不用学怎么填表单。&lt;/Text&gt;&#10;            &lt;Text style={{ fontSize: 28, color: '#0B1220', opacity: 0.8, lineHeight: 1.5 }}&gt;想怎么说就怎么说，顺序也不重要。&lt;/Text&gt;&#10;            &lt;Text style={{ fontSize: 28, color: '#0B1220', opacity: 0.8, lineHeight: 1.5 }}&gt;第一次用就能建好一条提醒。&lt;/Text&gt;&#10;            &lt;Box style={{ padding: '18px 22px', background: 'rgba(79,224,176,0.16)', border: '1px solid rgba(13,148,136,0.35)', borderRadius: 12 }}&gt;&#10;                &lt;Text style={{ fontSize: 28, color: '#0B1220', lineHeight: 1.5 }}&gt;门槛 = &lt;span style={{ color: '#0D9488', fontWeight: 'bold' }}&gt;会说中文&lt;/span&gt;&lt;/Text&gt;&#10;            &lt;/Box&gt;&#10;        &lt;/Box&gt;&#10;        &lt;Box style={{ width: 560, height: 420, flexDirection: 'column', gap: 16, padding: '26px 28px', background: '#FFFFFF', border: '1px solid rgba(11,18,32,0.10)', borderRadius: 12, justifyContent: 'center' }}&gt;&#10;            &lt;Text style={{ fontSize: 26, fontWeight: 'bold', color: '#0D9488' }}&gt;对照&lt;/Text&gt;&#10;            &lt;Box style={{ flexDirection: 'row', gap: 16 }}&gt;&#10;                &lt;Box style={{ flex: 1, flexDirection: 'column', gap: 10, padding: '18px', background: 'rgba(79,224,176,0.14)', borderRadius: 10 }}&gt;&#10;                    &lt;Text style={{ fontSize: 26, fontWeight: 'bold', color: '#0D9488' }}&gt;你做的&lt;/Text&gt;&#10;                    &lt;Text style={{ fontSize: 28, color: '#0B1220', opacity: 0.85, lineHeight: 1.5 }}&gt;&quot;每久坐 50 分钟提醒我&quot;&lt;/Text&gt;&#10;                &lt;/Box&gt;&#10;                &lt;Box style={{ flex: 1, flexDirection: 'column', gap: 10, padding: '18px', background: '#F5F9FC', border: '1px solid rgba(11,18,32,0.10)', borderRadius: 10 }}&gt;&#10;                    &lt;Text style={{ fontSize: 26, fontWeight: 'bold', color: '#0B1220', opacity: 0.6 }}&gt;传统做法&lt;/Text&gt;&#10;                    &lt;Text style={{ fontSize: 26, color: '#0B1220', opacity: 0.75, lineHeight: 1.5 }}&gt;时间 / 重复 / 类型 / 操作…逐个填&lt;/Text&gt;&#10;                &lt;/Box&gt;&#10;            &lt;/Box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32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564832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创新详解①</a:t>
            </a:r>
            <a:r>
              <a:rPr lang="en-US" sz="3450" b="1">
                <a:solidFill>
                  <a:srgbClr val="0B122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说一句话建提醒</a:t>
            </a:r>
            <a:endParaRPr/>
          </a:p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609600" y="2190750"/>
            <a:ext cx="5257800" cy="581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0D9488"/>
                </a:solidFill>
                <a:latin typeface="Microsoft YaHei"/>
                <a:ea typeface="Microsoft YaHei"/>
              </a:rPr>
              <a:t>不用学怎么填表单。</a:t>
            </a:r>
            <a:endParaRPr/>
          </a:p>
        </p:txBody>
      </p:sp>
      <p:sp>
        <p:nvSpPr>
          <p:cNvPr id="470" name=""/>
          <p:cNvSpPr/>
          <p:nvPr/>
        </p:nvSpPr>
        <p:spPr>
          <a:xfrm rot="0" flipH="0" flipV="0">
            <a:off x="609600" y="4257675"/>
            <a:ext cx="5257800" cy="828675"/>
          </a:xfrm>
          <a:prstGeom prst="roundRect">
            <a:avLst>
              <a:gd name="adj" fmla="val 13793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819150" y="4429125"/>
            <a:ext cx="48387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门槛</a:t>
            </a:r>
            <a:r>
              <a:rPr lang="en-US" sz="2100">
                <a:solidFill>
                  <a:srgbClr val="0B122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2100" b="1">
                <a:solidFill>
                  <a:srgbClr val="0D9488"/>
                </a:solidFill>
                <a:latin typeface="Microsoft YaHei"/>
                <a:ea typeface="Microsoft YaHei"/>
              </a:rPr>
              <a:t>会说中文</a:t>
            </a:r>
            <a:endParaRPr/>
          </a:p>
        </p:txBody>
      </p:sp>
      <p:sp>
        <p:nvSpPr>
          <p:cNvPr id="472" name=""/>
          <p:cNvSpPr/>
          <p:nvPr/>
        </p:nvSpPr>
        <p:spPr>
          <a:xfrm rot="0" flipH="0" flipV="0">
            <a:off x="6248400" y="1638300"/>
            <a:ext cx="5334000" cy="4000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6515100" y="2562225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0D9488"/>
                </a:solidFill>
                <a:latin typeface="Microsoft YaHei"/>
                <a:ea typeface="Microsoft YaHei"/>
              </a:rPr>
              <a:t>对照</a:t>
            </a:r>
            <a:endParaRPr/>
          </a:p>
        </p:txBody>
      </p:sp>
      <p:sp>
        <p:nvSpPr>
          <p:cNvPr id="474" name=""/>
          <p:cNvSpPr/>
          <p:nvPr/>
        </p:nvSpPr>
        <p:spPr>
          <a:xfrm rot="0" flipH="0" flipV="0">
            <a:off x="6515100" y="3019425"/>
            <a:ext cx="2324100" cy="1704975"/>
          </a:xfrm>
          <a:prstGeom prst="roundRect">
            <a:avLst>
              <a:gd name="adj" fmla="val 5587"/>
            </a:avLst>
          </a:prstGeom>
          <a:solidFill>
            <a:srgbClr val="4FE0B0">
              <a:alpha val="14000"/>
            </a:srgbClr>
          </a:solidFill>
          <a:ln/>
        </p:spPr>
        <p:txBody>
          <a:bodyPr/>
          <a:p/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6686550" y="319087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0D9488"/>
                </a:solidFill>
                <a:latin typeface="Microsoft YaHei"/>
                <a:ea typeface="Microsoft YaHei"/>
              </a:rPr>
              <a:t>你做的</a:t>
            </a:r>
            <a:endParaRPr/>
          </a:p>
        </p:txBody>
      </p:sp>
      <p:sp>
        <p:nvSpPr>
          <p:cNvPr id="476" name=""/>
          <p:cNvSpPr/>
          <p:nvPr/>
        </p:nvSpPr>
        <p:spPr>
          <a:xfrm rot="0" flipH="0" flipV="0">
            <a:off x="8991600" y="3019425"/>
            <a:ext cx="2324100" cy="1704975"/>
          </a:xfrm>
          <a:prstGeom prst="roundRect">
            <a:avLst>
              <a:gd name="adj" fmla="val 5587"/>
            </a:avLst>
          </a:prstGeom>
          <a:solidFill>
            <a:srgbClr val="F5F9FC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56483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自然语言替代一堆表单，零学习成本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32</a:t>
            </a:r>
            <a:endParaRPr/>
          </a:p>
        </p:txBody>
      </p:sp>
      <p:sp>
        <p:nvSpPr>
          <p:cNvPr id="479" name="" descr="{&quot;isTemplate&quot;:true,&quot;type&quot;:&quot;text&quot;}"/>
          <p:cNvSpPr txBox="1"/>
          <p:nvPr/>
        </p:nvSpPr>
        <p:spPr>
          <a:xfrm rot="0" flipH="0" flipV="0">
            <a:off x="609600" y="2943225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想怎么说就怎么说，顺序也不重要。</a:t>
            </a:r>
            <a:endParaRPr/>
          </a:p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609600" y="3600450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第一次用就能建好一条提醒。</a:t>
            </a:r>
            <a:endParaRPr/>
          </a:p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6686550" y="3590925"/>
            <a:ext cx="19812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2100">
                <a:solidFill>
                  <a:srgbClr val="0B1220">
                    <a:alpha val="8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2100">
                <a:solidFill>
                  <a:srgbClr val="0B1220">
                    <a:alpha val="85000"/>
                  </a:srgbClr>
                </a:solidFill>
                <a:latin typeface="Microsoft YaHei"/>
                <a:ea typeface="Microsoft YaHei"/>
              </a:rPr>
              <a:t>每久坐</a:t>
            </a:r>
            <a:r>
              <a:rPr lang="en-US" sz="2100">
                <a:solidFill>
                  <a:srgbClr val="0B1220">
                    <a:alpha val="85000"/>
                  </a:srgbClr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2100">
                <a:solidFill>
                  <a:srgbClr val="0B1220">
                    <a:alpha val="85000"/>
                  </a:srgbClr>
                </a:solidFill>
                <a:latin typeface="Microsoft YaHei"/>
                <a:ea typeface="Microsoft YaHei"/>
              </a:rPr>
              <a:t>分钟提醒我</a:t>
            </a:r>
            <a:r>
              <a:rPr lang="en-US" sz="2100">
                <a:solidFill>
                  <a:srgbClr val="0B1220">
                    <a:alpha val="85000"/>
                  </a:srgbClr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9163050" y="319087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传统做法</a:t>
            </a:r>
            <a:endParaRPr/>
          </a:p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9163050" y="3590925"/>
            <a:ext cx="19812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950">
                <a:solidFill>
                  <a:srgbClr val="0B1220">
                    <a:alpha val="75000"/>
                  </a:srgbClr>
                </a:solidFill>
                <a:latin typeface="Microsoft YaHei"/>
                <a:ea typeface="Microsoft YaHei"/>
              </a:rPr>
              <a:t>时间</a:t>
            </a:r>
            <a:r>
              <a:rPr lang="en-US" sz="1950">
                <a:solidFill>
                  <a:srgbClr val="0B1220">
                    <a:alpha val="7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950">
                <a:solidFill>
                  <a:srgbClr val="0B1220">
                    <a:alpha val="75000"/>
                  </a:srgbClr>
                </a:solidFill>
                <a:latin typeface="Microsoft YaHei"/>
                <a:ea typeface="Microsoft YaHei"/>
              </a:rPr>
              <a:t>重复</a:t>
            </a:r>
            <a:r>
              <a:rPr lang="en-US" sz="1950">
                <a:solidFill>
                  <a:srgbClr val="0B1220">
                    <a:alpha val="7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950">
                <a:solidFill>
                  <a:srgbClr val="0B1220">
                    <a:alpha val="75000"/>
                  </a:srgbClr>
                </a:solidFill>
                <a:latin typeface="Microsoft YaHei"/>
                <a:ea typeface="Microsoft YaHei"/>
              </a:rPr>
              <a:t>类型</a:t>
            </a:r>
            <a:r>
              <a:rPr lang="en-US" sz="1950">
                <a:solidFill>
                  <a:srgbClr val="0B1220">
                    <a:alpha val="7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950">
                <a:solidFill>
                  <a:srgbClr val="0B1220">
                    <a:alpha val="75000"/>
                  </a:srgbClr>
                </a:solidFill>
                <a:latin typeface="Microsoft YaHei"/>
                <a:ea typeface="Microsoft YaHei"/>
              </a:rPr>
              <a:t>操作…逐个填</a:t>
            </a:r>
            <a:endParaRPr/>
          </a:p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485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32 / 38</a:t>
            </a:r>
            <a:endParaRPr/>
          </a:p>
        </p:txBody>
      </p:sp>
    </p:spTree>
  </p:cSld>
</p:sld>
</file>

<file path=ppt/slides/slide33.xml><?xml version="1.0" encoding="utf-8"?>
<p:sld xmlns:p="http://schemas.openxmlformats.org/presentationml/2006/main" xmlns:a="http://schemas.openxmlformats.org/drawingml/2006/main">
  <p:cSld>
    <p:spTree>
      <p:nvGrpSpPr>
        <p:cNvPr id="486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创新详解② · AI 校验机制&lt;/Text&gt;&#10;            &lt;Text style={{ fontSize: 28, color: '#0B1220', opacity: 0.6, letterSpacing: 1 }}&gt;大模型只提建议，软件把关不让胡说写进列表&lt;/Text&gt;&#10;        &lt;/Box&gt;&#10;        &lt;Text style={{ fontSize: 22, fontFamily: 'Consolas', color: '#0B1220', opacity: 0.35 }}&gt;33&lt;/Text&gt;&#10;    &lt;/Box&gt;&#10;    &lt;Box style={{ height: 476, flexDirection: 'column', gap: 22, justifyContent: 'center' }}&gt;&#10;        &lt;Box style={{ flexDirection: 'row', gap: 20, alignItems: 'stretch' }}&gt;&#10;            &lt;Box style={{ flex: 1, flexDirection: 'column', justifyContent: 'center', gap: 10, padding: '24px 26px', background: 'rgba(79,224,176,0.14)', border: '1px solid rgba(13,148,136,0.35)', borderRadius: 12 }}&gt;&#10;                &lt;Text style={{ fontSize: 30, fontWeight: 'bold', color: '#0D9488' }}&gt;大模型：出建议&lt;/Text&gt;&#10;                &lt;Text style={{ fontSize: 28, color: '#0B1220', opacity: 0.8, lineHeight: 1.5 }}&gt;理解你的话，给出结构化草案。&lt;/Text&gt;&#10;            &lt;/Box&gt;&#10;            &lt;Box style={{ width: 70, justifyContent: 'center', alignItems: 'center' }}&gt;&#10;                &lt;Text style={{ fontSize: 40, color: '#0D9488', fontWeight: 'bold' }}&gt;→&lt;/Text&gt;&#10;            &lt;/Box&gt;&#10;            &lt;Box style={{ flex: 1, flexDirection: 'column', justifyContent: 'center', gap: 10, padding: '24px 26px', background: '#FFFFFF', border: '1px solid rgba(11,18,32,0.10)', borderRadius: 12 }}&gt;&#10;                &lt;Text style={{ fontSize: 30, fontWeight: 'bold', color: '#0D9488' }}&gt;校验层：只放行白名单&lt;/Text&gt;&#10;                &lt;Text style={{ fontSize: 28, color: '#0B1220', opacity: 0.8, lineHeight: 1.5 }}&gt;类型、时间、操作都要合规才过。&lt;/Text&gt;&#10;            &lt;/Box&gt;&#10;        &lt;/Box&gt;&#10;        &lt;Box style={{ padding: '20px 26px', background: 'rgba(79,224,176,0.16)', border: '1px solid rgba(13,148,136,0.35)', borderRadius: 12 }}&gt;&#10;            &lt;Text style={{ fontSize: 30, color: '#0B1220', lineHeight: 1.5 }}&gt;越界的一律丢，&lt;span style={{ color: '#0D9488', fontWeight: 'bold' }}&gt;你的提醒列表永远干净&lt;/span&gt;。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33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55245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创新详解②</a:t>
            </a:r>
            <a:r>
              <a:rPr lang="en-US" sz="3450" b="1">
                <a:solidFill>
                  <a:srgbClr val="0B1220"/>
                </a:solidFill>
                <a:latin typeface="Microsoft YaHei"/>
                <a:ea typeface="Microsoft YaHei"/>
              </a:rPr>
              <a:t xml:space="preserve"> · AI </a:t>
            </a: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校验机制</a:t>
            </a:r>
            <a:endParaRPr/>
          </a:p>
        </p:txBody>
      </p:sp>
      <p:sp>
        <p:nvSpPr>
          <p:cNvPr id="489" name=""/>
          <p:cNvSpPr/>
          <p:nvPr/>
        </p:nvSpPr>
        <p:spPr>
          <a:xfrm rot="0" flipH="0" flipV="0">
            <a:off x="609600" y="2400300"/>
            <a:ext cx="4962525" cy="1381125"/>
          </a:xfrm>
          <a:prstGeom prst="roundRect">
            <a:avLst>
              <a:gd name="adj" fmla="val 8276"/>
            </a:avLst>
          </a:prstGeom>
          <a:solidFill>
            <a:srgbClr val="4FE0B0">
              <a:alpha val="14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857250" y="2628900"/>
            <a:ext cx="44672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D9488"/>
                </a:solidFill>
                <a:latin typeface="Microsoft YaHei"/>
                <a:ea typeface="Microsoft YaHei"/>
              </a:rPr>
              <a:t>大模型：出建议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5905500" y="2867025"/>
            <a:ext cx="381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3000" b="1">
                <a:solidFill>
                  <a:srgbClr val="0D948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492" name=""/>
          <p:cNvSpPr/>
          <p:nvPr/>
        </p:nvSpPr>
        <p:spPr>
          <a:xfrm rot="0" flipH="0" flipV="0">
            <a:off x="6619875" y="2400300"/>
            <a:ext cx="4962525" cy="1381125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6867525" y="2628900"/>
            <a:ext cx="44672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D9488"/>
                </a:solidFill>
                <a:latin typeface="Microsoft YaHei"/>
                <a:ea typeface="Microsoft YaHei"/>
              </a:rPr>
              <a:t>校验层：只放行白名单</a:t>
            </a:r>
            <a:endParaRPr/>
          </a:p>
        </p:txBody>
      </p:sp>
      <p:sp>
        <p:nvSpPr>
          <p:cNvPr id="494" name=""/>
          <p:cNvSpPr/>
          <p:nvPr/>
        </p:nvSpPr>
        <p:spPr>
          <a:xfrm rot="0" flipH="0" flipV="0">
            <a:off x="609600" y="3990975"/>
            <a:ext cx="10972800" cy="895350"/>
          </a:xfrm>
          <a:prstGeom prst="roundRect">
            <a:avLst>
              <a:gd name="adj" fmla="val 12766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857250" y="4181475"/>
            <a:ext cx="104775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250">
                <a:solidFill>
                  <a:srgbClr val="0B1220"/>
                </a:solidFill>
                <a:latin typeface="Microsoft YaHei"/>
                <a:ea typeface="Microsoft YaHei"/>
              </a:rPr>
              <a:t>越界的一律丢，</a:t>
            </a:r>
            <a:r>
              <a:rPr lang="zh-CN" sz="2250" b="1">
                <a:solidFill>
                  <a:srgbClr val="0D9488"/>
                </a:solidFill>
                <a:latin typeface="Microsoft YaHei"/>
                <a:ea typeface="Microsoft YaHei"/>
              </a:rPr>
              <a:t>你的提醒列表永远干净</a:t>
            </a:r>
            <a:r>
              <a:rPr lang="zh-CN" sz="2250">
                <a:solidFill>
                  <a:srgbClr val="0B122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5524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大模型只提建议，软件把关不让胡说写进列表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33</a:t>
            </a:r>
            <a:endParaRPr/>
          </a:p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857250" y="3067050"/>
            <a:ext cx="4467225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理解你的话，给出结构化草案。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6867525" y="3067050"/>
            <a:ext cx="4467225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类型、时间、操作都要合规才过。</a:t>
            </a:r>
            <a:endParaRPr/>
          </a:p>
        </p:txBody>
      </p:sp>
      <p:sp>
        <p:nvSpPr>
          <p:cNvPr id="500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33 / 38</a:t>
            </a:r>
            <a:endParaRPr/>
          </a:p>
        </p:txBody>
      </p:sp>
    </p:spTree>
  </p:cSld>
</p:sld>
</file>

<file path=ppt/slides/slide34.xml><?xml version="1.0" encoding="utf-8"?>
<p:sld xmlns:p="http://schemas.openxmlformats.org/presentationml/2006/main" xmlns:a="http://schemas.openxmlformats.org/drawingml/2006/main">
  <p:cSld>
    <p:spTree>
      <p:nvGrpSpPr>
        <p:cNvPr id="502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创新详解③ · 人机协同开发&lt;/Text&gt;&#10;            &lt;Text style={{ fontSize: 28, color: '#0B1220', opacity: 0.6, letterSpacing: 1 }}&gt;高职生 + AI 助手，138 项检查兜底做出跨平台软件&lt;/Text&gt;&#10;        &lt;/Box&gt;&#10;        &lt;Text style={{ fontSize: 22, fontFamily: 'Consolas', color: '#0B1220', opacity: 0.35 }}&gt;34&lt;/Text&gt;&#10;    &lt;/Box&gt;&#10;    &lt;Box style={{ height: 476, flexDirection: 'column', gap: 24, justifyContent: 'center', alignItems: 'center' }}&gt;&#10;        &lt;Box style={{ flexDirection: 'row', gap: 28, alignItems: 'center' }}&gt;&#10;            &lt;Box style={{ width: 360, flexDirection: 'column', gap: 10, padding: '26px 28px', background: '#FFFFFF', border: '1px solid rgba(11,18,32,0.10)', borderRadius: 12, alignItems: 'center' }}&gt;&#10;                &lt;Text style={{ fontSize: 32, fontWeight: 'bold', color: '#0D9488' }}&gt;我（高职生）&lt;/Text&gt;&#10;                &lt;Text style={{ fontSize: 26, color: '#0B1220', opacity: 0.78, textAlign: 'center', lineHeight: 1.5 }}&gt;定方向 · 设计 · 把关&lt;/Text&gt;&#10;            &lt;/Box&gt;&#10;            &lt;Text style={{ fontSize: 40, color: '#0D9488', fontWeight: 'bold' }}&gt;+&lt;/Text&gt;&#10;            &lt;Box style={{ width: 360, flexDirection: 'column', gap: 10, padding: '26px 28px', background: 'rgba(79,224,176,0.14)', border: '1px solid rgba(13,148,136,0.35)', borderRadius: 12, alignItems: 'center' }}&gt;&#10;                &lt;Text style={{ fontSize: 32, fontWeight: 'bold', color: '#0D9488' }}&gt;AI 助手&lt;/Text&gt;&#10;                &lt;Text style={{ fontSize: 26, color: '#0B1220', opacity: 0.78, textAlign: 'center', lineHeight: 1.5 }}&gt;写代码 · 写文案 · 出草稿&lt;/Text&gt;&#10;            &lt;/Box&gt;&#10;        &lt;/Box&gt;&#10;        &lt;Box style={{ padding: '20px 32px', background: 'rgba(79,224,176,0.16)', border: '1px solid rgba(13,148,136,0.35)', borderRadius: 12, flexDirection: 'row', alignItems: 'center', gap: 18 }}&gt;&#10;            &lt;Text style={{ fontSize: 32, fontWeight: 'bold', color: '#0B1220' }}&gt;→ 知歇 ZhiXie&lt;/Text&gt;&#10;            &lt;Text style={{ fontSize: 28, color: '#0B1220', opacity: 0.8 }}&gt;双平台 · 138 项测试兜底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34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621982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创新详解③</a:t>
            </a:r>
            <a:r>
              <a:rPr lang="en-US" sz="3450" b="1">
                <a:solidFill>
                  <a:srgbClr val="0B122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人机协同开发</a:t>
            </a:r>
            <a:endParaRPr/>
          </a:p>
        </p:txBody>
      </p:sp>
      <p:sp>
        <p:nvSpPr>
          <p:cNvPr id="505" name=""/>
          <p:cNvSpPr/>
          <p:nvPr/>
        </p:nvSpPr>
        <p:spPr>
          <a:xfrm rot="0" flipH="0" flipV="0">
            <a:off x="2286000" y="2447925"/>
            <a:ext cx="3429000" cy="140970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0B122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3086100" y="2695575"/>
            <a:ext cx="18288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D9488"/>
                </a:solidFill>
                <a:latin typeface="Microsoft YaHei"/>
                <a:ea typeface="Microsoft YaHei"/>
              </a:rPr>
              <a:t>我（高职生）</a:t>
            </a:r>
            <a:endParaRPr/>
          </a:p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5981700" y="2924175"/>
            <a:ext cx="2286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D9488"/>
                </a:solidFill>
                <a:latin typeface="Microsoft YaHei"/>
                <a:ea typeface="Microsoft YaHei"/>
              </a:rPr>
              <a:t>+</a:t>
            </a:r>
            <a:endParaRPr/>
          </a:p>
        </p:txBody>
      </p:sp>
      <p:sp>
        <p:nvSpPr>
          <p:cNvPr id="508" name=""/>
          <p:cNvSpPr/>
          <p:nvPr/>
        </p:nvSpPr>
        <p:spPr>
          <a:xfrm rot="0" flipH="0" flipV="0">
            <a:off x="6477000" y="2447925"/>
            <a:ext cx="3429000" cy="1409700"/>
          </a:xfrm>
          <a:prstGeom prst="roundRect">
            <a:avLst>
              <a:gd name="adj" fmla="val 8108"/>
            </a:avLst>
          </a:prstGeom>
          <a:solidFill>
            <a:srgbClr val="4FE0B0">
              <a:alpha val="14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7696200" y="2695575"/>
            <a:ext cx="10001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D9488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400" b="1">
                <a:solidFill>
                  <a:srgbClr val="0D9488"/>
                </a:solidFill>
                <a:latin typeface="Microsoft YaHei"/>
                <a:ea typeface="Microsoft YaHei"/>
              </a:rPr>
              <a:t>助手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3257550" y="4086225"/>
            <a:ext cx="5676900" cy="752475"/>
          </a:xfrm>
          <a:prstGeom prst="roundRect">
            <a:avLst>
              <a:gd name="adj" fmla="val 15190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3562350" y="4276725"/>
            <a:ext cx="20002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B122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2400" b="1">
                <a:solidFill>
                  <a:srgbClr val="0B1220"/>
                </a:solidFill>
                <a:latin typeface="Microsoft YaHei"/>
                <a:ea typeface="Microsoft YaHei"/>
              </a:rPr>
              <a:t>知歇</a:t>
            </a:r>
            <a:r>
              <a:rPr lang="en-US" sz="2400" b="1">
                <a:solidFill>
                  <a:srgbClr val="0B122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62198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高职生</a:t>
            </a: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 xml:space="preserve"> + AI </a:t>
            </a: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助手，</a:t>
            </a: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 xml:space="preserve">138 </a:t>
            </a: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项检查兜底做出跨平台软件</a:t>
            </a:r>
            <a:endParaRPr/>
          </a:p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34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2914650" y="3162300"/>
            <a:ext cx="2181225" cy="44767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95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>定方向</a:t>
            </a:r>
            <a:r>
              <a:rPr lang="en-US" sz="195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95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>设计</a:t>
            </a:r>
            <a:r>
              <a:rPr lang="en-US" sz="195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95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>把关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6858000" y="3162300"/>
            <a:ext cx="2676525" cy="44767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95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>写代码</a:t>
            </a:r>
            <a:r>
              <a:rPr lang="en-US" sz="195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95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>写文案</a:t>
            </a:r>
            <a:r>
              <a:rPr lang="en-US" sz="195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950">
                <a:solidFill>
                  <a:srgbClr val="0B1220">
                    <a:alpha val="78000"/>
                  </a:srgbClr>
                </a:solidFill>
                <a:latin typeface="Microsoft YaHei"/>
                <a:ea typeface="Microsoft YaHei"/>
              </a:rPr>
              <a:t>出草稿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5734050" y="4305300"/>
            <a:ext cx="28956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双平台</a:t>
            </a:r>
            <a:r>
              <a:rPr lang="en-US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 xml:space="preserve"> · 138 </a:t>
            </a:r>
            <a:r>
              <a:rPr lang="zh-CN" sz="210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项测试兜底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34 / 38</a:t>
            </a:r>
            <a:endParaRPr/>
          </a:p>
        </p:txBody>
      </p:sp>
    </p:spTree>
  </p:cSld>
</p:sld>
</file>

<file path=ppt/slides/slide35.xml><?xml version="1.0" encoding="utf-8"?>
<p:sld xmlns:p="http://schemas.openxmlformats.org/presentationml/2006/main" xmlns:a="http://schemas.openxmlformats.org/drawingml/2006/main">
  <p:cSld>
    <p:spTree>
      <p:nvGrpSpPr>
        <p:cNvPr id="519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创新详解④ · 立场让你休息&lt;/Text&gt;&#10;            &lt;Text style={{ fontSize: 28, color: '#0B1220', opacity: 0.6, letterSpacing: 1 }}&gt;不催干活、不比拼、文案不制造焦虑&lt;/Text&gt;&#10;        &lt;/Box&gt;&#10;        &lt;Text style={{ fontSize: 22, fontFamily: 'Consolas', color: '#0B1220', opacity: 0.35 }}&gt;35&lt;/Text&gt;&#10;    &lt;/Box&gt;&#10;    &lt;Box style={{ height: 476, flexDirection: 'column', justifyContent: 'center', alignItems: 'center' }}&gt;&#10;        &lt;Box style={{ width: 980, flexDirection: 'column', gap: 22, padding: '48px 44px', background: 'rgba(79,224,176,0.16)', border: '1px solid rgba(13,148,136,0.35)', borderRadius: 16, alignItems: 'center' }}&gt;&#10;            &lt;Text style={{ fontSize: 44, fontWeight: 'bold', color: '#0B1220', textAlign: 'center', lineHeight: 1.4 }}&gt;它的立场是让你休息，&lt;br /&gt;不是催你多干。&lt;/Text&gt;&#10;            &lt;Text style={{ fontSize: 30, color: '#0B1220', opacity: 0.8, textAlign: 'center', lineHeight: 1.5 }}&gt;没有排行榜、没有连续打卡、没有&quot;再看一会&quot;。&lt;br /&gt;到点就提醒你：该停下了。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35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52101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创新详解④</a:t>
            </a:r>
            <a:r>
              <a:rPr lang="en-US" sz="3450" b="1">
                <a:solidFill>
                  <a:srgbClr val="0B122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立场让你休息</a:t>
            </a:r>
            <a:endParaRPr/>
          </a:p>
        </p:txBody>
      </p:sp>
      <p:sp>
        <p:nvSpPr>
          <p:cNvPr id="522" name=""/>
          <p:cNvSpPr/>
          <p:nvPr/>
        </p:nvSpPr>
        <p:spPr>
          <a:xfrm rot="0" flipH="0" flipV="0">
            <a:off x="1428750" y="1857375"/>
            <a:ext cx="9334500" cy="3562350"/>
          </a:xfrm>
          <a:prstGeom prst="roundRect">
            <a:avLst>
              <a:gd name="adj" fmla="val 4278"/>
            </a:avLst>
          </a:prstGeom>
          <a:solidFill>
            <a:srgbClr val="4FE0B0">
              <a:alpha val="16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4000500" y="2314575"/>
            <a:ext cx="4191000" cy="140970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zh-CN" sz="3300" b="1">
                <a:solidFill>
                  <a:srgbClr val="0B1220"/>
                </a:solidFill>
                <a:latin typeface="Microsoft YaHei"/>
                <a:ea typeface="Microsoft YaHei"/>
              </a:rPr>
              <a:t>它的立场是让你休息，</a:t>
            </a:r>
            <a:endParaRPr/>
          </a:p>
          <a:p>
            <a:pPr algn="ctr">
              <a:lnSpc>
                <a:spcPct val="140000"/>
              </a:lnSpc>
            </a:pPr>
            <a:r>
              <a:rPr lang="zh-CN" sz="3300" b="1">
                <a:solidFill>
                  <a:srgbClr val="0B1220"/>
                </a:solidFill>
                <a:latin typeface="Microsoft YaHei"/>
                <a:ea typeface="Microsoft YaHei"/>
              </a:rPr>
              <a:t>不是催你多干。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521017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不催干活、不比拼、文案不制造焦虑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35</a:t>
            </a:r>
            <a:endParaRPr/>
          </a:p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3133725" y="3933825"/>
            <a:ext cx="5924550" cy="10287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225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没有排行榜、没有连续打卡、没有</a:t>
            </a:r>
            <a:r>
              <a:rPr lang="en-US" sz="225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225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再看一会</a:t>
            </a:r>
            <a:r>
              <a:rPr lang="en-US" sz="225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225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。</a:t>
            </a:r>
            <a:endParaRPr/>
          </a:p>
          <a:p>
            <a:pPr algn="ctr">
              <a:lnSpc>
                <a:spcPct val="150000"/>
              </a:lnSpc>
            </a:pPr>
            <a:r>
              <a:rPr lang="zh-CN" sz="225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到点就提醒你：该停下了。</a:t>
            </a:r>
            <a:endParaRPr/>
          </a:p>
        </p:txBody>
      </p:sp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35 / 38</a:t>
            </a:r>
            <a:endParaRPr/>
          </a:p>
        </p:txBody>
      </p:sp>
    </p:spTree>
  </p:cSld>
</p:sld>
</file>

<file path=ppt/slides/slide36.xml><?xml version="1.0" encoding="utf-8"?>
<p:sld xmlns:p="http://schemas.openxmlformats.org/presentationml/2006/main" xmlns:a="http://schemas.openxmlformats.org/drawingml/2006/main">
  <p:cSld>
    <p:spTree>
      <p:nvGrpSpPr>
        <p:cNvPr id="529" name="" descr="&lt;Slide style={{ width: 1280, height: 720, background: '#F5F9FC', padding: '20px 64px' }}&gt;&#10;    &lt;Box style={{ height: 600, flexDirection: 'row', alignItems: 'center', gap: 64 }}&gt;&#10;        &lt;Text style={{ fontSize: 230, fontWeight: 'bold', fontFamily: 'Consolas', color: '#0D9488', opacity: 0.18, lineHeight: 1 }}&gt;08&lt;/Text&gt;&#10;        &lt;Box style={{ flexDirection: 'column', gap: 22, width: 660 }}&gt;&#10;            &lt;Text style={{ fontSize: 64, fontWeight: 'bold', color: '#0B1220', lineHeight: 1.15 }}&gt;应用价值&lt;/Text&gt;&#10;            &lt;Box style={{ height: 4, width: 120, background: 'linear-gradient(135deg, #4FE0B0 0%, #0D9488 100%)', borderRadius: 2 }} /&gt;&#10;            &lt;Text style={{ fontSize: 30, color: '#0B1220', opacity: 0.72, lineHeight: 1.6 }}&gt;对个人、对教育、&lt;br /&gt;对社会分别有什么用。&lt;/Text&gt;&#10;            &lt;Text style={{ fontSize: 24, fontFamily: 'Consolas', color: '#0D9488', letterSpacing: 2 }}&gt;P36 – P38&lt;/Text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36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3657600" y="1600200"/>
            <a:ext cx="62865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0B1220"/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532" name=""/>
          <p:cNvSpPr/>
          <p:nvPr/>
        </p:nvSpPr>
        <p:spPr>
          <a:xfrm rot="0" flipH="0" flipV="0">
            <a:off x="3657600" y="2657475"/>
            <a:ext cx="1143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4FE0B0"/>
              </a:gs>
              <a:gs pos="100000">
                <a:srgbClr val="0D948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3657600" y="4219575"/>
            <a:ext cx="6286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150">
                <a:solidFill>
                  <a:srgbClr val="0D9488"/>
                </a:solidFill>
                <a:latin typeface="Consolas"/>
                <a:ea typeface="Consolas"/>
              </a:rPr>
              <a:t>P36 – P38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609600" y="1733550"/>
            <a:ext cx="2438400" cy="2628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0" b="1">
                <a:solidFill>
                  <a:srgbClr val="0D9488">
                    <a:alpha val="18000"/>
                  </a:srgbClr>
                </a:solidFill>
                <a:latin typeface="Consolas"/>
                <a:ea typeface="Consolas"/>
              </a:rPr>
              <a:t>08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3657600" y="2905125"/>
            <a:ext cx="6286500" cy="11049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22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对个人、对教育、</a:t>
            </a:r>
            <a:endParaRPr/>
          </a:p>
          <a:p>
            <a:pPr>
              <a:lnSpc>
                <a:spcPct val="160000"/>
              </a:lnSpc>
            </a:pPr>
            <a:r>
              <a:rPr lang="zh-CN" sz="2250">
                <a:solidFill>
                  <a:srgbClr val="0B1220">
                    <a:alpha val="72000"/>
                  </a:srgbClr>
                </a:solidFill>
                <a:latin typeface="Microsoft YaHei"/>
                <a:ea typeface="Microsoft YaHei"/>
              </a:rPr>
              <a:t>对社会分别有什么用。</a:t>
            </a:r>
            <a:endParaRPr/>
          </a:p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537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p="http://schemas.openxmlformats.org/presentationml/2006/main" xmlns:a="http://schemas.openxmlformats.org/drawingml/2006/main">
  <p:cSld>
    <p:spTree>
      <p:nvGrpSpPr>
        <p:cNvPr id="538" name="" descr="&lt;Slide style={{ width: 1280, height: 720, background: '#F5F9FC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0B1220' }}&gt;应用价值 · 对比与多维&lt;/Text&gt;&#10;            &lt;Text style={{ fontSize: 28, color: '#0B1220', opacity: 0.6, letterSpacing: 1 }}&gt;别人填表单我们说一句话；个人 / 教育 / 社会三层价值&lt;/Text&gt;&#10;        &lt;/Box&gt;&#10;        &lt;Text style={{ fontSize: 22, fontFamily: 'Consolas', color: '#0B1220', opacity: 0.35 }}&gt;37&lt;/Text&gt;&#10;    &lt;/Box&gt;&#10;    &lt;Box style={{ height: 476, flexDirection: 'row', gap: 36, alignItems: 'center' }}&gt;&#10;        &lt;Box style={{ width: 560, flexDirection: 'column', gap: 8 }}&gt;&#10;            &lt;Box style={{ height: 56, flexDirection: 'row', alignItems: 'center', padding: '0 18px', background: 'rgba(13,148,136,0.12)', borderRadius: '10px 10px 0 0' }}&gt;&#10;                &lt;Text style={{ fontSize: 28, fontWeight: 'bold', color: '#0B1220', width: 200 }}&gt;维度&lt;/Text&gt;&#10;                &lt;Text style={{ fontSize: 28, fontWeight: 'bold', color: '#0D9488', flex: 1 }}&gt;知歇&lt;/Text&gt;&#10;                &lt;Text style={{ fontSize: 28, fontWeight: 'bold', color: '#0B1220', opacity: 0.6, flex: 1 }}&gt;传统&lt;/Text&gt;&#10;            &lt;/Box&gt;&#10;            &lt;Box style={{ height: 64, flexDirection: 'row', alignItems: 'center', padding: '0 18px', background: '#FFFFFF', borderBottom: '1px solid rgba(11,18,32,0.08)' }}&gt;&#10;                &lt;Text style={{ fontSize: 28, color: '#0B1220', width: 200 }}&gt;建提醒&lt;/Text&gt;&#10;                &lt;Text style={{ fontSize: 28, color: '#0D9488', flex: 1 }}&gt;说一句话&lt;/Text&gt;&#10;                &lt;Text style={{ fontSize: 28, color: '#0B1220', opacity: 0.7, flex: 1 }}&gt;填表单&lt;/Text&gt;&#10;            &lt;/Box&gt;&#10;            &lt;Box style={{ height: 64, flexDirection: 'row', alignItems: 'center', padding: '0 18px', background: '#FFFFFF', borderBottom: '1px solid rgba(11,18,32,0.08)' }}&gt;&#10;                &lt;Text style={{ fontSize: 28, color: '#0B1220', width: 200 }}&gt;隐私&lt;/Text&gt;&#10;                &lt;Text style={{ fontSize: 28, color: '#0D9488', flex: 1 }}&gt;本机数据&lt;/Text&gt;&#10;                &lt;Text style={{ fontSize: 28, color: '#0B1220', opacity: 0.7, flex: 1 }}&gt;常上云&lt;/Text&gt;&#10;            &lt;/Box&gt;&#10;            &lt;Box style={{ height: 64, flexDirection: 'row', alignItems: 'center', padding: '0 18px', background: '#FFFFFF', borderRadius: '0 0 10px 10px' }}&gt;&#10;                &lt;Text style={{ fontSize: 28, color: '#0B1220', width: 200 }}&gt;断网&lt;/Text&gt;&#10;                &lt;Text style={{ fontSize: 28, color: '#0D9488', flex: 1 }}&gt;仍可用&lt;/Text&gt;&#10;                &lt;Text style={{ fontSize: 28, color: '#0B1220', opacity: 0.7, flex: 1 }}&gt;多受限&lt;/Text&gt;&#10;            &lt;/Box&gt;&#10;        &lt;/Box&gt;&#10;        &lt;Box style={{ flex: 1, flexDirection: 'column', gap: 14, justifyContent: 'center' }}&gt;&#10;            &lt;Box style={{ padding: '16px 20px', background: 'rgba(79,224,176,0.14)', border: '1px solid rgba(13,148,136,0.35)', borderRadius: 10 }}&gt;&#10;                &lt;Text style={{ fontSize: 30, fontWeight: 'bold', color: '#0D9488' }}&gt;个人&lt;/Text&gt;&#10;                &lt;Text style={{ fontSize: 26, color: '#0B1220', opacity: 0.8, lineHeight: 1.45 }}&gt;少久坐、护视力，提醒更温和。&lt;/Text&gt;&#10;            &lt;/Box&gt;&#10;            &lt;Box style={{ padding: '16px 20px', background: 'rgba(79,224,176,0.14)', border: '1px solid rgba(13,148,136,0.35)', borderRadius: 10 }}&gt;&#10;                &lt;Text style={{ fontSize: 30, fontWeight: 'bold', color: '#0D9488' }}&gt;教育&lt;/Text&gt;&#10;                &lt;Text style={{ fontSize: 26, color: '#0B1220', opacity: 0.8, lineHeight: 1.45 }}&gt;示范高职生用 AI 做出产品。&lt;/Text&gt;&#10;            &lt;/Box&gt;&#10;            &lt;Box style={{ padding: '16px 20px', background: 'rgba(79,224,176,0.14)', border: '1px solid rgba(13,148,136,0.35)', borderRadius: 10 }}&gt;&#10;                &lt;Text style={{ fontSize: 30, fontWeight: 'bold', color: '#0D9488' }}&gt;社会&lt;/Text&gt;&#10;                &lt;Text style={{ fontSize: 26, color: '#0B1220', opacity: 0.8, lineHeight: 1.45 }}&gt;倡导健康用机，关注休息权。&lt;/Text&gt;&#10;            &lt;/Box&gt;&#10;        &lt;/Box&gt;&#10;    &lt;/Box&gt;&#10;    &lt;Box style={{ height: 60, flexDirection: 'row', alignItems: 'center', justifyContent: 'space-between' }}&gt;&#10;        &lt;Text style={{ fontSize: 22, color: '#0B1220', opacity: 0.4 }}&gt;知歇 ZhiXie · V1.0.0&lt;/Text&gt;&#10;        &lt;Text style={{ fontSize: 22, fontFamily: 'Consolas', color: '#0B1220', opacity: 0.4 }}&gt;37 / 3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65817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应用价值</a:t>
            </a:r>
            <a:r>
              <a:rPr lang="en-US" sz="3450" b="1">
                <a:solidFill>
                  <a:srgbClr val="0B122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0B1220"/>
                </a:solidFill>
                <a:latin typeface="Microsoft YaHei"/>
                <a:ea typeface="Microsoft YaHei"/>
              </a:rPr>
              <a:t>对比与多维</a:t>
            </a:r>
            <a:endParaRPr/>
          </a:p>
        </p:txBody>
      </p:sp>
      <p:sp>
        <p:nvSpPr>
          <p:cNvPr id="541" name=""/>
          <p:cNvSpPr/>
          <p:nvPr/>
        </p:nvSpPr>
        <p:spPr>
          <a:xfrm rot="0" flipH="0" flipV="0">
            <a:off x="609600" y="2343150"/>
            <a:ext cx="5334000" cy="533400"/>
          </a:xfrm>
          <a:custGeom>
            <a:pathLst>
              <a:path w="560" h="56">
                <a:moveTo>
                  <a:pt x="10" y="0"/>
                </a:moveTo>
                <a:lnTo>
                  <a:pt x="550" y="0"/>
                </a:lnTo>
                <a:cubicBezTo>
                  <a:pt x="556" y="0"/>
                  <a:pt x="560" y="4"/>
                  <a:pt x="560" y="10"/>
                </a:cubicBezTo>
                <a:lnTo>
                  <a:pt x="560" y="56"/>
                </a:lnTo>
                <a:lnTo>
                  <a:pt x="560" y="56"/>
                </a:lnTo>
                <a:lnTo>
                  <a:pt x="0" y="56"/>
                </a:lnTo>
                <a:lnTo>
                  <a:pt x="0" y="56"/>
                </a:lnTo>
                <a:lnTo>
                  <a:pt x="0" y="10"/>
                </a:lnTo>
                <a:cubicBezTo>
                  <a:pt x="0" y="4"/>
                  <a:pt x="4" y="0"/>
                  <a:pt x="10" y="0"/>
                </a:cubicBezTo>
                <a:close/>
              </a:path>
            </a:pathLst>
          </a:custGeom>
          <a:solidFill>
            <a:srgbClr val="0D9488">
              <a:alpha val="12000"/>
            </a:srgbClr>
          </a:solidFill>
          <a:ln/>
        </p:spPr>
        <p:txBody>
          <a:bodyPr/>
          <a:p/>
        </p:txBody>
      </p:sp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781050" y="2447925"/>
            <a:ext cx="1905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0B1220"/>
                </a:solidFill>
                <a:latin typeface="Microsoft YaHei"/>
                <a:ea typeface="Microsoft YaHei"/>
              </a:rPr>
              <a:t>维度</a:t>
            </a:r>
            <a:endParaRPr/>
          </a:p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2686050" y="2447925"/>
            <a:ext cx="15430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0D9488"/>
                </a:solidFill>
                <a:latin typeface="Microsoft YaHei"/>
                <a:ea typeface="Microsoft YaHei"/>
              </a:rPr>
              <a:t>知歇</a:t>
            </a:r>
            <a:endParaRPr/>
          </a:p>
        </p:txBody>
      </p:sp>
      <p:sp>
        <p:nvSpPr>
          <p:cNvPr id="544" name=""/>
          <p:cNvSpPr/>
          <p:nvPr/>
        </p:nvSpPr>
        <p:spPr>
          <a:xfrm rot="0" flipH="0" flipV="0">
            <a:off x="609600" y="2952750"/>
            <a:ext cx="5334000" cy="6000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45" name=""/>
          <p:cNvSpPr/>
          <p:nvPr/>
        </p:nvSpPr>
        <p:spPr>
          <a:xfrm rot="0" flipH="0" flipV="0">
            <a:off x="609600" y="2952750"/>
            <a:ext cx="5334000" cy="609600"/>
          </a:xfrm>
          <a:custGeom>
            <a:pathLst>
              <a:path w="560" h="64">
                <a:moveTo>
                  <a:pt x="0" y="63"/>
                </a:moveTo>
                <a:lnTo>
                  <a:pt x="560" y="63"/>
                </a:lnTo>
                <a:lnTo>
                  <a:pt x="560" y="64"/>
                </a:lnTo>
                <a:lnTo>
                  <a:pt x="0" y="64"/>
                </a:lnTo>
                <a:close/>
              </a:path>
            </a:pathLst>
          </a:custGeom>
          <a:solidFill>
            <a:srgbClr val="0B1220">
              <a:alpha val="8000"/>
            </a:srgbClr>
          </a:solidFill>
          <a:ln/>
        </p:spPr>
        <p:txBody>
          <a:bodyPr/>
          <a:p/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781050" y="3095625"/>
            <a:ext cx="1905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建提醒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2686050" y="3095625"/>
            <a:ext cx="15430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D9488"/>
                </a:solidFill>
                <a:latin typeface="Microsoft YaHei"/>
                <a:ea typeface="Microsoft YaHei"/>
              </a:rPr>
              <a:t>说一句话</a:t>
            </a:r>
            <a:endParaRPr/>
          </a:p>
        </p:txBody>
      </p:sp>
      <p:sp>
        <p:nvSpPr>
          <p:cNvPr id="548" name=""/>
          <p:cNvSpPr/>
          <p:nvPr/>
        </p:nvSpPr>
        <p:spPr>
          <a:xfrm rot="0" flipH="0" flipV="0">
            <a:off x="609600" y="3638550"/>
            <a:ext cx="5334000" cy="6000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49" name=""/>
          <p:cNvSpPr/>
          <p:nvPr/>
        </p:nvSpPr>
        <p:spPr>
          <a:xfrm rot="0" flipH="0" flipV="0">
            <a:off x="609600" y="3638550"/>
            <a:ext cx="5334000" cy="609600"/>
          </a:xfrm>
          <a:custGeom>
            <a:pathLst>
              <a:path w="560" h="64">
                <a:moveTo>
                  <a:pt x="0" y="63"/>
                </a:moveTo>
                <a:lnTo>
                  <a:pt x="560" y="63"/>
                </a:lnTo>
                <a:lnTo>
                  <a:pt x="560" y="64"/>
                </a:lnTo>
                <a:lnTo>
                  <a:pt x="0" y="64"/>
                </a:lnTo>
                <a:close/>
              </a:path>
            </a:pathLst>
          </a:custGeom>
          <a:solidFill>
            <a:srgbClr val="0B1220">
              <a:alpha val="8000"/>
            </a:srgbClr>
          </a:solidFill>
          <a:ln/>
        </p:spPr>
        <p:txBody>
          <a:bodyPr/>
          <a:p/>
        </p:txBody>
      </p:sp>
      <p:sp>
        <p:nvSpPr>
          <p:cNvPr id="550" name="" descr="{&quot;isTemplate&quot;:true,&quot;type&quot;:&quot;text&quot;}"/>
          <p:cNvSpPr txBox="1"/>
          <p:nvPr/>
        </p:nvSpPr>
        <p:spPr>
          <a:xfrm rot="0" flipH="0" flipV="0">
            <a:off x="781050" y="3781425"/>
            <a:ext cx="1905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隐私</a:t>
            </a:r>
            <a:endParaRPr/>
          </a:p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2686050" y="3781425"/>
            <a:ext cx="15430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D9488"/>
                </a:solidFill>
                <a:latin typeface="Microsoft YaHei"/>
                <a:ea typeface="Microsoft YaHei"/>
              </a:rPr>
              <a:t>本机数据</a:t>
            </a:r>
            <a:endParaRPr/>
          </a:p>
        </p:txBody>
      </p:sp>
      <p:sp>
        <p:nvSpPr>
          <p:cNvPr id="552" name=""/>
          <p:cNvSpPr/>
          <p:nvPr/>
        </p:nvSpPr>
        <p:spPr>
          <a:xfrm rot="0" flipH="0" flipV="0">
            <a:off x="609600" y="4324350"/>
            <a:ext cx="5334000" cy="609600"/>
          </a:xfrm>
          <a:custGeom>
            <a:pathLst>
              <a:path w="560" h="64">
                <a:moveTo>
                  <a:pt x="0" y="0"/>
                </a:moveTo>
                <a:lnTo>
                  <a:pt x="560" y="0"/>
                </a:lnTo>
                <a:lnTo>
                  <a:pt x="560" y="0"/>
                </a:lnTo>
                <a:lnTo>
                  <a:pt x="560" y="54"/>
                </a:lnTo>
                <a:cubicBezTo>
                  <a:pt x="560" y="60"/>
                  <a:pt x="556" y="64"/>
                  <a:pt x="550" y="64"/>
                </a:cubicBezTo>
                <a:lnTo>
                  <a:pt x="10" y="64"/>
                </a:lnTo>
                <a:cubicBezTo>
                  <a:pt x="4" y="64"/>
                  <a:pt x="0" y="60"/>
                  <a:pt x="0" y="5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781050" y="4467225"/>
            <a:ext cx="1905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/>
                </a:solidFill>
                <a:latin typeface="Microsoft YaHei"/>
                <a:ea typeface="Microsoft YaHei"/>
              </a:rPr>
              <a:t>断网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2686050" y="4467225"/>
            <a:ext cx="15430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D9488"/>
                </a:solidFill>
                <a:latin typeface="Microsoft YaHei"/>
                <a:ea typeface="Microsoft YaHei"/>
              </a:rPr>
              <a:t>仍可用</a:t>
            </a:r>
            <a:endParaRPr/>
          </a:p>
        </p:txBody>
      </p:sp>
      <p:sp>
        <p:nvSpPr>
          <p:cNvPr id="555" name=""/>
          <p:cNvSpPr/>
          <p:nvPr/>
        </p:nvSpPr>
        <p:spPr>
          <a:xfrm rot="0" flipH="0" flipV="0">
            <a:off x="6286500" y="1876425"/>
            <a:ext cx="5295900" cy="1085850"/>
          </a:xfrm>
          <a:prstGeom prst="roundRect">
            <a:avLst>
              <a:gd name="adj" fmla="val 8772"/>
            </a:avLst>
          </a:prstGeom>
          <a:solidFill>
            <a:srgbClr val="4FE0B0">
              <a:alpha val="14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6477000" y="2028825"/>
            <a:ext cx="49149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D9488"/>
                </a:solidFill>
                <a:latin typeface="Microsoft YaHei"/>
                <a:ea typeface="Microsoft YaHei"/>
              </a:rPr>
              <a:t>个人</a:t>
            </a:r>
            <a:endParaRPr/>
          </a:p>
        </p:txBody>
      </p:sp>
      <p:sp>
        <p:nvSpPr>
          <p:cNvPr id="557" name=""/>
          <p:cNvSpPr/>
          <p:nvPr/>
        </p:nvSpPr>
        <p:spPr>
          <a:xfrm rot="0" flipH="0" flipV="0">
            <a:off x="6286500" y="3095625"/>
            <a:ext cx="5295900" cy="1085850"/>
          </a:xfrm>
          <a:prstGeom prst="roundRect">
            <a:avLst>
              <a:gd name="adj" fmla="val 8772"/>
            </a:avLst>
          </a:prstGeom>
          <a:solidFill>
            <a:srgbClr val="4FE0B0">
              <a:alpha val="14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6477000" y="3248025"/>
            <a:ext cx="49149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D9488"/>
                </a:solidFill>
                <a:latin typeface="Microsoft YaHei"/>
                <a:ea typeface="Microsoft YaHei"/>
              </a:rPr>
              <a:t>教育</a:t>
            </a:r>
            <a:endParaRPr/>
          </a:p>
        </p:txBody>
      </p:sp>
      <p:sp>
        <p:nvSpPr>
          <p:cNvPr id="559" name=""/>
          <p:cNvSpPr/>
          <p:nvPr/>
        </p:nvSpPr>
        <p:spPr>
          <a:xfrm rot="0" flipH="0" flipV="0">
            <a:off x="6286500" y="4314825"/>
            <a:ext cx="5295900" cy="1085850"/>
          </a:xfrm>
          <a:prstGeom prst="roundRect">
            <a:avLst>
              <a:gd name="adj" fmla="val 8772"/>
            </a:avLst>
          </a:prstGeom>
          <a:solidFill>
            <a:srgbClr val="4FE0B0">
              <a:alpha val="14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6477000" y="4467225"/>
            <a:ext cx="49149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D9488"/>
                </a:solidFill>
                <a:latin typeface="Microsoft YaHei"/>
                <a:ea typeface="Microsoft YaHei"/>
              </a:rPr>
              <a:t>社会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658177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别人填表单我们说一句话；个人</a:t>
            </a: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教育</a:t>
            </a:r>
            <a:r>
              <a:rPr lang="en-US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100" spc="75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社会三层价值</a:t>
            </a:r>
            <a:endParaRPr/>
          </a:p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35000"/>
                  </a:srgbClr>
                </a:solidFill>
                <a:latin typeface="Consolas"/>
                <a:ea typeface="Consolas"/>
              </a:rPr>
              <a:t>37</a:t>
            </a:r>
            <a:endParaRPr/>
          </a:p>
        </p:txBody>
      </p:sp>
      <p:sp>
        <p:nvSpPr>
          <p:cNvPr id="563" name="" descr="{&quot;isTemplate&quot;:true,&quot;type&quot;:&quot;text&quot;}"/>
          <p:cNvSpPr txBox="1"/>
          <p:nvPr/>
        </p:nvSpPr>
        <p:spPr>
          <a:xfrm rot="0" flipH="0" flipV="0">
            <a:off x="4229100" y="2447925"/>
            <a:ext cx="15430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0B1220">
                    <a:alpha val="60000"/>
                  </a:srgbClr>
                </a:solidFill>
                <a:latin typeface="Microsoft YaHei"/>
                <a:ea typeface="Microsoft YaHei"/>
              </a:rPr>
              <a:t>传统</a:t>
            </a:r>
            <a:endParaRPr/>
          </a:p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4229100" y="3095625"/>
            <a:ext cx="15430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70000"/>
                  </a:srgbClr>
                </a:solidFill>
                <a:latin typeface="Microsoft YaHei"/>
                <a:ea typeface="Microsoft YaHei"/>
              </a:rPr>
              <a:t>填表单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4229100" y="3781425"/>
            <a:ext cx="15430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70000"/>
                  </a:srgbClr>
                </a:solidFill>
                <a:latin typeface="Microsoft YaHei"/>
                <a:ea typeface="Microsoft YaHei"/>
              </a:rPr>
              <a:t>常上云</a:t>
            </a:r>
            <a:endParaRPr/>
          </a:p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4229100" y="4467225"/>
            <a:ext cx="15430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B1220">
                    <a:alpha val="70000"/>
                  </a:srgbClr>
                </a:solidFill>
                <a:latin typeface="Microsoft YaHei"/>
                <a:ea typeface="Microsoft YaHei"/>
              </a:rPr>
              <a:t>多受限</a:t>
            </a:r>
            <a:endParaRPr/>
          </a:p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6477000" y="2371725"/>
            <a:ext cx="49149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95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少久坐、护视力，提醒更温和。</a:t>
            </a:r>
            <a:endParaRPr/>
          </a:p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6477000" y="3590925"/>
            <a:ext cx="49149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95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示范高职生用</a:t>
            </a:r>
            <a:r>
              <a:rPr lang="en-US" sz="195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95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做出产品。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6477000" y="4810125"/>
            <a:ext cx="49149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950">
                <a:solidFill>
                  <a:srgbClr val="0B1220">
                    <a:alpha val="80000"/>
                  </a:srgbClr>
                </a:solidFill>
                <a:latin typeface="Microsoft YaHei"/>
                <a:ea typeface="Microsoft YaHei"/>
              </a:rPr>
              <a:t>倡导健康用机，关注休息权。</a:t>
            </a:r>
            <a:endParaRPr/>
          </a:p>
        </p:txBody>
      </p:sp>
      <p:sp>
        <p:nvSpPr>
          <p:cNvPr id="570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0B1220">
                    <a:alpha val="40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0B1220">
                    <a:alpha val="40000"/>
                  </a:srgbClr>
                </a:solidFill>
                <a:latin typeface="Consolas"/>
                <a:ea typeface="Consolas"/>
              </a:rPr>
              <a:t>37 / 38</a:t>
            </a:r>
            <a:endParaRPr/>
          </a:p>
        </p:txBody>
      </p:sp>
    </p:spTree>
  </p:cSld>
</p:sld>
</file>

<file path=ppt/slides/slide38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572" name="" descr="&lt;Slide style={{ width: 1280, height: 720, background: '#F5F9FC', padding: '64px 80px', flexDirection: 'column', alignItems: 'center', justifyContent: 'center', gap: 22 }}&gt;&#10;    &lt;svg width={200} height={200} viewBox='0 0 200 200'&gt;&#10;        &lt;circle cx='100' cy='100' r='92' fill='none' stroke='#0D9488' strokeWidth='1' opacity='0.22' /&gt;&#10;        &lt;circle cx='100' cy='100' r='64' fill='none' stroke='#0D9488' strokeWidth='1.5' opacity='0.4' /&gt;&#10;        &lt;path d='M100 100 L176 56' fill='none' stroke='#0D9488' strokeWidth='2' opacity='0.7' /&gt;&#10;        &lt;path d='M148 64 A92 92 0 0 1 176 100' fill='none' stroke='#4FE0B0' strokeWidth='2.5' opacity='0.9' /&gt;&#10;        &lt;circle cx='100' cy='100' r='4' fill='#0D9488' /&gt;&#10;        &lt;circle cx='176' cy='56' r='3.5' fill='#0D9488' /&gt;&#10;    &lt;/svg&gt;&#10;    &lt;Text style={{ fontSize: 56, fontWeight: 'bold', color: '#0B1220', lineHeight: 1.2 }}&gt;知时而歇，张弛有度&lt;/Text&gt;&#10;    &lt;Text style={{ fontSize: 30, color: '#0D9488', letterSpacing: 2 }}&gt;提醒你停下来，而不是催你干活&lt;/Text&gt;&#10;    &lt;Box style={{ height: 3, width: 120, background: 'linear-gradient(135deg, #4FE0B0 0%, #0D9488 100%)', borderRadius: 2 }} /&gt;&#10;    &lt;Box style={{ flexDirection: 'row', alignItems: 'center', gap: 12, marginTop: 6 }}&gt;&#10;        &lt;svg width={26} height={26} viewBox='0 0 22 22'&gt;&#10;            &lt;circle cx='11' cy='11' r='10' fill='rgba(13,148,136,0.12)' stroke='#0D9488' strokeWidth='1.5' /&gt;&#10;            &lt;path d='M6 11 L9.5 14.5 L16 8' fill='none' stroke='#0D9488' strokeWidth='2' /&gt;&#10;        &lt;/svg&gt;&#10;        &lt;Text style={{ fontSize: 28, color: '#0D9488' }}&gt;已经做完 · 官网可直接下载安装&lt;/Text&gt;&#10;    &lt;/Box&gt;&#10;    &lt;Text style={{ fontSize: 22, color: '#0B1220', opacity: 0.5, letterSpacing: 1, marginTop: 6 }}&gt;创新主赛道 · AIGC 创新组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9FC"/>
          </a:solidFill>
          <a:ln/>
        </p:spPr>
        <p:txBody>
          <a:bodyPr/>
          <a:p/>
        </p:txBody>
      </p:sp>
      <p:pic>
        <p:nvPicPr>
          <p:cNvPr id="5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143500" y="1038225"/>
            <a:ext cx="1905000" cy="1905000"/>
          </a:xfrm>
          <a:prstGeom prst="rect">
            <a:avLst/>
          </a:prstGeom>
          <a:ln/>
        </p:spPr>
      </p:pic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3695700" y="3152775"/>
            <a:ext cx="4800600" cy="7715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4200" b="1">
                <a:solidFill>
                  <a:srgbClr val="0B1220"/>
                </a:solidFill>
                <a:latin typeface="Microsoft YaHei"/>
                <a:ea typeface="Microsoft YaHei"/>
              </a:rPr>
              <a:t>知时而歇，张弛有度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3962400" y="4133850"/>
            <a:ext cx="42672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spc="150">
                <a:solidFill>
                  <a:srgbClr val="0D9488"/>
                </a:solidFill>
                <a:latin typeface="Microsoft YaHei"/>
                <a:ea typeface="Microsoft YaHei"/>
              </a:rPr>
              <a:t>提醒你停下来，而不是催你干活</a:t>
            </a:r>
            <a:endParaRPr/>
          </a:p>
        </p:txBody>
      </p:sp>
      <p:sp>
        <p:nvSpPr>
          <p:cNvPr id="577" name=""/>
          <p:cNvSpPr/>
          <p:nvPr/>
        </p:nvSpPr>
        <p:spPr>
          <a:xfrm rot="0" flipH="0" flipV="0">
            <a:off x="5524500" y="4686300"/>
            <a:ext cx="11430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0D9488"/>
              </a:gs>
            </a:gsLst>
            <a:lin ang="2700000" scaled="1"/>
          </a:gradFill>
          <a:ln/>
        </p:spPr>
        <p:txBody>
          <a:bodyPr/>
          <a:p/>
        </p:txBody>
      </p:sp>
      <p:pic>
        <p:nvPicPr>
          <p:cNvPr id="5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067175" y="5019675"/>
            <a:ext cx="247650" cy="247650"/>
          </a:xfrm>
          <a:prstGeom prst="rect">
            <a:avLst/>
          </a:prstGeom>
          <a:ln/>
        </p:spPr>
      </p:pic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4429125" y="4981575"/>
            <a:ext cx="37052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0D9488"/>
                </a:solidFill>
                <a:latin typeface="Microsoft YaHei"/>
                <a:ea typeface="Microsoft YaHei"/>
              </a:rPr>
              <a:t>已经做完</a:t>
            </a:r>
            <a:r>
              <a:rPr lang="en-US" sz="2100">
                <a:solidFill>
                  <a:srgbClr val="0D948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100">
                <a:solidFill>
                  <a:srgbClr val="0D9488"/>
                </a:solidFill>
                <a:latin typeface="Microsoft YaHei"/>
                <a:ea typeface="Microsoft YaHei"/>
              </a:rPr>
              <a:t>官网可直接下载安装</a:t>
            </a:r>
            <a:endParaRPr/>
          </a:p>
        </p:txBody>
      </p:sp>
      <p:sp>
        <p:nvSpPr>
          <p:cNvPr id="580" name="" descr="{&quot;isTemplate&quot;:true,&quot;type&quot;:&quot;text&quot;}"/>
          <p:cNvSpPr txBox="1"/>
          <p:nvPr/>
        </p:nvSpPr>
        <p:spPr>
          <a:xfrm rot="0" flipH="0" flipV="0">
            <a:off x="4800600" y="557212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创新主赛道</a:t>
            </a:r>
            <a:r>
              <a:rPr lang="en-US" sz="1650" spc="75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 xml:space="preserve"> · AIGC </a:t>
            </a:r>
            <a:r>
              <a:rPr lang="zh-CN" sz="1650" spc="75">
                <a:solidFill>
                  <a:srgbClr val="0B1220">
                    <a:alpha val="50000"/>
                  </a:srgbClr>
                </a:solidFill>
                <a:latin typeface="Microsoft YaHei"/>
                <a:ea typeface="Microsoft YaHei"/>
              </a:rPr>
              <a:t>创新组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2026-10-12T09:40:22Z</dcterms:created>
  <dcterms:modified xsi:type="dcterms:W3CDTF">2026-10-12T09:40:22Z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{"AIGC":{"Label":"1","ContentProducer":"00119111010856365494821B355","ProduceID":"01a12daae6ab729bab33660329b36888","ReservedCode1":"","ContentPropagator":"00119111010856365494821B355","PropagateID":"01a12daae6ab729bab33660329b36888","ReservedCode2":""}}</vt:lpwstr>
  </property>
</Properties>
</file>