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0.xml" ContentType="application/vnd.openxmlformats-officedocument.presentationml.slide+xml"/>
  <Override PartName="/ppt/slides/slide30.xml" ContentType="application/vnd.openxmlformats-officedocument.presentationml.slide+xml"/>
  <Override PartName="/ppt/slides/slide1.xml" ContentType="application/vnd.openxmlformats-officedocument.presentationml.slide+xml"/>
  <Override PartName="/ppt/slides/slide28.xml" ContentType="application/vnd.openxmlformats-officedocument.presentationml.slide+xml"/>
  <Override PartName="/ppt/slides/slide13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22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3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34" Type="http://schemas.openxmlformats.org/officeDocument/2006/relationships/viewProps" Target="viewProps.xml" /><Relationship Id="rId33" Type="http://schemas.openxmlformats.org/officeDocument/2006/relationships/tableStyles" Target="tableStyles.xml" /><Relationship Id="rId32" Type="http://schemas.openxmlformats.org/officeDocument/2006/relationships/presProps" Target="presProps.xml" /><Relationship Id="rId31" Type="http://schemas.openxmlformats.org/officeDocument/2006/relationships/notesMaster" Target="notesMasters/notesMaster1.xml" /><Relationship Id="rId26" Type="http://schemas.openxmlformats.org/officeDocument/2006/relationships/slide" Target="slides/slide26.xml" /><Relationship Id="rId23" Type="http://schemas.openxmlformats.org/officeDocument/2006/relationships/slide" Target="slides/slide23.xml" /><Relationship Id="rId24" Type="http://schemas.openxmlformats.org/officeDocument/2006/relationships/slide" Target="slides/slide24.xml" /><Relationship Id="rId20" Type="http://schemas.openxmlformats.org/officeDocument/2006/relationships/slide" Target="slides/slide20.xml" /><Relationship Id="rId11" Type="http://schemas.openxmlformats.org/officeDocument/2006/relationships/slide" Target="slides/slide11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22" Type="http://schemas.openxmlformats.org/officeDocument/2006/relationships/slide" Target="slides/slide22.xml" /><Relationship Id="rId17" Type="http://schemas.openxmlformats.org/officeDocument/2006/relationships/slide" Target="slides/slide17.xml" /><Relationship Id="rId3" Type="http://schemas.openxmlformats.org/officeDocument/2006/relationships/slide" Target="slides/slide3.xml" /><Relationship Id="rId14" Type="http://schemas.openxmlformats.org/officeDocument/2006/relationships/slide" Target="slides/slide14.xml" /><Relationship Id="rId21" Type="http://schemas.openxmlformats.org/officeDocument/2006/relationships/slide" Target="slides/slide21.xml" /><Relationship Id="rId12" Type="http://schemas.openxmlformats.org/officeDocument/2006/relationships/slide" Target="slides/slide12.xml" /><Relationship Id="rId4" Type="http://schemas.openxmlformats.org/officeDocument/2006/relationships/slide" Target="slides/slide4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8" Type="http://schemas.openxmlformats.org/officeDocument/2006/relationships/slide" Target="slides/slide8.xml" /><Relationship Id="rId13" Type="http://schemas.openxmlformats.org/officeDocument/2006/relationships/slide" Target="slides/slide13.xml" /><Relationship Id="rId28" Type="http://schemas.openxmlformats.org/officeDocument/2006/relationships/slide" Target="slides/slide28.xml" /><Relationship Id="rId25" Type="http://schemas.openxmlformats.org/officeDocument/2006/relationships/slide" Target="slides/slide25.xml" /><Relationship Id="rId1" Type="http://schemas.openxmlformats.org/officeDocument/2006/relationships/slide" Target="slides/slide1.xml" /><Relationship Id="rId5" Type="http://schemas.openxmlformats.org/officeDocument/2006/relationships/slide" Target="slides/slide5.xml" /><Relationship Id="rId30" Type="http://schemas.openxmlformats.org/officeDocument/2006/relationships/slide" Target="slides/slide30.xml" /><Relationship Id="rId29" Type="http://schemas.openxmlformats.org/officeDocument/2006/relationships/slide" Target="slides/slide29.xml" /><Relationship Id="rId27" Type="http://schemas.openxmlformats.org/officeDocument/2006/relationships/slide" Target="slides/slide27.xml" /><Relationship Id="rId0" Type="http://schemas.openxmlformats.org/officeDocument/2006/relationships/slideMaster" Target="slideMasters/slideMaster1.xml" /><Relationship Id="rId18" Type="http://schemas.openxmlformats.org/officeDocument/2006/relationships/slide" Target="slides/slide18.xml" /><Relationship Id="rId10" Type="http://schemas.openxmlformats.org/officeDocument/2006/relationships/slide" Target="slides/slide10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3" Type="http://schemas.openxmlformats.org/officeDocument/2006/relationships/image" Target="media/image3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slide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" name="" descr="&lt;Slide style={{ width: 1280, height: 720, background: '#0B1220', padding: '64px 80px', flexDirection: 'row', alignItems: 'center', justifyContent: 'space-between' }}&gt;&#10;    &lt;Box style={{ width: 660, flexDirection: 'column', gap: 20 }}&gt;&#10;        &lt;Box style={{ flexDirection: 'row', alignItems: 'center', gap: 14 }}&gt;&#10;            &lt;svg width={44} height={44} viewBox='0 0 40 40'&gt;&#10;                &lt;circle cx='20' cy='20' r='17' fill='none' stroke='#4FE0B0' strokeWidth='1' opacity='0.45' /&gt;&#10;                &lt;path d='M28 10 A17 17 0 1 0 28 30' fill='none' stroke='#4FE0B0' strokeWidth='2.5' /&gt;&#10;                &lt;rect x='15' y='15' width='2.4' height='10' rx='1.2' fill='#4FE0B0' /&gt;&#10;                &lt;rect x='20' y='15' width='2.4' height='10' rx='1.2' fill='#4FE0B0' /&gt;&#10;            &lt;/svg&gt;&#10;            &lt;Text style={{ fontSize: 22, color: '#E8EEF7', opacity: 0.5, letterSpacing: 6 }}&gt;Z H I X I E&lt;/Text&gt;&#10;        &lt;/Box&gt;&#10;        &lt;Text style={{ fontSize: 76, fontWeight: 'bold', color: '#E8EEF7', lineHeight: 1.15 }}&gt;知歇 &lt;span style={{ color: '#4FE0B0' }}&gt;ZhiXie&lt;/span&gt;&lt;/Text&gt;&#10;        &lt;Text style={{ fontSize: 30, color: '#4FE0B0', letterSpacing: 3 }}&gt;知时而歇，张弛有度&lt;/Text&gt;&#10;        &lt;Box style={{ height: 3, width: 120, background: 'linear-gradient(135deg, #4FE0B0 0%, #2E9E8F 100%)', borderRadius: 2 }} /&gt;&#10;        &lt;Text style={{ fontSize: 28, color: '#E8EEF7', opacity: 0.78, lineHeight: 1.55 }}&gt;会听人话的桌面休息提醒。&lt;br /&gt;说一句话，它就把提醒设好。&lt;/Text&gt;&#10;        &lt;Box style={{ flexDirection: 'row', alignItems: 'center', gap: 12, marginTop: 8 }}&gt;&#10;            &lt;svg width={26} height={26} viewBox='0 0 22 22'&gt;&#10;                &lt;circle cx='11' cy='11' r='10' fill='rgba(79,224,176,0.14)' stroke='#4FE0B0' strokeWidth='1.5' /&gt;&#10;                &lt;path d='M6 11 L9.5 14.5 L16 8' fill='none' stroke='#4FE0B0' strokeWidth='2' /&gt;&#10;            &lt;/svg&gt;&#10;            &lt;Text style={{ fontSize: 26, color: '#4FE0B0' }}&gt;已经做完 · 官网可直接下载安装&lt;/Text&gt;&#10;        &lt;/Box&gt;&#10;        &lt;Text style={{ fontSize: 22, color: '#E8EEF7', opacity: 0.5, letterSpacing: 1, marginTop: 8 }}&gt;创新主赛道 · AIGC 创新组&lt;/Text&gt;&#10;    &lt;/Box&gt;&#10;    &lt;Box style={{ width: 420, height: 420, justifyContent: 'center', alignItems: 'center' }}&gt;&#10;        &lt;svg width={420} height={420} viewBox='0 0 440 440'&gt;&#10;            &lt;circle cx='220' cy='220' r='200' fill='rgba(79,224,176,0.04)' /&gt;&#10;            &lt;circle cx='220' cy='220' r='200' fill='none' stroke='#4FE0B0' strokeWidth='1' opacity='0.16' /&gt;&#10;            &lt;circle cx='220' cy='220' r='146' fill='none' stroke='#4FE0B0' strokeWidth='1' opacity='0.26' /&gt;&#10;            &lt;circle cx='220' cy='220' r='92' fill='none' stroke='#4FE0B0' strokeWidth='1.5' opacity='0.45' /&gt;&#10;            &lt;circle cx='220' cy='220' r='5' fill='#4FE0B0' /&gt;&#10;            &lt;path d='M220 220 L392 112' fill='none' stroke='#4FE0B0' strokeWidth='2' opacity='0.65' /&gt;&#10;            &lt;path d='M330 128 A200 200 0 0 1 392 214' fill='none' stroke='#4FE0B0' strokeWidth='2.5' opacity='0.8' /&gt;&#10;            &lt;circle cx='392' cy='112' r='4' fill='#4FE0B0' /&gt;&#10;        &lt;/svg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1104900"/>
            <a:ext cx="419100" cy="4191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6286500" cy="10001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700" b="1">
                <a:solidFill>
                  <a:srgbClr val="E8EEF7"/>
                </a:solidFill>
                <a:latin typeface="Microsoft YaHei"/>
                <a:ea typeface="Microsoft YaHei"/>
              </a:rPr>
              <a:t>知歇</a:t>
            </a:r>
            <a:r>
              <a:rPr lang="en-US" sz="57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5700" b="1">
                <a:solidFill>
                  <a:srgbClr val="4FE0B0"/>
                </a:solidFill>
                <a:latin typeface="Microsoft YaHei"/>
                <a:ea typeface="Microsoft YaHei"/>
              </a:rPr>
              <a:t>ZhiXie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2905125"/>
            <a:ext cx="6286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225">
                <a:solidFill>
                  <a:srgbClr val="4FE0B0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762000" y="3438525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2000" y="4953000"/>
            <a:ext cx="247650" cy="247650"/>
          </a:xfrm>
          <a:prstGeom prst="rect">
            <a:avLst/>
          </a:prstGeom>
          <a:ln/>
        </p:spPr>
      </p:pic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123950" y="4924425"/>
            <a:ext cx="3448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已经做完</a:t>
            </a:r>
            <a:r>
              <a:rPr lang="en-US" sz="195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官网可直接下载安装</a:t>
            </a:r>
            <a:endParaRPr/>
          </a:p>
        </p:txBody>
      </p:sp>
      <p:pic>
        <p:nvPicPr>
          <p:cNvPr id="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429500" y="1428750"/>
            <a:ext cx="4000500" cy="4000500"/>
          </a:xfrm>
          <a:prstGeom prst="rect">
            <a:avLst/>
          </a:prstGeom>
          <a:ln/>
        </p:spPr>
      </p:pic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1314450" y="1190625"/>
            <a:ext cx="1600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4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Z H I X I E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3657600"/>
            <a:ext cx="6286500" cy="1000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会听人话的桌面休息提醒。</a:t>
            </a:r>
            <a:endParaRPr/>
          </a:p>
          <a:p>
            <a:pPr>
              <a:lnSpc>
                <a:spcPct val="155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说一句话，它就把提醒设好。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5495925"/>
            <a:ext cx="6286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6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AIGC </a:t>
            </a:r>
            <a:r>
              <a:rPr lang="zh-CN" sz="16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41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目录&lt;/Text&gt;&#10;            &lt;Text style={{ fontSize: 28, color: '#E8EEF7', opacity: 0.6, letterSpacing: 1 }}&gt;三章：为什么做 → 怎么做的 → 做成什么样&lt;/Text&gt;&#10;        &lt;/Box&gt;&#10;        &lt;Text style={{ fontSize: 22, color: '#4FE0B0', letterSpacing: 3, opacity: 0.85 }}&gt;CONTENTS&lt;/Text&gt;&#10;    &lt;/Box&gt;&#10;    &lt;Box style={{ height: 476, flexDirection: 'column', gap: 20, justifyContent: 'center' }}&gt;&#10;        &lt;Box style={{ flexDirection: 'row', alignItems: 'center', gap: 28, padding: '22px 28px', background: 'rgba(232,238,247,0.04)', border: '1px solid rgba(232,238,247,0.10)', borderRadius: 14 }}&gt;&#10;            &lt;Box style={{ width: 76, height: 76, borderRadius: 38, background: 'rgba(79,224,176,0.10)', justifyContent: 'center', alignItems: 'center' }}&gt;&#10;                &lt;Text style={{ fontSize: 26, fontWeight: 'bold', fontFamily: 'Consolas', color: '#4FE0B0' }}&gt;01&lt;/Text&gt;&#10;            &lt;/Box&gt;&#10;            &lt;Box style={{ flex: 1, flexDirection: 'column', gap: 4 }}&gt;&#10;                &lt;Text style={{ fontSize: 32, fontWeight: 'bold', color: '#E8EEF7' }}&gt;背景与方案&lt;/Text&gt;&#10;                &lt;Text style={{ fontSize: 24, color: '#E8EEF7', opacity: 0.62, lineHeight: 1.45 }}&gt;为什么要做这个东西，它到底是什么、从哪下载。&lt;/Text&gt;&#10;            &lt;/Box&gt;&#10;            &lt;Text style={{ fontSize: 24, color: '#4FE0B0', opacity: 0.85 }}&gt;P03–P07&lt;/Text&gt;&#10;        &lt;/Box&gt;&#10;        &lt;Box style={{ flexDirection: 'row', alignItems: 'center', gap: 28, padding: '22px 28px', background: 'rgba(79,224,176,0.08)', border: '1px solid rgba(79,224,176,0.30)', borderRadius: 14 }}&gt;&#10;            &lt;Box style={{ width: 76, height: 76, borderRadius: 38, background: 'rgba(79,224,176,0.14)', justifyContent: 'center', alignItems: 'center' }}&gt;&#10;                &lt;Text style={{ fontSize: 26, fontWeight: 'bold', fontFamily: 'Consolas', color: '#4FE0B0' }}&gt;02&lt;/Text&gt;&#10;            &lt;/Box&gt;&#10;            &lt;Box style={{ flex: 1, flexDirection: 'column', gap: 4 }}&gt;&#10;                &lt;Text style={{ fontSize: 32, fontWeight: 'bold', color: '#E8EEF7' }}&gt;实现：怎么做出来的&lt;/Text&gt;&#10;                &lt;Text style={{ fontSize: 24, color: '#E8EEF7', opacity: 0.62, lineHeight: 1.45 }}&gt;架构与工作流程，以及用 AI 工具从零搭起来的全过程。&lt;/Text&gt;&#10;            &lt;/Box&gt;&#10;            &lt;Text style={{ fontSize: 24, color: '#4FE0B0', opacity: 0.85 }}&gt;P08–P19&lt;/Text&gt;&#10;        &lt;/Box&gt;&#10;        &lt;Box style={{ flexDirection: 'row', alignItems: 'center', gap: 28, padding: '22px 28px', background: 'rgba(232,238,247,0.04)', border: '1px solid rgba(232,238,247,0.10)', borderRadius: 14 }}&gt;&#10;            &lt;Box style={{ width: 76, height: 76, borderRadius: 38, background: 'rgba(79,224,176,0.10)', justifyContent: 'center', alignItems: 'center' }}&gt;&#10;                &lt;Text style={{ fontSize: 26, fontWeight: 'bold', fontFamily: 'Consolas', color: '#4FE0B0' }}&gt;03&lt;/Text&gt;&#10;            &lt;/Box&gt;&#10;            &lt;Box style={{ flex: 1, flexDirection: 'column', gap: 4 }}&gt;&#10;                &lt;Text style={{ fontSize: 32, fontWeight: 'bold', color: '#E8EEF7' }}&gt;成果：成品演示与实际效果&lt;/Text&gt;&#10;                &lt;Text style={{ fontSize: 24, color: '#E8EEF7', opacity: 0.62, lineHeight: 1.45 }}&gt;六段真实演示，加上完成度、创新点与横向对比。&lt;/Text&gt;&#10;            &lt;/Box&gt;&#10;            &lt;Text style={{ fontSize: 24, color: '#4FE0B0', opacity: 0.85 }}&gt;P20–P29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2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3149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609600" y="1609725"/>
            <a:ext cx="10972800" cy="1228725"/>
          </a:xfrm>
          <a:prstGeom prst="roundRect">
            <a:avLst>
              <a:gd name="adj" fmla="val 108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876300" y="1866900"/>
            <a:ext cx="723900" cy="7239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04900" y="2076450"/>
            <a:ext cx="276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866900" y="1819275"/>
            <a:ext cx="82391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背景与方案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09600" y="3028950"/>
            <a:ext cx="10972800" cy="1228725"/>
          </a:xfrm>
          <a:prstGeom prst="roundRect">
            <a:avLst>
              <a:gd name="adj" fmla="val 10853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876300" y="3286125"/>
            <a:ext cx="723900" cy="723900"/>
          </a:xfrm>
          <a:prstGeom prst="roundRect">
            <a:avLst>
              <a:gd name="adj" fmla="val 50000"/>
            </a:avLst>
          </a:prstGeom>
          <a:solidFill>
            <a:srgbClr val="4FE0B0">
              <a:alpha val="14000"/>
            </a:srgbClr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1104900" y="3495675"/>
            <a:ext cx="276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866900" y="3238500"/>
            <a:ext cx="82391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实现：怎么做出来的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609600" y="4448175"/>
            <a:ext cx="10972800" cy="1228725"/>
          </a:xfrm>
          <a:prstGeom prst="roundRect">
            <a:avLst>
              <a:gd name="adj" fmla="val 108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876300" y="4705350"/>
            <a:ext cx="723900" cy="7239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104900" y="4914900"/>
            <a:ext cx="276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866900" y="4657725"/>
            <a:ext cx="82391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成果：成品演示与实际效果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3149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三章：为什么做</a:t>
            </a:r>
            <a:r>
              <a:rPr lang="en-US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怎么做的</a:t>
            </a:r>
            <a:r>
              <a:rPr lang="en-US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做成什么样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01275" y="962025"/>
            <a:ext cx="1381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225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866900" y="2228850"/>
            <a:ext cx="8239125" cy="4000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8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为什么要做这个东西，它到底是什么、从哪下载。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0372725" y="2085975"/>
            <a:ext cx="9429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P03–P07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866900" y="3648075"/>
            <a:ext cx="8239125" cy="4000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8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架构与工作流程，以及用</a:t>
            </a:r>
            <a:r>
              <a:rPr lang="en-US" sz="18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8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工具从零搭起来的全过程。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0372725" y="3505200"/>
            <a:ext cx="9429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P08–P19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866900" y="5067300"/>
            <a:ext cx="8239125" cy="4000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8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六段真实演示，加上完成度、创新点与横向对比。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0372725" y="4924425"/>
            <a:ext cx="9429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P20–P29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02 / 30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479" name="" descr="&lt;Slide style={{ width: 1280, height: 720, background: '#0B1220', padding: '20px 64px' }}&gt;&#10;    &lt;Box style={{ height: 600, flexDirection: 'row', alignItems: 'center', gap: 64 }}&gt;&#10;        &lt;Text style={{ fontSize: 230, fontWeight: 'bold', fontFamily: 'Consolas', color: '#4FE0B0', opacity: 0.15, lineHeight: 1 }}&gt;01&lt;/Text&gt;&#10;        &lt;Box style={{ flexDirection: 'column', gap: 22, width: 600 }}&gt;&#10;            &lt;Text style={{ fontSize: 64, fontWeight: 'bold', color: '#E8EEF7', lineHeight: 1.15 }}&gt;背景与方案&lt;/Text&gt;&#10;            &lt;Box style={{ height: 4, width: 120, background: 'linear-gradient(135deg, #4FE0B0 0%, #2E9E8F 100%)', borderRadius: 2 }} /&gt;&#10;            &lt;Text style={{ fontSize: 30, color: '#E8EEF7', opacity: 0.72, lineHeight: 1.6 }}&gt;先说清楚两件事：&lt;br /&gt;为什么需要它，它到底是个什么。&lt;/Text&gt;&#10;            &lt;Text style={{ fontSize: 24, fontFamily: 'Consolas', color: '#4FE0B0', letterSpacing: 2 }}&gt;P03 – P07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3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3657600" y="1600200"/>
            <a:ext cx="5715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E8EEF7"/>
                </a:solidFill>
                <a:latin typeface="Microsoft YaHei"/>
                <a:ea typeface="Microsoft YaHei"/>
              </a:rPr>
              <a:t>背景与方案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3657600" y="26574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3657600" y="4219575"/>
            <a:ext cx="5715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4FE0B0"/>
                </a:solidFill>
                <a:latin typeface="Consolas"/>
                <a:ea typeface="Consolas"/>
              </a:rPr>
              <a:t>P03 – P07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57150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先说清楚两件事：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为什么需要它，它到底是个什么。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03 / 30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497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一坐就是三四个小时&lt;/Text&gt;&#10;            &lt;Text style={{ fontSize: 28, color: '#E8EEF7', opacity: 0.6, letterSpacing: 1 }}&gt;不是不想休息，是一进入专注就忘了时间&lt;/Text&gt;&#10;        &lt;/Box&gt;&#10;        &lt;Text style={{ fontSize: 22, fontFamily: 'Consolas', color: '#E8EEF7', opacity: 0.35 }}&gt;04&lt;/Text&gt;&#10;    &lt;/Box&gt;&#10;    &lt;Box style={{ height: 476, flexDirection: 'row', gap: 40, alignItems: 'center' }}&gt;&#10;        &lt;Box style={{ width: 560, height: 420, flexDirection: 'column', justifyContent: 'center', alignItems: 'center', gap: 12, background: 'rgba(79,224,176,0.05)', border: '2px dashed rgba(79,224,176,0.55)', borderRadius: 14, padding: '0 20px' }}&gt;&#10;            &lt;Text style={{ fontSize: 22, fontFamily: 'Consolas', color: '#4FE0B0', letterSpacing: 1 }}&gt;截图 ①&lt;/Text&gt;&#10;            &lt;Text style={{ fontSize: 30, fontWeight: 'bold', color: '#E8EEF7', textAlign: 'center' }}&gt;长时间用电脑的画面&lt;/Text&gt;&#10;            &lt;Text style={{ fontSize: 22, color: '#E8EEF7', opacity: 0.5, textAlign: 'center', lineHeight: 1.7 }}&gt;建议画面：能说明&quot;连续用了几小时&quot;的&lt;br /&gt;界面或计时画面&lt;br /&gt;（也可用系统的屏幕使用时间统计）&lt;/Text&gt;&#10;        &lt;/Box&gt;&#10;        &lt;Box style={{ flex: 1, flexDirection: 'column', gap: 18 }}&gt;&#10;            &lt;Text style={{ fontSize: 36, fontWeight: 'bold', color: '#4FE0B0', lineHeight: 1.4 }}&gt;您上一次连续坐在电脑前，&lt;br /&gt;是多久？&lt;/Text&gt;&#10;            &lt;Text style={{ fontSize: 28, color: '#E8EEF7', opacity: 0.8, lineHeight: 1.5 }}&gt;一进入专注，时间感就没了。&lt;/Text&gt;&#10;            &lt;Text style={{ fontSize: 28, color: '#E8EEF7', opacity: 0.8, lineHeight: 1.5 }}&gt;身体一直在发信号，只是被忽略。&lt;/Text&gt;&#10;            &lt;Box style={{ padding: '18px 22px', background: 'rgba(79,224,176,0.10)', borderRadius: 12 }}&gt;&#10;                &lt;Text style={{ fontSize: 28, color: '#E8EEF7', lineHeight: 1.5 }}&gt;谁能用上：&lt;span style={{ color: '#4FE0B0', fontWeight: 'bold' }}&gt;学生、久坐办公的人&lt;/span&gt;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4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9720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一坐就是三四个小时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609600" y="1638300"/>
            <a:ext cx="5334000" cy="4000500"/>
          </a:xfrm>
          <a:prstGeom prst="roundRect">
            <a:avLst>
              <a:gd name="adj" fmla="val 3333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2914650" y="258127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①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1990725" y="2952750"/>
            <a:ext cx="257175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长时间用电脑的画面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6324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您上一次连续坐在电脑前，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是多久？</a:t>
            </a:r>
            <a:endParaRPr/>
          </a:p>
        </p:txBody>
      </p:sp>
      <p:sp>
        <p:nvSpPr>
          <p:cNvPr id="504" name=""/>
          <p:cNvSpPr/>
          <p:nvPr/>
        </p:nvSpPr>
        <p:spPr>
          <a:xfrm rot="0" flipH="0" flipV="0">
            <a:off x="6324600" y="454342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6534150" y="47148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谁能用上：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学生、久坐办公的人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不是不想休息，是一进入专注就忘了时间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524000" y="3409950"/>
            <a:ext cx="3505200" cy="1285875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建议画面：能说明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连续用了几小时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的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界面或计时画面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（也可用系统的屏幕使用时间统计）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6324600" y="322897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一进入专注，时间感就没了。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6324600" y="388620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身体一直在发信号，只是被忽略。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04 / 30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513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毛病一 · 设置太麻烦&lt;/Text&gt;&#10;            &lt;Text style={{ fontSize: 28, color: '#E8EEF7', opacity: 0.6, letterSpacing: 1 }}&gt;门槛不在按钮多少，在要先学会一套说法&lt;/Text&gt;&#10;        &lt;/Box&gt;&#10;        &lt;Text style={{ fontSize: 22, fontFamily: 'Consolas', color: '#E8EEF7', opacity: 0.35 }}&gt;05&lt;/Text&gt;&#10;    &lt;/Box&gt;&#10;    &lt;Box style={{ height: 476, flexDirection: 'row', gap: 40, alignItems: 'center' }}&gt;&#10;        &lt;Box style={{ width: 560, height: 420, flexDirection: 'column', justifyContent: 'center', alignItems: 'center', gap: 12, background: 'rgba(79,224,176,0.05)', border: '2px dashed rgba(79,224,176,0.55)', borderRadius: 14, padding: '0 20px' }}&gt;&#10;            &lt;Text style={{ fontSize: 22, fontFamily: 'Consolas', color: '#4FE0B0', letterSpacing: 1 }}&gt;截图 ②&lt;/Text&gt;&#10;            &lt;Text style={{ fontSize: 30, fontWeight: 'bold', color: '#E8EEF7', textAlign: 'center' }}&gt;传统提醒工具的设置界面&lt;/Text&gt;&#10;            &lt;Text style={{ fontSize: 22, color: '#E8EEF7', opacity: 0.5, textAlign: 'center', lineHeight: 1.7 }}&gt;建议画面：时间选择器 + 重复规则&lt;br /&gt;+ 多级菜单，一眼看上去就很麻烦&lt;/Text&gt;&#10;        &lt;/Box&gt;&#10;        &lt;Box style={{ flex: 1, flexDirection: 'column', gap: 20 }}&gt;&#10;            &lt;Text style={{ fontSize: 32, fontWeight: 'bold', color: '#E8EEF7', lineHeight: 1.45 }}&gt;想设一条「每周一三五下午三点半」，&lt;br /&gt;得先把这套说法弄明白。&lt;/Text&gt;&#10;            &lt;Box style={{ flexDirection: 'column', gap: 16 }}&gt;&#10;                &lt;Text style={{ fontSize: 28, color: '#E8EEF7', opacity: 0.8, lineHeight: 1.5 }}&gt;单次、每天、每周、每月——先选一个。&lt;/Text&gt;&#10;                &lt;Text style={{ fontSize: 28, color: '#E8EEF7', opacity: 0.8, lineHeight: 1.5 }}&gt;再选时间、勾星期、设重复，一步都不能漏。&lt;/Text&gt;&#10;            &lt;/Box&gt;&#10;            &lt;Box style={{ padding: '20px 22px', background: 'rgba(79,224,176,0.10)', borderRadius: 12 }}&gt;&#10;                &lt;Text style={{ fontSize: 28, color: '#E8EEF7', lineHeight: 1.5 }}&gt;所以很多人的真实做法是：&lt;span style={{ color: '#4FE0B0', fontWeight: 'bold' }}&gt;干脆不设&lt;/span&gt;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5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9720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毛病一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设置太麻烦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609600" y="1638300"/>
            <a:ext cx="5334000" cy="4000500"/>
          </a:xfrm>
          <a:prstGeom prst="roundRect">
            <a:avLst>
              <a:gd name="adj" fmla="val 3333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2914650" y="28003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②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1704975" y="3171825"/>
            <a:ext cx="314325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传统提醒工具的设置界面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324600" y="1685925"/>
            <a:ext cx="5257800" cy="1066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想设一条「每周一三五下午三点半」，</a:t>
            </a:r>
            <a:endParaRPr/>
          </a:p>
          <a:p>
            <a:pPr>
              <a:lnSpc>
                <a:spcPct val="145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得先把这套说法弄明白。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6324600" y="4733925"/>
            <a:ext cx="5257800" cy="866775"/>
          </a:xfrm>
          <a:prstGeom prst="roundRect">
            <a:avLst>
              <a:gd name="adj" fmla="val 13187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6534150" y="492442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所以很多人的真实做法是：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干脆不设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门槛不在按钮多少，在要先学会一套说法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1685925" y="3629025"/>
            <a:ext cx="3181350" cy="8572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建议画面：时间选择器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重复规则</a:t>
            </a:r>
            <a:endParaRPr/>
          </a:p>
          <a:p>
            <a:pPr algn="ctr">
              <a:lnSpc>
                <a:spcPct val="170000"/>
              </a:lnSpc>
            </a:pP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多级菜单，一眼看上去就很麻烦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6324600" y="2943225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单次、每天、每周、每月——先选一个。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6324600" y="3581400"/>
            <a:ext cx="5257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再选时间、勾星期、设重复，一步都不能漏。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05 / 30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529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毛病二 · 提醒看腻了&lt;/Text&gt;&#10;            &lt;Text style={{ fontSize: 28, color: '#E8EEF7', opacity: 0.6, letterSpacing: 1 }}&gt;同一句话弹几次，眼睛就自动跳过&lt;/Text&gt;&#10;        &lt;/Box&gt;&#10;        &lt;Text style={{ fontSize: 22, fontFamily: 'Consolas', color: '#E8EEF7', opacity: 0.35 }}&gt;06&lt;/Text&gt;&#10;    &lt;/Box&gt;&#10;    &lt;Box style={{ height: 476, flexDirection: 'row', gap: 40, alignItems: 'center' }}&gt;&#10;        &lt;Box style={{ flex: 1, flexDirection: 'column', gap: 20 }}&gt;&#10;            &lt;Text style={{ fontSize: 32, fontWeight: 'bold', color: '#E8EEF7', lineHeight: 1.45 }}&gt;提醒的&quot;劲儿&quot;，&lt;br /&gt;随着重复次数一路递减。&lt;/Text&gt;&#10;            &lt;Box style={{ flexDirection: 'column', gap: 16 }}&gt;&#10;                &lt;Text style={{ fontSize: 28, color: '#E8EEF7', opacity: 0.8, lineHeight: 1.5 }}&gt;第一次：会看一眼，可能还会起身。&lt;/Text&gt;&#10;                &lt;Text style={{ fontSize: 28, color: '#E8EEF7', opacity: 0.8, lineHeight: 1.5 }}&gt;第二次：眼睛已经知道它要说什么，扫一眼就关。&lt;/Text&gt;&#10;                &lt;Text style={{ fontSize: 28, color: '#E8EEF7', opacity: 0.8, lineHeight: 1.5 }}&gt;第三次之后：它和桌面壁纸没什么区别。&lt;/Text&gt;&#10;            &lt;/Box&gt;&#10;            &lt;Box style={{ padding: '20px 22px', background: 'rgba(79,224,176,0.10)', borderRadius: 12 }}&gt;&#10;                &lt;Text style={{ fontSize: 28, color: '#E8EEF7', lineHeight: 1.5 }}&gt;固定文案的问题不是难听，是&lt;span style={{ color: '#4FE0B0', fontWeight: 'bold' }}&gt;不再被看见&lt;/span&gt;。&lt;/Text&gt;&#10;            &lt;/Box&gt;&#10;        &lt;/Box&gt;&#10;        &lt;Box style={{ width: 520, height: 420, justifyContent: 'center', alignItems: 'center', background: 'rgba(232,238,247,0.03)', border: '1px solid rgba(232,238,247,0.10)', borderRadius: 14 }}&gt;&#10;            &lt;svg width={470} height={390} viewBox='0 0 470 390'&gt;&#10;                &lt;rect x='10' y='10' width='450' height='62' rx='10' fill='rgba(232,238,247,0.09)' stroke='rgba(232,238,247,0.20)' /&gt;&#10;                &lt;rect x='10' y='88' width='450' height='62' rx='10' fill='rgba(232,238,247,0.07)' stroke='rgba(232,238,247,0.15)' opacity='0.85' /&gt;&#10;                &lt;rect x='10' y='166' width='450' height='62' rx='10' fill='rgba(232,238,247,0.05)' stroke='rgba(232,238,247,0.11)' opacity='0.6' /&gt;&#10;                &lt;rect x='10' y='244' width='450' height='62' rx='10' fill='rgba(232,238,247,0.03)' stroke='rgba(232,238,247,0.08)' opacity='0.4' /&gt;&#10;                &lt;rect x='10' y='322' width='450' height='62' rx='10' fill='rgba(232,238,247,0.02)' stroke='rgba(232,238,247,0.06)' opacity='0.25' /&gt;&#10;                &lt;path d='M366 41 L446 41' fill='none' stroke='#4FE0B0' strokeWidth='4' opacity='0.85' /&gt;&#10;                &lt;path d='M366 119 L408 119' fill='none' stroke='#4FE0B0' strokeWidth='4' opacity='0.45' /&gt;&#10;                &lt;path d='M366 197 L386 197' fill='none' stroke='#4FE0B0' strokeWidth='4' opacity='0.25' /&gt;&#10;                &lt;path d='M366 275 L374 275' fill='none' stroke='#4FE0B0' strokeWidth='4' opacity='0.14' /&gt;&#10;            &lt;/svg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6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1433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毛病二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提醒看腻了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609600" y="1362075"/>
            <a:ext cx="5638800" cy="1066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提醒的</a:t>
            </a:r>
            <a:r>
              <a:rPr lang="en-US" sz="2400" b="1">
                <a:solidFill>
                  <a:srgbClr val="E8EEF7"/>
                </a:solidFill>
                <a:latin typeface="Microsoft YaHei"/>
                <a:ea typeface="Microsoft YaHei"/>
              </a:rPr>
              <a:t>"</a:t>
            </a: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劲儿</a:t>
            </a:r>
            <a:r>
              <a:rPr lang="en-US" sz="2400" b="1">
                <a:solidFill>
                  <a:srgbClr val="E8EEF7"/>
                </a:solidFill>
                <a:latin typeface="Microsoft YaHei"/>
                <a:ea typeface="Microsoft YaHei"/>
              </a:rPr>
              <a:t>"</a:t>
            </a: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45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随着重复次数一路递减。</a:t>
            </a:r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609600" y="5048250"/>
            <a:ext cx="5638800" cy="866775"/>
          </a:xfrm>
          <a:prstGeom prst="roundRect">
            <a:avLst>
              <a:gd name="adj" fmla="val 13187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19150" y="5238750"/>
            <a:ext cx="5219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固定文案的问题不是难听，是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不再被看见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6629400" y="1638300"/>
            <a:ext cx="4953000" cy="4000500"/>
          </a:xfrm>
          <a:prstGeom prst="roundRect">
            <a:avLst>
              <a:gd name="adj" fmla="val 3333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67525" y="1781175"/>
            <a:ext cx="4476750" cy="3714750"/>
          </a:xfrm>
          <a:prstGeom prst="rect">
            <a:avLst/>
          </a:prstGeom>
          <a:ln/>
        </p:spPr>
      </p:pic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1433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同一句话弹几次，眼睛就自动跳过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06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609600" y="2619375"/>
            <a:ext cx="5638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第一次：会看一眼，可能还会起身。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609600" y="3257550"/>
            <a:ext cx="5638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第二次：眼睛已经知道它要说什么，扫一眼就关。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609600" y="4371975"/>
            <a:ext cx="5638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第三次之后：它和桌面壁纸没什么区别。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06 / 30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544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它是什么，去哪下载&lt;/Text&gt;&#10;            &lt;Text style={{ fontSize: 28, color: '#E8EEF7', opacity: 0.6, letterSpacing: 1 }}&gt;会听人话的桌面休息提醒，官网直接下载&lt;/Text&gt;&#10;        &lt;/Box&gt;&#10;        &lt;Text style={{ fontSize: 22, fontFamily: 'Consolas', color: '#E8EEF7', opacity: 0.35 }}&gt;07&lt;/Text&gt;&#10;    &lt;/Box&gt;&#10;    &lt;Box style={{ height: 476, flexDirection: 'row', gap: 40, alignItems: 'center' }}&gt;&#10;        &lt;Box style={{ width: 620, flexDirection: 'column', gap: 14 }}&gt;&#10;            &lt;Box style={{ height: 280, flexDirection: 'column', justifyContent: 'center', alignItems: 'center', gap: 10, background: 'rgba(79,224,176,0.05)', border: '2px dashed rgba(79,224,176,0.55)', borderRadius: 12 }}&gt;&#10;                &lt;Text style={{ fontSize: 22, fontFamily: 'Consolas', color: '#4FE0B0', letterSpacing: 1 }}&gt;截图 ③&lt;/Text&gt;&#10;                &lt;Text style={{ fontSize: 30, fontWeight: 'bold', color: '#E8EEF7', textAlign: 'center' }}&gt;知歇官网首页&lt;/Text&gt;&#10;                &lt;Text style={{ fontSize: 22, color: '#E8EEF7', opacity: 0.5, textAlign: 'center', lineHeight: 1.6 }}&gt;建议画面：首屏能看到产品名、&lt;br /&gt;口号与下载按钮&lt;/Text&gt;&#10;            &lt;/Box&gt;&#10;            &lt;Box style={{ height: 140, flexDirection: 'column', justifyContent: 'center', alignItems: 'center', gap: 8, background: 'rgba(79,224,176,0.05)', border: '2px dashed rgba(79,224,176,0.55)', borderRadius: 12 }}&gt;&#10;                &lt;Text style={{ fontSize: 22, fontFamily: 'Consolas', color: '#4FE0B0', letterSpacing: 1 }}&gt;截图 ④&lt;/Text&gt;&#10;                &lt;Text style={{ fontSize: 28, fontWeight: 'bold', color: '#E8EEF7', textAlign: 'center' }}&gt;安装包 / 安装完成界面&lt;/Text&gt;&#10;                &lt;Text style={{ fontSize: 22, color: '#E8EEF7', opacity: 0.5, textAlign: 'center' }}&gt;建议画面：安装向导完成页，或桌面上的知歇图标&lt;/Text&gt;&#10;            &lt;/Box&gt;&#10;        &lt;/Box&gt;&#10;        &lt;Box style={{ flex: 1, flexDirection: 'column', gap: 10 }}&gt;&#10;            &lt;Text style={{ fontSize: 28, color: '#E8EEF7', opacity: 0.85, lineHeight: 1.5 }}&gt;说一句话，它就帮你把提醒设好，&lt;br /&gt;到点用弹窗把人从屏幕前拉开。&lt;/Text&gt;&#10;            &lt;Box style={{ flexDirection: 'row', gap: 14, alignItems: 'center' }}&gt;&#10;                &lt;svg width={34} height={34} viewBox='0 0 30 30'&gt;&#10;                    &lt;circle cx='15' cy='15' r='13' fill='none' stroke='#4FE0B0' strokeWidth='1.5' /&gt;&#10;                    &lt;path d='M9 15 L13.5 20 L21 11' fill='none' stroke='#4FE0B0' strokeWidth='2.5' /&gt;&#10;                &lt;/svg&gt;&#10;                &lt;Text style={{ fontSize: 28, color: '#E8EEF7' }}&gt;说一句话，提醒就设好了&lt;/Text&gt;&#10;            &lt;/Box&gt;&#10;            &lt;Box style={{ flexDirection: 'row', gap: 14, alignItems: 'center' }}&gt;&#10;                &lt;svg width={34} height={34} viewBox='0 0 30 30'&gt;&#10;                    &lt;circle cx='15' cy='15' r='13' fill='none' stroke='#4FE0B0' strokeWidth='1.5' /&gt;&#10;                    &lt;path d='M9 15 L13.5 20 L21 11' fill='none' stroke='#4FE0B0' strokeWidth='2.5' /&gt;&#10;                &lt;/svg&gt;&#10;                &lt;Text style={{ fontSize: 28, color: '#E8EEF7' }}&gt;没网也照样能用&lt;/Text&gt;&#10;            &lt;/Box&gt;&#10;            &lt;Box style={{ flexDirection: 'row', gap: 14, alignItems: 'center' }}&gt;&#10;                &lt;svg width={34} height={34} viewBox='0 0 30 30'&gt;&#10;                    &lt;circle cx='15' cy='15' r='13' fill='none' stroke='#4FE0B0' strokeWidth='1.5' /&gt;&#10;                    &lt;path d='M9 15 L13.5 20 L21 11' fill='none' stroke='#4FE0B0' strokeWidth='2.5' /&gt;&#10;                &lt;/svg&gt;&#10;                &lt;Text style={{ fontSize: 28, color: '#E8EEF7' }}&gt;数据在自己电脑里，不用注册&lt;/Text&gt;&#10;            &lt;/Box&gt;&#10;            &lt;Text style={{ fontSize: 22, color: '#E8EEF7', opacity: 0.55, lineHeight: 1.5 }}&gt;注：智能体 = 软件里那个帮你把话变成提醒的小助手。&lt;/Text&gt;&#10;            &lt;Box style={{ padding: '16px 20px', background: 'rgba(79,224,176,0.10)', borderRadius: 12 }}&gt;&#10;                &lt;Text style={{ fontSize: 28, color: '#E8EEF7', lineHeight: 1.5 }}&gt;Windows 和 macOS 都能装，&lt;span style={{ color: '#4FE0B0', fontWeight: 'bold' }}&gt;官网直接下载&lt;/span&gt;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7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9720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它是什么，去哪下载</a:t>
            </a:r>
            <a:endParaRPr/>
          </a:p>
        </p:txBody>
      </p:sp>
      <p:sp>
        <p:nvSpPr>
          <p:cNvPr id="547" name=""/>
          <p:cNvSpPr/>
          <p:nvPr/>
        </p:nvSpPr>
        <p:spPr>
          <a:xfrm rot="0" flipH="0" flipV="0">
            <a:off x="609600" y="1571625"/>
            <a:ext cx="5905500" cy="2667000"/>
          </a:xfrm>
          <a:prstGeom prst="roundRect">
            <a:avLst>
              <a:gd name="adj" fmla="val 4286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200400" y="21050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③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2705100" y="2457450"/>
            <a:ext cx="17145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知歇官网首页</a:t>
            </a:r>
            <a:endParaRPr/>
          </a:p>
        </p:txBody>
      </p:sp>
      <p:sp>
        <p:nvSpPr>
          <p:cNvPr id="550" name=""/>
          <p:cNvSpPr/>
          <p:nvPr/>
        </p:nvSpPr>
        <p:spPr>
          <a:xfrm rot="0" flipH="0" flipV="0">
            <a:off x="609600" y="4371975"/>
            <a:ext cx="5905500" cy="1333500"/>
          </a:xfrm>
          <a:prstGeom prst="roundRect">
            <a:avLst>
              <a:gd name="adj" fmla="val 8571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3200400" y="45434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④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2247900" y="4876800"/>
            <a:ext cx="26289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安装包</a:t>
            </a:r>
            <a:r>
              <a:rPr lang="en-US" sz="21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安装完成界面</a:t>
            </a:r>
            <a:endParaRPr/>
          </a:p>
        </p:txBody>
      </p:sp>
      <p:pic>
        <p:nvPicPr>
          <p:cNvPr id="5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96100" y="2476500"/>
            <a:ext cx="323850" cy="323850"/>
          </a:xfrm>
          <a:prstGeom prst="rect">
            <a:avLst/>
          </a:prstGeom>
          <a:ln/>
        </p:spPr>
      </p:pic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7353300" y="2476500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说一句话，提醒就设好了</a:t>
            </a:r>
            <a:endParaRPr/>
          </a:p>
        </p:txBody>
      </p:sp>
      <p:pic>
        <p:nvPicPr>
          <p:cNvPr id="5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96100" y="2895600"/>
            <a:ext cx="323850" cy="323850"/>
          </a:xfrm>
          <a:prstGeom prst="rect">
            <a:avLst/>
          </a:prstGeom>
          <a:ln/>
        </p:spPr>
      </p:pic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7353300" y="2895600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没网也照样能用</a:t>
            </a:r>
            <a:endParaRPr/>
          </a:p>
        </p:txBody>
      </p:sp>
      <p:pic>
        <p:nvPicPr>
          <p:cNvPr id="5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96100" y="3314700"/>
            <a:ext cx="323850" cy="323850"/>
          </a:xfrm>
          <a:prstGeom prst="rect">
            <a:avLst/>
          </a:prstGeom>
          <a:ln/>
        </p:spPr>
      </p:pic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7353300" y="3314700"/>
            <a:ext cx="3467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数据在自己电脑里，不用注册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6896100" y="4591050"/>
            <a:ext cx="4686300" cy="1266825"/>
          </a:xfrm>
          <a:prstGeom prst="roundRect">
            <a:avLst>
              <a:gd name="adj" fmla="val 9023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7086600" y="4743450"/>
            <a:ext cx="43053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和</a:t>
            </a: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都能装，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官网直接下载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会听人话的桌面休息提醒，官网直接下载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07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2095500" y="2895600"/>
            <a:ext cx="293370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建议画面：首屏能看到产品名、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口号与下载按钮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257300" y="5276850"/>
            <a:ext cx="46101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建议画面：安装向导完成页，或桌面上的知歇图标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6896100" y="1419225"/>
            <a:ext cx="4686300" cy="9620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说一句话，它就帮你把提醒设好，</a:t>
            </a:r>
            <a:endParaRPr/>
          </a:p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到点用弹窗把人从屏幕前拉开。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6896100" y="3733800"/>
            <a:ext cx="46863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注：智能体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软件里那个帮你把话变成提醒的小助手。</a:t>
            </a:r>
            <a:endParaRPr/>
          </a:p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07 / 30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569" name="" descr="&lt;Slide style={{ width: 1280, height: 720, background: '#0B1220', padding: '20px 64px' }}&gt;&#10;    &lt;Box style={{ height: 600, flexDirection: 'row', alignItems: 'center', gap: 64 }}&gt;&#10;        &lt;Text style={{ fontSize: 230, fontWeight: 'bold', fontFamily: 'Consolas', color: '#4FE0B0', opacity: 0.15, lineHeight: 1 }}&gt;02&lt;/Text&gt;&#10;        &lt;Box style={{ flexDirection: 'column', gap: 22, width: 620 }}&gt;&#10;            &lt;Text style={{ fontSize: 64, fontWeight: 'bold', color: '#E8EEF7', lineHeight: 1.15 }}&gt;实现：&lt;br /&gt;怎么做出来的&lt;/Text&gt;&#10;            &lt;Box style={{ height: 4, width: 120, background: 'linear-gradient(135deg, #4FE0B0 0%, #2E9E8F 100%)', borderRadius: 2 }} /&gt;&#10;            &lt;Text style={{ fontSize: 30, color: '#E8EEF7', opacity: 0.72, lineHeight: 1.6 }}&gt;这一章讲两件事：&lt;br /&gt;软件的结构怎么搭的，以及我是怎么用 AI 工具把它做出来的。&lt;/Text&gt;&#10;            &lt;Text style={{ fontSize: 24, fontFamily: 'Consolas', color: '#4FE0B0', letterSpacing: 2 }}&gt;P08 – P19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8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3657600" y="914400"/>
            <a:ext cx="5905500" cy="16859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E8EEF7"/>
                </a:solidFill>
                <a:latin typeface="Microsoft YaHei"/>
                <a:ea typeface="Microsoft YaHei"/>
              </a:rPr>
              <a:t>实现：</a:t>
            </a:r>
            <a:endParaRPr/>
          </a:p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E8EEF7"/>
                </a:solidFill>
                <a:latin typeface="Microsoft YaHei"/>
                <a:ea typeface="Microsoft YaHei"/>
              </a:rPr>
              <a:t>怎么做出来的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3657600" y="28098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657600" y="4914900"/>
            <a:ext cx="5905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4FE0B0"/>
                </a:solidFill>
                <a:latin typeface="Consolas"/>
                <a:ea typeface="Consolas"/>
              </a:rPr>
              <a:t>P08 – P19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3657600" y="3057525"/>
            <a:ext cx="5905500" cy="1647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这一章讲两件事：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软件的结构怎么搭的，以及我是怎么用</a:t>
            </a:r>
            <a:r>
              <a:rPr lang="en-US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工具把它做出来的。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08 / 30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578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整体架构&lt;/Text&gt;&#10;            &lt;Text style={{ fontSize: 28, color: '#E8EEF7', opacity: 0.6, letterSpacing: 1 }}&gt;一句话进来，一条提醒出去：两条路，同一道检查&lt;/Text&gt;&#10;        &lt;/Box&gt;&#10;        &lt;Text style={{ fontSize: 22, fontFamily: 'Consolas', color: '#4FE0B0', opacity: 0.8 }}&gt;架构&lt;/Text&gt;&#10;    &lt;/Box&gt;&#10;    &lt;Box style={{ height: 476, flexDirection: 'column', gap: 16 }}&gt;&#10;        &lt;Box style={{ height: 164, justifyContent: 'center', alignItems: 'center' }}&gt;&#10;            &lt;svg width={1152} height={156} viewBox='0 0 1152 170'&gt;&#10;                &lt;rect x='6' y='58' width='230' height='58' rx='10' fill='rgba(232,238,247,0.07)' stroke='rgba(232,238,247,0.20)' /&gt;&#10;                &lt;rect x='316' y='10' width='290' height='58' rx='10' fill='rgba(79,224,176,0.12)' stroke='rgba(79,224,176,0.55)' /&gt;&#10;                &lt;rect x='316' y='106' width='290' height='58' rx='10' fill='rgba(79,224,176,0.12)' stroke='rgba(79,224,176,0.55)' /&gt;&#10;                &lt;rect x='676' y='58' width='240' height='58' rx='10' fill='rgba(79,224,176,0.22)' stroke='#4FE0B0' /&gt;&#10;                &lt;rect x='986' y='58' width='160' height='58' rx='10' fill='rgba(232,238,247,0.07)' stroke='rgba(232,238,247,0.20)' /&gt;&#10;                &lt;path d='M236 87 L308 87' fill='none' stroke='#4FE0B0' strokeWidth='3' opacity='0.85' /&gt;&#10;                &lt;path d='M236 87 L308 39' fill='none' stroke='#4FE0B0' strokeWidth='3' opacity='0.85' /&gt;&#10;                &lt;path d='M236 87 L308 135' fill='none' stroke='#4FE0B0' strokeWidth='3' opacity='0.85' /&gt;&#10;                &lt;path d='M606 39 L668 39 L668 87' fill='none' stroke='#4FE0B0' strokeWidth='3' opacity='0.85' /&gt;&#10;                &lt;path d='M606 135 L668 135 L668 87' fill='none' stroke='#4FE0B0' strokeWidth='3' opacity='0.85' /&gt;&#10;                &lt;path d='M916 87 L978 87' fill='none' stroke='#4FE0B0' strokeWidth='3' opacity='0.85' /&gt;&#10;                &lt;path d='M972 81 L986 87 L972 93 Z' fill='#4FE0B0' /&gt;&#10;            &lt;/svg&gt;&#10;        &lt;/Box&gt;&#10;        &lt;Box style={{ flexDirection: 'row', gap: 20 }}&gt;&#10;            &lt;Box style={{ flex: 1, height: 164, flexDirection: 'column', gap: 8, padding: 18, background: 'rgba(232,238,247,0.04)', border: '1px solid rgba(232,238,247,0.10)', borderRadius: 12 }}&gt;&#10;                &lt;Text style={{ fontSize: 30, fontWeight: 'bold', color: '#4FE0B0' }}&gt;通道一 · 联网&lt;/Text&gt;&#10;                &lt;Text style={{ fontSize: 28, color: '#E8EEF7', opacity: 0.75, lineHeight: 1.5 }}&gt;交给网上的大模型理解，说法更自由。&lt;/Text&gt;&#10;            &lt;/Box&gt;&#10;            &lt;Box style={{ flex: 1, height: 164, flexDirection: 'column', gap: 8, padding: 18, background: 'rgba(232,238,247,0.04)', border: '1px solid rgba(232,238,247,0.10)', borderRadius: 12 }}&gt;&#10;                &lt;Text style={{ fontSize: 30, fontWeight: 'bold', color: '#4FE0B0' }}&gt;通道二 · 离线&lt;/Text&gt;&#10;                &lt;Text style={{ fontSize: 28, color: '#E8EEF7', opacity: 0.75, lineHeight: 1.5 }}&gt;软件自带规则，断网照样解析。&lt;/Text&gt;&#10;            &lt;/Box&gt;&#10;            &lt;Box style={{ flex: 1, height: 164, flexDirection: 'column', gap: 8, padding: 18, background: 'rgba(79,224,176,0.12)', border: '1px solid #4FE0B0', borderRadius: 12 }}&gt;&#10;                &lt;Text style={{ fontSize: 30, fontWeight: 'bold', color: '#4FE0B0' }}&gt;统一检查&lt;/Text&gt;&#10;                &lt;Text style={{ fontSize: 28, color: '#E8EEF7', opacity: 0.85, lineHeight: 1.5 }}&gt;两条路的结果都要过这关才写入。&lt;/Text&gt;&#10;            &lt;/Box&gt;&#10;        &lt;/Box&gt;&#10;        &lt;Box style={{ flexDirection: 'row', gap: 20 }}&gt;&#10;            &lt;Box style={{ flex: 1, padding: '14px 20px', background: 'rgba(232,238,247,0.04)', borderRadius: 12 }}&gt;&#10;                &lt;Text style={{ fontSize: 22, color: '#E8EEF7', opacity: 0.7, lineHeight: 1.5 }}&gt;用什么做的：Tauri 2 + Vue 3 + TypeScript + Rust，一套代码同时出 Windows 与 macOS 两版。&lt;/Text&gt;&#10;            &lt;/Box&gt;&#10;            &lt;Box style={{ flex: 1, padding: '14px 20px', background: 'rgba(232,238,247,0.04)', borderRadius: 12 }}&gt;&#10;                &lt;Text style={{ fontSize: 22, color: '#E8EEF7', opacity: 0.7, lineHeight: 1.5 }}&gt;数据存在你自己电脑的一个文件里：先写临时文件再替换，写到一半断电也不会坏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09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0769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整体架构</a:t>
            </a:r>
            <a:endParaRPr/>
          </a:p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409700"/>
            <a:ext cx="10972800" cy="1485900"/>
          </a:xfrm>
          <a:prstGeom prst="rect">
            <a:avLst/>
          </a:prstGeom>
          <a:ln/>
        </p:spPr>
      </p:pic>
      <p:sp>
        <p:nvSpPr>
          <p:cNvPr id="582" name=""/>
          <p:cNvSpPr/>
          <p:nvPr/>
        </p:nvSpPr>
        <p:spPr>
          <a:xfrm rot="0" flipH="0" flipV="0">
            <a:off x="609600" y="3086100"/>
            <a:ext cx="3533775" cy="1562100"/>
          </a:xfrm>
          <a:prstGeom prst="roundRect">
            <a:avLst>
              <a:gd name="adj" fmla="val 731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781050" y="3257550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通道一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联网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4333875" y="3086100"/>
            <a:ext cx="3524250" cy="1562100"/>
          </a:xfrm>
          <a:prstGeom prst="roundRect">
            <a:avLst>
              <a:gd name="adj" fmla="val 731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4505325" y="325755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通道二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048625" y="3086100"/>
            <a:ext cx="3533775" cy="1562100"/>
          </a:xfrm>
          <a:prstGeom prst="roundRect">
            <a:avLst>
              <a:gd name="adj" fmla="val 7317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8220075" y="3257550"/>
            <a:ext cx="3190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统一检查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609600" y="4800600"/>
            <a:ext cx="5391150" cy="1028700"/>
          </a:xfrm>
          <a:prstGeom prst="roundRect">
            <a:avLst>
              <a:gd name="adj" fmla="val 11111"/>
            </a:avLst>
          </a:prstGeom>
          <a:solidFill>
            <a:srgbClr val="E8EEF7">
              <a:alpha val="4000"/>
            </a:srgbClr>
          </a:solidFill>
          <a:ln/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6191250" y="4800600"/>
            <a:ext cx="5391150" cy="1028700"/>
          </a:xfrm>
          <a:prstGeom prst="roundRect">
            <a:avLst>
              <a:gd name="adj" fmla="val 11111"/>
            </a:avLst>
          </a:prstGeom>
          <a:solidFill>
            <a:srgbClr val="E8EEF7">
              <a:alpha val="4000"/>
            </a:srgbClr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0769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一句话进来，一条提醒出去：两条路，同一道检查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163300" y="962025"/>
            <a:ext cx="419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架构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781050" y="3676650"/>
            <a:ext cx="3190875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交给网上的大模型理解，说法更自由。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4505325" y="3676650"/>
            <a:ext cx="318135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软件自带规则，断网照样解析。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220075" y="3676650"/>
            <a:ext cx="3190875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两条路的结果都要过这关才写入。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800100" y="4933950"/>
            <a:ext cx="501015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用什么做的：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Tauri 2 + Vue 3 + TypeScript + Rust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，一套代码同时出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Windows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两版。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6381750" y="4933950"/>
            <a:ext cx="501015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数据存在你自己电脑的一个文件里：先写临时文件再替换，写到一半断电也不会坏。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09 / 30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工作流程：五步走&lt;/Text&gt;&#10;            &lt;Text style={{ fontSize: 28, color: '#E8EEF7', opacity: 0.6, letterSpacing: 1 }}&gt;从你开口到提醒生效，中间只有五步&lt;/Text&gt;&#10;        &lt;/Box&gt;&#10;        &lt;Text style={{ fontSize: 22, fontFamily: 'Consolas', color: '#E8EEF7', opacity: 0.35 }}&gt;10&lt;/Text&gt;&#10;    &lt;/Box&gt;&#10;    &lt;Box style={{ height: 476, flexDirection: 'column', gap: 8 }}&gt;&#10;        &lt;Box style={{ height: 88, flexDirection: 'row', alignItems: 'center', gap: 24, padding: '0 24px', background: 'rgba(232,238,247,0.04)', border: '1px solid rgba(232,238,247,0.10)', borderRadius: 12 }}&gt;&#10;            &lt;Text style={{ fontSize: 52, fontWeight: 'bold', fontFamily: 'Consolas', color: '#4FE0B0', lineHeight: 1 }}&gt;01&lt;/Text&gt;&#10;            &lt;Text style={{ fontSize: 32, fontWeight: 'bold', color: '#E8EEF7', width: 260 }}&gt;你说一句话&lt;/Text&gt;&#10;            &lt;Text style={{ fontSize: 28, color: '#E8EEF7', opacity: 0.75, flex: 1 }}&gt;时间、重复、要干什么说清楚就行，语序随便。&lt;/Text&gt;&#10;        &lt;/Box&gt;&#10;        &lt;Box style={{ height: 88, flexDirection: 'row', alignItems: 'center', gap: 24, padding: '0 24px', background: 'rgba(232,238,247,0.04)', border: '1px solid rgba(232,238,247,0.10)', borderRadius: 12 }}&gt;&#10;            &lt;Text style={{ fontSize: 52, fontWeight: 'bold', fontFamily: 'Consolas', color: '#4FE0B0', lineHeight: 1 }}&gt;02&lt;/Text&gt;&#10;            &lt;Text style={{ fontSize: 32, fontWeight: 'bold', color: '#E8EEF7', width: 260 }}&gt;智能体去理解&lt;/Text&gt;&#10;            &lt;Text style={{ fontSize: 28, color: '#E8EEF7', opacity: 0.75, flex: 1 }}&gt;联网交给大模型，没网用自带规则，你不用管走的哪条。&lt;/Text&gt;&#10;        &lt;/Box&gt;&#10;        &lt;Box style={{ height: 88, flexDirection: 'row', alignItems: 'center', gap: 24, padding: '0 24px', background: 'rgba(232,238,247,0.04)', border: '1px solid rgba(232,238,247,0.10)', borderRadius: 12 }}&gt;&#10;            &lt;Text style={{ fontSize: 52, fontWeight: 'bold', fontFamily: 'Consolas', color: '#4FE0B0', lineHeight: 1 }}&gt;03&lt;/Text&gt;&#10;            &lt;Text style={{ fontSize: 32, fontWeight: 'bold', color: '#E8EEF7', width: 260 }}&gt;系统先核一遍&lt;/Text&gt;&#10;            &lt;Text style={{ fontSize: 28, color: '#E8EEF7', opacity: 0.75, flex: 1 }}&gt;不合规的字段被退回或丢掉，不会混进你的提醒列表。&lt;/Text&gt;&#10;        &lt;/Box&gt;&#10;        &lt;Box style={{ height: 88, flexDirection: 'row', alignItems: 'center', gap: 24, padding: '0 24px', background: 'rgba(232,238,247,0.04)', border: '1px solid rgba(232,238,247,0.10)', borderRadius: 12 }}&gt;&#10;            &lt;Text style={{ fontSize: 52, fontWeight: 'bold', fontFamily: 'Consolas', color: '#4FE0B0', lineHeight: 1 }}&gt;04&lt;/Text&gt;&#10;            &lt;Text style={{ fontSize: 32, fontWeight: 'bold', color: '#E8EEF7', width: 260 }}&gt;你点确认&lt;/Text&gt;&#10;            &lt;Text style={{ fontSize: 28, color: '#E8EEF7', opacity: 0.75, flex: 1 }}&gt;结果摆成一张表单，对不对一眼看得出，你点头才算数。&lt;/Text&gt;&#10;        &lt;/Box&gt;&#10;        &lt;Box style={{ height: 88, flexDirection: 'row', alignItems: 'center', gap: 24, padding: '0 24px', background: 'rgba(79,224,176,0.12)', border: '1px solid #4FE0B0', borderRadius: 12 }}&gt;&#10;            &lt;Text style={{ fontSize: 52, fontWeight: 'bold', fontFamily: 'Consolas', color: '#4FE0B0', lineHeight: 1 }}&gt;05&lt;/Text&gt;&#10;            &lt;Text style={{ fontSize: 32, fontWeight: 'bold', color: '#E8EEF7', width: 260 }}&gt;写进提醒列表&lt;/Text&gt;&#10;            &lt;Text style={{ fontSize: 28, color: '#E8EEF7', opacity: 0.85, flex: 1 }}&gt;到点弹出，可以推迟，也可以顺带锁屏、关机。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0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4196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工作流程：五步走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09600" y="13716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38200" y="14954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619250" y="16097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你说一句话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609600" y="22860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38200" y="24098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619250" y="25241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智能体去理解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609600" y="32004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8200" y="33242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619250" y="34385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系统先核一遍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609600" y="41148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38200" y="42386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4FE0B0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619250" y="43529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你点确认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09600" y="5029200"/>
            <a:ext cx="10972800" cy="838200"/>
          </a:xfrm>
          <a:prstGeom prst="roundRect">
            <a:avLst>
              <a:gd name="adj" fmla="val 13636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38200" y="5153025"/>
            <a:ext cx="5524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4FE0B0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619250" y="5267325"/>
            <a:ext cx="2476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写进提醒列表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419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从你开口到提醒生效，中间只有五步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10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324350" y="16287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时间、重复、要干什么说清楚就行，语序随便。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324350" y="25431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联网交给大模型，没网用自带规则，你不用管走的哪条。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4324350" y="34575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不合规的字段被退回或丢掉，不会混进你的提醒列表。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324350" y="43719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结果摆成一张表单，对不对一眼看得出，你点头才算数。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324350" y="5286375"/>
            <a:ext cx="7029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到点弹出，可以推迟，也可以顺带锁屏、关机。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10 / 30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0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通道一：联网时交给大模型&lt;/Text&gt;&#10;            &lt;Text style={{ fontSize: 28, color: '#E8EEF7', opacity: 0.6, letterSpacing: 1 }}&gt;能听懂更自由的说法；但它只提建议&lt;/Text&gt;&#10;        &lt;/Box&gt;&#10;        &lt;Text style={{ fontSize: 22, fontFamily: 'Consolas', color: '#E8EEF7', opacity: 0.35 }}&gt;11&lt;/Text&gt;&#10;    &lt;/Box&gt;&#10;    &lt;Box style={{ height: 476, flexDirection: 'row', gap: 40, alignItems: 'center' }}&gt;&#10;        &lt;Box style={{ flex: 1, flexDirection: 'column', gap: 20 }}&gt;&#10;            &lt;Text style={{ fontSize: 32, fontWeight: 'bold', color: '#E8EEF7', lineHeight: 1.45 }}&gt;联网时，这句话交给大模型去理解。&lt;/Text&gt;&#10;            &lt;Box style={{ flexDirection: 'column', gap: 16 }}&gt;&#10;                &lt;Text style={{ fontSize: 28, color: '#E8EEF7', opacity: 0.8, lineHeight: 1.5 }}&gt;语序随便、说法自由，不用迁就关键词。&lt;/Text&gt;&#10;                &lt;Text style={{ fontSize: 28, color: '#E8EEF7', opacity: 0.8, lineHeight: 1.5 }}&gt;等太久或者连不上，会自动退回本机规则，不会卡住。&lt;/Text&gt;&#10;            &lt;/Box&gt;&#10;            &lt;Box style={{ padding: '20px 22px', background: 'rgba(79,224,176,0.12)', border: '1px solid #4FE0B0', borderRadius: 12 }}&gt;&#10;                &lt;Text style={{ fontSize: 30, fontWeight: 'bold', color: '#4FE0B0', lineHeight: 1.45 }}&gt;它给出的只是一份&quot;草稿&quot;&lt;/Text&gt;&#10;                &lt;Text style={{ fontSize: 28, color: '#E8EEF7', lineHeight: 1.5, marginTop: 8 }}&gt;能不能写进你的提醒列表，由软件说了算。&lt;/Text&gt;&#10;            &lt;/Box&gt;&#10;        &lt;/Box&gt;&#10;        &lt;Box style={{ width: 480, height: 400, flexDirection: 'column', justifyContent: 'center', alignItems: 'center', gap: 12, background: 'rgba(79,224,176,0.05)', border: '2px dashed rgba(79,224,176,0.55)', borderRadius: 14, padding: '0 20px' }}&gt;&#10;            &lt;Text style={{ fontSize: 22, fontFamily: 'Consolas', color: '#4FE0B0', letterSpacing: 1 }}&gt;截图 ⑯&lt;/Text&gt;&#10;            &lt;Text style={{ fontSize: 30, fontWeight: 'bold', color: '#E8EEF7', textAlign: 'center' }}&gt;云端模式下的解析结果&lt;/Text&gt;&#10;            &lt;Text style={{ fontSize: 22, color: '#E8EEF7', opacity: 0.5, textAlign: 'center', lineHeight: 1.7 }}&gt;建议画面：顶部模式胶囊显示「云端大模型」，&lt;br /&gt;结果旁标注来源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1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25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通道一：联网时交给大模型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09600" y="1657350"/>
            <a:ext cx="6019800" cy="5334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联网时，这句话交给大模型去理解。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09600" y="4171950"/>
            <a:ext cx="6019800" cy="1447800"/>
          </a:xfrm>
          <a:prstGeom prst="roundRect">
            <a:avLst>
              <a:gd name="adj" fmla="val 7895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19150" y="4362450"/>
            <a:ext cx="5600700" cy="5048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它给出的只是一份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>"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草稿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819150" y="4943475"/>
            <a:ext cx="5600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能不能写进你的提醒列表，由软件说了算。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010400" y="1733550"/>
            <a:ext cx="4572000" cy="3810000"/>
          </a:xfrm>
          <a:prstGeom prst="roundRect">
            <a:avLst>
              <a:gd name="adj" fmla="val 3500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8934450" y="258127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⑯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867650" y="2952750"/>
            <a:ext cx="28575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云端模式下的解析结果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257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能听懂更自由的说法；但它只提建议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363325" y="962025"/>
            <a:ext cx="219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11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09600" y="2381250"/>
            <a:ext cx="6019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语序随便、说法自由，不用迁就关键词。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09600" y="3019425"/>
            <a:ext cx="6019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等太久或者连不上，会自动退回本机规则，不会卡住。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00900" y="3409950"/>
            <a:ext cx="4191000" cy="12858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建议画面：顶部模式胶囊显示「云端大模型」，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结果旁标注来源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0953750" y="6067425"/>
            <a:ext cx="628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11 / 30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7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通道二：没网时用自带规则&lt;/Text&gt;&#10;            &lt;Text style={{ fontSize: 28, color: '#E8EEF7', opacity: 0.6, letterSpacing: 1 }}&gt;软件自己带了一套规则，断网照样听懂&lt;/Text&gt;&#10;        &lt;/Box&gt;&#10;        &lt;Text style={{ fontSize: 22, fontFamily: 'Consolas', color: '#E8EEF7', opacity: 0.35 }}&gt;12&lt;/Text&gt;&#10;    &lt;/Box&gt;&#10;    &lt;Box style={{ height: 476, flexDirection: 'row', gap: 36 }}&gt;&#10;        &lt;Box style={{ flex: 1, flexDirection: 'column', gap: 8 }}&gt;&#10;            &lt;Box style={{ height: 34, flexDirection: 'row', alignItems: 'center' }}&gt;&#10;                &lt;Text style={{ width: 380, fontSize: 24, color: '#E8EEF7', opacity: 0.5 }}&gt;你说的（日常口语）&lt;/Text&gt;&#10;                &lt;Text style={{ flex: 1, fontSize: 24, color: '#E8EEF7', opacity: 0.5 }}&gt;软件理解成&lt;/Text&gt;&#10;            &lt;/Box&gt;&#10;            &lt;Box style={{ height: 56, flexDirection: 'row', alignItems: 'center', padding: '0 18px', background: 'rgba(232,238,247,0.04)', border: '1px solid rgba(232,238,247,0.10)', borderRadius: 10 }}&gt;&#10;                &lt;Text style={{ width: 380, fontSize: 28, color: '#E8EEF7' }}&gt;「每天下午三点提醒我喝水」&lt;/Text&gt;&#10;                &lt;Text style={{ flex: 1, fontSize: 28, color: '#4FE0B0' }}&gt;每天 · 15:00&lt;/Text&gt;&#10;            &lt;/Box&gt;&#10;            &lt;Box style={{ height: 56, flexDirection: 'row', alignItems: 'center', padding: '0 18px', background: 'rgba(232,238,247,0.04)', border: '1px solid rgba(232,238,247,0.10)', borderRadius: 10 }}&gt;&#10;                &lt;Text style={{ width: 380, fontSize: 28, color: '#E8EEF7' }}&gt;「30分钟后提醒我接水」&lt;/Text&gt;&#10;                &lt;Text style={{ flex: 1, fontSize: 28, color: '#4FE0B0' }}&gt;一次 · 30 分钟后&lt;/Text&gt;&#10;            &lt;/Box&gt;&#10;            &lt;Box style={{ height: 56, flexDirection: 'row', alignItems: 'center', padding: '0 18px', background: 'rgba(232,238,247,0.04)', border: '1px solid rgba(232,238,247,0.10)', borderRadius: 10 }}&gt;&#10;                &lt;Text style={{ width: 380, fontSize: 28, color: '#E8EEF7' }}&gt;「每周一三五 17:30 锁屏」&lt;/Text&gt;&#10;                &lt;Text style={{ flex: 1, fontSize: 28, color: '#4FE0B0' }}&gt;每周一 / 三 / 五 · 锁屏&lt;/Text&gt;&#10;            &lt;/Box&gt;&#10;            &lt;Box style={{ height: 56, flexDirection: 'row', alignItems: 'center', padding: '0 18px', background: 'rgba(232,238,247,0.04)', border: '1px solid rgba(232,238,247,0.10)', borderRadius: 10 }}&gt;&#10;                &lt;Text style={{ width: 380, fontSize: 28, color: '#E8EEF7' }}&gt;「明天早上八点交作业」&lt;/Text&gt;&#10;                &lt;Text style={{ flex: 1, fontSize: 28, color: '#4FE0B0' }}&gt;一次 · 明天 08:00&lt;/Text&gt;&#10;            &lt;/Box&gt;&#10;            &lt;Box style={{ height: 56, flexDirection: 'row', alignItems: 'center', padding: '0 18px', background: 'rgba(232,238,247,0.04)', border: '1px solid rgba(232,238,247,0.10)', borderRadius: 10 }}&gt;&#10;                &lt;Text style={{ width: 380, fontSize: 28, color: '#E8EEF7' }}&gt;「晚上十一点锁屏睡觉」&lt;/Text&gt;&#10;                &lt;Text style={{ flex: 1, fontSize: 28, color: '#4FE0B0' }}&gt;每天 · 23:00 · 锁屏&lt;/Text&gt;&#10;            &lt;/Box&gt;&#10;            &lt;Box style={{ marginTop: 4, padding: '12px 20px', background: 'rgba(79,224,176,0.10)', borderRadius: 10 }}&gt;&#10;                &lt;Text style={{ fontSize: 26, color: '#E8EEF7', opacity: 0.9, lineHeight: 1.5 }}&gt;实在没听懂，就当成一次提醒，把你的原话留作标题。&lt;/Text&gt;&#10;            &lt;/Box&gt;&#10;        &lt;/Box&gt;&#10;        &lt;Box style={{ width: 400, flexDirection: 'column', gap: 14 }}&gt;&#10;            &lt;Box style={{ height: 250, flexDirection: 'column', justifyContent: 'center', alignItems: 'center', gap: 10, background: 'rgba(79,224,176,0.05)', border: '2px dashed rgba(79,224,176,0.55)', borderRadius: 12, padding: '0 18px' }}&gt;&#10;                &lt;Text style={{ fontSize: 22, fontFamily: 'Consolas', color: '#4FE0B0', letterSpacing: 1 }}&gt;截图 ⑳&lt;/Text&gt;&#10;                &lt;Text style={{ fontSize: 28, fontWeight: 'bold', color: '#E8EEF7', textAlign: 'center' }}&gt;本机引擎模式下的解析结果&lt;/Text&gt;&#10;                &lt;Text style={{ fontSize: 22, color: '#E8EEF7', opacity: 0.5, textAlign: 'center', lineHeight: 1.6 }}&gt;建议画面：顶部模式胶囊&lt;br /&gt;显示「本机引擎」&lt;/Text&gt;&#10;            &lt;/Box&gt;&#10;            &lt;Box style={{ flex: 1, flexDirection: 'column', justifyContent: 'center', gap: 10, padding: 20, background: 'rgba(232,238,247,0.04)', border: '1px solid rgba(232,238,247,0.10)', borderRadius: 12 }}&gt;&#10;                &lt;Text style={{ fontSize: 30, fontWeight: 'bold', color: '#4FE0B0' }}&gt;不用配任何东西&lt;/Text&gt;&#10;                &lt;Text style={{ fontSize: 26, color: '#E8EEF7', opacity: 0.78, lineHeight: 1.5 }}&gt;不联网、不注册、不花钱，装完就是这个模式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2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25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通道二：没网时用自带规则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1771650"/>
            <a:ext cx="6819900" cy="533400"/>
          </a:xfrm>
          <a:prstGeom prst="roundRect">
            <a:avLst>
              <a:gd name="adj" fmla="val 1785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81050" y="1876425"/>
            <a:ext cx="3619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「每天下午三点提醒我喝水」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400550" y="1876425"/>
            <a:ext cx="2857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每天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15:00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09600" y="2381250"/>
            <a:ext cx="6819900" cy="533400"/>
          </a:xfrm>
          <a:prstGeom prst="roundRect">
            <a:avLst>
              <a:gd name="adj" fmla="val 1785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81050" y="2486025"/>
            <a:ext cx="3619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「</a:t>
            </a: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>30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分钟后提醒我接水」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4400550" y="2486025"/>
            <a:ext cx="2857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一次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分钟后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09600" y="2990850"/>
            <a:ext cx="6819900" cy="533400"/>
          </a:xfrm>
          <a:prstGeom prst="roundRect">
            <a:avLst>
              <a:gd name="adj" fmla="val 1785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81050" y="3095625"/>
            <a:ext cx="3619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「每周一三五</a:t>
            </a: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 xml:space="preserve"> 17:30 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锁屏」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400550" y="3095625"/>
            <a:ext cx="2857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每周一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三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五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锁屏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09600" y="3600450"/>
            <a:ext cx="6819900" cy="533400"/>
          </a:xfrm>
          <a:prstGeom prst="roundRect">
            <a:avLst>
              <a:gd name="adj" fmla="val 1785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81050" y="3705225"/>
            <a:ext cx="3619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「明天早上八点交作业」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4400550" y="3705225"/>
            <a:ext cx="2857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一次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明天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08:00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09600" y="4210050"/>
            <a:ext cx="6819900" cy="533400"/>
          </a:xfrm>
          <a:prstGeom prst="roundRect">
            <a:avLst>
              <a:gd name="adj" fmla="val 1785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81050" y="4314825"/>
            <a:ext cx="3619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「晚上十一点锁屏睡觉」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400550" y="4314825"/>
            <a:ext cx="2857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每天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23:00 · </a:t>
            </a: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锁屏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09600" y="4857750"/>
            <a:ext cx="6819900" cy="676275"/>
          </a:xfrm>
          <a:prstGeom prst="roundRect">
            <a:avLst>
              <a:gd name="adj" fmla="val 14085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7772400" y="1371600"/>
            <a:ext cx="3810000" cy="2381250"/>
          </a:xfrm>
          <a:prstGeom prst="roundRect">
            <a:avLst>
              <a:gd name="adj" fmla="val 4800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9315450" y="17716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⑳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077200" y="2124075"/>
            <a:ext cx="32004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本机引擎模式下的解析结果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7772400" y="3886200"/>
            <a:ext cx="3810000" cy="2019300"/>
          </a:xfrm>
          <a:prstGeom prst="roundRect">
            <a:avLst>
              <a:gd name="adj" fmla="val 566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962900" y="42291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不用配任何东西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257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软件自己带了一套规则，断网照样听懂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12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09600" y="1400175"/>
            <a:ext cx="3619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你说的（日常口语）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229100" y="14001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软件理解成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800100" y="4972050"/>
            <a:ext cx="64389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实在没听懂，就当成一次提醒，把你的原话留作标题。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524875" y="2543175"/>
            <a:ext cx="23050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建议画面：顶部模式胶囊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显示「本机引擎」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962900" y="4667250"/>
            <a:ext cx="34290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不联网、不注册、不花钱，装完就是这个模式。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12 / 30</a:t>
            </a:r>
            <a:endParaRPr/>
          </a:p>
        </p:txBody>
      </p:sp>
    </p:spTree>
  </p:cSld>
</p:sld>
</file>

<file path=ppt/slides/slide13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90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校验层：AI 说的先核一遍&lt;/Text&gt;&#10;            &lt;Text style={{ fontSize: 28, color: '#E8EEF7', opacity: 0.6, letterSpacing: 1 }}&gt;只认列举出来的这些，不合规就不写进去&lt;/Text&gt;&#10;        &lt;/Box&gt;&#10;        &lt;Text style={{ fontSize: 22, fontFamily: 'Consolas', color: '#4FE0B0', opacity: 0.8 }}&gt;可靠性&lt;/Text&gt;&#10;    &lt;/Box&gt;&#10;    &lt;Box style={{ height: 476, flexDirection: 'row', gap: 32 }}&gt;&#10;        &lt;Box style={{ width: 700, flexDirection: 'column', gap: 12 }}&gt;&#10;            &lt;Table&#10;                style={{ width: 700, height: 344 }}&#10;                defaultTextStyle={{ fontSize: 27, textAlign: 'left', color: '#E8EEF7' }}&#10;                defaultCellStyle={{&#10;                    border: {&#10;                        left: { width: 1, color: 'rgba(232,238,247,0.12)' },&#10;                        right: { width: 1, color: 'rgba(232,238,247,0.12)' },&#10;                        top: { width: 1, color: 'rgba(232,238,247,0.12)' },&#10;                        bottom: { width: 1, color: 'rgba(232,238,247,0.12)' },&#10;                    },&#10;                }}&#10;                cells={[&#10;                    [&#10;                        { text: '检查什么', textStyle: { bold: true, color: '#0B1220' }, cellStyle: { background: { color: '#4FE0B0' } } },&#10;                        { text: '只认这些', textStyle: { bold: true, color: '#0B1220' }, cellStyle: { background: { color: '#4FE0B0' } } },&#10;                        { text: '不合规怎么办', textStyle: { bold: true, color: '#0B1220' }, cellStyle: { background: { color: '#4FE0B0' } } },&#10;                    ],&#10;                    [&#10;                        { text: '类型', cellStyle: { background: { color: 'rgba(232,238,247,0.05)' } } },&#10;                        '单次 / 每天 / 每周 / 每月',&#10;                        { text: '退回「单次」', textStyle: { color: '#4FE0B0' } },&#10;                    ],&#10;                    [&#10;                        '时间',&#10;                        '合法的 时:分',&#10;                        { text: '退回早上 9:00', textStyle: { color: '#4FE0B0' } },&#10;                    ],&#10;                    [&#10;                        { text: '星期', cellStyle: { background: { color: 'rgba(232,238,247,0.05)' } } },&#10;                        '只能是 0–6',&#10;                        { text: '越界的直接丢掉', textStyle: { color: '#4FE0B0' } },&#10;                    ],&#10;                    [&#10;                        '日期',&#10;                        '只能是 1–31',&#10;                        { text: '越界的直接丢掉', textStyle: { color: '#4FE0B0' } },&#10;                    ],&#10;                    [&#10;                        { text: '系统操作', cellStyle: { background: { color: 'rgba(232,238,247,0.05)' } } },&#10;                        '锁屏 / 关机 / 重启',&#10;                        { text: '置空，不执行', textStyle: { color: '#4FE0B0' } },&#10;                    ],&#10;                ]}&#10;            /&gt;&#10;            &lt;Text style={{ fontSize: 22, color: '#E8EEF7', opacity: 0.6, lineHeight: 1.5 }}&gt;标题也不能为空，为空就用你原来那句话。&lt;/Text&gt;&#10;        &lt;/Box&gt;&#10;        &lt;Box style={{ flex: 1, flexDirection: 'column', gap: 16 }}&gt;&#10;            &lt;Box style={{ height: 186, flexDirection: 'column', justifyContent: 'center', alignItems: 'center', gap: 8, background: 'rgba(79,224,176,0.05)', border: '2px dashed rgba(79,224,176,0.55)', borderRadius: 12, padding: '0 16px' }}&gt;&#10;                &lt;Text style={{ fontSize: 22, fontFamily: 'Consolas', color: '#4FE0B0', letterSpacing: 1 }}&gt;截图 ⑮&lt;/Text&gt;&#10;                &lt;Text style={{ fontSize: 28, fontWeight: 'bold', color: '#E8EEF7', textAlign: 'center' }}&gt;解析结果页（标注来源）&lt;/Text&gt;&#10;                &lt;Text style={{ fontSize: 22, color: '#E8EEF7', opacity: 0.5, textAlign: 'center', lineHeight: 1.6 }}&gt;建议画面：结果旁「来自云端大模型 /&lt;br /&gt;来自本机引擎」的标注&lt;/Text&gt;&#10;            &lt;/Box&gt;&#10;            &lt;Box style={{ flex: 1, flexDirection: 'column', justifyContent: 'center', gap: 12, padding: '20px 22px', background: 'rgba(79,224,176,0.12)', border: '1px solid #4FE0B0', borderRadius: 12 }}&gt;&#10;                &lt;Text style={{ fontSize: 28, color: '#E8EEF7', lineHeight: 1.55 }}&gt;大模型负责&lt;span style={{ fontWeight: 'bold', color: '#4FE0B0' }}&gt;提建议&lt;/span&gt;，软件负责&lt;span style={{ fontWeight: 'bold', color: '#4FE0B0' }}&gt;判断能不能用&lt;/span&gt;。&lt;/Text&gt;&#10;                &lt;Text style={{ fontSize: 28, color: '#E8EEF7', lineHeight: 1.55 }}&gt;结果先摆成表单，&lt;span style={{ fontWeight: 'bold', color: '#4FE0B0' }}&gt;你点确认才写入&lt;/span&gt;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3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9720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校验层：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说的先核一遍</a:t>
            </a:r>
            <a:endParaRPr/>
          </a:p>
        </p:txBody>
      </p:sp>
      <p:graphicFrame>
        <p:nvGraphicFramePr>
          <p:cNvPr id="93" name=""/>
          <p:cNvGraphicFramePr/>
          <p:nvPr/>
        </p:nvGraphicFramePr>
        <p:xfrm rot="0" flipH="0" flipV="0">
          <a:off x="609600" y="1371600"/>
          <a:ext cx="6667500" cy="3276600"/>
        </p:xfrm>
        <a:graphic>
          <a:graphicData uri="http://schemas.openxmlformats.org/drawingml/2006/table">
            <a:tbl>
              <a:tblGrid>
                <a:gridCol w="1285828">
                  <a:extLst>
                    <a:ext uri="{9D8B030D-6E8A-4147-A177-3AD203B41FA5}">
                      <a16:colId val="1"/>
                    </a:ext>
                  </a:extLst>
                </a:gridCol>
                <a:gridCol w="3210197">
                  <a:extLst>
                    <a:ext uri="{9D8B030D-6E8A-4147-A177-3AD203B41FA5}">
                      <a16:colId val="2"/>
                    </a:ext>
                  </a:extLst>
                </a:gridCol>
                <a:gridCol w="2171475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461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检查什么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只认这些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不合规怎么办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461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单次 / 每天 / 每周 / 每月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退回「单次」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461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合法的 时:分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退回早上 9:00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461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星期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只能是 0–6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越界的直接丢掉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461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日期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只能是 1–31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越界的直接丢掉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461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系统操作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锁屏 / 关机 / 重启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0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置空，不执行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94" name=""/>
          <p:cNvSpPr/>
          <p:nvPr/>
        </p:nvSpPr>
        <p:spPr>
          <a:xfrm rot="0" flipH="0" flipV="0">
            <a:off x="7581900" y="1371600"/>
            <a:ext cx="4000500" cy="1771650"/>
          </a:xfrm>
          <a:prstGeom prst="roundRect">
            <a:avLst>
              <a:gd name="adj" fmla="val 6452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9220200" y="148590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⑮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8115300" y="1819275"/>
            <a:ext cx="29337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解析结果页（标注来源）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7581900" y="3295650"/>
            <a:ext cx="4000500" cy="2609850"/>
          </a:xfrm>
          <a:prstGeom prst="roundRect">
            <a:avLst>
              <a:gd name="adj" fmla="val 4380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791450" y="3543300"/>
            <a:ext cx="3581400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大模型负责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提建议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，软件负责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判断能不能用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791450" y="4657725"/>
            <a:ext cx="3581400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结果先摆成表单，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你点确认才写入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只认列举出来的这些，不合规就不写进去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0953750" y="962025"/>
            <a:ext cx="628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可靠性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09600" y="4762500"/>
            <a:ext cx="66675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标题也不能为空，为空就用你原来那句话。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848600" y="2219325"/>
            <a:ext cx="3476625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建议画面：结果旁「来自云端大模型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来自本机引擎」的标注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13 / 30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06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弹窗和 60 秒倒计时&lt;/Text&gt;&#10;            &lt;Text style={{ fontSize: 28, color: '#E8EEF7', opacity: 0.6, letterSpacing: 1 }}&gt;整屏覆盖，两个选择，危险操作留反悔时间&lt;/Text&gt;&#10;        &lt;/Box&gt;&#10;        &lt;Text style={{ fontSize: 22, fontFamily: 'Consolas', color: '#E8EEF7', opacity: 0.35 }}&gt;14&lt;/Text&gt;&#10;    &lt;/Box&gt;&#10;    &lt;Box style={{ height: 476, flexDirection: 'row', gap: 40, alignItems: 'center' }}&gt;&#10;        &lt;Box style={{ width: 560, height: 420, justifyContent: 'center', alignItems: 'center', background: 'rgba(232,238,247,0.03)', border: '1px solid rgba(232,238,247,0.10)', borderRadius: 14 }}&gt;&#10;            &lt;svg width={500} height={400} viewBox='0 0 500 400'&gt;&#10;                &lt;rect x='20' y='40' width='460' height='230' rx='12' fill='rgba(232,238,247,0.05)' stroke='rgba(232,238,247,0.16)' /&gt;&#10;                &lt;rect x='48' y='66' width='150' height='16' rx='8' fill='rgba(232,238,247,0.22)' /&gt;&#10;                &lt;rect x='48' y='100' width='300' height='16' rx='8' fill='rgba(232,238,247,0.14)' /&gt;&#10;                &lt;rect x='48' y='134' width='220' height='16' rx='8' fill='rgba(232,238,247,0.14)' /&gt;&#10;                &lt;rect x='48' y='186' width='120' height='34' rx='17' fill='rgba(79,224,176,0.18)' stroke='#4FE0B0' /&gt;&#10;                &lt;rect x='48' y='232' width='404' height='14' rx='7' fill='rgba(232,238,247,0.10)' /&gt;&#10;                &lt;rect x='100' y='140' width='300' height='130' rx='12' fill='rgba(11,18,32,0.88)' stroke='#4FE0B0' strokeWidth='2' /&gt;&#10;                &lt;rect x='150' y='180' width='200' height='16' rx='8' fill='rgba(232,238,247,0.75)' /&gt;&#10;                &lt;rect x='190' y='216' width='120' height='14' rx='7' fill='rgba(79,224,176,0.85)' /&gt;&#10;                &lt;circle cx='352' cy='248' r='20' fill='none' stroke='#4FE0B0' strokeWidth='3' /&gt;&#10;                &lt;path d='M352 232 A16 16 0 1 1 340 254' fill='none' stroke='#4FE0B0' strokeWidth='3' /&gt;&#10;                &lt;rect x='330' y='290' width='150' height='40' rx='8' fill='rgba(79,224,176,0.14)' stroke='#4FE0B0' /&gt;&#10;                &lt;rect x='350' y='304' width='110' height='12' rx='6' fill='#4FE0B0' opacity='0.8' /&gt;&#10;                &lt;path d='M250 270 L250 288' fill='none' stroke='#4FE0B0' strokeWidth='2' opacity='0.6' /&gt;&#10;                &lt;path d='M244 282 L250 290 L256 282 Z' fill='#4FE0B0' opacity='0.8' /&gt;&#10;                &lt;rect x='330' y='340' width='150' height='10' rx='5' fill='rgba(232,238,247,0.12)' /&gt;&#10;                &lt;rect x='100' y='340' width='180' height='10' rx='5' fill='rgba(232,238,247,0.12)' /&gt;&#10;            &lt;/svg&gt;&#10;        &lt;/Box&gt;&#10;        &lt;Box style={{ flex: 1, flexDirection: 'column', gap: 16 }}&gt;&#10;            &lt;Box style={{ height: 118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整屏覆盖&lt;/Text&gt;&#10;                &lt;Text style={{ fontSize: 28, color: '#E8EEF7', opacity: 0.78, lineHeight: 1.5 }}&gt;别的窗口先靠边，没法假装没看见。&lt;/Text&gt;&#10;            &lt;/Box&gt;&#10;            &lt;Box style={{ height: 118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两个选择&lt;/Text&gt;&#10;                &lt;Text style={{ fontSize: 28, color: '#E8EEF7', opacity: 0.78, lineHeight: 1.5 }}&gt;「稍后提醒」，或直接结束这次休息。&lt;/Text&gt;&#10;            &lt;/Box&gt;&#10;            &lt;Box style={{ height: 146, flexDirection: 'column', justifyContent: 'center', gap: 8, padding: '0 22px', background: 'rgba(79,224,176,0.12)', border: '1px solid #4FE0B0', borderRadius: 12 }}&gt;&#10;                &lt;Text style={{ fontSize: 30, fontWeight: 'bold', color: '#4FE0B0' }}&gt;锁屏 / 关机前，先倒数 60 秒&lt;/Text&gt;&#10;                &lt;Text style={{ fontSize: 28, color: '#E8EEF7', opacity: 0.85, lineHeight: 1.5 }}&gt;倒计时里随时能点掉；失败会留着让你重试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4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2482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弹窗和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秒倒计时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09600" y="1638300"/>
            <a:ext cx="5334000" cy="4000500"/>
          </a:xfrm>
          <a:prstGeom prst="roundRect">
            <a:avLst>
              <a:gd name="adj" fmla="val 3333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95350" y="1733550"/>
            <a:ext cx="4762500" cy="3810000"/>
          </a:xfrm>
          <a:prstGeom prst="rect">
            <a:avLst/>
          </a:prstGeom>
          <a:ln/>
        </p:spPr>
      </p:pic>
      <p:sp>
        <p:nvSpPr>
          <p:cNvPr id="111" name=""/>
          <p:cNvSpPr/>
          <p:nvPr/>
        </p:nvSpPr>
        <p:spPr>
          <a:xfrm rot="0" flipH="0" flipV="0">
            <a:off x="6324600" y="1666875"/>
            <a:ext cx="5257800" cy="1123950"/>
          </a:xfrm>
          <a:prstGeom prst="roundRect">
            <a:avLst>
              <a:gd name="adj" fmla="val 10169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534150" y="1781175"/>
            <a:ext cx="4838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整屏覆盖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324600" y="2943225"/>
            <a:ext cx="5257800" cy="1123950"/>
          </a:xfrm>
          <a:prstGeom prst="roundRect">
            <a:avLst>
              <a:gd name="adj" fmla="val 10169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6534150" y="3057525"/>
            <a:ext cx="4838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两个选择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6324600" y="4219575"/>
            <a:ext cx="5257800" cy="1390650"/>
          </a:xfrm>
          <a:prstGeom prst="roundRect">
            <a:avLst>
              <a:gd name="adj" fmla="val 8219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534150" y="4229100"/>
            <a:ext cx="4838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锁屏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关机前，先倒数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2482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整屏覆盖，两个选择，危险操作留反悔时间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14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6534150" y="220027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别的窗口先靠边，没法假装没看见。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6534150" y="347662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「稍后提醒」，或直接结束这次休息。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534150" y="4648200"/>
            <a:ext cx="48387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倒计时里随时能点掉；失败会留着让你重试。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14 / 30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24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一个人 + AI 助手，怎么配合&lt;/Text&gt;&#10;            &lt;Text style={{ fontSize: 28, color: '#E8EEF7', opacity: 0.6, letterSpacing: 1 }}&gt;想法和结构是我定的，AI 帮忙写代码和文案&lt;/Text&gt;&#10;        &lt;/Box&gt;&#10;        &lt;Text style={{ fontSize: 22, fontFamily: 'Consolas', color: '#4FE0B0', opacity: 0.8 }}&gt;AI 开发&lt;/Text&gt;&#10;    &lt;/Box&gt;&#10;    &lt;Box style={{ height: 476, flexDirection: 'column', gap: 18 }}&gt;&#10;        &lt;Box style={{ flexDirection: 'row', gap: 28 }}&gt;&#10;            &lt;Box style={{ flex: 1, height: 360, flexDirection: 'column', gap: 16, padding: 26, background: 'rgba(79,224,176,0.08)', border: '1px solid rgba(79,224,176,0.35)', borderRadius: 14 }}&gt;&#10;                &lt;Text style={{ fontSize: 34, fontWeight: 'bold', color: '#4FE0B0' }}&gt;我负责&lt;/Text&gt;&#10;                &lt;Box style={{ height: 3, width: 80, background: 'linear-gradient(135deg, #4FE0B0 0%, #2E9E8F 100%)', borderRadius: 2 }} /&gt;&#10;                &lt;Text style={{ fontSize: 28, color: '#E8EEF7', opacity: 0.85, lineHeight: 1.5 }}&gt;定需求：这个软件到底要解决什么。&lt;/Text&gt;&#10;                &lt;Text style={{ fontSize: 28, color: '#E8EEF7', opacity: 0.85, lineHeight: 1.5 }}&gt;定结构：分几层、数据怎么放。&lt;/Text&gt;&#10;                &lt;Text style={{ fontSize: 28, color: '#E8EEF7', opacity: 0.85, lineHeight: 1.5 }}&gt;定规矩：哪些字段合法、不合法怎么办。&lt;/Text&gt;&#10;                &lt;Text style={{ fontSize: 28, color: '#E8EEF7', opacity: 0.85, lineHeight: 1.5 }}&gt;定测试：138 项检查的题目是我出的。&lt;/Text&gt;&#10;            &lt;/Box&gt;&#10;            &lt;Box style={{ flex: 1, height: 360, flexDirection: 'column', gap: 16, padding: 26, background: 'rgba(232,238,247,0.04)', border: '1px solid rgba(232,238,247,0.10)', borderRadius: 14 }}&gt;&#10;                &lt;Text style={{ fontSize: 34, fontWeight: 'bold', color: '#E8EEF7' }}&gt;AI 负责&lt;/Text&gt;&#10;                &lt;Box style={{ height: 3, width: 80, background: 'linear-gradient(135deg, #4FE0B0 0%, #2E9E8F 100%)', borderRadius: 2 }} /&gt;&#10;                &lt;Text style={{ fontSize: 28, color: '#E8EEF7', opacity: 0.8, lineHeight: 1.5 }}&gt;写跨平台的实现代码。&lt;/Text&gt;&#10;                &lt;Text style={{ fontSize: 28, color: '#E8EEF7', opacity: 0.8, lineHeight: 1.5 }}&gt;补两个系统的差异细节。&lt;/Text&gt;&#10;                &lt;Text style={{ fontSize: 28, color: '#E8EEF7', opacity: 0.8, lineHeight: 1.5 }}&gt;打磨界面与提示文案。&lt;/Text&gt;&#10;                &lt;Text style={{ fontSize: 28, color: '#E8EEF7', opacity: 0.8, lineHeight: 1.5 }}&gt;出错时一起查原因、给改法。&lt;/Text&gt;&#10;            &lt;/Box&gt;&#10;        &lt;/Box&gt;&#10;        &lt;Box style={{ padding: '18px 24px', background: 'rgba(79,224,176,0.10)', borderRadius: 12 }}&gt;&#10;            &lt;Text style={{ fontSize: 28, color: '#E8EEF7', lineHeight: 1.5 }}&gt;AI 写出来的每一行，我都逐条看过；能不能留下，由&lt;span style={{ color: '#4FE0B0', fontWeight: 'bold' }}&gt;测试说了算&lt;/span&gt;。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5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4483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一个人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助手，怎么配合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09600" y="1371600"/>
            <a:ext cx="5353050" cy="3429000"/>
          </a:xfrm>
          <a:prstGeom prst="roundRect">
            <a:avLst>
              <a:gd name="adj" fmla="val 3889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57250" y="16192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4FE0B0"/>
                </a:solidFill>
                <a:latin typeface="Microsoft YaHei"/>
                <a:ea typeface="Microsoft YaHei"/>
              </a:rPr>
              <a:t>我负责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857250" y="2162175"/>
            <a:ext cx="762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6229350" y="1371600"/>
            <a:ext cx="5353050" cy="3429000"/>
          </a:xfrm>
          <a:prstGeom prst="roundRect">
            <a:avLst>
              <a:gd name="adj" fmla="val 3889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477000" y="16192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E8EEF7"/>
                </a:solidFill>
                <a:latin typeface="Microsoft YaHei"/>
                <a:ea typeface="Microsoft YaHei"/>
              </a:rPr>
              <a:t>负责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477000" y="2162175"/>
            <a:ext cx="762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609600" y="4972050"/>
            <a:ext cx="10972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838200" y="5143500"/>
            <a:ext cx="105156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写出来的每一行，我都逐条看过；能不能留下，由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测试说了算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4483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想法和结构是我定的，</a:t>
            </a:r>
            <a:r>
              <a:rPr lang="en-US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帮忙写代码和文案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10906125" y="962025"/>
            <a:ext cx="676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 xml:space="preserve">AI </a:t>
            </a: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开发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857250" y="2343150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定需求：这个软件到底要解决什么。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57250" y="2981325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定结构：分几层、数据怎么放。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857250" y="3619500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定规矩：哪些字段合法、不合法怎么办。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57250" y="4257675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定测试：</a:t>
            </a: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项检查的题目是我出的。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477000" y="2343150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写跨平台的实现代码。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477000" y="2981325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补两个系统的差异细节。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6477000" y="3619500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打磨界面与提示文案。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477000" y="4257675"/>
            <a:ext cx="48577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出错时一起查原因、给改法。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15 / 30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47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提示词怎么设计&lt;/Text&gt;&#10;            &lt;Text style={{ fontSize: 28, color: '#E8EEF7', opacity: 0.6, letterSpacing: 1 }}&gt;先约束输出格式，再谈理解力&lt;/Text&gt;&#10;        &lt;/Box&gt;&#10;        &lt;Text style={{ fontSize: 22, fontFamily: 'Consolas', color: '#4FE0B0', opacity: 0.8 }}&gt;AI 开发&lt;/Text&gt;&#10;    &lt;/Box&gt;&#10;    &lt;Box style={{ height: 476, flexDirection: 'column', gap: 18 }}&gt;&#10;        &lt;Box style={{ height: 140, justifyContent: 'center', alignItems: 'center' }}&gt;&#10;            &lt;svg width={1152} height={132} viewBox='0 0 1152 144'&gt;&#10;                &lt;rect x='0' y='46' width='230' height='58' rx='10' fill='rgba(232,238,247,0.07)' stroke='rgba(232,238,247,0.20)' /&gt;&#10;                &lt;rect x='298' y='46' width='310' height='58' rx='10' fill='rgba(79,224,176,0.14)' stroke='rgba(79,224,176,0.55)' /&gt;&#10;                &lt;rect x='676' y='46' width='230' height='58' rx='10' fill='rgba(79,224,176,0.22)' stroke='#4FE0B0' /&gt;&#10;                &lt;rect x='974' y='46' width='178' height='58' rx='10' fill='rgba(232,238,247,0.07)' stroke='rgba(232,238,247,0.20)' /&gt;&#10;                &lt;path d='M230 75 L288 75' fill='none' stroke='#4FE0B0' strokeWidth='3' opacity='0.85' /&gt;&#10;                &lt;path d='M282 69 L294 75 L282 81 Z' fill='#4FE0B0' /&gt;&#10;                &lt;path d='M608 75 L666 75' fill='none' stroke='#4FE0B0' strokeWidth='3' opacity='0.85' /&gt;&#10;                &lt;path d='M660 69 L672 75 L660 81 Z' fill='#4FE0B0' /&gt;&#10;                &lt;path d='M906 75 L964 75' fill='none' stroke='#4FE0B0' strokeWidth='3' opacity='0.85' /&gt;&#10;                &lt;path d='M958 69 L970 75 L958 81 Z' fill='#4FE0B0' /&gt;&#10;            &lt;/svg&gt;&#10;        &lt;/Box&gt;&#10;        &lt;Box style={{ flexDirection: 'row', gap: 24 }}&gt;&#10;            &lt;Box style={{ flex: 1, height: 190, flexDirection: 'column', gap: 10, padding: 18, background: 'rgba(232,238,247,0.04)', border: '1px solid rgba(232,238,247,0.10)', borderRadius: 12 }}&gt;&#10;                &lt;Text style={{ fontSize: 30, fontWeight: 'bold', color: '#4FE0B0' }}&gt;01 先把规矩写死&lt;/Text&gt;&#10;                &lt;Text style={{ fontSize: 28, color: '#E8EEF7', opacity: 0.8, lineHeight: 1.5 }}&gt;只准输出：类型、时间、重复、系统操作、标题。&lt;/Text&gt;&#10;            &lt;/Box&gt;&#10;            &lt;Box style={{ flex: 1, height: 190, flexDirection: 'column', gap: 10, padding: 18, background: 'rgba(232,238,247,0.04)', border: '1px solid rgba(232,238,247,0.10)', borderRadius: 12 }}&gt;&#10;                &lt;Text style={{ fontSize: 30, fontWeight: 'bold', color: '#4FE0B0' }}&gt;02 再把随机性调低&lt;/Text&gt;&#10;                &lt;Text style={{ fontSize: 28, color: '#E8EEF7', opacity: 0.8, lineHeight: 1.5 }}&gt;同一句话多问几次，结果必须一致。&lt;/Text&gt;&#10;            &lt;/Box&gt;&#10;            &lt;Box style={{ flex: 1, height: 190, flexDirection: 'column', gap: 10, padding: 18, background: 'rgba(232,238,247,0.04)', border: '1px solid rgba(232,238,247,0.10)', borderRadius: 12 }}&gt;&#10;                &lt;Text style={{ fontSize: 30, fontWeight: 'bold', color: '#4FE0B0' }}&gt;03 最后留退路&lt;/Text&gt;&#10;                &lt;Text style={{ fontSize: 28, color: '#E8EEF7', opacity: 0.8, lineHeight: 1.5 }}&gt;多说的废话能挑出来，挑不出就退回本机。&lt;/Text&gt;&#10;            &lt;/Box&gt;&#10;        &lt;/Box&gt;&#10;        &lt;Box style={{ padding: '16px 24px', background: 'rgba(79,224,176,0.10)', borderRadius: 12 }}&gt;&#10;            &lt;Text style={{ fontSize: 28, color: '#E8EEF7', lineHeight: 1.5 }}&gt;顺序不能反：&lt;span style={{ color: '#4FE0B0', fontWeight: 'bold' }}&gt;先有固定格式，才谈得上让它理解&lt;/span&gt;。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6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35909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提示词怎么设计</a:t>
            </a:r>
            <a:endParaRPr/>
          </a:p>
        </p:txBody>
      </p:sp>
      <p:pic>
        <p:nvPicPr>
          <p:cNvPr id="1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409700"/>
            <a:ext cx="10972800" cy="1257300"/>
          </a:xfrm>
          <a:prstGeom prst="rect">
            <a:avLst/>
          </a:prstGeom>
          <a:ln/>
        </p:spPr>
      </p:pic>
      <p:sp>
        <p:nvSpPr>
          <p:cNvPr id="151" name=""/>
          <p:cNvSpPr/>
          <p:nvPr/>
        </p:nvSpPr>
        <p:spPr>
          <a:xfrm rot="0" flipH="0" flipV="0">
            <a:off x="609600" y="2876550"/>
            <a:ext cx="3505200" cy="1809750"/>
          </a:xfrm>
          <a:prstGeom prst="roundRect">
            <a:avLst>
              <a:gd name="adj" fmla="val 631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81050" y="30480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先把规矩写死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343400" y="2876550"/>
            <a:ext cx="3505200" cy="1809750"/>
          </a:xfrm>
          <a:prstGeom prst="roundRect">
            <a:avLst>
              <a:gd name="adj" fmla="val 631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514850" y="30480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再把随机性调低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8077200" y="2876550"/>
            <a:ext cx="3505200" cy="1809750"/>
          </a:xfrm>
          <a:prstGeom prst="roundRect">
            <a:avLst>
              <a:gd name="adj" fmla="val 631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248650" y="30480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最后留退路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609600" y="4857750"/>
            <a:ext cx="10972800" cy="790575"/>
          </a:xfrm>
          <a:prstGeom prst="roundRect">
            <a:avLst>
              <a:gd name="adj" fmla="val 14458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38200" y="5010150"/>
            <a:ext cx="105156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顺序不能反：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先有固定格式，才谈得上让它理解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35909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先约束输出格式，再谈理解力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0906125" y="962025"/>
            <a:ext cx="676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 xml:space="preserve">AI </a:t>
            </a: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开发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81050" y="3486150"/>
            <a:ext cx="31623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只准输出：类型、时间、重复、系统操作、标题。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514850" y="3486150"/>
            <a:ext cx="31623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同一句话多问几次，结果必须一致。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248650" y="3486150"/>
            <a:ext cx="31623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多说的废话能挑出来，挑不出就退回本机。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16 / 30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66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模型选型：选谁、怎么换&lt;/Text&gt;&#10;            &lt;Text style={{ fontSize: 28, color: '#E8EEF7', opacity: 0.6, letterSpacing: 1 }}&gt;不绑定一家，改两格就能换&lt;/Text&gt;&#10;        &lt;/Box&gt;&#10;        &lt;Text style={{ fontSize: 22, fontFamily: 'Consolas', color: '#4FE0B0', opacity: 0.8 }}&gt;AI 开发&lt;/Text&gt;&#10;    &lt;/Box&gt;&#10;    &lt;Box style={{ height: 476, flexDirection: 'row', gap: 40, alignItems: 'center' }}&gt;&#10;        &lt;Box style={{ flex: 1, flexDirection: 'column', gap: 20 }}&gt;&#10;            &lt;Text style={{ fontSize: 32, fontWeight: 'bold', color: '#E8EEF7', lineHeight: 1.45 }}&gt;默认给的是一个开箱可用的选择。&lt;/Text&gt;&#10;            &lt;Box style={{ flexDirection: 'column', gap: 16 }}&gt;&#10;                &lt;Text style={{ fontSize: 28, color: '#E8EEF7', opacity: 0.8, lineHeight: 1.5 }}&gt;挑它的理由：中文说法处理得好、便宜、不用排队。&lt;/Text&gt;&#10;                &lt;Text style={{ fontSize: 28, color: '#E8EEF7', opacity: 0.8, lineHeight: 1.5 }}&gt;接口用的是通用格式，不是独家协议。&lt;/Text&gt;&#10;            &lt;/Box&gt;&#10;            &lt;Box style={{ padding: '20px 22px', background: 'rgba(79,224,176,0.12)', border: '1px solid #4FE0B0', borderRadius: 12 }}&gt;&#10;                &lt;Text style={{ fontSize: 28, color: '#E8EEF7', lineHeight: 1.5 }}&gt;想换就改&lt;span style={{ color: '#4FE0B0', fontWeight: 'bold' }}&gt;地址和模型名两格&lt;/span&gt;，不用动代码；不填也完全能用。&lt;/Text&gt;&#10;            &lt;/Box&gt;&#10;        &lt;/Box&gt;&#10;        &lt;Box style={{ width: 480, flexDirection: 'column', gap: 14 }}&gt;&#10;            &lt;Box style={{ height: 116, flexDirection: 'column', gap: 8, padding: '16px 18px', background: 'rgba(79,224,176,0.06)', border: '1px solid rgba(79,224,176,0.35)', borderRadius: 12 }}&gt;&#10;                &lt;Text style={{ fontSize: 24, color: '#E8EEF7', opacity: 0.6 }}&gt;接口地址&lt;/Text&gt;&#10;                &lt;Text style={{ fontSize: 26, fontFamily: 'Consolas', color: '#4FE0B0' }}&gt;https://api.…/chat/completions&lt;/Text&gt;&#10;            &lt;/Box&gt;&#10;            &lt;Box style={{ height: 116, flexDirection: 'column', gap: 8, padding: '16px 18px', background: 'rgba(79,224,176,0.06)', border: '1px solid rgba(79,224,176,0.35)', borderRadius: 12 }}&gt;&#10;                &lt;Text style={{ fontSize: 24, color: '#E8EEF7', opacity: 0.6 }}&gt;模型名称&lt;/Text&gt;&#10;                &lt;Text style={{ fontSize: 26, fontFamily: 'Consolas', color: '#4FE0B0' }}&gt;模型名（可改）&lt;/Text&gt;&#10;            &lt;/Box&gt;&#10;            &lt;Box style={{ height: 116, flexDirection: 'column', gap: 8, padding: '16px 18px', background: 'rgba(79,224,176,0.06)', border: '1px solid rgba(79,224,176,0.35)', borderRadius: 12 }}&gt;&#10;                &lt;Text style={{ fontSize: 24, color: '#E8EEF7', opacity: 0.6 }}&gt;密钥&lt;/Text&gt;&#10;                &lt;Text style={{ fontSize: 26, fontFamily: 'Consolas', color: '#4FE0B0' }}&gt;••••••••••••（只存本机）&lt;/Text&gt;&#10;            &lt;/Box&gt;&#10;            &lt;Text style={{ fontSize: 22, color: '#E8EEF7', opacity: 0.5, lineHeight: 1.5 }}&gt;三格填完即可，全程不用写一行代码。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7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8196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模型选型：选谁、怎么换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09600" y="1714500"/>
            <a:ext cx="6019800" cy="5334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默认给的是一个开箱可用的选择。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609600" y="4229100"/>
            <a:ext cx="6019800" cy="1343025"/>
          </a:xfrm>
          <a:prstGeom prst="roundRect">
            <a:avLst>
              <a:gd name="adj" fmla="val 8511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19150" y="4419600"/>
            <a:ext cx="56007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想换就改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地址和模型名两格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，不用动代码；不填也完全能用。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7010400" y="1590675"/>
            <a:ext cx="4572000" cy="1104900"/>
          </a:xfrm>
          <a:prstGeom prst="roundRect">
            <a:avLst>
              <a:gd name="adj" fmla="val 10345"/>
            </a:avLst>
          </a:prstGeom>
          <a:solidFill>
            <a:srgbClr val="4FE0B0">
              <a:alpha val="6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7181850" y="2095500"/>
            <a:ext cx="4229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>
                <a:solidFill>
                  <a:srgbClr val="4FE0B0"/>
                </a:solidFill>
                <a:latin typeface="Consolas"/>
                <a:ea typeface="Consolas"/>
              </a:rPr>
              <a:t>https://api.…/chat/completions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7010400" y="2828925"/>
            <a:ext cx="4572000" cy="1104900"/>
          </a:xfrm>
          <a:prstGeom prst="roundRect">
            <a:avLst>
              <a:gd name="adj" fmla="val 10345"/>
            </a:avLst>
          </a:prstGeom>
          <a:solidFill>
            <a:srgbClr val="4FE0B0">
              <a:alpha val="6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7181850" y="3333750"/>
            <a:ext cx="4229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Consolas"/>
                <a:ea typeface="Consolas"/>
              </a:rPr>
              <a:t>模型名（可改）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7010400" y="4067175"/>
            <a:ext cx="4572000" cy="1104900"/>
          </a:xfrm>
          <a:prstGeom prst="roundRect">
            <a:avLst>
              <a:gd name="adj" fmla="val 10345"/>
            </a:avLst>
          </a:prstGeom>
          <a:solidFill>
            <a:srgbClr val="4FE0B0">
              <a:alpha val="6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181850" y="4572000"/>
            <a:ext cx="4229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Consolas"/>
                <a:ea typeface="Consolas"/>
              </a:rPr>
              <a:t>••••••••••••（只存本机）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8196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不绑定一家，改两格就能换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0906125" y="962025"/>
            <a:ext cx="676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 xml:space="preserve">AI </a:t>
            </a: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开发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09600" y="2438400"/>
            <a:ext cx="6019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挑它的理由：中文说法处理得好、便宜、不用排队。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09600" y="3552825"/>
            <a:ext cx="6019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接口用的是通用格式，不是独家协议。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181850" y="1743075"/>
            <a:ext cx="4229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接口地址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181850" y="2981325"/>
            <a:ext cx="4229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模型名称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7181850" y="4219575"/>
            <a:ext cx="4229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密钥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010400" y="5305425"/>
            <a:ext cx="4572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三格填完即可，全程不用写一行代码。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17 / 30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88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迭代调试实录：「三十分钟后」&lt;/Text&gt;&#10;            &lt;Text style={{ fontSize: 28, color: '#E8EEF7', opacity: 0.6, letterSpacing: 1 }}&gt;AI 写的代码，也要靠调试和测试才敢用&lt;/Text&gt;&#10;        &lt;/Box&gt;&#10;        &lt;Text style={{ fontSize: 22, fontFamily: 'Consolas', color: '#4FE0B0', opacity: 0.8 }}&gt;真实案例&lt;/Text&gt;&#10;    &lt;/Box&gt;&#10;    &lt;Box style={{ height: 476, flexDirection: 'row', gap: 32 }}&gt;&#10;        &lt;Box style={{ width: 700, flexDirection: 'column', gap: 12 }}&gt;&#10;            &lt;Box style={{ height: 96, flexDirection: 'row', alignItems: 'center', gap: 18, padding: '0 20px', background: 'rgba(232,238,247,0.04)', border: '1px solid rgba(232,238,247,0.10)', borderRadius: 12 }}&gt;&#10;                &lt;Text style={{ fontSize: 32, fontWeight: 'bold', fontFamily: 'Consolas', color: '#4FE0B0', width: 118, lineHeight: 1 }}&gt;现象&lt;/Text&gt;&#10;                &lt;Text style={{ fontSize: 26, color: '#E8EEF7', opacity: 0.82, lineHeight: 1.5, flex: 1 }}&gt;说「三十分钟后锁屏」，被排到了第二天早上 9 点。&lt;/Text&gt;&#10;            &lt;/Box&gt;&#10;            &lt;Box style={{ height: 96, flexDirection: 'row', alignItems: 'center', gap: 18, padding: '0 20px', background: 'rgba(232,238,247,0.04)', border: '1px solid rgba(232,238,247,0.10)', borderRadius: 12 }}&gt;&#10;                &lt;Text style={{ fontSize: 32, fontWeight: 'bold', fontFamily: 'Consolas', color: '#4FE0B0', width: 118, lineHeight: 1 }}&gt;定位&lt;/Text&gt;&#10;                &lt;Text style={{ fontSize: 26, color: '#E8EEF7', opacity: 0.82, lineHeight: 1.5, flex: 1 }}&gt;代码只认阿拉伯数字，&quot;三十&quot;取不到，当成没说时间。&lt;/Text&gt;&#10;            &lt;/Box&gt;&#10;            &lt;Box style={{ height: 96, flexDirection: 'row', alignItems: 'center', gap: 18, padding: '0 20px', background: 'rgba(232,238,247,0.04)', border: '1px solid rgba(232,238,247,0.10)', borderRadius: 12 }}&gt;&#10;                &lt;Text style={{ fontSize: 32, fontWeight: 'bold', fontFamily: 'Consolas', color: '#4FE0B0', width: 118, lineHeight: 1 }}&gt;修复&lt;/Text&gt;&#10;                &lt;Text style={{ fontSize: 26, color: '#E8EEF7', opacity: 0.82, lineHeight: 1.5, flex: 1 }}&gt;改成按「数量词 + 单位 + 后」扫，中文数字也能认。&lt;/Text&gt;&#10;            &lt;/Box&gt;&#10;            &lt;Box style={{ height: 96, flexDirection: 'row', alignItems: 'center', gap: 18, padding: '0 20px', background: 'rgba(79,224,176,0.12)', border: '1px solid #4FE0B0', borderRadius: 12 }}&gt;&#10;                &lt;Text style={{ fontSize: 32, fontWeight: 'bold', fontFamily: 'Consolas', color: '#4FE0B0', width: 118, lineHeight: 1 }}&gt;回归&lt;/Text&gt;&#10;                &lt;Text style={{ fontSize: 26, color: '#E8EEF7', opacity: 0.88, lineHeight: 1.5, flex: 1 }}&gt;补一条测试盯住这个偏移分钟数，以后改也不怕改坏。&lt;/Text&gt;&#10;            &lt;/Box&gt;&#10;        &lt;/Box&gt;&#10;        &lt;Box style={{ flex: 1, flexDirection: 'column', gap: 12 }}&gt;&#10;            &lt;Box style={{ height: 250, flexDirection: 'column', justifyContent: 'center', alignItems: 'center', gap: 10, background: 'rgba(79,224,176,0.05)', border: '2px dashed rgba(79,224,176,0.55)', borderRadius: 12, padding: '0 16px' }}&gt;&#10;                &lt;Text style={{ fontSize: 22, fontFamily: 'Consolas', color: '#4FE0B0', letterSpacing: 1 }}&gt;截图 ⑲&lt;/Text&gt;&#10;                &lt;Text style={{ fontSize: 28, fontWeight: 'bold', color: '#E8EEF7', textAlign: 'center' }}&gt;修复前后的解析结果对比&lt;/Text&gt;&#10;                &lt;Text style={{ fontSize: 22, color: '#E8EEF7', opacity: 0.5, textAlign: 'center', lineHeight: 1.6 }}&gt;建议画面：同一句话修复前（次日 09:00）&lt;br /&gt;与修复后（30 分钟后）的结果并列&lt;/Text&gt;&#10;            &lt;/Box&gt;&#10;            &lt;Box style={{ flex: 1, flexDirection: 'column', justifyContent: 'center', gap: 8, padding: '18px 20px', background: 'rgba(232,238,247,0.04)', border: '1px solid rgba(232,238,247,0.10)', borderRadius: 12 }}&gt;&#10;                &lt;Text style={{ fontSize: 24, color: '#E8EEF7', opacity: 0.8, lineHeight: 1.55 }}&gt;顺带揪出两个隐患：日期里&quot;号 / 日&quot;是三字节，取字符会越界崩溃；相对时长的半截词会留在标题里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8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1341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迭代调试实录：「三十分钟后」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609600" y="1371600"/>
            <a:ext cx="6667500" cy="914400"/>
          </a:xfrm>
          <a:prstGeom prst="roundRect">
            <a:avLst>
              <a:gd name="adj" fmla="val 125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800100" y="1647825"/>
            <a:ext cx="1123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4FE0B0"/>
                </a:solidFill>
                <a:latin typeface="Consolas"/>
                <a:ea typeface="Consolas"/>
              </a:rPr>
              <a:t>现象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09600" y="2400300"/>
            <a:ext cx="6667500" cy="914400"/>
          </a:xfrm>
          <a:prstGeom prst="roundRect">
            <a:avLst>
              <a:gd name="adj" fmla="val 125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800100" y="2676525"/>
            <a:ext cx="1123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4FE0B0"/>
                </a:solidFill>
                <a:latin typeface="Consolas"/>
                <a:ea typeface="Consolas"/>
              </a:rPr>
              <a:t>定位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609600" y="3429000"/>
            <a:ext cx="6667500" cy="914400"/>
          </a:xfrm>
          <a:prstGeom prst="roundRect">
            <a:avLst>
              <a:gd name="adj" fmla="val 125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00100" y="3705225"/>
            <a:ext cx="1123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4FE0B0"/>
                </a:solidFill>
                <a:latin typeface="Consolas"/>
                <a:ea typeface="Consolas"/>
              </a:rPr>
              <a:t>修复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09600" y="4457700"/>
            <a:ext cx="6667500" cy="914400"/>
          </a:xfrm>
          <a:prstGeom prst="roundRect">
            <a:avLst>
              <a:gd name="adj" fmla="val 12500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800100" y="4733925"/>
            <a:ext cx="1123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4FE0B0"/>
                </a:solidFill>
                <a:latin typeface="Consolas"/>
                <a:ea typeface="Consolas"/>
              </a:rPr>
              <a:t>回归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7581900" y="1371600"/>
            <a:ext cx="4000500" cy="2381250"/>
          </a:xfrm>
          <a:prstGeom prst="roundRect">
            <a:avLst>
              <a:gd name="adj" fmla="val 4800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220200" y="15716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⑲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115300" y="1924050"/>
            <a:ext cx="29337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修复前后的解析结果对比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7581900" y="3867150"/>
            <a:ext cx="4000500" cy="2038350"/>
          </a:xfrm>
          <a:prstGeom prst="roundRect">
            <a:avLst>
              <a:gd name="adj" fmla="val 5607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134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写的代码，也要靠调试和测试才敢用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10744200" y="962025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真实案例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2095500" y="1381125"/>
            <a:ext cx="4991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说「三十分钟后锁屏」，被排到了第二天早上</a:t>
            </a:r>
            <a:r>
              <a:rPr lang="en-US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点。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2095500" y="2409825"/>
            <a:ext cx="4991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代码只认阿拉伯数字，</a:t>
            </a:r>
            <a:r>
              <a:rPr lang="en-US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三十</a:t>
            </a:r>
            <a:r>
              <a:rPr lang="en-US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取不到，当成没说时间。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2095500" y="3438525"/>
            <a:ext cx="4991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改成按「数量词</a:t>
            </a:r>
            <a:r>
              <a:rPr lang="en-US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单位</a:t>
            </a:r>
            <a:r>
              <a:rPr lang="en-US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后」扫，中文数字也能认。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2095500" y="4467225"/>
            <a:ext cx="4991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88000"/>
                  </a:srgbClr>
                </a:solidFill>
                <a:latin typeface="Microsoft YaHei"/>
                <a:ea typeface="Microsoft YaHei"/>
              </a:rPr>
              <a:t>补一条测试盯住这个偏移分钟数，以后改也不怕改坏。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734300" y="2343150"/>
            <a:ext cx="3695700" cy="12096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建议画面：同一句话修复前（次日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与修复后（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30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分钟后）的结果并列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772400" y="4248150"/>
            <a:ext cx="36195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顺带揪出两个隐患：日期里</a:t>
            </a:r>
            <a:r>
              <a:rPr lang="en-US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号</a:t>
            </a:r>
            <a:r>
              <a:rPr lang="en-US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日</a:t>
            </a:r>
            <a:r>
              <a:rPr lang="en-US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是三字节，取字符会越界崩溃；相对时长的半截词会留在标题里。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18 / 30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213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用 138 项检查把代码兜住&lt;/Text&gt;&#10;            &lt;Text style={{ fontSize: 28, color: '#E8EEF7', opacity: 0.6, letterSpacing: 1 }}&gt;每改一次自动跑一遍，有一项不过就不算完&lt;/Text&gt;&#10;        &lt;/Box&gt;&#10;        &lt;Text style={{ fontSize: 22, fontFamily: 'Consolas', color: '#4FE0B0', opacity: 0.8 }}&gt;AI 开发&lt;/Text&gt;&#10;    &lt;/Box&gt;&#10;    &lt;Box style={{ height: 476, flexDirection: 'row', gap: 40, alignItems: 'center' }}&gt;&#10;        &lt;Box style={{ flex: 1, flexDirection: 'column', gap: 16 }}&gt;&#10;            &lt;Box style={{ height: 112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常规检查&lt;/Text&gt;&#10;                &lt;Text style={{ fontSize: 26, color: '#E8EEF7', opacity: 0.78, lineHeight: 1.5 }}&gt;界面逻辑和核心逻辑分开跑，每次改动全量重跑。&lt;/Text&gt;&#10;            &lt;/Box&gt;&#10;            &lt;Box style={{ height: 112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故意喂脏数据&lt;/Text&gt;&#10;                &lt;Text style={{ fontSize: 26, color: '#E8EEF7', opacity: 0.78, lineHeight: 1.5 }}&gt;构造一堆乱七八糟的字段，验证它们全被挡下。&lt;/Text&gt;&#10;            &lt;/Box&gt;&#10;            &lt;Box style={{ height: 112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改完就回归&lt;/Text&gt;&#10;                &lt;Text style={{ fontSize: 26, color: '#E8EEF7', opacity: 0.78, lineHeight: 1.5 }}&gt;修一个 bug 就补一条测试，防止下次又坏回去。&lt;/Text&gt;&#10;            &lt;/Box&gt;&#10;            &lt;Box style={{ padding: '14px 22px', background: 'rgba(79,224,176,0.10)', borderRadius: 12 }}&gt;&#10;                &lt;Text style={{ fontSize: 28, color: '#E8EEF7', lineHeight: 1.5 }}&gt;AI 写得快，但&lt;span style={{ color: '#4FE0B0', fontWeight: 'bold' }}&gt;敢不敢用，是测试说了算&lt;/span&gt;。&lt;/Text&gt;&#10;            &lt;/Box&gt;&#10;        &lt;/Box&gt;&#10;        &lt;Box style={{ width: 460, flexDirection: 'column', gap: 14 }}&gt;&#10;            &lt;Box style={{ height: 300, flexDirection: 'column', justifyContent: 'center', alignItems: 'center', gap: 10, background: 'rgba(79,224,176,0.05)', border: '2px dashed rgba(79,224,176,0.55)', borderRadius: 14, padding: '0 20px' }}&gt;&#10;                &lt;Text style={{ fontSize: 22, fontFamily: 'Consolas', color: '#4FE0B0', letterSpacing: 1 }}&gt;截图 ⑱&lt;/Text&gt;&#10;                &lt;Text style={{ fontSize: 30, fontWeight: 'bold', color: '#E8EEF7', textAlign: 'center' }}&gt;测试通过截图&lt;/Text&gt;&#10;                &lt;Text style={{ fontSize: 22, color: '#E8EEF7', opacity: 0.5, textAlign: 'center', lineHeight: 1.7 }}&gt;建议画面：pnpm test / cargo test 的&lt;br /&gt;通过结果，或 CI 构建成功页&lt;/Text&gt;&#10;            &lt;/Box&gt;&#10;            &lt;Box style={{ flexDirection: 'row', gap: 10 }}&gt;&#10;                &lt;Box style={{ flex: 1, padding: '14px 8px', background: 'rgba(79,224,176,0.10)', borderRadius: 10, alignItems: 'center' }}&gt;&#10;                    &lt;Text style={{ fontSize: 22, color: '#E8EEF7', opacity: 0.9, textAlign: 'center' }}&gt;界面 77 项&lt;/Text&gt;&#10;                &lt;/Box&gt;&#10;                &lt;Box style={{ flex: 1, padding: '14px 8px', background: 'rgba(79,224,176,0.10)', borderRadius: 10, alignItems: 'center' }}&gt;&#10;                    &lt;Text style={{ fontSize: 22, color: '#E8EEF7', opacity: 0.9, textAlign: 'center' }}&gt;核心 61 项&lt;/Text&gt;&#10;                &lt;/Box&gt;&#10;                &lt;Box style={{ flex: 1, padding: '14px 8px', background: 'rgba(79,224,176,0.10)', borderRadius: 10, alignItems: 'center' }}&gt;&#10;                    &lt;Text style={{ fontSize: 22, color: '#E8EEF7', opacity: 0.9, textAlign: 'center' }}&gt;通过率 100%&lt;/Text&gt;&#10;                &lt;/Box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19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2482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用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138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项检查把代码兜住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609600" y="1438275"/>
            <a:ext cx="6210300" cy="1066800"/>
          </a:xfrm>
          <a:prstGeom prst="roundRect">
            <a:avLst>
              <a:gd name="adj" fmla="val 10714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819150" y="1543050"/>
            <a:ext cx="5791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常规检查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609600" y="2657475"/>
            <a:ext cx="6210300" cy="1066800"/>
          </a:xfrm>
          <a:prstGeom prst="roundRect">
            <a:avLst>
              <a:gd name="adj" fmla="val 10714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819150" y="2762250"/>
            <a:ext cx="5791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故意喂脏数据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609600" y="3876675"/>
            <a:ext cx="6210300" cy="1066800"/>
          </a:xfrm>
          <a:prstGeom prst="roundRect">
            <a:avLst>
              <a:gd name="adj" fmla="val 10714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19150" y="3981450"/>
            <a:ext cx="5791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改完就回归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609600" y="5095875"/>
            <a:ext cx="6210300" cy="752475"/>
          </a:xfrm>
          <a:prstGeom prst="roundRect">
            <a:avLst>
              <a:gd name="adj" fmla="val 1519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19150" y="5229225"/>
            <a:ext cx="57912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写得快，但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敢不敢用，是测试说了算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7200900" y="1885950"/>
            <a:ext cx="4381500" cy="2857500"/>
          </a:xfrm>
          <a:prstGeom prst="roundRect">
            <a:avLst>
              <a:gd name="adj" fmla="val 4667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9029700" y="24955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⑱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534400" y="2847975"/>
            <a:ext cx="17145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测试通过截图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7200900" y="4876800"/>
            <a:ext cx="1400175" cy="523875"/>
          </a:xfrm>
          <a:prstGeom prst="roundRect">
            <a:avLst>
              <a:gd name="adj" fmla="val 18182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8696325" y="4876800"/>
            <a:ext cx="1390650" cy="523875"/>
          </a:xfrm>
          <a:prstGeom prst="roundRect">
            <a:avLst>
              <a:gd name="adj" fmla="val 18182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10182225" y="4876800"/>
            <a:ext cx="1400175" cy="523875"/>
          </a:xfrm>
          <a:prstGeom prst="roundRect">
            <a:avLst>
              <a:gd name="adj" fmla="val 18182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2482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每改一次自动跑一遍，有一项不过就不算完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906125" y="962025"/>
            <a:ext cx="676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 xml:space="preserve">AI </a:t>
            </a: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开发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19150" y="1962150"/>
            <a:ext cx="57912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界面逻辑和核心逻辑分开跑，每次改动全量重跑。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19150" y="3181350"/>
            <a:ext cx="57912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构造一堆乱七八糟的字段，验证它们全被挡下。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19150" y="4400550"/>
            <a:ext cx="57912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修一个</a:t>
            </a:r>
            <a:r>
              <a:rPr lang="en-US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就补一条测试，防止下次又坏回去。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7724775" y="3286125"/>
            <a:ext cx="3333750" cy="8572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pnpm test / cargo test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的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通过结果，或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CI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构建成功页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7410450" y="5010150"/>
            <a:ext cx="981075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界面</a:t>
            </a:r>
            <a:r>
              <a:rPr lang="en-US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 xml:space="preserve"> 77 </a:t>
            </a: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项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905875" y="5010150"/>
            <a:ext cx="981075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核心</a:t>
            </a:r>
            <a:r>
              <a:rPr lang="en-US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 xml:space="preserve"> 61 </a:t>
            </a: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项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267950" y="5010150"/>
            <a:ext cx="1228725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通过率</a:t>
            </a:r>
            <a:r>
              <a:rPr lang="en-US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 xml:space="preserve"> 100%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19 / 30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266" name="" descr="&lt;Slide style={{ width: 1280, height: 720, background: '#0B1220', padding: '20px 64px' }}&gt;&#10;    &lt;Box style={{ height: 600, flexDirection: 'row', alignItems: 'center', gap: 64 }}&gt;&#10;        &lt;Text style={{ fontSize: 230, fontWeight: 'bold', fontFamily: 'Consolas', color: '#4FE0B0', opacity: 0.15, lineHeight: 1 }}&gt;03&lt;/Text&gt;&#10;        &lt;Box style={{ flexDirection: 'column', gap: 22, width: 620 }}&gt;&#10;            &lt;Text style={{ fontSize: 64, fontWeight: 'bold', color: '#E8EEF7', lineHeight: 1.15 }}&gt;成果：&lt;br /&gt;成品演示与实际效果&lt;/Text&gt;&#10;            &lt;Box style={{ height: 4, width: 120, background: 'linear-gradient(135deg, #4FE0B0 0%, #2E9E8F 100%)', borderRadius: 2 }} /&gt;&#10;            &lt;Text style={{ fontSize: 30, color: '#E8EEF7', opacity: 0.72, lineHeight: 1.6 }}&gt;六段真实演示，看完就知道它长什么样、&lt;br /&gt;好不好用，最后摆完成度和对比。&lt;/Text&gt;&#10;            &lt;Text style={{ fontSize: 24, fontFamily: 'Consolas', color: '#4FE0B0', letterSpacing: 2 }}&gt;P20 – P29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0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657600" y="1181100"/>
            <a:ext cx="5905500" cy="16859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E8EEF7"/>
                </a:solidFill>
                <a:latin typeface="Microsoft YaHei"/>
                <a:ea typeface="Microsoft YaHei"/>
              </a:rPr>
              <a:t>成果：</a:t>
            </a:r>
            <a:endParaRPr/>
          </a:p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E8EEF7"/>
                </a:solidFill>
                <a:latin typeface="Microsoft YaHei"/>
                <a:ea typeface="Microsoft YaHei"/>
              </a:rPr>
              <a:t>成品演示与实际效果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657600" y="307657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657600" y="4638675"/>
            <a:ext cx="5905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150">
                <a:solidFill>
                  <a:srgbClr val="4FE0B0"/>
                </a:solidFill>
                <a:latin typeface="Consolas"/>
                <a:ea typeface="Consolas"/>
              </a:rPr>
              <a:t>P20 – P29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657600" y="3324225"/>
            <a:ext cx="5905500" cy="11049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六段真实演示，看完就知道它长什么样、</a:t>
            </a:r>
            <a:endParaRPr/>
          </a:p>
          <a:p>
            <a:pPr>
              <a:lnSpc>
                <a:spcPct val="160000"/>
              </a:lnSpc>
            </a:pPr>
            <a:r>
              <a:rPr lang="zh-CN" sz="22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好不好用，最后摆完成度和对比。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20 / 30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275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演示一 · 打开软件看到什么&lt;/Text&gt;&#10;            &lt;Text style={{ fontSize: 28, color: '#E8EEF7', opacity: 0.6, letterSpacing: 1 }}&gt;五个入口，各管一件事&lt;/Text&gt;&#10;        &lt;/Box&gt;&#10;        &lt;Text style={{ fontSize: 22, fontFamily: 'Consolas', color: '#4FE0B0', opacity: 0.8 }}&gt;成品演示&lt;/Text&gt;&#10;    &lt;/Box&gt;&#10;    &lt;Box style={{ height: 476, flexDirection: 'row', gap: 36 }}&gt;&#10;        &lt;Box style={{ width: 620, height: 440, flexDirection: 'column', justifyContent: 'center', alignItems: 'center', gap: 12, background: 'rgba(79,224,176,0.05)', border: '2px dashed rgba(79,224,176,0.55)', borderRadius: 14, padding: '0 20px' }}&gt;&#10;            &lt;Text style={{ fontSize: 22, fontFamily: 'Consolas', color: '#4FE0B0', letterSpacing: 1 }}&gt;截图 ⑤&lt;/Text&gt;&#10;            &lt;Text style={{ fontSize: 30, fontWeight: 'bold', color: '#E8EEF7', textAlign: 'center' }}&gt;知歇主界面全貌&lt;/Text&gt;&#10;            &lt;Text style={{ fontSize: 22, color: '#E8EEF7', opacity: 0.5, textAlign: 'center', lineHeight: 1.7 }}&gt;建议画面：停在「休息节律」页，&lt;br /&gt;顶栏五个胶囊导航完整可见&lt;br /&gt;（休息节律 / 时间锚点 / 智能体 / 偏好调校 / 关于）&lt;/Text&gt;&#10;        &lt;/Box&gt;&#10;        &lt;Box style={{ flex: 1, flexDirection: 'column', gap: 8 }}&gt;&#10;            &lt;Box style={{ height: 86, flexDirection: 'column', justifyContent: 'center', gap: 4, padding: '0 18px', background: 'rgba(232,238,247,0.04)', border: '1px solid rgba(232,238,247,0.10)', borderRadius: 10 }}&gt;&#10;                &lt;Text style={{ fontSize: 30, fontWeight: 'bold', color: '#4FE0B0' }}&gt;休息节律&lt;/Text&gt;&#10;                &lt;Text style={{ fontSize: 28, color: '#E8EEF7', opacity: 0.72, lineHeight: 1.4 }}&gt;开关提醒、设间隔&lt;/Text&gt;&#10;            &lt;/Box&gt;&#10;            &lt;Box style={{ height: 86, flexDirection: 'column', justifyContent: 'center', gap: 4, padding: '0 18px', background: 'rgba(232,238,247,0.04)', border: '1px solid rgba(232,238,247,0.10)', borderRadius: 10 }}&gt;&#10;                &lt;Text style={{ fontSize: 30, fontWeight: 'bold', color: '#4FE0B0' }}&gt;时间锚点&lt;/Text&gt;&#10;                &lt;Text style={{ fontSize: 28, color: '#E8EEF7', opacity: 0.72, lineHeight: 1.4 }}&gt;单次 / 每天 / 每周 / 每月&lt;/Text&gt;&#10;            &lt;/Box&gt;&#10;            &lt;Box style={{ height: 86, flexDirection: 'column', justifyContent: 'center', gap: 4, padding: '0 18px', background: 'rgba(79,224,176,0.12)', border: '1px solid #4FE0B0', borderRadius: 10 }}&gt;&#10;                &lt;Text style={{ fontSize: 30, fontWeight: 'bold', color: '#4FE0B0' }}&gt;智能体&lt;/Text&gt;&#10;                &lt;Text style={{ fontSize: 28, color: '#E8EEF7', opacity: 0.85, lineHeight: 1.4 }}&gt;说一句话，生成提醒&lt;/Text&gt;&#10;            &lt;/Box&gt;&#10;            &lt;Box style={{ height: 86, flexDirection: 'column', justifyContent: 'center', gap: 4, padding: '0 18px', background: 'rgba(232,238,247,0.04)', border: '1px solid rgba(232,238,247,0.10)', borderRadius: 10 }}&gt;&#10;                &lt;Text style={{ fontSize: 30, fontWeight: 'bold', color: '#4FE0B0' }}&gt;偏好调校&lt;/Text&gt;&#10;                &lt;Text style={{ fontSize: 28, color: '#E8EEF7', opacity: 0.72, lineHeight: 1.4 }}&gt;弹窗样式、自启、备份&lt;/Text&gt;&#10;            &lt;/Box&gt;&#10;            &lt;Box style={{ height: 86, flexDirection: 'column', justifyContent: 'center', gap: 4, padding: '0 18px', background: 'rgba(232,238,247,0.04)', border: '1px solid rgba(232,238,247,0.10)', borderRadius: 10 }}&gt;&#10;                &lt;Text style={{ fontSize: 30, fontWeight: 'bold', color: '#4FE0B0' }}&gt;关于&lt;/Text&gt;&#10;                &lt;Text style={{ fontSize: 28, color: '#E8EEF7', opacity: 0.72, lineHeight: 1.4 }}&gt;版本号与产品介绍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1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2101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演示一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打开软件看到什么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609600" y="1371600"/>
            <a:ext cx="5905500" cy="4191000"/>
          </a:xfrm>
          <a:prstGeom prst="roundRect">
            <a:avLst>
              <a:gd name="adj" fmla="val 3182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200400" y="24098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⑤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2562225" y="2781300"/>
            <a:ext cx="200025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知歇主界面全貌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858000" y="1371600"/>
            <a:ext cx="4724400" cy="819150"/>
          </a:xfrm>
          <a:prstGeom prst="roundRect">
            <a:avLst>
              <a:gd name="adj" fmla="val 1162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029450" y="1362075"/>
            <a:ext cx="4381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休息节律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6858000" y="2266950"/>
            <a:ext cx="4724400" cy="819150"/>
          </a:xfrm>
          <a:prstGeom prst="roundRect">
            <a:avLst>
              <a:gd name="adj" fmla="val 1162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029450" y="2257425"/>
            <a:ext cx="4381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时间锚点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858000" y="3162300"/>
            <a:ext cx="4724400" cy="819150"/>
          </a:xfrm>
          <a:prstGeom prst="roundRect">
            <a:avLst>
              <a:gd name="adj" fmla="val 11628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029450" y="3152775"/>
            <a:ext cx="4381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智能体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6858000" y="4057650"/>
            <a:ext cx="4724400" cy="819150"/>
          </a:xfrm>
          <a:prstGeom prst="roundRect">
            <a:avLst>
              <a:gd name="adj" fmla="val 1162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029450" y="4048125"/>
            <a:ext cx="4381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偏好调校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858000" y="4953000"/>
            <a:ext cx="4724400" cy="819150"/>
          </a:xfrm>
          <a:prstGeom prst="roundRect">
            <a:avLst>
              <a:gd name="adj" fmla="val 1162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7029450" y="4943475"/>
            <a:ext cx="4381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关于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2101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五个入口，各管一件事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0744200" y="962025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成品演示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219200" y="3238500"/>
            <a:ext cx="4686300" cy="1285875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建议画面：停在「休息节律」页，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顶栏五个胶囊导航完整可见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（休息节律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时间锚点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偏好调校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关于）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029450" y="1743075"/>
            <a:ext cx="438150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开关提醒、设间隔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7029450" y="2638425"/>
            <a:ext cx="438150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单次</a:t>
            </a:r>
            <a:r>
              <a:rPr lang="en-US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每天</a:t>
            </a:r>
            <a:r>
              <a:rPr lang="en-US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每周</a:t>
            </a:r>
            <a:r>
              <a:rPr lang="en-US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每月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029450" y="3533775"/>
            <a:ext cx="438150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说一句话，生成提醒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029450" y="4429125"/>
            <a:ext cx="438150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弹窗样式、自启、备份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7029450" y="5324475"/>
            <a:ext cx="438150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版本号与产品介绍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21 / 30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301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演示二 · 一句话建提醒，三步&lt;/Text&gt;&#10;            &lt;Text style={{ fontSize: 28, color: '#E8EEF7', opacity: 0.6, letterSpacing: 1 }}&gt;全程没填过一张表单&lt;/Text&gt;&#10;        &lt;/Box&gt;&#10;        &lt;Text style={{ fontSize: 22, fontFamily: 'Consolas', color: '#4FE0B0', opacity: 0.8 }}&gt;成品演示&lt;/Text&gt;&#10;    &lt;/Box&gt;&#10;    &lt;Box style={{ height: 476, flexDirection: 'column', gap: 12 }}&gt;&#10;        &lt;Box style={{ height: 58, flexDirection: 'row', alignItems: 'center', justifyContent: 'center', background: 'rgba(232,238,247,0.06)', border: '1px solid rgba(232,238,247,0.18)', borderRadius: 10 }}&gt;&#10;            &lt;Text style={{ fontSize: 28, color: '#E8EEF7' }}&gt;「每周一三五下午三点半提醒我站起来活动，顺便锁屏」&lt;/Text&gt;&#10;        &lt;/Box&gt;&#10;        &lt;Box style={{ flexDirection: 'row', gap: 20 }}&gt;&#10;            &lt;Box style={{ flex: 1, flexDirection: 'column', gap: 10 }}&gt;&#10;                &lt;Box style={{ height: 200, flexDirection: 'column', justifyContent: 'center', alignItems: 'center', gap: 8, background: 'rgba(79,224,176,0.05)', border: '2px dashed rgba(79,224,176,0.55)', borderRadius: 12, padding: '0 14px' }}&gt;&#10;                    &lt;Text style={{ fontSize: 22, fontFamily: 'Consolas', color: '#4FE0B0', letterSpacing: 1 }}&gt;截图 ⑥&lt;/Text&gt;&#10;                    &lt;Text style={{ fontSize: 26, fontWeight: 'bold', color: '#E8EEF7', textAlign: 'center' }}&gt;输入一句话&lt;/Text&gt;&#10;                    &lt;Text style={{ fontSize: 22, color: '#E8EEF7', opacity: 0.5, textAlign: 'center', lineHeight: 1.5 }}&gt;建议画面：输入框里有这句话，&lt;br /&gt;顶部模式胶囊可见&lt;/Text&gt;&#10;                &lt;/Box&gt;&#10;                &lt;Text style={{ fontSize: 30, fontWeight: 'bold', color: '#4FE0B0', lineHeight: 1.3 }}&gt;第一步 · 说&lt;/Text&gt;&#10;                &lt;Text style={{ fontSize: 28, color: '#E8EEF7', opacity: 0.7, lineHeight: 1.4 }}&gt;时间、重复说清楚就行。&lt;/Text&gt;&#10;            &lt;/Box&gt;&#10;            &lt;Box style={{ flex: 1, flexDirection: 'column', gap: 10 }}&gt;&#10;                &lt;Box style={{ height: 200, flexDirection: 'column', justifyContent: 'center', alignItems: 'center', gap: 8, background: 'rgba(79,224,176,0.05)', border: '2px dashed rgba(79,224,176,0.55)', borderRadius: 12, padding: '0 14px' }}&gt;&#10;                    &lt;Text style={{ fontSize: 22, fontFamily: 'Consolas', color: '#4FE0B0', letterSpacing: 1 }}&gt;截图 ⑦&lt;/Text&gt;&#10;                    &lt;Text style={{ fontSize: 26, fontWeight: 'bold', color: '#E8EEF7', textAlign: 'center' }}&gt;看解析结果&lt;/Text&gt;&#10;                    &lt;Text style={{ fontSize: 22, color: '#E8EEF7', opacity: 0.5, textAlign: 'center', lineHeight: 1.5 }}&gt;建议画面：列出 类型 / 时间 /&lt;br /&gt;重复 / 系统操作，并标注来源&lt;/Text&gt;&#10;                &lt;/Box&gt;&#10;                &lt;Text style={{ fontSize: 30, fontWeight: 'bold', color: '#4FE0B0', lineHeight: 1.3 }}&gt;第二步 · 看&lt;/Text&gt;&#10;                &lt;Text style={{ fontSize: 28, color: '#E8EEF7', opacity: 0.7, lineHeight: 1.4 }}&gt;四个字段摊开。&lt;/Text&gt;&#10;            &lt;/Box&gt;&#10;            &lt;Box style={{ flex: 1, flexDirection: 'column', gap: 10 }}&gt;&#10;                &lt;Box style={{ height: 200, flexDirection: 'column', justifyContent: 'center', alignItems: 'center', gap: 8, background: 'rgba(79,224,176,0.05)', border: '2px dashed rgba(79,224,176,0.55)', borderRadius: 12, padding: '0 14px' }}&gt;&#10;                    &lt;Text style={{ fontSize: 22, fontFamily: 'Consolas', color: '#4FE0B0', letterSpacing: 1 }}&gt;截图 ⑧&lt;/Text&gt;&#10;                    &lt;Text style={{ fontSize: 26, fontWeight: 'bold', color: '#E8EEF7', textAlign: 'center' }}&gt;点一下加入&lt;/Text&gt;&#10;                    &lt;Text style={{ fontSize: 22, color: '#E8EEF7', opacity: 0.5, textAlign: 'center', lineHeight: 1.5 }}&gt;建议画面：列表顶部出现新锚点，&lt;br /&gt;显示下次触发时间&lt;/Text&gt;&#10;                &lt;/Box&gt;&#10;                &lt;Text style={{ fontSize: 30, fontWeight: 'bold', color: '#4FE0B0', lineHeight: 1.3 }}&gt;第三步 · 加入&lt;/Text&gt;&#10;                &lt;Text style={{ fontSize: 28, color: '#E8EEF7', opacity: 0.7, lineHeight: 1.4 }}&gt;跳到锚点页，已经能用。&lt;/Text&gt;&#10;            &lt;/Box&gt;&#10;        &lt;/Box&gt;&#10;        &lt;Box style={{ height: 56, flexDirection: 'row', alignItems: 'center', padding: '0 20px', background: 'rgba(79,224,176,0.12)', border: '1px solid #4FE0B0', borderRadius: 10 }}&gt;&#10;            &lt;Text style={{ fontSize: 28, color: '#E8EEF7', opacity: 0.9 }}&gt;原来要点五六下、还得先学一套说法，现在说一句话就完了。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2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6483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演示二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一句话建提醒，三步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09600" y="1371600"/>
            <a:ext cx="10972800" cy="552450"/>
          </a:xfrm>
          <a:prstGeom prst="roundRect">
            <a:avLst>
              <a:gd name="adj" fmla="val 17241"/>
            </a:avLst>
          </a:prstGeom>
          <a:solidFill>
            <a:srgbClr val="E8EEF7">
              <a:alpha val="6000"/>
            </a:srgbClr>
          </a:solidFill>
          <a:ln w="12700">
            <a:solidFill>
              <a:srgbClr val="E8EEF7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2762250" y="1485900"/>
            <a:ext cx="6667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「每周一三五下午三点半提醒我站起来活动，顺便锁屏」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609600" y="2038350"/>
            <a:ext cx="3533775" cy="1905000"/>
          </a:xfrm>
          <a:prstGeom prst="roundRect">
            <a:avLst>
              <a:gd name="adj" fmla="val 6000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2009775" y="22574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⑥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1762125" y="2590800"/>
            <a:ext cx="123825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输入一句话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3533775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第一步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说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4333875" y="2038350"/>
            <a:ext cx="3524250" cy="1905000"/>
          </a:xfrm>
          <a:prstGeom prst="roundRect">
            <a:avLst>
              <a:gd name="adj" fmla="val 6000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734050" y="22574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⑦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476875" y="2590800"/>
            <a:ext cx="123825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看解析结果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333875" y="4038600"/>
            <a:ext cx="352425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第二步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看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8048625" y="2038350"/>
            <a:ext cx="3533775" cy="1905000"/>
          </a:xfrm>
          <a:prstGeom prst="roundRect">
            <a:avLst>
              <a:gd name="adj" fmla="val 6000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448800" y="22574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⑧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201150" y="2590800"/>
            <a:ext cx="123825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点一下加入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048625" y="4038600"/>
            <a:ext cx="3533775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第三步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加入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609600" y="5153025"/>
            <a:ext cx="10972800" cy="533400"/>
          </a:xfrm>
          <a:prstGeom prst="roundRect">
            <a:avLst>
              <a:gd name="adj" fmla="val 17857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6483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全程没填过一张表单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0744200" y="962025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成品演示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914400" y="2971800"/>
            <a:ext cx="2933700" cy="762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建议画面：输入框里有这句话，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顶部模式胶囊可见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09600" y="4581525"/>
            <a:ext cx="3533775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时间、重复说清楚就行。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4752975" y="2971800"/>
            <a:ext cx="2695575" cy="762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建议画面：列出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类型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时间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重复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系统操作，并标注来源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4333875" y="4581525"/>
            <a:ext cx="352425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四个字段摊开。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8248650" y="2971800"/>
            <a:ext cx="3143250" cy="762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建议画面：列表顶部出现新锚点，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显示下次触发时间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048625" y="4581525"/>
            <a:ext cx="3533775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跳到锚点页，已经能用。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800100" y="5257800"/>
            <a:ext cx="7200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原来要点五六下、还得先学一套说法，现在说一句话就完了。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22 / 30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330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演示三 · 到点全屏弹窗&lt;/Text&gt;&#10;            &lt;Text style={{ fontSize: 28, color: '#E8EEF7', opacity: 0.6, letterSpacing: 1 }}&gt;不是角落里的小通知，是整屏挡一下&lt;/Text&gt;&#10;        &lt;/Box&gt;&#10;        &lt;Text style={{ fontSize: 22, fontFamily: 'Consolas', color: '#4FE0B0', opacity: 0.8 }}&gt;成品演示&lt;/Text&gt;&#10;    &lt;/Box&gt;&#10;    &lt;Box style={{ height: 476, flexDirection: 'row', gap: 36, alignItems: 'center' }}&gt;&#10;        &lt;Box style={{ width: 660, height: 440, flexDirection: 'column', justifyContent: 'center', alignItems: 'center', gap: 12, background: 'rgba(79,224,176,0.05)', border: '2px dashed rgba(79,224,176,0.55)', borderRadius: 14, padding: '0 20px' }}&gt;&#10;            &lt;Text style={{ fontSize: 22, fontFamily: 'Consolas', color: '#4FE0B0', letterSpacing: 1 }}&gt;截图 ⑨&lt;/Text&gt;&#10;            &lt;Text style={{ fontSize: 30, fontWeight: 'bold', color: '#E8EEF7', textAlign: 'center' }}&gt;全屏休息弹窗&lt;/Text&gt;&#10;            &lt;Text style={{ fontSize: 22, color: '#E8EEF7', opacity: 0.5, textAlign: 'center', lineHeight: 1.7 }}&gt;建议画面：底图 + 正中间那句提示语&lt;br /&gt;+ 「稍后提醒」按钮&lt;/Text&gt;&#10;        &lt;/Box&gt;&#10;        &lt;Box style={{ flex: 1, flexDirection: 'column', gap: 12 }}&gt;&#10;            &lt;Box style={{ flexDirection: 'column', gap: 10, padding: '16px 22px', background: 'rgba(232,238,247,0.04)', border: '1px solid rgba(232,238,247,0.10)', borderRadius: 12 }}&gt;&#10;                &lt;Text style={{ fontSize: 28, fontWeight: 'bold', color: '#4FE0B0' }}&gt;弹的是你自己的话&lt;/Text&gt;&#10;                &lt;Text style={{ fontSize: 28, color: '#E8EEF7', opacity: 0.78, lineHeight: 1.5 }}&gt;底图、配色、字号都能换，改的时候能实时预览。&lt;/Text&gt;&#10;            &lt;/Box&gt;&#10;            &lt;Box style={{ flexDirection: 'column', gap: 10, padding: '18px 22px', background: 'rgba(232,238,247,0.04)', border: '1px solid rgba(232,238,247,0.10)', borderRadius: 12 }}&gt;&#10;                &lt;Text style={{ fontSize: 28, fontWeight: 'bold', color: '#4FE0B0' }}&gt;两个选择&lt;/Text&gt;&#10;                &lt;Text style={{ fontSize: 28, color: '#E8EEF7', opacity: 0.78, lineHeight: 1.5 }}&gt;「稍后提醒」，或直接结束这次休息。&lt;/Text&gt;&#10;            &lt;/Box&gt;&#10;            &lt;Box style={{ padding: '14px 22px', background: 'rgba(79,224,176,0.10)', borderRadius: 12 }}&gt;&#10;                &lt;Text style={{ fontSize: 28, color: '#E8EEF7', lineHeight: 1.5 }}&gt;关掉后缩回托盘继续计时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3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4196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演示三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到点全屏弹窗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09600" y="1543050"/>
            <a:ext cx="6286500" cy="4191000"/>
          </a:xfrm>
          <a:prstGeom prst="roundRect">
            <a:avLst>
              <a:gd name="adj" fmla="val 3182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3390900" y="28003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⑨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2895600" y="3171825"/>
            <a:ext cx="17145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全屏休息弹窗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7239000" y="1447800"/>
            <a:ext cx="4343400" cy="1685925"/>
          </a:xfrm>
          <a:prstGeom prst="roundRect">
            <a:avLst>
              <a:gd name="adj" fmla="val 678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7448550" y="1600200"/>
            <a:ext cx="39243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弹的是你自己的话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7239000" y="3248025"/>
            <a:ext cx="4343400" cy="1724025"/>
          </a:xfrm>
          <a:prstGeom prst="roundRect">
            <a:avLst>
              <a:gd name="adj" fmla="val 663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48550" y="3419475"/>
            <a:ext cx="39243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两个选择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7239000" y="5086350"/>
            <a:ext cx="4343400" cy="752475"/>
          </a:xfrm>
          <a:prstGeom prst="roundRect">
            <a:avLst>
              <a:gd name="adj" fmla="val 1519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7448550" y="5219700"/>
            <a:ext cx="39243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关掉后缩回托盘继续计时。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419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不是角落里的小通知，是整屏挡一下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0744200" y="962025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成品演示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2057400" y="3629025"/>
            <a:ext cx="3390900" cy="8572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建议画面：底图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正中间那句提示语</a:t>
            </a:r>
            <a:endParaRPr/>
          </a:p>
          <a:p>
            <a:pPr algn="ctr">
              <a:lnSpc>
                <a:spcPct val="170000"/>
              </a:lnSpc>
            </a:pP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「稍后提醒」按钮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448550" y="2019300"/>
            <a:ext cx="39243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底图、配色、字号都能换，改的时候能实时预览。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48550" y="3838575"/>
            <a:ext cx="39243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「稍后提醒」，或直接结束这次休息。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23 / 30</a:t>
            </a:r>
            <a:endParaRPr/>
          </a:p>
        </p:txBody>
      </p:sp>
    </p:spTree>
  </p:cSld>
</p:sld>
</file>

<file path=ppt/slides/slide24.xml><?xml version="1.0" encoding="utf-8"?>
<p:sld xmlns:p="http://schemas.openxmlformats.org/presentationml/2006/main" xmlns:a="http://schemas.openxmlformats.org/drawingml/2006/main">
  <p:cSld>
    <p:spTree>
      <p:nvGrpSpPr>
        <p:cNvPr id="349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演示四 · 锁屏关机的 60 秒反悔&lt;/Text&gt;&#10;            &lt;Text style={{ fontSize: 28, color: '#E8EEF7', opacity: 0.6, letterSpacing: 1 }}&gt;有约束力，也留安全感&lt;/Text&gt;&#10;        &lt;/Box&gt;&#10;        &lt;Text style={{ fontSize: 22, fontFamily: 'Consolas', color: '#4FE0B0', opacity: 0.8 }}&gt;成品演示&lt;/Text&gt;&#10;    &lt;/Box&gt;&#10;    &lt;Box style={{ height: 476, flexDirection: 'row', gap: 36, alignItems: 'center' }}&gt;&#10;        &lt;Box style={{ width: 640, height: 420, flexDirection: 'column', justifyContent: 'center', alignItems: 'center', gap: 12, background: 'rgba(79,224,176,0.05)', border: '2px dashed rgba(79,224,176,0.55)', borderRadius: 14, padding: '0 20px' }}&gt;&#10;            &lt;Text style={{ fontSize: 22, fontFamily: 'Consolas', color: '#4FE0B0', letterSpacing: 1 }}&gt;截图 ⑩&lt;/Text&gt;&#10;            &lt;Text style={{ fontSize: 30, fontWeight: 'bold', color: '#E8EEF7', textAlign: 'center' }}&gt;弹窗上的倒计时&lt;/Text&gt;&#10;            &lt;Text style={{ fontSize: 22, color: '#E8EEF7', opacity: 0.5, textAlign: 'center', lineHeight: 1.7 }}&gt;建议画面：附加锁屏或关机时，&lt;br /&gt;右下角的 60 秒倒计时&lt;/Text&gt;&#10;        &lt;/Box&gt;&#10;        &lt;Box style={{ flex: 1, flexDirection: 'column', gap: 18 }}&gt;&#10;            &lt;Box style={{ height: 100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先倒计时，不立刻执行&lt;/Text&gt;&#10;                &lt;Text style={{ fontSize: 28, color: '#E8EEF7', opacity: 0.78, lineHeight: 1.45 }}&gt;提醒可以带上锁屏、关机、重启。&lt;/Text&gt;&#10;            &lt;/Box&gt;&#10;            &lt;Box style={{ height: 100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60 秒里随时能点掉&lt;/Text&gt;&#10;                &lt;Text style={{ fontSize: 28, color: '#E8EEF7', opacity: 0.78, lineHeight: 1.45 }}&gt;真要关机也来得及取消。&lt;/Text&gt;&#10;            &lt;/Box&gt;&#10;            &lt;Box style={{ height: 100, flexDirection: 'column', justifyContent: 'center', gap: 8, padding: '0 22px', background: 'rgba(79,224,176,0.12)', border: '1px solid #4FE0B0', borderRadius: 12 }}&gt;&#10;                &lt;Text style={{ fontSize: 30, fontWeight: 'bold', color: '#4FE0B0' }}&gt;执行失败也不糊弄&lt;/Text&gt;&#10;                &lt;Text style={{ fontSize: 28, color: '#E8EEF7', opacity: 0.85, lineHeight: 1.45 }}&gt;弹窗留着，给你重试机会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4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9436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演示四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锁屏关机的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秒反悔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09600" y="1638300"/>
            <a:ext cx="6096000" cy="4000500"/>
          </a:xfrm>
          <a:prstGeom prst="roundRect">
            <a:avLst>
              <a:gd name="adj" fmla="val 3333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295650" y="28003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⑩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2657475" y="3171825"/>
            <a:ext cx="200025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弹窗上的倒计时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7048500" y="2038350"/>
            <a:ext cx="4533900" cy="952500"/>
          </a:xfrm>
          <a:prstGeom prst="roundRect">
            <a:avLst>
              <a:gd name="adj" fmla="val 12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7258050" y="2076450"/>
            <a:ext cx="4114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先倒计时，不立刻执行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7048500" y="3162300"/>
            <a:ext cx="4533900" cy="952500"/>
          </a:xfrm>
          <a:prstGeom prst="roundRect">
            <a:avLst>
              <a:gd name="adj" fmla="val 12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7258050" y="3200400"/>
            <a:ext cx="4114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60 </a:t>
            </a: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秒里随时能点掉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7048500" y="4286250"/>
            <a:ext cx="4533900" cy="952500"/>
          </a:xfrm>
          <a:prstGeom prst="roundRect">
            <a:avLst>
              <a:gd name="adj" fmla="val 12000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7258050" y="4324350"/>
            <a:ext cx="4114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执行失败也不糊弄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943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有约束力，也留安全感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10744200" y="962025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成品演示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2190750" y="3629025"/>
            <a:ext cx="2933700" cy="8572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建议画面：附加锁屏或关机时，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右下角的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秒倒计时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7258050" y="2495550"/>
            <a:ext cx="4114800" cy="4667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提醒可以带上锁屏、关机、重启。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7258050" y="3619500"/>
            <a:ext cx="4114800" cy="4667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10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真要关机也来得及取消。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258050" y="4743450"/>
            <a:ext cx="4114800" cy="4667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弹窗留着，给你重试机会。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24 / 30</a:t>
            </a:r>
            <a:endParaRPr/>
          </a:p>
        </p:txBody>
      </p:sp>
    </p:spTree>
  </p:cSld>
</p:sld>
</file>

<file path=ppt/slides/slide25.xml><?xml version="1.0" encoding="utf-8"?>
<p:sld xmlns:p="http://schemas.openxmlformats.org/presentationml/2006/main" xmlns:a="http://schemas.openxmlformats.org/drawingml/2006/main">
  <p:cSld>
    <p:spTree>
      <p:nvGrpSpPr>
        <p:cNvPr id="369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演示五 · 休息节律与休息建议&lt;/Text&gt;&#10;            &lt;Text style={{ fontSize: 28, color: '#E8EEF7', opacity: 0.6, letterSpacing: 1 }}&gt;不知道该干嘛的时候，它给一句能马上做的事&lt;/Text&gt;&#10;        &lt;/Box&gt;&#10;        &lt;Text style={{ fontSize: 22, fontFamily: 'Consolas', color: '#4FE0B0', opacity: 0.8 }}&gt;成品演示&lt;/Text&gt;&#10;    &lt;/Box&gt;&#10;    &lt;Box style={{ height: 476, flexDirection: 'column', gap: 18 }}&gt;&#10;        &lt;Box style={{ flexDirection: 'row', gap: 28 }}&gt;&#10;            &lt;Box style={{ flex: 1, height: 300, flexDirection: 'column', justifyContent: 'center', alignItems: 'center', gap: 10, background: 'rgba(79,224,176,0.05)', border: '2px dashed rgba(79,224,176,0.55)', borderRadius: 14, padding: '0 18px' }}&gt;&#10;                &lt;Text style={{ fontSize: 22, fontFamily: 'Consolas', color: '#4FE0B0', letterSpacing: 1 }}&gt;截图 ⑪&lt;/Text&gt;&#10;                &lt;Text style={{ fontSize: 30, fontWeight: 'bold', color: '#E8EEF7', textAlign: 'center' }}&gt;休息节律页&lt;/Text&gt;&#10;                &lt;Text style={{ fontSize: 22, color: '#E8EEF7', opacity: 0.5, textAlign: 'center', lineHeight: 1.6 }}&gt;建议画面：间隔设置&lt;br /&gt;+ 本轮进度条&lt;/Text&gt;&#10;            &lt;/Box&gt;&#10;            &lt;Box style={{ flex: 1, height: 300, flexDirection: 'column', justifyContent: 'center', alignItems: 'center', gap: 10, background: 'rgba(79,224,176,0.05)', border: '2px dashed rgba(79,224,176,0.55)', borderRadius: 14, padding: '0 18px' }}&gt;&#10;                &lt;Text style={{ fontSize: 22, fontFamily: 'Consolas', color: '#4FE0B0', letterSpacing: 1 }}&gt;截图 ⑫&lt;/Text&gt;&#10;                &lt;Text style={{ fontSize: 30, fontWeight: 'bold', color: '#E8EEF7', textAlign: 'center' }}&gt;休息建议卡片&lt;/Text&gt;&#10;                &lt;Text style={{ fontSize: 22, color: '#E8EEF7', opacity: 0.5, textAlign: 'center', lineHeight: 1.6 }}&gt;建议画面：点「换个建议」后&lt;br /&gt;出现的那一条建议&lt;/Text&gt;&#10;            &lt;/Box&gt;&#10;        &lt;/Box&gt;&#10;        &lt;Box style={{ flexDirection: 'row', gap: 24 }}&gt;&#10;            &lt;Box style={{ flex: 1, height: 130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休息节律：到点就提醒&lt;/Text&gt;&#10;                &lt;Text style={{ fontSize: 26, color: '#E8EEF7', opacity: 0.78, lineHeight: 1.45 }}&gt;默认每 40 分钟一次，间隔和提示语随时改。&lt;/Text&gt;&#10;            &lt;/Box&gt;&#10;            &lt;Box style={{ flex: 1, height: 130, flexDirection: 'column', justifyContent: 'center', gap: 8, padding: '0 22px', background: 'rgba(232,238,247,0.04)', border: '1px solid rgba(232,238,247,0.10)', borderRadius: 12 }}&gt;&#10;                &lt;Text style={{ fontSize: 30, fontWeight: 'bold', color: '#4FE0B0' }}&gt;休息建议：给一句能做的&lt;/Text&gt;&#10;                &lt;Text style={{ fontSize: 26, color: '#E8EEF7', opacity: 0.78, lineHeight: 1.45 }}&gt;按你的间隔和已提醒次数，给一句具体动作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5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564832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演示五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休息节律与休息建议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609600" y="1371600"/>
            <a:ext cx="5353050" cy="2857500"/>
          </a:xfrm>
          <a:prstGeom prst="roundRect">
            <a:avLst>
              <a:gd name="adj" fmla="val 4667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2924175" y="20002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⑪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2571750" y="2352675"/>
            <a:ext cx="142875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休息节律页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229350" y="1371600"/>
            <a:ext cx="5353050" cy="2857500"/>
          </a:xfrm>
          <a:prstGeom prst="roundRect">
            <a:avLst>
              <a:gd name="adj" fmla="val 4667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8543925" y="20002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⑫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048625" y="2352675"/>
            <a:ext cx="17145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休息建议卡片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09600" y="4400550"/>
            <a:ext cx="5372100" cy="1238250"/>
          </a:xfrm>
          <a:prstGeom prst="roundRect">
            <a:avLst>
              <a:gd name="adj" fmla="val 923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819150" y="4591050"/>
            <a:ext cx="4953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休息节律：到点就提醒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210300" y="4400550"/>
            <a:ext cx="5372100" cy="1238250"/>
          </a:xfrm>
          <a:prstGeom prst="roundRect">
            <a:avLst>
              <a:gd name="adj" fmla="val 923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419850" y="4591050"/>
            <a:ext cx="4953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休息建议：给一句能做的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56483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不知道该干嘛的时候，它给一句能马上做的事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10744200" y="962025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成品演示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2343150" y="2790825"/>
            <a:ext cx="18859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建议画面：间隔设置</a:t>
            </a:r>
            <a:endParaRPr/>
          </a:p>
          <a:p>
            <a:pPr algn="ctr">
              <a:lnSpc>
                <a:spcPct val="160000"/>
              </a:lnSpc>
            </a:pP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本轮进度条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543800" y="2790825"/>
            <a:ext cx="27241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建议画面：点「换个建议」后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出现的那一条建议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19150" y="5010150"/>
            <a:ext cx="4953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默认每</a:t>
            </a:r>
            <a:r>
              <a:rPr lang="en-US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分钟一次，间隔和提示语随时改。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419850" y="5010150"/>
            <a:ext cx="4953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按你的间隔和已提醒次数，给一句具体动作。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25 / 30</a:t>
            </a:r>
            <a:endParaRPr/>
          </a:p>
        </p:txBody>
      </p:sp>
    </p:spTree>
  </p:cSld>
</p:sld>
</file>

<file path=ppt/slides/slide26.xml><?xml version="1.0" encoding="utf-8"?>
<p:sld xmlns:p="http://schemas.openxmlformats.org/presentationml/2006/main" xmlns:a="http://schemas.openxmlformats.org/drawingml/2006/main">
  <p:cSld>
    <p:spTree>
      <p:nvGrpSpPr>
        <p:cNvPr id="390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演示六 · 断网照样能用&lt;/Text&gt;&#10;            &lt;Text style={{ fontSize: 28, color: '#E8EEF7', opacity: 0.6, letterSpacing: 1 }}&gt;网络是加分项，不是必需品&lt;/Text&gt;&#10;        &lt;/Box&gt;&#10;        &lt;Text style={{ fontSize: 22, fontFamily: 'Consolas', color: '#4FE0B0', opacity: 0.8 }}&gt;成品演示&lt;/Text&gt;&#10;    &lt;/Box&gt;&#10;    &lt;Box style={{ height: 476, flexDirection: 'column', gap: 18 }}&gt;&#10;        &lt;Box style={{ flexDirection: 'row', gap: 28 }}&gt;&#10;            &lt;Box style={{ flex: 1, height: 300, flexDirection: 'column', justifyContent: 'center', alignItems: 'center', gap: 10, background: 'rgba(79,224,176,0.05)', border: '2px dashed rgba(79,224,176,0.55)', borderRadius: 14, padding: '0 18px' }}&gt;&#10;                &lt;Text style={{ fontSize: 22, fontFamily: 'Consolas', color: '#4FE0B0', letterSpacing: 1 }}&gt;截图 ⑬&lt;/Text&gt;&#10;                &lt;Text style={{ fontSize: 30, fontWeight: 'bold', color: '#E8EEF7', textAlign: 'center' }}&gt;断网后的解析结果&lt;/Text&gt;&#10;                &lt;Text style={{ fontSize: 22, color: '#E8EEF7', opacity: 0.5, textAlign: 'center', lineHeight: 1.6 }}&gt;建议画面：页面提示&lt;br /&gt;「云端不可用，已自动切换本机规则引擎」&lt;/Text&gt;&#10;            &lt;/Box&gt;&#10;            &lt;Box style={{ flex: 1, height: 300, flexDirection: 'column', justifyContent: 'center', alignItems: 'center', gap: 10, background: 'rgba(79,224,176,0.05)', border: '2px dashed rgba(79,224,176,0.55)', borderRadius: 14, padding: '0 18px' }}&gt;&#10;                &lt;Text style={{ fontSize: 22, fontFamily: 'Consolas', color: '#4FE0B0', letterSpacing: 1 }}&gt;截图 ⑭&lt;/Text&gt;&#10;                &lt;Text style={{ fontSize: 30, fontWeight: 'bold', color: '#E8EEF7', textAlign: 'center' }}&gt;接入口三格表单&lt;/Text&gt;&#10;                &lt;Text style={{ fontSize: 22, color: '#E8EEF7', opacity: 0.5, textAlign: 'center', lineHeight: 1.6 }}&gt;建议画面：接口地址 / 模型名称 / 密钥&lt;br /&gt;三个输入框&lt;/Text&gt;&#10;            &lt;/Box&gt;&#10;        &lt;/Box&gt;&#10;        &lt;Box style={{ height: 130, flexDirection: 'row', alignItems: 'center', padding: '0 24px', background: 'rgba(79,224,176,0.12)', border: '1px solid #4FE0B0', borderRadius: 12 }}&gt;&#10;            &lt;Text style={{ fontSize: 28, color: '#E8EEF7', lineHeight: 1.5 }}&gt;接上了更聪明，不接照样好用。这两条路的结果，都会先过一遍&lt;span style={{ color: '#4FE0B0', fontWeight: 'bold' }}&gt;检查&lt;/span&gt;再写进数据。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6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3338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演示六</a:t>
            </a:r>
            <a:r>
              <a:rPr lang="en-US" sz="34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断网照样能用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609600" y="1371600"/>
            <a:ext cx="5353050" cy="2857500"/>
          </a:xfrm>
          <a:prstGeom prst="roundRect">
            <a:avLst>
              <a:gd name="adj" fmla="val 4667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2924175" y="20002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⑬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2143125" y="2352675"/>
            <a:ext cx="22860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断网后的解析结果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6229350" y="1371600"/>
            <a:ext cx="5353050" cy="2857500"/>
          </a:xfrm>
          <a:prstGeom prst="roundRect">
            <a:avLst>
              <a:gd name="adj" fmla="val 4667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543925" y="20002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⑭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905750" y="2352675"/>
            <a:ext cx="200025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接入口三格表单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609600" y="4400550"/>
            <a:ext cx="10972800" cy="1238250"/>
          </a:xfrm>
          <a:prstGeom prst="roundRect">
            <a:avLst>
              <a:gd name="adj" fmla="val 9231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38200" y="4781550"/>
            <a:ext cx="96012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接上了更聪明，不接照样好用。这两条路的结果，都会先过一遍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检查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再写进数据。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3338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网络是加分项，不是必需品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0744200" y="962025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成品演示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295400" y="2790825"/>
            <a:ext cx="39814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建议画面：页面提示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「云端不可用，已自动切换本机规则引擎」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7162800" y="2790825"/>
            <a:ext cx="3495675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建议画面：接口地址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模型名称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密钥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三个输入框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26 / 30</a:t>
            </a:r>
            <a:endParaRPr/>
          </a:p>
        </p:txBody>
      </p:sp>
    </p:spTree>
  </p:cSld>
</p:sld>
</file>

<file path=ppt/slides/slide27.xml><?xml version="1.0" encoding="utf-8"?>
<p:sld xmlns:p="http://schemas.openxmlformats.org/presentationml/2006/main" xmlns:a="http://schemas.openxmlformats.org/drawingml/2006/main">
  <p:cSld>
    <p:spTree>
      <p:nvGrpSpPr>
        <p:cNvPr id="407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已经做完：能下载、能装、能用&lt;/Text&gt;&#10;            &lt;Text style={{ fontSize: 28, color: '#E8EEF7', opacity: 0.6, letterSpacing: 1 }}&gt;138 项自动检查全绿，双平台可直接下载&lt;/Text&gt;&#10;        &lt;/Box&gt;&#10;        &lt;Text style={{ fontSize: 22, fontFamily: 'Consolas', color: '#4FE0B0', opacity: 0.8 }}&gt;完成度&lt;/Text&gt;&#10;    &lt;/Box&gt;&#10;    &lt;Box style={{ height: 476, flexDirection: 'row', gap: 48 }}&gt;&#10;        &lt;Box style={{ width: 470, flexDirection: 'column', justifyContent: 'center' }}&gt;&#10;            &lt;Text style={{ fontSize: 160, fontWeight: 'bold', fontFamily: 'Consolas', color: '#4FE0B0', lineHeight: 1 }}&gt;138&lt;/Text&gt;&#10;            &lt;Text style={{ fontSize: 30, color: '#E8EEF7', marginTop: 14 }}&gt;项自动检查，全部通过&lt;/Text&gt;&#10;            &lt;Text style={{ fontSize: 26, color: '#E8EEF7', opacity: 0.62, marginTop: 10, lineHeight: 1.5 }}&gt;每改一次代码自动跑一遍，&lt;br /&gt;有一项不过，这次改动就不算完。&lt;/Text&gt;&#10;            &lt;Box style={{ height: 3, width: 110, background: 'linear-gradient(135deg, #4FE0B0 0%, #2E9E8F 100%)', borderRadius: 2, marginTop: 22 }} /&gt;&#10;        &lt;/Box&gt;&#10;        &lt;Box style={{ flex: 1, flexDirection: 'column', gap: 12, justifyContent: 'center' }}&gt;&#10;            &lt;Box style={{ height: 66, flexDirection: 'row', alignItems: 'center', justifyContent: 'space-between', padding: '0 22px', background: 'rgba(232,238,247,0.05)', borderRadius: 10 }}&gt;&#10;                &lt;Text style={{ fontSize: 26, color: '#E8EEF7' }}&gt;界面部分的检查&lt;/Text&gt;&#10;                &lt;Text style={{ fontSize: 30, fontWeight: 'bold', fontFamily: 'Consolas', color: '#4FE0B0' }}&gt;77 项&lt;/Text&gt;&#10;            &lt;/Box&gt;&#10;            &lt;Box style={{ height: 66, flexDirection: 'row', alignItems: 'center', justifyContent: 'space-between', padding: '0 22px', background: 'rgba(232,238,247,0.05)', borderRadius: 10 }}&gt;&#10;                &lt;Text style={{ fontSize: 26, color: '#E8EEF7' }}&gt;核心逻辑部分的检查&lt;/Text&gt;&#10;                &lt;Text style={{ fontSize: 30, fontWeight: 'bold', fontFamily: 'Consolas', color: '#4FE0B0' }}&gt;61 项&lt;/Text&gt;&#10;            &lt;/Box&gt;&#10;            &lt;Box style={{ height: 66, flexDirection: 'row', alignItems: 'center', justifyContent: 'space-between', padding: '0 22px', background: 'rgba(232,238,247,0.05)', borderRadius: 10 }}&gt;&#10;                &lt;Text style={{ fontSize: 26, color: '#E8EEF7' }}&gt;通过率&lt;/Text&gt;&#10;                &lt;Text style={{ fontSize: 30, fontWeight: 'bold', fontFamily: 'Consolas', color: '#4FE0B0' }}&gt;100%&lt;/Text&gt;&#10;            &lt;/Box&gt;&#10;            &lt;Box style={{ height: 130, flexDirection: 'column', justifyContent: 'center', alignItems: 'center', gap: 6, background: 'rgba(79,224,176,0.05)', border: '2px dashed rgba(79,224,176,0.55)', borderRadius: 12 }}&gt;&#10;                &lt;Text style={{ fontSize: 22, fontFamily: 'Consolas', color: '#4FE0B0', letterSpacing: 1 }}&gt;截图 ⑰&lt;/Text&gt;&#10;                &lt;Text style={{ fontSize: 28, fontWeight: 'bold', color: '#E8EEF7', textAlign: 'center' }}&gt;官网下载页&lt;/Text&gt;&#10;                &lt;Text style={{ fontSize: 22, color: '#E8EEF7', opacity: 0.5, textAlign: 'center' }}&gt;建议画面：Windows 与 macOS 两个下载入口同框&lt;/Text&gt;&#10;            &lt;/Box&gt;&#10;            &lt;Box style={{ flexDirection: 'row', gap: 10 }}&gt;&#10;                &lt;Box style={{ flex: 1, padding: '12px 6px', background: 'rgba(79,224,176,0.10)', borderRadius: 10, alignItems: 'center' }}&gt;&#10;                    &lt;Text style={{ fontSize: 22, color: '#E8EEF7', opacity: 0.9, textAlign: 'center' }}&gt;两个平台都能装&lt;/Text&gt;&#10;                &lt;/Box&gt;&#10;                &lt;Box style={{ flex: 1, padding: '12px 6px', background: 'rgba(79,224,176,0.10)', borderRadius: 10, alignItems: 'center' }}&gt;&#10;                    &lt;Text style={{ fontSize: 22, color: '#E8EEF7', opacity: 0.9, textAlign: 'center' }}&gt;官网可直接下载&lt;/Text&gt;&#10;                &lt;/Box&gt;&#10;                &lt;Box style={{ flex: 1, padding: '12px 6px', background: 'rgba(79,224,176,0.10)', borderRadius: 10, alignItems: 'center' }}&gt;&#10;                    &lt;Text style={{ fontSize: 22, color: '#E8EEF7', opacity: 0.9, textAlign: 'center' }}&gt;中英双语&lt;/Text&gt;&#10;                &lt;/Box&gt;&#10;                &lt;Box style={{ flex: 1, padding: '12px 6px', background: 'rgba(79,224,176,0.10)', borderRadius: 10, alignItems: 'center' }}&gt;&#10;                    &lt;Text style={{ fontSize: 22, color: '#E8EEF7', opacity: 0.9, textAlign: 'center' }}&gt;不用注册账号&lt;/Text&gt;&#10;                &lt;/Box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7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61341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已经做完：能下载、能装、能用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09600" y="1876425"/>
            <a:ext cx="4476750" cy="1828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0" b="1">
                <a:solidFill>
                  <a:srgbClr val="4FE0B0"/>
                </a:solidFill>
                <a:latin typeface="Consolas"/>
                <a:ea typeface="Consolas"/>
              </a:rPr>
              <a:t>138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609600" y="3838575"/>
            <a:ext cx="4476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E8EEF7"/>
                </a:solidFill>
                <a:latin typeface="Microsoft YaHei"/>
                <a:ea typeface="Microsoft YaHei"/>
              </a:rPr>
              <a:t>项自动检查，全部通过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609600" y="5381625"/>
            <a:ext cx="104775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13" name=""/>
          <p:cNvSpPr/>
          <p:nvPr/>
        </p:nvSpPr>
        <p:spPr>
          <a:xfrm rot="0" flipH="0" flipV="0">
            <a:off x="5543550" y="1485900"/>
            <a:ext cx="60388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5753100" y="1647825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界面部分的检查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10687050" y="1628775"/>
            <a:ext cx="685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FE0B0"/>
                </a:solidFill>
                <a:latin typeface="Consolas"/>
                <a:ea typeface="Consolas"/>
              </a:rPr>
              <a:t xml:space="preserve">77 </a:t>
            </a:r>
            <a:r>
              <a:rPr lang="zh-CN" sz="2250" b="1">
                <a:solidFill>
                  <a:srgbClr val="4FE0B0"/>
                </a:solidFill>
                <a:latin typeface="Consolas"/>
                <a:ea typeface="Consolas"/>
              </a:rPr>
              <a:t>项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5543550" y="2228850"/>
            <a:ext cx="60388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753100" y="2390775"/>
            <a:ext cx="2228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核心逻辑部分的检查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10687050" y="2371725"/>
            <a:ext cx="685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FE0B0"/>
                </a:solidFill>
                <a:latin typeface="Consolas"/>
                <a:ea typeface="Consolas"/>
              </a:rPr>
              <a:t xml:space="preserve">61 </a:t>
            </a:r>
            <a:r>
              <a:rPr lang="zh-CN" sz="2250" b="1">
                <a:solidFill>
                  <a:srgbClr val="4FE0B0"/>
                </a:solidFill>
                <a:latin typeface="Consolas"/>
                <a:ea typeface="Consolas"/>
              </a:rPr>
              <a:t>项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5543550" y="2971800"/>
            <a:ext cx="60388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753100" y="3133725"/>
            <a:ext cx="7429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通过率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10639425" y="3114675"/>
            <a:ext cx="73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FE0B0"/>
                </a:solidFill>
                <a:latin typeface="Consolas"/>
                <a:ea typeface="Consolas"/>
              </a:rPr>
              <a:t>100%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5543550" y="3714750"/>
            <a:ext cx="6038850" cy="1238250"/>
          </a:xfrm>
          <a:prstGeom prst="roundRect">
            <a:avLst>
              <a:gd name="adj" fmla="val 9231"/>
            </a:avLst>
          </a:prstGeom>
          <a:solidFill>
            <a:srgbClr val="4FE0B0">
              <a:alpha val="5000"/>
            </a:srgbClr>
          </a:solidFill>
          <a:ln w="25400">
            <a:solidFill>
              <a:srgbClr val="4FE0B0">
                <a:alpha val="5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8201025" y="385762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⑰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7896225" y="4171950"/>
            <a:ext cx="13335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官网下载页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5543550" y="5067300"/>
            <a:ext cx="1438275" cy="733425"/>
          </a:xfrm>
          <a:prstGeom prst="roundRect">
            <a:avLst>
              <a:gd name="adj" fmla="val 12987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426" name=""/>
          <p:cNvSpPr/>
          <p:nvPr/>
        </p:nvSpPr>
        <p:spPr>
          <a:xfrm rot="0" flipH="0" flipV="0">
            <a:off x="7077075" y="5067300"/>
            <a:ext cx="1438275" cy="733425"/>
          </a:xfrm>
          <a:prstGeom prst="roundRect">
            <a:avLst>
              <a:gd name="adj" fmla="val 12987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427" name=""/>
          <p:cNvSpPr/>
          <p:nvPr/>
        </p:nvSpPr>
        <p:spPr>
          <a:xfrm rot="0" flipH="0" flipV="0">
            <a:off x="8610600" y="5067300"/>
            <a:ext cx="1438275" cy="733425"/>
          </a:xfrm>
          <a:prstGeom prst="roundRect">
            <a:avLst>
              <a:gd name="adj" fmla="val 12987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10144125" y="5067300"/>
            <a:ext cx="1438275" cy="733425"/>
          </a:xfrm>
          <a:prstGeom prst="roundRect">
            <a:avLst>
              <a:gd name="adj" fmla="val 12987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6134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项自动检查全绿，双平台可直接下载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0953750" y="962025"/>
            <a:ext cx="628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完成度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609600" y="4276725"/>
            <a:ext cx="4476750" cy="895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每改一次代码自动跑一遍，</a:t>
            </a:r>
            <a:endParaRPr/>
          </a:p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有一项不过，这次改动就不算完。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238875" y="4552950"/>
            <a:ext cx="4657725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建议画面：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16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两个下载入口同框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600700" y="5181600"/>
            <a:ext cx="132397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两个平台都能装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7134225" y="5181600"/>
            <a:ext cx="132397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官网可直接下载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8915400" y="5181600"/>
            <a:ext cx="8382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中英双语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0239375" y="5181600"/>
            <a:ext cx="12573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不用注册账号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27 / 30</a:t>
            </a:r>
            <a:endParaRPr/>
          </a:p>
        </p:txBody>
      </p:sp>
    </p:spTree>
  </p:cSld>
</p:sld>
</file>

<file path=ppt/slides/slide28.xml><?xml version="1.0" encoding="utf-8"?>
<p:sld xmlns:p="http://schemas.openxmlformats.org/presentationml/2006/main" xmlns:a="http://schemas.openxmlformats.org/drawingml/2006/main">
  <p:cSld>
    <p:spTree>
      <p:nvGrpSpPr>
        <p:cNvPr id="439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五个不一样的地方&lt;/Text&gt;&#10;            &lt;Text style={{ fontSize: 28, color: '#E8EEF7', opacity: 0.6, letterSpacing: 1 }}&gt;每条都对应一个看得见的动作，不是说法&lt;/Text&gt;&#10;        &lt;/Box&gt;&#10;        &lt;Text style={{ fontSize: 22, fontFamily: 'Consolas', color: '#4FE0B0', opacity: 0.8 }}&gt;创新点&lt;/Text&gt;&#10;    &lt;/Box&gt;&#10;    &lt;Box style={{ height: 476, flexDirection: 'column', gap: 10 }}&gt;&#10;        &lt;Box style={{ height: 86, flexDirection: 'row', alignItems: 'center', gap: 24, padding: '0 24px', background: 'rgba(232,238,247,0.04)', border: '1px solid rgba(232,238,247,0.10)', borderRadius: 12 }}&gt;&#10;            &lt;Text style={{ fontSize: 48, fontWeight: 'bold', fontFamily: 'Consolas', color: '#4FE0B0', lineHeight: 1 }}&gt;01&lt;/Text&gt;&#10;            &lt;Text style={{ fontSize: 32, fontWeight: 'bold', color: '#E8EEF7', width: 420 }}&gt;说一句话就把提醒设好&lt;/Text&gt;&#10;            &lt;Text style={{ fontSize: 26, color: '#E8EEF7', opacity: 0.72, flex: 1 }}&gt;不用点一堆表单，也不用先学一套说法。&lt;/Text&gt;&#10;        &lt;/Box&gt;&#10;        &lt;Box style={{ height: 86, flexDirection: 'row', alignItems: 'center', gap: 24, padding: '0 24px', background: 'rgba(232,238,247,0.04)', border: '1px solid rgba(232,238,247,0.10)', borderRadius: 12 }}&gt;&#10;            &lt;Text style={{ fontSize: 48, fontWeight: 'bold', fontFamily: 'Consolas', color: '#4FE0B0', lineHeight: 1 }}&gt;02&lt;/Text&gt;&#10;            &lt;Text style={{ fontSize: 32, fontWeight: 'bold', color: '#E8EEF7', width: 420 }}&gt;没网也能听懂你&lt;/Text&gt;&#10;            &lt;Text style={{ fontSize: 26, color: '#E8EEF7', opacity: 0.72, flex: 1 }}&gt;软件自带一套规则，断网照样解析。&lt;/Text&gt;&#10;        &lt;/Box&gt;&#10;        &lt;Box style={{ height: 86, flexDirection: 'row', alignItems: 'center', gap: 24, padding: '0 24px', background: 'rgba(232,238,247,0.04)', border: '1px solid rgba(232,238,247,0.10)', borderRadius: 12 }}&gt;&#10;            &lt;Text style={{ fontSize: 48, fontWeight: 'bold', fontFamily: 'Consolas', color: '#4FE0B0', lineHeight: 1 }}&gt;03&lt;/Text&gt;&#10;            &lt;Text style={{ fontSize: 32, fontWeight: 'bold', color: '#E8EEF7', width: 420 }}&gt;AI 说的会先核一遍&lt;/Text&gt;&#10;            &lt;Text style={{ fontSize: 26, color: '#E8EEF7', opacity: 0.72, flex: 1 }}&gt;不合规的内容写不进你的提醒列表。&lt;/Text&gt;&#10;        &lt;/Box&gt;&#10;        &lt;Box style={{ height: 86, flexDirection: 'row', alignItems: 'center', gap: 24, padding: '0 24px', background: 'rgba(232,238,247,0.04)', border: '1px solid rgba(232,238,247,0.10)', borderRadius: 12 }}&gt;&#10;            &lt;Text style={{ fontSize: 48, fontWeight: 'bold', fontFamily: 'Consolas', color: '#4FE0B0', lineHeight: 1 }}&gt;04&lt;/Text&gt;&#10;            &lt;Text style={{ fontSize: 32, fontWeight: 'bold', color: '#E8EEF7', width: 420 }}&gt;一个人 + AI 助手做出来的&lt;/Text&gt;&#10;            &lt;Text style={{ fontSize: 26, color: '#E8EEF7', opacity: 0.72, flex: 1 }}&gt;想法结构自己定，AI 写代码，138 项检查兜底。&lt;/Text&gt;&#10;        &lt;/Box&gt;&#10;        &lt;Box style={{ height: 86, flexDirection: 'row', alignItems: 'center', gap: 24, padding: '0 24px', background: 'rgba(232,238,247,0.04)', border: '1px solid rgba(232,238,247,0.10)', borderRadius: 12 }}&gt;&#10;            &lt;Text style={{ fontSize: 48, fontWeight: 'bold', fontFamily: 'Consolas', color: '#4FE0B0', lineHeight: 1 }}&gt;05&lt;/Text&gt;&#10;            &lt;Text style={{ fontSize: 32, fontWeight: 'bold', color: '#E8EEF7', width: 420 }}&gt;立场是让你休息&lt;/Text&gt;&#10;            &lt;Text style={{ fontSize: 26, color: '#E8EEF7', opacity: 0.72, flex: 1 }}&gt;不催你干活，不比谁更拼，文案不制造焦虑。&lt;/Text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8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49720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五个不一样的地方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609600" y="13716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838200" y="1504950"/>
            <a:ext cx="514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1581150" y="1600200"/>
            <a:ext cx="4000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说一句话就把提醒设好</a:t>
            </a:r>
            <a:endParaRPr/>
          </a:p>
        </p:txBody>
      </p:sp>
      <p:sp>
        <p:nvSpPr>
          <p:cNvPr id="445" name=""/>
          <p:cNvSpPr/>
          <p:nvPr/>
        </p:nvSpPr>
        <p:spPr>
          <a:xfrm rot="0" flipH="0" flipV="0">
            <a:off x="609600" y="22860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838200" y="2419350"/>
            <a:ext cx="514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1581150" y="2514600"/>
            <a:ext cx="4000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没网也能听懂你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609600" y="32004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838200" y="3333750"/>
            <a:ext cx="514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1581150" y="3429000"/>
            <a:ext cx="4000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说的会先核一遍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609600" y="4114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838200" y="4248150"/>
            <a:ext cx="514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4FE0B0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1581150" y="4343400"/>
            <a:ext cx="4000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一个人</a:t>
            </a:r>
            <a:r>
              <a:rPr lang="en-US" sz="24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助手做出来的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09600" y="50292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838200" y="5162550"/>
            <a:ext cx="514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4FE0B0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581150" y="5257800"/>
            <a:ext cx="4000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立场是让你休息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每条都对应一个看得见的动作，不是说法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0953750" y="962025"/>
            <a:ext cx="628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创新点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5810250" y="1628775"/>
            <a:ext cx="554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不用点一堆表单，也不用先学一套说法。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5810250" y="2543175"/>
            <a:ext cx="554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软件自带一套规则，断网照样解析。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810250" y="3457575"/>
            <a:ext cx="554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不合规的内容写不进你的提醒列表。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810250" y="4371975"/>
            <a:ext cx="554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想法结构自己定，</a:t>
            </a:r>
            <a:r>
              <a:rPr lang="en-US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写代码，</a:t>
            </a:r>
            <a:r>
              <a:rPr lang="en-US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项检查兜底。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5810250" y="5286375"/>
            <a:ext cx="554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不催你干活，不比谁更拼，文案不制造焦虑。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28 / 30</a:t>
            </a:r>
            <a:endParaRPr/>
          </a:p>
        </p:txBody>
      </p:sp>
    </p:spTree>
  </p:cSld>
</p:sld>
</file>

<file path=ppt/slides/slide29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466" name="" descr="&lt;Slide style={{ width: 1280, height: 720, background: '#0B1220', padding: '20px 64px' }}&gt;&#10;    &lt;Box style={{ height: 124, flexDirection: 'row', alignItems: 'flex-end', justifyContent: 'space-between', paddingBottom: 16 }}&gt;&#10;        &lt;Box style={{ flexDirection: 'column', gap: 4 }}&gt;&#10;            &lt;Text style={{ fontSize: 46, fontWeight: 'bold', color: '#E8EEF7' }}&gt;和常用工具比&lt;/Text&gt;&#10;            &lt;Text style={{ fontSize: 28, color: '#E8EEF7', opacity: 0.6, letterSpacing: 1 }}&gt;别人填表单，我们说一句话&lt;/Text&gt;&#10;        &lt;/Box&gt;&#10;        &lt;Text style={{ fontSize: 22, fontFamily: 'Consolas', color: '#E8EEF7', opacity: 0.35 }}&gt;29&lt;/Text&gt;&#10;    &lt;/Box&gt;&#10;    &lt;Box style={{ height: 476, flexDirection: 'row', gap: 36 }}&gt;&#10;        &lt;Box style={{ width: 720, flexDirection: 'column', gap: 14 }}&gt;&#10;            &lt;Table&#10;                style={{ width: 720, height: 380 }}&#10;                defaultTextStyle={{ fontSize: 28, textAlign: 'left', color: '#E8EEF7' }}&#10;                defaultCellStyle={{&#10;                    border: {&#10;                        left: { width: 1, color: 'rgba(232,238,247,0.12)' },&#10;                        right: { width: 1, color: 'rgba(232,238,247,0.12)' },&#10;                        top: { width: 1, color: 'rgba(232,238,247,0.12)' },&#10;                        bottom: { width: 1, color: 'rgba(232,238,247,0.12)' },&#10;                    },&#10;                }}&#10;                cells={[&#10;                    [&#10;                        { text: '对比项', textStyle: { bold: true, color: '#0B1220' }, cellStyle: { background: { color: '#4FE0B0' } } },&#10;                        { text: '常用工具', textStyle: { bold: true, color: '#0B1220' }, cellStyle: { background: { color: '#4FE0B0' } } },&#10;                        { text: '知歇', textStyle: { bold: true, color: '#0B1220' }, cellStyle: { background: { color: '#4FE0B0' } } },&#10;                    ],&#10;                    [&#10;                        { text: '建一条提醒', cellStyle: { background: { color: 'rgba(232,238,247,0.05)' } } },&#10;                        '填一堆表单',&#10;                        { text: '说一句话', textStyle: { bold: true, color: '#4FE0B0' } },&#10;                    ],&#10;                    [&#10;                        '断网的时候',&#10;                        '多半歇菜',&#10;                        { text: '照样能用', textStyle: { bold: true, color: '#4FE0B0' } },&#10;                    ],&#10;                    [&#10;                        { text: '到点锁屏 / 关机', cellStyle: { background: { color: 'rgba(232,238,247,0.05)' } } },&#10;                        '基本没有',&#10;                        { text: '有，留 60 秒反悔', textStyle: { bold: true, color: '#4FE0B0' } },&#10;                    ],&#10;                    [&#10;                        '要不要账号',&#10;                        '不少要登录',&#10;                        { text: '不要，数据在本机', textStyle: { bold: true, color: '#4FE0B0' } },&#10;                    ],&#10;                ]}&#10;            /&gt;&#10;        &lt;/Box&gt;&#10;        &lt;Box style={{ flex: 1, flexDirection: 'column', gap: 18 }}&gt;&#10;            &lt;Box style={{ flexDirection: 'column', gap: 10, padding: '22px 24px', background: 'rgba(232,238,247,0.05)', border: '1px solid rgba(232,238,247,0.12)', borderRadius: 12 }}&gt;&#10;                &lt;Text style={{ fontSize: 32, fontWeight: 'bold', color: '#4FE0B0' }}&gt;价值在哪&lt;/Text&gt;&#10;                &lt;Text style={{ fontSize: 26, color: '#E8EEF7', opacity: 0.8, lineHeight: 1.5 }}&gt;学生机房、备考自学、久坐办公都能用；零账号、默认零联网，适合批量部署。&lt;/Text&gt;&#10;            &lt;/Box&gt;&#10;            &lt;Box style={{ flexDirection: 'column', justifyContent: 'center', gap: 10, padding: '22px 24px', background: 'rgba(79,224,176,0.12)', border: '1px solid #4FE0B0', borderRadius: 12 }}&gt;&#10;                &lt;Text style={{ fontSize: 28, color: '#E8EEF7', lineHeight: 1.55 }}&gt;说到底就一句：把一件&quot;知道该做、却懒得去设&quot;的事，变成&lt;span style={{ color: '#4FE0B0', fontWeight: 'bold' }}&gt;说一句话&lt;/span&gt;的事。&lt;/Text&gt;&#10;            &lt;/Box&gt;&#10;        &lt;/Box&gt;&#10;    &lt;/Box&gt;&#10;    &lt;Box style={{ height: 60, flexDirection: 'row', alignItems: 'center', justifyContent: 'space-between' }}&gt;&#10;        &lt;Text style={{ fontSize: 22, color: '#E8EEF7', opacity: 0.45 }}&gt;知歇 ZhiXie · V1.0.0&lt;/Text&gt;&#10;        &lt;Text style={{ fontSize: 22, fontFamily: 'Consolas', color: '#E8EEF7', opacity: 0.45 }}&gt;29 / 3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33147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E8EEF7"/>
                </a:solidFill>
                <a:latin typeface="Microsoft YaHei"/>
                <a:ea typeface="Microsoft YaHei"/>
              </a:rPr>
              <a:t>和常用工具比</a:t>
            </a:r>
            <a:endParaRPr/>
          </a:p>
        </p:txBody>
      </p:sp>
      <p:graphicFrame>
        <p:nvGraphicFramePr>
          <p:cNvPr id="469" name=""/>
          <p:cNvGraphicFramePr/>
          <p:nvPr/>
        </p:nvGraphicFramePr>
        <p:xfrm rot="0" flipH="0" flipV="0">
          <a:off x="609600" y="1371600"/>
          <a:ext cx="6858000" cy="3619500"/>
        </p:xfrm>
        <a:graphic>
          <a:graphicData uri="http://schemas.openxmlformats.org/drawingml/2006/table">
            <a:tbl>
              <a:tblGrid>
                <a:gridCol w="2364181">
                  <a:extLst>
                    <a:ext uri="{9D8B030D-6E8A-4147-A177-3AD203B41FA5}">
                      <a16:colId val="1"/>
                    </a:ext>
                  </a:extLst>
                </a:gridCol>
                <a:gridCol w="1754372">
                  <a:extLst>
                    <a:ext uri="{9D8B030D-6E8A-4147-A177-3AD203B41FA5}">
                      <a16:colId val="2"/>
                    </a:ext>
                  </a:extLst>
                </a:gridCol>
                <a:gridCol w="2739447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239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对比项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常用工具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知歇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239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建一条提醒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填一堆表单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说一句话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239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断网的时候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多半歇菜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照样能用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239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到点锁屏 / 关机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基本没有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有，留 60 秒反悔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239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要不要账号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不少要登录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2100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不要，数据在本机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470" name=""/>
          <p:cNvSpPr/>
          <p:nvPr/>
        </p:nvSpPr>
        <p:spPr>
          <a:xfrm rot="0" flipH="0" flipV="0">
            <a:off x="7810500" y="1371600"/>
            <a:ext cx="3771900" cy="2228850"/>
          </a:xfrm>
          <a:prstGeom prst="roundRect">
            <a:avLst>
              <a:gd name="adj" fmla="val 5128"/>
            </a:avLst>
          </a:prstGeom>
          <a:solidFill>
            <a:srgbClr val="E8EEF7">
              <a:alpha val="5000"/>
            </a:srgbClr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8039100" y="1581150"/>
            <a:ext cx="33147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4FE0B0"/>
                </a:solidFill>
                <a:latin typeface="Microsoft YaHei"/>
                <a:ea typeface="Microsoft YaHei"/>
              </a:rPr>
              <a:t>价值在哪</a:t>
            </a:r>
            <a:endParaRPr/>
          </a:p>
        </p:txBody>
      </p:sp>
      <p:sp>
        <p:nvSpPr>
          <p:cNvPr id="472" name=""/>
          <p:cNvSpPr/>
          <p:nvPr/>
        </p:nvSpPr>
        <p:spPr>
          <a:xfrm rot="0" flipH="0" flipV="0">
            <a:off x="7810500" y="3771900"/>
            <a:ext cx="3771900" cy="1914525"/>
          </a:xfrm>
          <a:prstGeom prst="roundRect">
            <a:avLst>
              <a:gd name="adj" fmla="val 5970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8039100" y="3981450"/>
            <a:ext cx="3314700" cy="1495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说到底就一句：把一件</a:t>
            </a: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知道该做、却懒得去设</a:t>
            </a: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>"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的事，变成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说一句话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的事。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09600" y="895350"/>
            <a:ext cx="3314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别人填表单，我们说一句话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11344275" y="9620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29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8039100" y="2047875"/>
            <a:ext cx="3314700" cy="1343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学生机房、备考自学、久坐办公都能用；零账号、默认零联网，适合批量部署。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609600" y="6067425"/>
            <a:ext cx="1866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6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0934700" y="6067425"/>
            <a:ext cx="647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29 / 30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488" name="" descr="&lt;Slide style={{ width: 1280, height: 720, background: '#0B1220', padding: '20px 64px' }}&gt;&#10;    &lt;Box style={{ height: 680, flexDirection: 'column', justifyContent: 'center', alignItems: 'center', gap: 24 }}&gt;&#10;        &lt;svg width={520} height={168} viewBox='0 0 520 168'&gt;&#10;            &lt;circle cx='260' cy='168' r='150' fill='none' stroke='#4FE0B0' strokeWidth='1' opacity='0.18' /&gt;&#10;            &lt;circle cx='260' cy='168' r='112' fill='none' stroke='#4FE0B0' strokeWidth='1' opacity='0.30' /&gt;&#10;            &lt;circle cx='260' cy='168' r='74' fill='none' stroke='#4FE0B0' strokeWidth='1.5' opacity='0.50' /&gt;&#10;            &lt;path d='M110 168 A150 150 0 0 1 410 168' fill='none' stroke='#4FE0B0' strokeWidth='3' opacity='0.9' /&gt;&#10;            &lt;circle cx='260' cy='18' r='6' fill='#4FE0B0' /&gt;&#10;            &lt;path d='M260 18 L260 44' fill='none' stroke='#4FE0B0' strokeWidth='2' opacity='0.6' /&gt;&#10;        &lt;/svg&gt;&#10;        &lt;Text style={{ fontSize: 56, fontWeight: 'bold', color: '#E8EEF7', letterSpacing: 4 }}&gt;知时而歇，张弛有度&lt;/Text&gt;&#10;        &lt;Text style={{ fontSize: 28, color: '#4FE0B0', letterSpacing: 2 }}&gt;会听人话的桌面休息提醒&lt;/Text&gt;&#10;        &lt;Box style={{ height: 3, width: 150, background: 'linear-gradient(135deg, #4FE0B0 0%, #2E9E8F 100%)', borderRadius: 2, marginTop: 4 }} /&gt;&#10;        &lt;Text style={{ fontSize: 26, color: '#E8EEF7', opacity: 0.65, marginTop: 6 }}&gt;已经做完，官网可直接下载安装；Windows 和 macOS 都能用。&lt;/Text&gt;&#10;        &lt;Text style={{ fontSize: 26, color: '#E8EEF7', opacity: 0.65 }}&gt;我们希望做的，不是一个催你干活的工具，而是一个提醒你停下来的工具。&lt;/Text&gt;&#10;        &lt;Text style={{ fontSize: 22, color: '#E8EEF7', opacity: 0.5, letterSpacing: 1, marginTop: 10 }}&gt;创新主赛道 · AIGC 创新组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pic>
        <p:nvPicPr>
          <p:cNvPr id="4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19500" y="914400"/>
            <a:ext cx="4953000" cy="1600200"/>
          </a:xfrm>
          <a:prstGeom prst="rect">
            <a:avLst/>
          </a:prstGeom>
          <a:ln/>
        </p:spPr>
      </p:pic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3524250" y="2743200"/>
            <a:ext cx="51435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 spc="300">
                <a:solidFill>
                  <a:srgbClr val="E8EEF7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524375" y="3619500"/>
            <a:ext cx="31432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spc="150">
                <a:solidFill>
                  <a:srgbClr val="4FE0B0"/>
                </a:solidFill>
                <a:latin typeface="Microsoft YaHei"/>
                <a:ea typeface="Microsoft YaHei"/>
              </a:rPr>
              <a:t>会听人话的桌面休息提醒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5381625" y="4210050"/>
            <a:ext cx="142875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2600325" y="4524375"/>
            <a:ext cx="6991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已经做完，官网可直接下载安装；</a:t>
            </a:r>
            <a:r>
              <a:rPr lang="en-US" sz="195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195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和</a:t>
            </a:r>
            <a:r>
              <a:rPr lang="en-US" sz="195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195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都能用。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2009775" y="5057775"/>
            <a:ext cx="8172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我们希望做的，不是一个催你干活的工具，而是一个提醒你停下来的工具。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4800600" y="56864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6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AIGC </a:t>
            </a:r>
            <a:r>
              <a:rPr lang="zh-CN" sz="16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2026-10-11T20:14:30Z</dcterms:created>
  <dcterms:modified xsi:type="dcterms:W3CDTF">2026-10-11T20:14:30Z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{"AIGC":{"Label":"1","ContentProducer":"00119111010856365494821B355","ProduceID":"01a12aba25097342906d6b60594f8193","ReservedCode1":"","ContentPropagator":"00119111010856365494821B355","PropagateID":"01a12aba25097342906d6b60594f8193","ReservedCode2":""}}</vt:lpwstr>
  </property>
</Properties>
</file>