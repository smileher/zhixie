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20" Type="http://schemas.openxmlformats.org/officeDocument/2006/relationships/presProps" Target="presProps.xml" /><Relationship Id="rId2" Type="http://schemas.openxmlformats.org/officeDocument/2006/relationships/slide" Target="slides/slide2.xml" /><Relationship Id="rId19" Type="http://schemas.openxmlformats.org/officeDocument/2006/relationships/notesMaster" Target="notesMasters/notesMaster1.xml" /><Relationship Id="rId8" Type="http://schemas.openxmlformats.org/officeDocument/2006/relationships/slide" Target="slides/slide8.xml" /><Relationship Id="rId18" Type="http://schemas.openxmlformats.org/officeDocument/2006/relationships/slide" Target="slides/slide18.xml" /><Relationship Id="rId3" Type="http://schemas.openxmlformats.org/officeDocument/2006/relationships/slide" Target="slides/slide3.xml" /><Relationship Id="rId21" Type="http://schemas.openxmlformats.org/officeDocument/2006/relationships/tableStyles" Target="tableStyles.xml" /><Relationship Id="rId16" Type="http://schemas.openxmlformats.org/officeDocument/2006/relationships/slide" Target="slides/slide16.xml" /><Relationship Id="rId6" Type="http://schemas.openxmlformats.org/officeDocument/2006/relationships/slide" Target="slides/slide6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22" Type="http://schemas.openxmlformats.org/officeDocument/2006/relationships/viewProps" Target="viewProps.xml" /><Relationship Id="rId17" Type="http://schemas.openxmlformats.org/officeDocument/2006/relationships/slide" Target="slides/slide1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" name="" descr="&lt;Slide style={{ width: 1280, height: 720, background: '#0B1220', padding: '64px 80px', flexDirection: 'row', alignItems: 'center', justifyContent: 'space-between' }}&gt;&#10;    &lt;Box style={{ width: 640, flexDirection: 'column', gap: 18 }}&gt;&#10;        &lt;Box style={{ flexDirection: 'row', alignItems: 'center', gap: 14 }}&gt;&#10;            &lt;svg width={40} height={40} viewBox='0 0 40 40'&gt;&#10;                &lt;circle cx='20' cy='20' r='17' fill='none' stroke='#4FE0B0' strokeWidth='1' opacity='0.45' /&gt;&#10;                &lt;path d='M28 10 A17 17 0 1 0 28 30' fill='none' stroke='#4FE0B0' strokeWidth='2.5' /&gt;&#10;                &lt;rect x='15' y='15' width='2.4' height='10' rx='1.2' fill='#4FE0B0' /&gt;&#10;                &lt;rect x='20' y='15' width='2.4' height='10' rx='1.2' fill='#4FE0B0' /&gt;&#10;            &lt;/svg&gt;&#10;            &lt;Text style={{ fontSize: 15, color: '#E8EEF7', opacity: 0.5, letterSpacing: 6 }}&gt;Z H I X I E&lt;/Text&gt;&#10;        &lt;/Box&gt;&#10;        &lt;Text style={{ fontSize: 72, fontWeight: 'bold', color: '#E8EEF7', lineHeight: 1.15 }}&gt;知歇 &lt;span style={{ color: '#4FE0B0' }}&gt;ZhiXie&lt;/span&gt;&lt;/Text&gt;&#10;        &lt;Text style={{ fontSize: 26, color: '#4FE0B0', letterSpacing: 3 }}&gt;知时而歇，张弛有度&lt;/Text&gt;&#10;        &lt;Box style={{ height: 3, width: 120, background: 'linear-gradient(135deg, #4FE0B0 0%, #2E9E8F 100%)', borderRadius: 2 }} /&gt;&#10;        &lt;Text style={{ fontSize: 20, color: '#E8EEF7', opacity: 0.72, lineHeight: 1.6 }}&gt;会听人话的桌面休息提醒。&lt;br /&gt;说一句话，它就把提醒给你设好，到点把人从屏幕前拉开。&lt;/Text&gt;&#10;        &lt;Box style={{ flexDirection: 'row', alignItems: 'center', gap: 10, marginTop: 6 }}&gt;&#10;            &lt;svg width={22} height={22} viewBox='0 0 22 22'&gt;&#10;                &lt;circle cx='11' cy='11' r='10' fill='rgba(79,224,176,0.14)' stroke='#4FE0B0' strokeWidth='1.5' /&gt;&#10;                &lt;path d='M6 11 L9.5 14.5 L16 8' fill='none' stroke='#4FE0B0' strokeWidth='2' /&gt;&#10;            &lt;/svg&gt;&#10;            &lt;Text style={{ fontSize: 18, color: '#4FE0B0' }}&gt;已经做完 · 官网可直接下载安装&lt;/Text&gt;&#10;        &lt;/Box&gt;&#10;        &lt;Text style={{ fontSize: 16, color: '#E8EEF7', opacity: 0.5, letterSpacing: 1, marginTop: 6 }}&gt;创新主赛道 · AIGC 创新组&lt;/Text&gt;&#10;    &lt;/Box&gt;&#10;    &lt;Box style={{ width: 440, height: 440, justifyContent: 'center', alignItems: 'center' }}&gt;&#10;        &lt;svg width={440} height={440} viewBox='0 0 440 440'&gt;&#10;            &lt;circle cx='220' cy='220' r='200' fill='rgba(79,224,176,0.04)' /&gt;&#10;            &lt;circle cx='220' cy='220' r='200' fill='none' stroke='#4FE0B0' strokeWidth='1' opacity='0.16' /&gt;&#10;            &lt;circle cx='220' cy='220' r='146' fill='none' stroke='#4FE0B0' strokeWidth='1' opacity='0.26' /&gt;&#10;            &lt;circle cx='220' cy='220' r='92' fill='none' stroke='#4FE0B0' strokeWidth='1.5' opacity='0.45' /&gt;&#10;            &lt;circle cx='220' cy='220' r='5' fill='#4FE0B0' /&gt;&#10;            &lt;path d='M220 220 L392 112' fill='none' stroke='#4FE0B0' strokeWidth='2' opacity='0.65' /&gt;&#10;            &lt;path d='M330 128 A200 200 0 0 1 392 214' fill='none' stroke='#4FE0B0' strokeWidth='2.5' opacity='0.8' /&gt;&#10;            &lt;circle cx='392' cy='112' r='4' fill='#4FE0B0' /&gt;&#10;        &lt;/svg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457325"/>
            <a:ext cx="381000" cy="38100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2009775"/>
            <a:ext cx="6096000" cy="9525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>
                <a:solidFill>
                  <a:srgbClr val="E8EEF7"/>
                </a:solidFill>
                <a:latin typeface="Microsoft YaHei"/>
                <a:ea typeface="Microsoft YaHei"/>
              </a:rPr>
              <a:t>知歇</a:t>
            </a:r>
            <a:r>
              <a:rPr lang="en-US" sz="54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5400" b="1">
                <a:solidFill>
                  <a:srgbClr val="4FE0B0"/>
                </a:solidFill>
                <a:latin typeface="Microsoft YaHei"/>
                <a:ea typeface="Microsoft YaHei"/>
              </a:rPr>
              <a:t>ZhiXie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3133725"/>
            <a:ext cx="6096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225">
                <a:solidFill>
                  <a:srgbClr val="4FE0B0"/>
                </a:solidFill>
                <a:latin typeface="Microsoft YaHei"/>
                <a:ea typeface="Microsoft YaHei"/>
              </a:rPr>
              <a:t>知时而歇，张弛有度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762000" y="3609975"/>
            <a:ext cx="1143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4FE0B0"/>
              </a:gs>
              <a:gs pos="100000">
                <a:srgbClr val="2E9E8F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4772025"/>
            <a:ext cx="209550" cy="209550"/>
          </a:xfrm>
          <a:prstGeom prst="rect">
            <a:avLst/>
          </a:prstGeom>
          <a:ln/>
        </p:spPr>
      </p:pic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66800" y="4772025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FE0B0"/>
                </a:solidFill>
                <a:latin typeface="Microsoft YaHei"/>
                <a:ea typeface="Microsoft YaHei"/>
              </a:rPr>
              <a:t>已经做完</a:t>
            </a:r>
            <a:r>
              <a:rPr lang="en-US" sz="1350">
                <a:solidFill>
                  <a:srgbClr val="4FE0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FE0B0"/>
                </a:solidFill>
                <a:latin typeface="Microsoft YaHei"/>
                <a:ea typeface="Microsoft YaHei"/>
              </a:rPr>
              <a:t>官网可直接下载安装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239000" y="1333500"/>
            <a:ext cx="4191000" cy="4191000"/>
          </a:xfrm>
          <a:prstGeom prst="rect">
            <a:avLst/>
          </a:prstGeom>
          <a:ln/>
        </p:spPr>
      </p:pic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276350" y="1562100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Z H I X I E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3810000"/>
            <a:ext cx="60960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会听人话的桌面休息提醒。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说一句话，它就把提醒给你设好，到点把人从屏幕前拉开。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5210175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创新主赛道</a:t>
            </a:r>
            <a:r>
              <a:rPr lang="en-US" sz="1200" spc="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AIGC </a:t>
            </a:r>
            <a:r>
              <a:rPr lang="zh-CN" sz="1200" spc="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创新组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19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目录&lt;/Text&gt;&#10;            &lt;Text style={{ fontSize: 16, color: '#E8EEF7', opacity: 0.55, letterSpacing: 1 }}&gt;三章，跟着软件走一遍&lt;/Text&gt;&#10;        &lt;/Box&gt;&#10;        &lt;Text style={{ fontSize: 14, color: '#4FE0B0', letterSpacing: 3, opacity: 0.85 }}&gt;CONTENTS&lt;/Text&gt;&#10;    &lt;/Box&gt;&#10;    &lt;Box style={{ height: 500, flexDirection: 'row', gap: 44 }}&gt;&#10;        &lt;Box style={{ width: 288, flexDirection: 'column', justifyContent: 'center', gap: 20 }}&gt;&#10;            &lt;Text style={{ fontSize: 21, color: '#E8EEF7', opacity: 0.78, lineHeight: 1.7 }}&gt;它是干嘛的？&lt;br /&gt;具体怎么用？&lt;br /&gt;做得怎么样？&lt;/Text&gt;&#10;            &lt;Box style={{ height: 3, width: 88, background: 'linear-gradient(135deg, #4FE0B0 0%, #2E9E8F 100%)', borderRadius: 2 }} /&gt;&#10;            &lt;Text style={{ fontSize: 16, color: '#E8EEF7', opacity: 0.5, lineHeight: 1.6 }}&gt;本演示共 18 页，中间一章是重点：跟着屏幕，从一句话走到弹窗。&lt;/Text&gt;&#10;        &lt;/Box&gt;&#10;        &lt;Box style={{ flex: 1, flexDirection: 'column', gap: 18, justifyContent: 'center' }}&gt;&#10;            &lt;Box style={{ flexDirection: 'row', alignItems: 'center', gap: 24, padding: '20px 24px', background: 'rgba(232,238,247,0.04)', border: '1px solid rgba(232,238,247,0.10)', borderRadius: 12 }}&gt;&#10;                &lt;Box style={{ width: 60, height: 60, borderRadius: 30, background: 'rgba(79,224,176,0.10)', justifyContent: 'center', alignItems: 'center' }}&gt;&#10;                    &lt;Text style={{ fontSize: 20, fontWeight: 'bold', fontFamily: 'Consolas', color: '#4FE0B0' }}&gt;01&lt;/Text&gt;&#10;                &lt;/Box&gt;&#10;                &lt;Box style={{ flexDirection: 'column', gap: 6 }}&gt;&#10;                    &lt;Text style={{ fontSize: 24, fontWeight: 'bold', color: '#E8EEF7' }}&gt;这是什么、给谁用&lt;/Text&gt;&#10;                    &lt;Text style={{ fontSize: 16, color: '#E8EEF7', opacity: 0.62, lineHeight: 1.5 }}&gt;先讲清楚这是个什么东西、从哪下载、打开之后能看到什么、谁用得上。&lt;/Text&gt;&#10;                &lt;/Box&gt;&#10;                &lt;Text style={{ fontSize: 14, color: '#4FE0B0', opacity: 0.85 }}&gt;P03–P06&lt;/Text&gt;&#10;            &lt;/Box&gt;&#10;            &lt;Box style={{ flexDirection: 'row', alignItems: 'center', gap: 24, padding: '20px 24px', background: 'rgba(232,238,247,0.04)', border: '1px solid rgba(232,238,247,0.10)', borderRadius: 12 }}&gt;&#10;                &lt;Box style={{ width: 60, height: 60, borderRadius: 30, background: 'rgba(79,224,176,0.10)', justifyContent: 'center', alignItems: 'center' }}&gt;&#10;                    &lt;Text style={{ fontSize: 20, fontWeight: 'bold', fontFamily: 'Consolas', color: '#4FE0B0' }}&gt;02&lt;/Text&gt;&#10;                &lt;/Box&gt;&#10;                &lt;Box style={{ flexDirection: 'column', gap: 6 }}&gt;&#10;                    &lt;Text style={{ fontSize: 24, fontWeight: 'bold', color: '#E8EEF7' }}&gt;怎么用：从一句话到弹窗&lt;/Text&gt;&#10;                    &lt;Text style={{ fontSize: 16, color: '#E8EEF7', opacity: 0.62, lineHeight: 1.5 }}&gt;三步建好一条提醒，到点弹出什么、怎么推迟、怎么反悔，断网时又怎么办。&lt;/Text&gt;&#10;                &lt;/Box&gt;&#10;                &lt;Text style={{ fontSize: 14, color: '#4FE0B0', opacity: 0.85 }}&gt;P07–P12&lt;/Text&gt;&#10;            &lt;/Box&gt;&#10;            &lt;Box style={{ flexDirection: 'row', alignItems: 'center', gap: 24, padding: '20px 24px', background: 'rgba(232,238,247,0.04)', border: '1px solid rgba(232,238,247,0.10)', borderRadius: 12 }}&gt;&#10;                &lt;Box style={{ width: 60, height: 60, borderRadius: 30, background: 'rgba(79,224,176,0.10)', justifyContent: 'center', alignItems: 'center' }}&gt;&#10;                    &lt;Text style={{ fontSize: 20, fontWeight: 'bold', fontFamily: 'Consolas', color: '#4FE0B0' }}&gt;03&lt;/Text&gt;&#10;                &lt;/Box&gt;&#10;                &lt;Box style={{ flexDirection: 'column', gap: 6 }}&gt;&#10;                    &lt;Text style={{ fontSize: 24, fontWeight: 'bold', color: '#E8EEF7' }}&gt;做得怎么样&lt;/Text&gt;&#10;                    &lt;Text style={{ fontSize: 16, color: '#E8EEF7', opacity: 0.62, lineHeight: 1.5 }}&gt;已经做完的东西有多少、检查有多严、跟现在常用的工具有什么不一样。&lt;/Text&gt;&#10;                &lt;/Box&gt;&#10;                &lt;Text style={{ fontSize: 14, color: '#4FE0B0', opacity: 0.85 }}&gt;P13–P17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02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6192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3829050"/>
            <a:ext cx="8382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4FE0B0"/>
              </a:gs>
              <a:gs pos="100000">
                <a:srgbClr val="2E9E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3771900" y="1866900"/>
            <a:ext cx="7810500" cy="990600"/>
          </a:xfrm>
          <a:prstGeom prst="roundRect">
            <a:avLst>
              <a:gd name="adj" fmla="val 11538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4000500" y="20764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181475" y="22479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4FE0B0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800600" y="20574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7"/>
                </a:solidFill>
                <a:latin typeface="Microsoft YaHei"/>
                <a:ea typeface="Microsoft YaHei"/>
              </a:rPr>
              <a:t>这是什么、给谁用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3771900" y="3028950"/>
            <a:ext cx="7810500" cy="990600"/>
          </a:xfrm>
          <a:prstGeom prst="roundRect">
            <a:avLst>
              <a:gd name="adj" fmla="val 11538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4000500" y="32385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181475" y="34099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4FE0B0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800600" y="3219450"/>
            <a:ext cx="518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7"/>
                </a:solidFill>
                <a:latin typeface="Microsoft YaHei"/>
                <a:ea typeface="Microsoft YaHei"/>
              </a:rPr>
              <a:t>怎么用：从一句话到弹窗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3771900" y="4191000"/>
            <a:ext cx="7810500" cy="990600"/>
          </a:xfrm>
          <a:prstGeom prst="roundRect">
            <a:avLst>
              <a:gd name="adj" fmla="val 11538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4000500" y="44005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181475" y="45720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4FE0B0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800600" y="43815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7"/>
                </a:solidFill>
                <a:latin typeface="Microsoft YaHei"/>
                <a:ea typeface="Microsoft YaHei"/>
              </a:rPr>
              <a:t>做得怎么样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三章，跟着软件走一遍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620375" y="809625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4FE0B0">
                    <a:alpha val="85000"/>
                  </a:srgbClr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2743200" cy="1228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7">
                    <a:alpha val="78000"/>
                  </a:srgbClr>
                </a:solidFill>
                <a:latin typeface="Microsoft YaHei"/>
                <a:ea typeface="Microsoft YaHei"/>
              </a:rPr>
              <a:t>它是干嘛的？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7">
                    <a:alpha val="78000"/>
                  </a:srgbClr>
                </a:solidFill>
                <a:latin typeface="Microsoft YaHei"/>
                <a:ea typeface="Microsoft YaHei"/>
              </a:rPr>
              <a:t>具体怎么用？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7">
                    <a:alpha val="78000"/>
                  </a:srgbClr>
                </a:solidFill>
                <a:latin typeface="Microsoft YaHei"/>
                <a:ea typeface="Microsoft YaHei"/>
              </a:rPr>
              <a:t>做得怎么样？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4048125"/>
            <a:ext cx="2743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本演示共</a:t>
            </a:r>
            <a:r>
              <a:rPr lang="en-US" sz="12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18 </a:t>
            </a:r>
            <a:r>
              <a:rPr lang="zh-CN" sz="12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页，中间一章是重点：跟着屏幕，从一句话走到弹窗。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800600" y="239077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先讲清楚这是个什么东西、从哪下载、打开之后能看到什么、谁用得上。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906000" y="228600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FE0B0">
                    <a:alpha val="85000"/>
                  </a:srgbClr>
                </a:solidFill>
                <a:latin typeface="Microsoft YaHei"/>
                <a:ea typeface="Microsoft YaHei"/>
              </a:rPr>
              <a:t>P03–P06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800600" y="3552825"/>
            <a:ext cx="5181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三步建好一条提醒，到点弹出什么、怎么推迟、怎么反悔，断网时又怎么办。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210800" y="34480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FE0B0">
                    <a:alpha val="85000"/>
                  </a:srgbClr>
                </a:solidFill>
                <a:latin typeface="Microsoft YaHei"/>
                <a:ea typeface="Microsoft YaHei"/>
              </a:rPr>
              <a:t>P07–P12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800600" y="471487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已经做完的东西有多少、检查有多严、跟现在常用的工具有什么不一样。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906000" y="461010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FE0B0">
                    <a:alpha val="85000"/>
                  </a:srgbClr>
                </a:solidFill>
                <a:latin typeface="Microsoft YaHei"/>
                <a:ea typeface="Microsoft YaHei"/>
              </a:rPr>
              <a:t>P13–P17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47" name="" descr="&lt;Slide style={{ width: 1280, height: 720, background: '#0B1220', padding: '20px 64px' }}&gt;&#10;    &lt;Box style={{ height: 600, flexDirection: 'row', alignItems: 'center', gap: 64 }}&gt;&#10;        &lt;Text style={{ fontSize: 230, fontWeight: 'bold', fontFamily: 'Consolas', color: '#4FE0B0', opacity: 0.15, lineHeight: 1 }}&gt;01&lt;/Text&gt;&#10;        &lt;Box style={{ flexDirection: 'column', gap: 20, width: 560 }}&gt;&#10;            &lt;Text style={{ fontSize: 60, fontWeight: 'bold', color: '#E8EEF7', lineHeight: 1.15 }}&gt;这是什么、给谁用&lt;/Text&gt;&#10;            &lt;Box style={{ height: 4, width: 110, background: 'linear-gradient(135deg, #4FE0B0 0%, #2E9E8F 100%)', borderRadius: 2 }} /&gt;&#10;            &lt;Text style={{ fontSize: 20, color: '#E8EEF7', opacity: 0.72, lineHeight: 1.65 }}&gt;不先讲道理，先说清楚这是个什么东西、&lt;br /&gt;从哪儿能拿到、打开之后长什么样。&lt;/Text&gt;&#10;            &lt;Text style={{ fontSize: 15, fontFamily: 'Consolas', color: '#4FE0B0', letterSpacing: 2 }}&gt;P03 – P06&lt;/Text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03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657600" y="1885950"/>
            <a:ext cx="53340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500" b="1">
                <a:solidFill>
                  <a:srgbClr val="E8EEF7"/>
                </a:solidFill>
                <a:latin typeface="Microsoft YaHei"/>
                <a:ea typeface="Microsoft YaHei"/>
              </a:rPr>
              <a:t>这是什么、给谁用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3657600" y="2867025"/>
            <a:ext cx="1047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FE0B0"/>
              </a:gs>
              <a:gs pos="100000">
                <a:srgbClr val="2E9E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657600" y="4048125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4FE0B0"/>
                </a:solidFill>
                <a:latin typeface="Consolas"/>
                <a:ea typeface="Consolas"/>
              </a:rPr>
              <a:t>P03 – P06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2438400" cy="2628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0" b="1">
                <a:solidFill>
                  <a:srgbClr val="4FE0B0">
                    <a:alpha val="15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657600" y="3095625"/>
            <a:ext cx="5334000" cy="762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不先讲道理，先说清楚这是个什么东西、</a:t>
            </a:r>
            <a:endParaRPr/>
          </a:p>
          <a:p>
            <a:pPr>
              <a:lnSpc>
                <a:spcPct val="165000"/>
              </a:lnSpc>
            </a:pPr>
            <a:r>
              <a:rPr lang="zh-CN" sz="1500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从哪儿能拿到、打开之后长什么样。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256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不是不想休息，是工具不好用&lt;/Text&gt;&#10;            &lt;Text style={{ fontSize: 16, color: '#E8EEF7', opacity: 0.55, letterSpacing: 1 }}&gt;说白了就两条：设置太烦、提醒太容易被忽略&lt;/Text&gt;&#10;        &lt;/Box&gt;&#10;        &lt;Text style={{ fontSize: 14, fontFamily: 'Consolas', color: '#E8EEF7', opacity: 0.35 }}&gt;04&lt;/Text&gt;&#10;    &lt;/Box&gt;&#10;    &lt;Box style={{ height: 500, flexDirection: 'row', gap: 32 }}&gt;&#10;        &lt;Box style={{ width: 700, flexDirection: 'column', gap: 14, padding: 24, background: 'rgba(232,238,247,0.04)', border: '1px solid rgba(232,238,247,0.10)', borderRadius: 14 }}&gt;&#10;            &lt;Text style={{ fontSize: 24, fontWeight: 'bold', color: '#E8EEF7' }}&gt;毛病一 · 设置太麻烦&lt;/Text&gt;&#10;            &lt;Text style={{ fontSize: 16, color: '#E8EEF7', opacity: 0.62, lineHeight: 1.5 }}&gt;想设一条「每周一三五下午三点半」，得先把一整套表单弄明白。&lt;/Text&gt;&#10;            &lt;Box style={{ height: 186, flexDirection: 'column', justifyContent: 'center', alignItems: 'center', gap: 8, background: 'rgba(79,224,176,0.05)', border: '2px dashed rgba(79,224,176,0.55)', borderRadius: 10 }}&gt;&#10;                &lt;Text style={{ fontSize: 13, fontFamily: 'Consolas', color: '#4FE0B0', letterSpacing: 1 }}&gt;截图 ①&lt;/Text&gt;&#10;                &lt;Text style={{ fontSize: 16, fontWeight: 'bold', color: '#E8EEF7', textAlign: 'center' }}&gt;传统提醒工具的设置界面&lt;/Text&gt;&#10;                &lt;Text style={{ fontSize: 13, color: '#E8EEF7', opacity: 0.5, textAlign: 'center', lineHeight: 1.5 }}&gt;建议画面：时间选择器 + 重复规则 + 多级菜单，&lt;br /&gt;让人一眼看上去就觉得麻烦&lt;/Text&gt;&#10;            &lt;/Box&gt;&#10;            &lt;Box style={{ marginTop: 'auto', padding: '14px 18px', background: 'rgba(79,224,176,0.10)', borderRadius: 10 }}&gt;&#10;                &lt;Text style={{ fontSize: 16, color: '#E8EEF7', opacity: 0.85, lineHeight: 1.5 }}&gt;麻烦的不是点几下，而是得先弄懂「单次 / 每天 / 每周 / 每月」这套说法。&lt;/Text&gt;&#10;            &lt;/Box&gt;&#10;        &lt;/Box&gt;&#10;        &lt;Box style={{ flex: 1, flexDirection: 'column', gap: 14, padding: 24, background: 'rgba(232,238,247,0.04)', border: '1px solid rgba(232,238,247,0.10)', borderRadius: 14 }}&gt;&#10;            &lt;Text style={{ fontSize: 24, fontWeight: 'bold', color: '#E8EEF7' }}&gt;毛病二 · 提醒看腻了&lt;/Text&gt;&#10;            &lt;Text style={{ fontSize: 16, color: '#E8EEF7', opacity: 0.62, lineHeight: 1.5 }}&gt;同一句固定文案弹几次，眼睛就自动跳过去了。&lt;/Text&gt;&#10;            &lt;svg width={360} height={186} viewBox='0 0 360 186'&gt;&#10;                &lt;rect x='0' y='8' width='360' height='36' rx='8' fill='rgba(232,238,247,0.08)' stroke='rgba(232,238,247,0.18)' /&gt;&#10;                &lt;rect x='0' y='54' width='360' height='36' rx='8' fill='rgba(232,238,247,0.06)' stroke='rgba(232,238,247,0.14)' opacity='0.85' /&gt;&#10;                &lt;rect x='0' y='100' width='360' height='36' rx='8' fill='rgba(232,238,247,0.04)' stroke='rgba(232,238,247,0.10)' opacity='0.6' /&gt;&#10;                &lt;rect x='0' y='146' width='360' height='36' rx='8' fill='rgba(232,238,247,0.02)' stroke='rgba(232,238,247,0.07)' opacity='0.4' /&gt;&#10;                &lt;path d='M286 26 L332 26' fill='none' stroke='#4FE0B0' strokeWidth='2' opacity='0.7' /&gt;&#10;                &lt;path d='M286 72 L306 72' fill='none' stroke='#4FE0B0' strokeWidth='2' opacity='0.35' /&gt;&#10;                &lt;path d='M286 118 L294 118' fill='none' stroke='#4FE0B0' strokeWidth='2' opacity='0.18' /&gt;&#10;            &lt;/svg&gt;&#10;            &lt;Box style={{ marginTop: 'auto', padding: '14px 18px', background: 'rgba(79,224,176,0.10)', borderRadius: 10 }}&gt;&#10;                &lt;Text style={{ fontSize: 16, color: '#E8EEF7', opacity: 0.85, lineHeight: 1.5 }}&gt;提醒的&quot;劲儿&quot;随着重复次数一路递减，第三次之后就跟壁纸没区别。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04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44577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不是不想休息，是工具不好用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1143000"/>
            <a:ext cx="6667500" cy="4762500"/>
          </a:xfrm>
          <a:prstGeom prst="roundRect">
            <a:avLst>
              <a:gd name="adj" fmla="val 28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" y="1371600"/>
            <a:ext cx="6210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7"/>
                </a:solidFill>
                <a:latin typeface="Microsoft YaHei"/>
                <a:ea typeface="Microsoft YaHei"/>
              </a:rPr>
              <a:t>毛病一</a:t>
            </a:r>
            <a:r>
              <a:rPr lang="en-US" sz="18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E8EEF7"/>
                </a:solidFill>
                <a:latin typeface="Microsoft YaHei"/>
                <a:ea typeface="Microsoft YaHei"/>
              </a:rPr>
              <a:t>设置太麻烦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838200" y="2190750"/>
            <a:ext cx="6210300" cy="1771650"/>
          </a:xfrm>
          <a:prstGeom prst="roundRect">
            <a:avLst>
              <a:gd name="adj" fmla="val 5376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724275" y="260985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①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105150" y="2838450"/>
            <a:ext cx="16764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传统提醒工具的设置界面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838200" y="5133975"/>
            <a:ext cx="6210300" cy="542925"/>
          </a:xfrm>
          <a:prstGeom prst="roundRect">
            <a:avLst>
              <a:gd name="adj" fmla="val 17544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581900" y="1143000"/>
            <a:ext cx="4000500" cy="4762500"/>
          </a:xfrm>
          <a:prstGeom prst="roundRect">
            <a:avLst>
              <a:gd name="adj" fmla="val 3333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810500" y="1371600"/>
            <a:ext cx="3543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7"/>
                </a:solidFill>
                <a:latin typeface="Microsoft YaHei"/>
                <a:ea typeface="Microsoft YaHei"/>
              </a:rPr>
              <a:t>毛病二</a:t>
            </a:r>
            <a:r>
              <a:rPr lang="en-US" sz="18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E8EEF7"/>
                </a:solidFill>
                <a:latin typeface="Microsoft YaHei"/>
                <a:ea typeface="Microsoft YaHei"/>
              </a:rPr>
              <a:t>提醒看腻了</a:t>
            </a:r>
            <a:endParaRPr/>
          </a:p>
        </p:txBody>
      </p:sp>
      <p:pic>
        <p:nvPicPr>
          <p:cNvPr id="2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0" y="2190750"/>
            <a:ext cx="3429000" cy="1771650"/>
          </a:xfrm>
          <a:prstGeom prst="rect">
            <a:avLst/>
          </a:prstGeom>
          <a:ln/>
        </p:spPr>
      </p:pic>
      <p:sp>
        <p:nvSpPr>
          <p:cNvPr id="268" name=""/>
          <p:cNvSpPr/>
          <p:nvPr/>
        </p:nvSpPr>
        <p:spPr>
          <a:xfrm rot="0" flipH="0" flipV="0">
            <a:off x="7810500" y="4857750"/>
            <a:ext cx="3543300" cy="819150"/>
          </a:xfrm>
          <a:prstGeom prst="roundRect">
            <a:avLst>
              <a:gd name="adj" fmla="val 11628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说白了就两条：设置太烦、提醒太容易被忽略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430000" y="8096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350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1781175"/>
            <a:ext cx="6210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想设一条「每周一三五下午三点半」，得先把一整套表单弄明白。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2628900" y="3105150"/>
            <a:ext cx="2638425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建议画面：时间选择器</a:t>
            </a:r>
            <a:r>
              <a:rPr lang="en-US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重复规则</a:t>
            </a:r>
            <a:r>
              <a:rPr lang="en-US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多级菜单，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让人一眼看上去就觉得麻烦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09650" y="5267325"/>
            <a:ext cx="5867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麻烦的不是点几下，而是得先弄懂「单次</a:t>
            </a:r>
            <a:r>
              <a:rPr lang="en-US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每天</a:t>
            </a:r>
            <a:r>
              <a:rPr lang="en-US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每周</a:t>
            </a:r>
            <a:r>
              <a:rPr lang="en-US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每月」这套说法。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810500" y="1781175"/>
            <a:ext cx="3543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同一句固定文案弹几次，眼睛就自动跳过去了。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981950" y="4991100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提醒的</a:t>
            </a:r>
            <a:r>
              <a:rPr lang="en-US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劲儿</a:t>
            </a:r>
            <a:r>
              <a:rPr lang="en-US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随着重复次数一路递减，第三次之后就跟壁纸没区别。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278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它是什么，去哪下载&lt;/Text&gt;&#10;            &lt;Text style={{ fontSize: 16, color: '#E8EEF7', opacity: 0.55, letterSpacing: 1 }}&gt;一句话说完，再告诉您从哪儿拿&lt;/Text&gt;&#10;        &lt;/Box&gt;&#10;        &lt;Text style={{ fontSize: 14, fontFamily: 'Consolas', color: '#E8EEF7', opacity: 0.35 }}&gt;05&lt;/Text&gt;&#10;    &lt;/Box&gt;&#10;    &lt;Box style={{ height: 500, flexDirection: 'row', gap: 40, alignItems: 'center' }}&gt;&#10;        &lt;Box style={{ width: 610, flexDirection: 'column', gap: 12 }}&gt;&#10;            &lt;Box style={{ height: 320, flexDirection: 'column', justifyContent: 'center', alignItems: 'center', gap: 10, background: 'rgba(79,224,176,0.05)', border: '2px dashed rgba(79,224,176,0.55)', borderRadius: 12 }}&gt;&#10;                &lt;Text style={{ fontSize: 13, fontFamily: 'Consolas', color: '#4FE0B0', letterSpacing: 1 }}&gt;截图 ②&lt;/Text&gt;&#10;                &lt;Text style={{ fontSize: 20, fontWeight: 'bold', color: '#E8EEF7', textAlign: 'center' }}&gt;知歇官网首页&lt;/Text&gt;&#10;                &lt;Text style={{ fontSize: 13, color: '#E8EEF7', opacity: 0.5, textAlign: 'center', lineHeight: 1.6 }}&gt;建议画面：首屏能看到产品名、口号&lt;br /&gt;与下载按钮&lt;/Text&gt;&#10;            &lt;/Box&gt;&#10;            &lt;Box style={{ height: 128, flexDirection: 'column', justifyContent: 'center', alignItems: 'center', gap: 6, background: 'rgba(79,224,176,0.05)', border: '2px dashed rgba(79,224,176,0.55)', borderRadius: 12 }}&gt;&#10;                &lt;Text style={{ fontSize: 13, fontFamily: 'Consolas', color: '#4FE0B0', letterSpacing: 1 }}&gt;截图 ③&lt;/Text&gt;&#10;                &lt;Text style={{ fontSize: 17, fontWeight: 'bold', color: '#E8EEF7', textAlign: 'center' }}&gt;安装包 / 安装完成界面&lt;/Text&gt;&#10;                &lt;Text style={{ fontSize: 13, color: '#E8EEF7', opacity: 0.5, textAlign: 'center', lineHeight: 1.5 }}&gt;建议画面：安装向导完成页，或桌面上的知歇图标&lt;/Text&gt;&#10;            &lt;/Box&gt;&#10;        &lt;/Box&gt;&#10;        &lt;Box style={{ flex: 1, flexDirection: 'column', gap: 16 }}&gt;&#10;            &lt;Text style={{ fontSize: 21, color: '#E8EEF7', opacity: 0.85, lineHeight: 1.6 }}&gt;一款会听人话的桌面休息提醒工具：说一句话，软件里的智能体（就是那个帮你把话变成提醒的小助手）把它变成一条能用的提醒，到点用弹窗把人从屏幕前拉开。&lt;/Text&gt;&#10;            &lt;Box style={{ flexDirection: 'row', gap: 14, alignItems: 'center' }}&gt;&#10;                &lt;svg width={30} height={30} viewBox='0 0 30 30'&gt;&#10;                    &lt;circle cx='15' cy='15' r='13' fill='none' stroke='#4FE0B0' strokeWidth='1.5' /&gt;&#10;                    &lt;path d='M9 15 L13.5 20 L21 11' fill='none' stroke='#4FE0B0' strokeWidth='2.5' /&gt;&#10;                &lt;/svg&gt;&#10;                &lt;Text style={{ fontSize: 19, color: '#E8EEF7', lineHeight: 1.5 }}&gt;说一句话，提醒就设好了&lt;/Text&gt;&#10;            &lt;/Box&gt;&#10;            &lt;Box style={{ flexDirection: 'row', gap: 14, alignItems: 'center' }}&gt;&#10;                &lt;svg width={30} height={30} viewBox='0 0 30 30'&gt;&#10;                    &lt;circle cx='15' cy='15' r='13' fill='none' stroke='#4FE0B0' strokeWidth='1.5' /&gt;&#10;                    &lt;path d='M9 15 L13.5 20 L21 11' fill='none' stroke='#4FE0B0' strokeWidth='2.5' /&gt;&#10;                &lt;/svg&gt;&#10;                &lt;Text style={{ fontSize: 19, color: '#E8EEF7', lineHeight: 1.5 }}&gt;没网也照样能用&lt;/Text&gt;&#10;            &lt;/Box&gt;&#10;            &lt;Box style={{ flexDirection: 'row', gap: 14, alignItems: 'center' }}&gt;&#10;                &lt;svg width={30} height={30} viewBox='0 0 30 30'&gt;&#10;                    &lt;circle cx='15' cy='15' r='13' fill='none' stroke='#4FE0B0' strokeWidth='1.5' /&gt;&#10;                    &lt;path d='M9 15 L13.5 20 L21 11' fill='none' stroke='#4FE0B0' strokeWidth='2.5' /&gt;&#10;                &lt;/svg&gt;&#10;                &lt;Text style={{ fontSize: 19, color: '#E8EEF7', lineHeight: 1.5 }}&gt;数据都在自己电脑里，不用注册&lt;/Text&gt;&#10;            &lt;/Box&gt;&#10;            &lt;Box style={{ marginTop: 6, padding: '14px 18px', background: 'rgba(79,224,176,0.10)', borderRadius: 10 }}&gt;&#10;                &lt;Text style={{ fontSize: 16, color: '#E8EEF7', opacity: 0.9, lineHeight: 1.5 }}&gt;Windows 和 macOS 都能装，官网直接下载，装完打开就能用。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05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它是什么，去哪下载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1333500"/>
            <a:ext cx="5810250" cy="3048000"/>
          </a:xfrm>
          <a:prstGeom prst="roundRect">
            <a:avLst>
              <a:gd name="adj" fmla="val 3750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295650" y="2333625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②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2943225" y="2581275"/>
            <a:ext cx="1143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知歇官网首页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4495800"/>
            <a:ext cx="5810250" cy="1219200"/>
          </a:xfrm>
          <a:prstGeom prst="roundRect">
            <a:avLst>
              <a:gd name="adj" fmla="val 9375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3295650" y="47625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③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2714625" y="4972050"/>
            <a:ext cx="16002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安装包</a:t>
            </a:r>
            <a:r>
              <a:rPr lang="en-US" sz="1275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安装完成界面</a:t>
            </a:r>
            <a:endParaRPr/>
          </a:p>
        </p:txBody>
      </p:sp>
      <p:pic>
        <p:nvPicPr>
          <p:cNvPr id="2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00850" y="3371850"/>
            <a:ext cx="285750" cy="285750"/>
          </a:xfrm>
          <a:prstGeom prst="rect">
            <a:avLst/>
          </a:prstGeom>
          <a:ln/>
        </p:spPr>
      </p:pic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219950" y="3343275"/>
            <a:ext cx="19907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E8EEF7"/>
                </a:solidFill>
                <a:latin typeface="Microsoft YaHei"/>
                <a:ea typeface="Microsoft YaHei"/>
              </a:rPr>
              <a:t>说一句话，提醒就设好了</a:t>
            </a:r>
            <a:endParaRPr/>
          </a:p>
        </p:txBody>
      </p:sp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00850" y="3857625"/>
            <a:ext cx="285750" cy="285750"/>
          </a:xfrm>
          <a:prstGeom prst="rect">
            <a:avLst/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219950" y="3829050"/>
            <a:ext cx="12668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E8EEF7"/>
                </a:solidFill>
                <a:latin typeface="Microsoft YaHei"/>
                <a:ea typeface="Microsoft YaHei"/>
              </a:rPr>
              <a:t>没网也照样能用</a:t>
            </a:r>
            <a:endParaRPr/>
          </a:p>
        </p:txBody>
      </p:sp>
      <p:pic>
        <p:nvPicPr>
          <p:cNvPr id="2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00850" y="4343400"/>
            <a:ext cx="285750" cy="285750"/>
          </a:xfrm>
          <a:prstGeom prst="rect">
            <a:avLst/>
          </a:prstGeom>
          <a:ln/>
        </p:spPr>
      </p:pic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219950" y="4314825"/>
            <a:ext cx="25336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E8EEF7"/>
                </a:solidFill>
                <a:latin typeface="Microsoft YaHei"/>
                <a:ea typeface="Microsoft YaHei"/>
              </a:rPr>
              <a:t>数据都在自己电脑里，不用注册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800850" y="4857750"/>
            <a:ext cx="4781550" cy="542925"/>
          </a:xfrm>
          <a:prstGeom prst="roundRect">
            <a:avLst>
              <a:gd name="adj" fmla="val 17544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一句话说完，再告诉您从哪儿拿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430000" y="8096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35000"/>
                  </a:srgbClr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2524125" y="2905125"/>
            <a:ext cx="1981200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建议画面：首屏能看到产品名、口号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与下载按钮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2152650" y="5229225"/>
            <a:ext cx="2724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建议画面：安装向导完成页，或桌面上的知歇图标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800850" y="1647825"/>
            <a:ext cx="4781550" cy="1543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一款会听人话的桌面休息提醒工具：说一句话，软件里的智能体（就是那个帮你把话变成提醒的小助手）把它变成一条能用的提醒，到点用弹窗把人从屏幕前拉开。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972300" y="4991100"/>
            <a:ext cx="4438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8EEF7">
                    <a:alpha val="90000"/>
                  </a:srgbClr>
                </a:solidFill>
                <a:latin typeface="Microsoft YaHei"/>
                <a:ea typeface="Microsoft YaHei"/>
              </a:rPr>
              <a:t xml:space="preserve">Windows </a:t>
            </a:r>
            <a:r>
              <a:rPr lang="zh-CN" sz="1200">
                <a:solidFill>
                  <a:srgbClr val="E8EEF7">
                    <a:alpha val="90000"/>
                  </a:srgbClr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E8EEF7">
                    <a:alpha val="90000"/>
                  </a:srgbClr>
                </a:solidFill>
                <a:latin typeface="Microsoft YaHei"/>
                <a:ea typeface="Microsoft YaHei"/>
              </a:rPr>
              <a:t xml:space="preserve"> macOS </a:t>
            </a:r>
            <a:r>
              <a:rPr lang="zh-CN" sz="1200">
                <a:solidFill>
                  <a:srgbClr val="E8EEF7">
                    <a:alpha val="90000"/>
                  </a:srgbClr>
                </a:solidFill>
                <a:latin typeface="Microsoft YaHei"/>
                <a:ea typeface="Microsoft YaHei"/>
              </a:rPr>
              <a:t>都能装，官网直接下载，装完打开就能用。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02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打开软件，能看到什么&lt;/Text&gt;&#10;            &lt;Text style={{ fontSize: 16, color: '#E8EEF7', opacity: 0.55, letterSpacing: 1 }}&gt;顶栏五个入口，各管一件事&lt;/Text&gt;&#10;        &lt;/Box&gt;&#10;        &lt;Text style={{ fontSize: 14, fontFamily: 'Consolas', color: '#E8EEF7', opacity: 0.35 }}&gt;06&lt;/Text&gt;&#10;    &lt;/Box&gt;&#10;    &lt;Box style={{ height: 500, flexDirection: 'row', gap: 36 }}&gt;&#10;        &lt;Box style={{ width: 660, height: 460, flexDirection: 'column', justifyContent: 'center', alignItems: 'center', gap: 12, background: 'rgba(79,224,176,0.05)', border: '2px dashed rgba(79,224,176,0.55)', borderRadius: 14 }}&gt;&#10;            &lt;Text style={{ fontSize: 13, fontFamily: 'Consolas', color: '#4FE0B0', letterSpacing: 1 }}&gt;截图 ④&lt;/Text&gt;&#10;            &lt;Text style={{ fontSize: 22, fontWeight: 'bold', color: '#E8EEF7', textAlign: 'center' }}&gt;知歇主界面全貌&lt;/Text&gt;&#10;            &lt;Text style={{ fontSize: 14, color: '#E8EEF7', opacity: 0.5, textAlign: 'center', lineHeight: 1.7 }}&gt;建议画面：停在「休息节律」页，&lt;br /&gt;顶栏五个胶囊导航完整可见&lt;br /&gt;（休息节律 / 时间锚点 / 智能体 / 偏好调校 / 关于）&lt;/Text&gt;&#10;        &lt;/Box&gt;&#10;        &lt;Box style={{ flex: 1, flexDirection: 'column', gap: 10 }}&gt;&#10;            &lt;Box style={{ height: 80, flexDirection: 'column', justifyContent: 'center', gap: 4, padding: '0 18px', background: 'rgba(232,238,247,0.04)', border: '1px solid rgba(232,238,247,0.10)', borderRadius: 10 }}&gt;&#10;                &lt;Text style={{ fontSize: 19, fontWeight: 'bold', color: '#4FE0B0' }}&gt;休息节律&lt;/Text&gt;&#10;                &lt;Text style={{ fontSize: 15, color: '#E8EEF7', opacity: 0.7, lineHeight: 1.45 }}&gt;开关休息提醒、设间隔、写自己想看的那句话&lt;/Text&gt;&#10;            &lt;/Box&gt;&#10;            &lt;Box style={{ height: 80, flexDirection: 'column', justifyContent: 'center', gap: 4, padding: '0 18px', background: 'rgba(232,238,247,0.04)', border: '1px solid rgba(232,238,247,0.10)', borderRadius: 10 }}&gt;&#10;                &lt;Text style={{ fontSize: 19, fontWeight: 'bold', color: '#4FE0B0' }}&gt;时间锚点&lt;/Text&gt;&#10;                &lt;Text style={{ fontSize: 15, color: '#E8EEF7', opacity: 0.7, lineHeight: 1.45 }}&gt;所有定时提醒都在这儿管：单次、每天、每周、每月&lt;/Text&gt;&#10;            &lt;/Box&gt;&#10;            &lt;Box style={{ height: 80, flexDirection: 'column', justifyContent: 'center', gap: 4, padding: '0 18px', background: 'rgba(79,224,176,0.10)', border: '1px solid #4FE0B0', borderRadius: 10 }}&gt;&#10;                &lt;Text style={{ fontSize: 19, fontWeight: 'bold', color: '#4FE0B0' }}&gt;智能体&lt;/Text&gt;&#10;                &lt;Text style={{ fontSize: 15, color: '#E8EEF7', opacity: 0.78, lineHeight: 1.45 }}&gt;说一句话，让它帮你把提醒生成出来&lt;/Text&gt;&#10;            &lt;/Box&gt;&#10;            &lt;Box style={{ height: 80, flexDirection: 'column', justifyContent: 'center', gap: 4, padding: '0 18px', background: 'rgba(232,238,247,0.04)', border: '1px solid rgba(232,238,247,0.10)', borderRadius: 10 }}&gt;&#10;                &lt;Text style={{ fontSize: 19, fontWeight: 'bold', color: '#4FE0B0' }}&gt;偏好调校&lt;/Text&gt;&#10;                &lt;Text style={{ fontSize: 15, color: '#E8EEF7', opacity: 0.7, lineHeight: 1.45 }}&gt;弹窗长什么样、开不开机自启、备份和迁移&lt;/Text&gt;&#10;            &lt;/Box&gt;&#10;            &lt;Box style={{ height: 80, flexDirection: 'column', justifyContent: 'center', gap: 4, padding: '0 18px', background: 'rgba(232,238,247,0.04)', border: '1px solid rgba(232,238,247,0.10)', borderRadius: 10 }}&gt;&#10;                &lt;Text style={{ fontSize: 19, fontWeight: 'bold', color: '#4FE0B0' }}&gt;关于&lt;/Text&gt;&#10;                &lt;Text style={{ fontSize: 15, color: '#E8EEF7', opacity: 0.7, lineHeight: 1.45 }}&gt;版本号和产品介绍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06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打开软件，能看到什么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09600" y="1143000"/>
            <a:ext cx="6286500" cy="4381500"/>
          </a:xfrm>
          <a:prstGeom prst="roundRect">
            <a:avLst>
              <a:gd name="adj" fmla="val 3043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3533775" y="260985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④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019425" y="2876550"/>
            <a:ext cx="14668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E8EEF7"/>
                </a:solidFill>
                <a:latin typeface="Microsoft YaHei"/>
                <a:ea typeface="Microsoft YaHei"/>
              </a:rPr>
              <a:t>知歇主界面全貌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7239000" y="1143000"/>
            <a:ext cx="4343400" cy="762000"/>
          </a:xfrm>
          <a:prstGeom prst="roundRect">
            <a:avLst>
              <a:gd name="adj" fmla="val 125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410450" y="1266825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休息节律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7239000" y="2000250"/>
            <a:ext cx="4343400" cy="762000"/>
          </a:xfrm>
          <a:prstGeom prst="roundRect">
            <a:avLst>
              <a:gd name="adj" fmla="val 125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410450" y="2124075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时间锚点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239000" y="2857500"/>
            <a:ext cx="4343400" cy="762000"/>
          </a:xfrm>
          <a:prstGeom prst="roundRect">
            <a:avLst>
              <a:gd name="adj" fmla="val 12500"/>
            </a:avLst>
          </a:prstGeom>
          <a:solidFill>
            <a:srgbClr val="4FE0B0">
              <a:alpha val="10000"/>
            </a:srgbClr>
          </a:solidFill>
          <a:ln w="12700">
            <a:solidFill>
              <a:srgbClr val="4FE0B0"/>
            </a:solidFill>
            <a:prstDash val="solid"/>
          </a:ln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410450" y="2981325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7239000" y="3714750"/>
            <a:ext cx="4343400" cy="762000"/>
          </a:xfrm>
          <a:prstGeom prst="roundRect">
            <a:avLst>
              <a:gd name="adj" fmla="val 125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410450" y="3838575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偏好调校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7239000" y="4572000"/>
            <a:ext cx="4343400" cy="762000"/>
          </a:xfrm>
          <a:prstGeom prst="roundRect">
            <a:avLst>
              <a:gd name="adj" fmla="val 125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410450" y="4695825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关于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顶栏五个入口，各管一件事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430000" y="8096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35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2266950" y="3248025"/>
            <a:ext cx="2981325" cy="8191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建议画面：停在「休息节律」页，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顶栏五个胶囊导航完整可见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（休息节律</a:t>
            </a:r>
            <a:r>
              <a:rPr lang="en-US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时间锚点</a:t>
            </a:r>
            <a:r>
              <a:rPr lang="en-US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智能体</a:t>
            </a:r>
            <a:r>
              <a:rPr lang="en-US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偏好调校</a:t>
            </a:r>
            <a:r>
              <a:rPr lang="en-US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关于）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410450" y="15240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E8EEF7">
                    <a:alpha val="70000"/>
                  </a:srgbClr>
                </a:solidFill>
                <a:latin typeface="Microsoft YaHei"/>
                <a:ea typeface="Microsoft YaHei"/>
              </a:rPr>
              <a:t>开关休息提醒、设间隔、写自己想看的那句话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410450" y="238125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E8EEF7">
                    <a:alpha val="70000"/>
                  </a:srgbClr>
                </a:solidFill>
                <a:latin typeface="Microsoft YaHei"/>
                <a:ea typeface="Microsoft YaHei"/>
              </a:rPr>
              <a:t>所有定时提醒都在这儿管：单次、每天、每周、每月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410450" y="32385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E8EEF7">
                    <a:alpha val="78000"/>
                  </a:srgbClr>
                </a:solidFill>
                <a:latin typeface="Microsoft YaHei"/>
                <a:ea typeface="Microsoft YaHei"/>
              </a:rPr>
              <a:t>说一句话，让它帮你把提醒生成出来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410450" y="409575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E8EEF7">
                    <a:alpha val="70000"/>
                  </a:srgbClr>
                </a:solidFill>
                <a:latin typeface="Microsoft YaHei"/>
                <a:ea typeface="Microsoft YaHei"/>
              </a:rPr>
              <a:t>弹窗长什么样、开不开机自启、备份和迁移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410450" y="49530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E8EEF7">
                    <a:alpha val="70000"/>
                  </a:srgbClr>
                </a:solidFill>
                <a:latin typeface="Microsoft YaHei"/>
                <a:ea typeface="Microsoft YaHei"/>
              </a:rPr>
              <a:t>版本号和产品介绍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28" name="" descr="&lt;Slide style={{ width: 1280, height: 720, background: '#0B1220', padding: '20px 64px' }}&gt;&#10;    &lt;Box style={{ height: 600, flexDirection: 'row', alignItems: 'center', gap: 64 }}&gt;&#10;        &lt;Text style={{ fontSize: 230, fontWeight: 'bold', fontFamily: 'Consolas', color: '#4FE0B0', opacity: 0.15, lineHeight: 1 }}&gt;02&lt;/Text&gt;&#10;        &lt;Box style={{ flexDirection: 'column', gap: 20, width: 560 }}&gt;&#10;            &lt;Text style={{ fontSize: 60, fontWeight: 'bold', color: '#E8EEF7', lineHeight: 1.15 }}&gt;怎么用：&lt;br /&gt;从一句话到弹窗&lt;/Text&gt;&#10;            &lt;Box style={{ height: 4, width: 110, background: 'linear-gradient(135deg, #4FE0B0 0%, #2E9E8F 100%)', borderRadius: 2 }} /&gt;&#10;            &lt;Text style={{ fontSize: 20, color: '#E8EEF7', opacity: 0.72, lineHeight: 1.65 }}&gt;这一章是全篇重点：跟着屏幕走一遍，&lt;br /&gt;看一句话是怎么变成一次真正弹出来的提醒的。&lt;/Text&gt;&#10;            &lt;Text style={{ fontSize: 15, fontFamily: 'Consolas', color: '#4FE0B0', letterSpacing: 2 }}&gt;P07 – P12&lt;/Text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07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657600" y="1485900"/>
            <a:ext cx="53340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500" b="1">
                <a:solidFill>
                  <a:srgbClr val="E8EEF7"/>
                </a:solidFill>
                <a:latin typeface="Microsoft YaHei"/>
                <a:ea typeface="Microsoft YaHei"/>
              </a:rPr>
              <a:t>怎么用：</a:t>
            </a:r>
            <a:endParaRPr/>
          </a:p>
          <a:p>
            <a:pPr>
              <a:lnSpc>
                <a:spcPct val="114999"/>
              </a:lnSpc>
            </a:pPr>
            <a:r>
              <a:rPr lang="zh-CN" sz="4500" b="1">
                <a:solidFill>
                  <a:srgbClr val="E8EEF7"/>
                </a:solidFill>
                <a:latin typeface="Microsoft YaHei"/>
                <a:ea typeface="Microsoft YaHei"/>
              </a:rPr>
              <a:t>从一句话到弹窗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657600" y="3257550"/>
            <a:ext cx="1047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FE0B0"/>
              </a:gs>
              <a:gs pos="100000">
                <a:srgbClr val="2E9E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3657600" y="4438650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4FE0B0"/>
                </a:solidFill>
                <a:latin typeface="Consolas"/>
                <a:ea typeface="Consolas"/>
              </a:rPr>
              <a:t>P07 – P12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2438400" cy="2628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0" b="1">
                <a:solidFill>
                  <a:srgbClr val="4FE0B0">
                    <a:alpha val="15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657600" y="3486150"/>
            <a:ext cx="5334000" cy="762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这一章是全篇重点：跟着屏幕走一遍，</a:t>
            </a:r>
            <a:endParaRPr/>
          </a:p>
          <a:p>
            <a:pPr>
              <a:lnSpc>
                <a:spcPct val="165000"/>
              </a:lnSpc>
            </a:pPr>
            <a:r>
              <a:rPr lang="zh-CN" sz="1500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看一句话是怎么变成一次真正弹出来的提醒的。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37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一句话建提醒，只要三步&lt;/Text&gt;&#10;            &lt;Text style={{ fontSize: 16, color: '#E8EEF7', opacity: 0.55, letterSpacing: 1 }}&gt;不用填表单，不用学规则&lt;/Text&gt;&#10;        &lt;/Box&gt;&#10;        &lt;Text style={{ fontSize: 14, fontFamily: 'Consolas', color: '#4FE0B0', opacity: 0.8 }}&gt;核心演示&lt;/Text&gt;&#10;    &lt;/Box&gt;&#10;    &lt;Box style={{ height: 500, flexDirection: 'column', gap: 14 }}&gt;&#10;        &lt;Box style={{ height: 56, flexDirection: 'row', alignItems: 'center', justifyContent: 'center', background: 'rgba(232,238,247,0.06)', border: '1px solid rgba(232,238,247,0.18)', borderRadius: 10 }}&gt;&#10;            &lt;Text style={{ fontSize: 18, color: '#E8EEF7' }}&gt;只要说一句：「每周一三五下午三点半提醒我站起来活动，顺便锁屏」&lt;/Text&gt;&#10;        &lt;/Box&gt;&#10;        &lt;Box style={{ flexDirection: 'row', gap: 20 }}&gt;&#10;            &lt;Box style={{ flex: 1, flexDirection: 'column', gap: 8 }}&gt;&#10;                &lt;Box style={{ height: 260, flexDirection: 'column', justifyContent: 'center', alignItems: 'center', gap: 8, background: 'rgba(79,224,176,0.05)', border: '2px dashed rgba(79,224,176,0.55)', borderRadius: 10, padding: '0 14px' }}&gt;&#10;                    &lt;Text style={{ fontSize: 13, fontFamily: 'Consolas', color: '#4FE0B0', letterSpacing: 1 }}&gt;截图 ⑤&lt;/Text&gt;&#10;                    &lt;Text style={{ fontSize: 17, fontWeight: 'bold', color: '#E8EEF7', textAlign: 'center' }}&gt;智能体页 · 输入一句话&lt;/Text&gt;&#10;                    &lt;Text style={{ fontSize: 12, color: '#E8EEF7', opacity: 0.5, textAlign: 'center', lineHeight: 1.5 }}&gt;建议画面：输入框里有这句话，&lt;br /&gt;顶部的模式胶囊可见&lt;/Text&gt;&#10;                &lt;/Box&gt;&#10;                &lt;Text style={{ fontSize: 18, fontWeight: 'bold', color: '#4FE0B0' }}&gt;第一步 · 说一句话&lt;/Text&gt;&#10;                &lt;Text style={{ fontSize: 14, color: '#E8EEF7', opacity: 0.65, lineHeight: 1.5 }}&gt;时间、重复、要干什么说清楚就行，语序随便。&lt;/Text&gt;&#10;            &lt;/Box&gt;&#10;            &lt;Box style={{ flex: 1, flexDirection: 'column', gap: 8 }}&gt;&#10;                &lt;Box style={{ height: 260, flexDirection: 'column', justifyContent: 'center', alignItems: 'center', gap: 8, background: 'rgba(79,224,176,0.05)', border: '2px dashed rgba(79,224,176,0.55)', borderRadius: 10, padding: '0 14px' }}&gt;&#10;                    &lt;Text style={{ fontSize: 13, fontFamily: 'Consolas', color: '#4FE0B0', letterSpacing: 1 }}&gt;截图 ⑥&lt;/Text&gt;&#10;                    &lt;Text style={{ fontSize: 17, fontWeight: 'bold', color: '#E8EEF7', textAlign: 'center' }}&gt;智能体页 · 解析结果&lt;/Text&gt;&#10;                    &lt;Text style={{ fontSize: 12, color: '#E8EEF7', opacity: 0.5, textAlign: 'center', lineHeight: 1.5 }}&gt;建议画面：列出 类型 / 时间 / 重复 / 系统操作，&lt;br /&gt;并标注结果来源&lt;/Text&gt;&#10;                &lt;/Box&gt;&#10;                &lt;Text style={{ fontSize: 18, fontWeight: 'bold', color: '#4FE0B0' }}&gt;第二步 · 看结果&lt;/Text&gt;&#10;                &lt;Text style={{ fontSize: 14, color: '#E8EEF7', opacity: 0.65, lineHeight: 1.5 }}&gt;四个字段摊开摆在你面前，对不对一眼看得出。&lt;/Text&gt;&#10;            &lt;/Box&gt;&#10;            &lt;Box style={{ flex: 1, flexDirection: 'column', gap: 8 }}&gt;&#10;                &lt;Box style={{ height: 260, flexDirection: 'column', justifyContent: 'center', alignItems: 'center', gap: 8, background: 'rgba(79,224,176,0.05)', border: '2px dashed rgba(79,224,176,0.55)', borderRadius: 10, padding: '0 14px' }}&gt;&#10;                    &lt;Text style={{ fontSize: 13, fontFamily: 'Consolas', color: '#4FE0B0', letterSpacing: 1 }}&gt;截图 ⑦&lt;/Text&gt;&#10;                    &lt;Text style={{ fontSize: 17, fontWeight: 'bold', color: '#E8EEF7', textAlign: 'center' }}&gt;时间锚点页 · 已加入&lt;/Text&gt;&#10;                    &lt;Text style={{ fontSize: 12, color: '#E8EEF7', opacity: 0.5, textAlign: 'center', lineHeight: 1.5 }}&gt;建议画面：列表顶部出现新锚点，&lt;br /&gt;显示下次触发时间&lt;/Text&gt;&#10;                &lt;/Box&gt;&#10;                &lt;Text style={{ fontSize: 18, fontWeight: 'bold', color: '#4FE0B0' }}&gt;第三步 · 点一下加入&lt;/Text&gt;&#10;                &lt;Text style={{ fontSize: 14, color: '#E8EEF7', opacity: 0.65, lineHeight: 1.5 }}&gt;自动跳到锚点页，这条提醒已经能用了。&lt;/Text&gt;&#10;            &lt;/Box&gt;&#10;        &lt;/Box&gt;&#10;        &lt;Box style={{ height: 56, flexDirection: 'row', alignItems: 'center', padding: '0 20px', background: 'rgba(79,224,176,0.12)', border: '1px solid #4FE0B0', borderRadius: 10 }}&gt;&#10;            &lt;Text style={{ fontSize: 17, color: '#E8EEF7', opacity: 0.9 }}&gt;全程没填过一张表单——原来要点五六下、还得先学一套说法的事，现在说一句话就完了。&lt;/Text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08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3771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一句话建提醒，只要三步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114300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E8EEF7">
              <a:alpha val="6000"/>
            </a:srgbClr>
          </a:solidFill>
          <a:ln w="12700">
            <a:solidFill>
              <a:srgbClr val="E8EEF7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438525" y="1304925"/>
            <a:ext cx="5314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8EEF7"/>
                </a:solidFill>
                <a:latin typeface="Microsoft YaHei"/>
                <a:ea typeface="Microsoft YaHei"/>
              </a:rPr>
              <a:t>只要说一句：「每周一三五下午三点半提醒我站起来活动，顺便锁屏」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09600" y="1809750"/>
            <a:ext cx="3533775" cy="2476500"/>
          </a:xfrm>
          <a:prstGeom prst="roundRect">
            <a:avLst>
              <a:gd name="adj" fmla="val 3846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2152650" y="25908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⑤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1571625" y="2819400"/>
            <a:ext cx="160972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智能体页</a:t>
            </a:r>
            <a:r>
              <a:rPr lang="en-US" sz="1275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输入一句话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4362450"/>
            <a:ext cx="3533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FE0B0"/>
                </a:solidFill>
                <a:latin typeface="Microsoft YaHei"/>
                <a:ea typeface="Microsoft YaHei"/>
              </a:rPr>
              <a:t>第一步</a:t>
            </a:r>
            <a:r>
              <a:rPr lang="en-US" sz="1350" b="1">
                <a:solidFill>
                  <a:srgbClr val="4FE0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4FE0B0"/>
                </a:solidFill>
                <a:latin typeface="Microsoft YaHei"/>
                <a:ea typeface="Microsoft YaHei"/>
              </a:rPr>
              <a:t>说一句话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333875" y="1809750"/>
            <a:ext cx="3524250" cy="2476500"/>
          </a:xfrm>
          <a:prstGeom prst="roundRect">
            <a:avLst>
              <a:gd name="adj" fmla="val 3846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876925" y="25908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⑥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372100" y="2819400"/>
            <a:ext cx="14478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智能体页</a:t>
            </a:r>
            <a:r>
              <a:rPr lang="en-US" sz="1275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解析结果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333875" y="4362450"/>
            <a:ext cx="3524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FE0B0"/>
                </a:solidFill>
                <a:latin typeface="Microsoft YaHei"/>
                <a:ea typeface="Microsoft YaHei"/>
              </a:rPr>
              <a:t>第二步</a:t>
            </a:r>
            <a:r>
              <a:rPr lang="en-US" sz="1350" b="1">
                <a:solidFill>
                  <a:srgbClr val="4FE0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4FE0B0"/>
                </a:solidFill>
                <a:latin typeface="Microsoft YaHei"/>
                <a:ea typeface="Microsoft YaHei"/>
              </a:rPr>
              <a:t>看结果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8048625" y="1809750"/>
            <a:ext cx="3533775" cy="2476500"/>
          </a:xfrm>
          <a:prstGeom prst="roundRect">
            <a:avLst>
              <a:gd name="adj" fmla="val 3846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9591675" y="25908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⑦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9096375" y="2819400"/>
            <a:ext cx="14478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时间锚点页</a:t>
            </a:r>
            <a:r>
              <a:rPr lang="en-US" sz="1275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已加入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048625" y="4362450"/>
            <a:ext cx="3533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FE0B0"/>
                </a:solidFill>
                <a:latin typeface="Microsoft YaHei"/>
                <a:ea typeface="Microsoft YaHei"/>
              </a:rPr>
              <a:t>第三步</a:t>
            </a:r>
            <a:r>
              <a:rPr lang="en-US" sz="1350" b="1">
                <a:solidFill>
                  <a:srgbClr val="4FE0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4FE0B0"/>
                </a:solidFill>
                <a:latin typeface="Microsoft YaHei"/>
                <a:ea typeface="Microsoft YaHei"/>
              </a:rPr>
              <a:t>点一下加入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09600" y="502920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4FE0B0">
              <a:alpha val="12000"/>
            </a:srgbClr>
          </a:solidFill>
          <a:ln w="12700">
            <a:solidFill>
              <a:srgbClr val="4FE0B0"/>
            </a:solidFill>
            <a:prstDash val="solid"/>
          </a:ln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不用填表单，不用学规则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049000" y="8096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FE0B0">
                    <a:alpha val="80000"/>
                  </a:srgbClr>
                </a:solidFill>
                <a:latin typeface="Consolas"/>
                <a:ea typeface="Consolas"/>
              </a:rPr>
              <a:t>核心演示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581150" y="3095625"/>
            <a:ext cx="1600200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建议画面：输入框里有这句话，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顶部的模式胶囊可见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35337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时间、重复、要干什么说清楚就行，语序随便。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905375" y="3095625"/>
            <a:ext cx="2381250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建议画面：列出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类型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时间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重复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系统操作，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并标注结果来源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333875" y="4648200"/>
            <a:ext cx="3524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四个字段摊开摆在你面前，对不对一眼看得出。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963025" y="3095625"/>
            <a:ext cx="1714500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建议画面：列表顶部出现新锚点，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显示下次触发时间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048625" y="4648200"/>
            <a:ext cx="35337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自动跳到锚点页，这条提醒已经能用了。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00100" y="5200650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7">
                    <a:alpha val="90000"/>
                  </a:srgbClr>
                </a:solidFill>
                <a:latin typeface="Microsoft YaHei"/>
                <a:ea typeface="Microsoft YaHei"/>
              </a:rPr>
              <a:t>全程没填过一张表单——原来要点五六下、还得先学一套说法的事，现在说一句话就完了。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66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说人话就行&lt;/Text&gt;&#10;            &lt;Text style={{ fontSize: 16, color: '#E8EEF7', opacity: 0.55, letterSpacing: 1 }}&gt;平时怎么说话，就怎么输&lt;/Text&gt;&#10;        &lt;/Box&gt;&#10;        &lt;Text style={{ fontSize: 14, fontFamily: 'Consolas', color: '#E8EEF7', opacity: 0.35 }}&gt;09&lt;/Text&gt;&#10;    &lt;/Box&gt;&#10;    &lt;Box style={{ height: 500, flexDirection: 'row', gap: 32 }}&gt;&#10;        &lt;Box style={{ width: 320, flexDirection: 'column', justifyContent: 'space-between', padding: 22, background: 'rgba(79,224,176,0.08)', border: '1px solid rgba(79,224,176,0.35)', borderRadius: 14 }}&gt;&#10;            &lt;Box style={{ flexDirection: 'column', gap: 14 }}&gt;&#10;                &lt;Text style={{ fontSize: 24, fontWeight: 'bold', color: '#E8EEF7', lineHeight: 1.35 }}&gt;不用套模板&lt;br /&gt;不用背关键词&lt;/Text&gt;&#10;                &lt;Box style={{ height: 3, width: 80, background: 'linear-gradient(135deg, #4FE0B0 0%, #2E9E8F 100%)', borderRadius: 2 }} /&gt;&#10;                &lt;Text style={{ fontSize: 15, color: '#E8EEF7', opacity: 0.72, lineHeight: 1.6 }}&gt;时间、重复、要干什么说清楚就行，语序随便；「下午三点」「30分钟后」「每周一三五」这种连着写的说法也都认。&lt;/Text&gt;&#10;            &lt;/Box&gt;&#10;            &lt;Box style={{ flexDirection: 'column', gap: 6, paddingTop: 14, borderTop: '1px solid rgba(232,238,247,0.14)' }}&gt;&#10;                &lt;Text style={{ fontSize: 14, color: '#E8EEF7', opacity: 0.6, lineHeight: 1.5 }}&gt;真没听懂的句子，会当成一条单次提醒，把你原话留作标题——不报错，也不丢。&lt;/Text&gt;&#10;            &lt;/Box&gt;&#10;        &lt;/Box&gt;&#10;        &lt;Box style={{ flex: 1, flexDirection: 'column', gap: 8 }}&gt;&#10;            &lt;Box style={{ height: 28, flexDirection: 'row', alignItems: 'center', paddingBottom: 6, borderBottom: '1px solid rgba(232,238,247,0.14)' }}&gt;&#10;                &lt;Text style={{ width: 430, fontSize: 14, color: '#E8EEF7', opacity: 0.5, letterSpacing: 1 }}&gt;你说的（日常口语）&lt;/Text&gt;&#10;                &lt;Text style={{ flex: 1, fontSize: 14, color: '#E8EEF7', opacity: 0.5, letterSpacing: 1 }}&gt;软件理解成&lt;/Text&gt;&#10;            &lt;/Box&gt;&#10;            &lt;Box style={{ height: 54, flexDirection: 'row', alignItems: 'center', padding: '0 18px', background: 'rgba(232,238,247,0.04)', border: '1px solid rgba(232,238,247,0.10)', borderRadius: 10 }}&gt;&#10;                &lt;Text style={{ width: 430, fontSize: 16, color: '#E8EEF7' }}&gt;「每天下午三点提醒我喝水」&lt;/Text&gt;&#10;                &lt;Text style={{ flex: 1, fontSize: 16, color: '#4FE0B0' }}&gt;每天 · 15:00&lt;/Text&gt;&#10;            &lt;/Box&gt;&#10;            &lt;Box style={{ height: 54, flexDirection: 'row', alignItems: 'center', padding: '0 18px', background: 'rgba(232,238,247,0.04)', border: '1px solid rgba(232,238,247,0.10)', borderRadius: 10 }}&gt;&#10;                &lt;Text style={{ width: 430, fontSize: 16, color: '#E8EEF7' }}&gt;「30分钟后提醒我起来接水」&lt;/Text&gt;&#10;                &lt;Text style={{ flex: 1, fontSize: 16, color: '#4FE0B0' }}&gt;一次 · 30 分钟后&lt;/Text&gt;&#10;            &lt;/Box&gt;&#10;            &lt;Box style={{ height: 54, flexDirection: 'row', alignItems: 'center', padding: '0 18px', background: 'rgba(232,238,247,0.04)', border: '1px solid rgba(232,238,247,0.10)', borderRadius: 10 }}&gt;&#10;                &lt;Text style={{ width: 430, fontSize: 16, color: '#E8EEF7' }}&gt;「每周一三五 17:30 提醒我锁屏」&lt;/Text&gt;&#10;                &lt;Text style={{ flex: 1, fontSize: 16, color: '#4FE0B0' }}&gt;每周一 / 三 / 五 · 17:30 · 锁屏&lt;/Text&gt;&#10;            &lt;/Box&gt;&#10;            &lt;Box style={{ height: 54, flexDirection: 'row', alignItems: 'center', padding: '0 18px', background: 'rgba(232,238,247,0.04)', border: '1px solid rgba(232,238,247,0.10)', borderRadius: 10 }}&gt;&#10;                &lt;Text style={{ width: 430, fontSize: 16, color: '#E8EEF7' }}&gt;「明天早上八点提醒我交作业」&lt;/Text&gt;&#10;                &lt;Text style={{ flex: 1, fontSize: 16, color: '#4FE0B0' }}&gt;一次 · 明天 08:00&lt;/Text&gt;&#10;            &lt;/Box&gt;&#10;            &lt;Box style={{ height: 54, flexDirection: 'row', alignItems: 'center', padding: '0 18px', background: 'rgba(232,238,247,0.04)', border: '1px solid rgba(232,238,247,0.10)', borderRadius: 10 }}&gt;&#10;                &lt;Text style={{ width: 430, fontSize: 16, color: '#E8EEF7' }}&gt;「晚上十一点提醒我锁屏睡觉」&lt;/Text&gt;&#10;                &lt;Text style={{ flex: 1, fontSize: 16, color: '#4FE0B0' }}&gt;每天 · 23:00 · 锁屏&lt;/Text&gt;&#10;            &lt;/Box&gt;&#10;            &lt;Box style={{ height: 110, flexDirection: 'column', justifyContent: 'center', alignItems: 'center', gap: 6, background: 'rgba(79,224,176,0.05)', border: '2px dashed rgba(79,224,176,0.55)', borderRadius: 10, marginTop: 4 }}&gt;&#10;                &lt;Text style={{ fontSize: 13, fontFamily: 'Consolas', color: '#4FE0B0', letterSpacing: 1 }}&gt;截图 ⑧&lt;/Text&gt;&#10;                &lt;Text style={{ fontSize: 16, fontWeight: 'bold', color: '#E8EEF7', textAlign: 'center' }}&gt;智能体页 · 任意一条解析结果&lt;/Text&gt;&#10;                &lt;Text style={{ fontSize: 12, color: '#E8EEF7', opacity: 0.5, textAlign: 'center', lineHeight: 1.5 }}&gt;建议画面：任选一句口语，展示它被拆成四个字段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09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7811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说人话就行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09600" y="1143000"/>
            <a:ext cx="3048000" cy="4762500"/>
          </a:xfrm>
          <a:prstGeom prst="roundRect">
            <a:avLst>
              <a:gd name="adj" fmla="val 4375"/>
            </a:avLst>
          </a:prstGeom>
          <a:solidFill>
            <a:srgbClr val="4FE0B0">
              <a:alpha val="8000"/>
            </a:srgbClr>
          </a:solidFill>
          <a:ln w="12700">
            <a:solidFill>
              <a:srgbClr val="4FE0B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19150" y="1352550"/>
            <a:ext cx="2628900" cy="742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E8EEF7"/>
                </a:solidFill>
                <a:latin typeface="Microsoft YaHei"/>
                <a:ea typeface="Microsoft YaHei"/>
              </a:rPr>
              <a:t>不用套模板</a:t>
            </a:r>
            <a:endParaRPr/>
          </a:p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E8EEF7"/>
                </a:solidFill>
                <a:latin typeface="Microsoft YaHei"/>
                <a:ea typeface="Microsoft YaHei"/>
              </a:rPr>
              <a:t>不用背关键词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819150" y="2228850"/>
            <a:ext cx="762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4FE0B0"/>
              </a:gs>
              <a:gs pos="100000">
                <a:srgbClr val="2E9E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819150" y="5067300"/>
            <a:ext cx="2628900" cy="638175"/>
          </a:xfrm>
          <a:custGeom>
            <a:pathLst>
              <a:path w="276" h="67">
                <a:moveTo>
                  <a:pt x="0" y="0"/>
                </a:moveTo>
                <a:lnTo>
                  <a:pt x="276" y="0"/>
                </a:lnTo>
                <a:lnTo>
                  <a:pt x="27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7">
              <a:alpha val="14000"/>
            </a:srgbClr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3962400" y="1143000"/>
            <a:ext cx="7620000" cy="266700"/>
          </a:xfrm>
          <a:custGeom>
            <a:pathLst>
              <a:path w="800" h="28">
                <a:moveTo>
                  <a:pt x="0" y="27"/>
                </a:moveTo>
                <a:lnTo>
                  <a:pt x="800" y="27"/>
                </a:lnTo>
                <a:lnTo>
                  <a:pt x="80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E8EEF7">
              <a:alpha val="14000"/>
            </a:srgbClr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3962400" y="1485900"/>
            <a:ext cx="7620000" cy="514350"/>
          </a:xfrm>
          <a:prstGeom prst="roundRect">
            <a:avLst>
              <a:gd name="adj" fmla="val 18519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133850" y="164782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「每天下午三点提醒我喝水」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229600" y="1647825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每天</a:t>
            </a:r>
            <a:r>
              <a:rPr lang="en-US" sz="1200">
                <a:solidFill>
                  <a:srgbClr val="4FE0B0"/>
                </a:solidFill>
                <a:latin typeface="Microsoft YaHei"/>
                <a:ea typeface="Microsoft YaHei"/>
              </a:rPr>
              <a:t xml:space="preserve"> · 15:00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3962400" y="2076450"/>
            <a:ext cx="7620000" cy="514350"/>
          </a:xfrm>
          <a:prstGeom prst="roundRect">
            <a:avLst>
              <a:gd name="adj" fmla="val 18519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133850" y="223837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「</a:t>
            </a:r>
            <a:r>
              <a:rPr lang="en-US" sz="1200">
                <a:solidFill>
                  <a:srgbClr val="E8EEF7"/>
                </a:solidFill>
                <a:latin typeface="Microsoft YaHei"/>
                <a:ea typeface="Microsoft YaHei"/>
              </a:rPr>
              <a:t>30</a:t>
            </a: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分钟后提醒我起来接水」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229600" y="2238375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一次</a:t>
            </a:r>
            <a:r>
              <a:rPr lang="en-US" sz="1200">
                <a:solidFill>
                  <a:srgbClr val="4FE0B0"/>
                </a:solidFill>
                <a:latin typeface="Microsoft YaHei"/>
                <a:ea typeface="Microsoft YaHei"/>
              </a:rPr>
              <a:t xml:space="preserve"> · 30 </a:t>
            </a: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分钟后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3962400" y="2667000"/>
            <a:ext cx="7620000" cy="514350"/>
          </a:xfrm>
          <a:prstGeom prst="roundRect">
            <a:avLst>
              <a:gd name="adj" fmla="val 18519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133850" y="282892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「每周一三五</a:t>
            </a:r>
            <a:r>
              <a:rPr lang="en-US" sz="1200">
                <a:solidFill>
                  <a:srgbClr val="E8EEF7"/>
                </a:solidFill>
                <a:latin typeface="Microsoft YaHei"/>
                <a:ea typeface="Microsoft YaHei"/>
              </a:rPr>
              <a:t xml:space="preserve"> 17:30 </a:t>
            </a: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提醒我锁屏」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229600" y="2828925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每周一</a:t>
            </a:r>
            <a:r>
              <a:rPr lang="en-US" sz="1200">
                <a:solidFill>
                  <a:srgbClr val="4FE0B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三</a:t>
            </a:r>
            <a:r>
              <a:rPr lang="en-US" sz="1200">
                <a:solidFill>
                  <a:srgbClr val="4FE0B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五</a:t>
            </a:r>
            <a:r>
              <a:rPr lang="en-US" sz="1200">
                <a:solidFill>
                  <a:srgbClr val="4FE0B0"/>
                </a:solidFill>
                <a:latin typeface="Microsoft YaHei"/>
                <a:ea typeface="Microsoft YaHei"/>
              </a:rPr>
              <a:t xml:space="preserve"> · 17:30 · </a:t>
            </a: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锁屏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3962400" y="3257550"/>
            <a:ext cx="7620000" cy="514350"/>
          </a:xfrm>
          <a:prstGeom prst="roundRect">
            <a:avLst>
              <a:gd name="adj" fmla="val 18519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133850" y="341947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「明天早上八点提醒我交作业」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229600" y="3419475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一次</a:t>
            </a:r>
            <a:r>
              <a:rPr lang="en-US" sz="1200">
                <a:solidFill>
                  <a:srgbClr val="4FE0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明天</a:t>
            </a:r>
            <a:r>
              <a:rPr lang="en-US" sz="1200">
                <a:solidFill>
                  <a:srgbClr val="4FE0B0"/>
                </a:solidFill>
                <a:latin typeface="Microsoft YaHei"/>
                <a:ea typeface="Microsoft YaHei"/>
              </a:rPr>
              <a:t xml:space="preserve"> 08:00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3962400" y="3848100"/>
            <a:ext cx="7620000" cy="514350"/>
          </a:xfrm>
          <a:prstGeom prst="roundRect">
            <a:avLst>
              <a:gd name="adj" fmla="val 18519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133850" y="401002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「晚上十一点提醒我锁屏睡觉」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229600" y="4010025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每天</a:t>
            </a:r>
            <a:r>
              <a:rPr lang="en-US" sz="1200">
                <a:solidFill>
                  <a:srgbClr val="4FE0B0"/>
                </a:solidFill>
                <a:latin typeface="Microsoft YaHei"/>
                <a:ea typeface="Microsoft YaHei"/>
              </a:rPr>
              <a:t xml:space="preserve"> · 23:00 · </a:t>
            </a:r>
            <a:r>
              <a:rPr lang="zh-CN" sz="1200">
                <a:solidFill>
                  <a:srgbClr val="4FE0B0"/>
                </a:solidFill>
                <a:latin typeface="Microsoft YaHei"/>
                <a:ea typeface="Microsoft YaHei"/>
              </a:rPr>
              <a:t>锁屏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3962400" y="4476750"/>
            <a:ext cx="7620000" cy="1047750"/>
          </a:xfrm>
          <a:prstGeom prst="roundRect">
            <a:avLst>
              <a:gd name="adj" fmla="val 9091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553325" y="466725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⑧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791325" y="4876800"/>
            <a:ext cx="19716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智能体页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任意一条解析结果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平时怎么说话，就怎么输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430000" y="8096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35000"/>
                  </a:srgbClr>
                </a:solidFill>
                <a:latin typeface="Consolas"/>
                <a:ea typeface="Consolas"/>
              </a:rPr>
              <a:t>09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19150" y="2390775"/>
            <a:ext cx="26289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时间、重复、要干什么说清楚就行，语序随便；「下午三点」「</a:t>
            </a:r>
            <a:r>
              <a:rPr lang="en-US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30</a:t>
            </a: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分钟后」「每周一三五」这种连着写的说法也都认。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19150" y="5210175"/>
            <a:ext cx="2628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E8EEF7">
                    <a:alpha val="60000"/>
                  </a:srgbClr>
                </a:solidFill>
                <a:latin typeface="Microsoft YaHei"/>
                <a:ea typeface="Microsoft YaHei"/>
              </a:rPr>
              <a:t>真没听懂的句子，会当成一条单次提醒，把你原话留作标题——不报错，也不丢。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3962400" y="1162050"/>
            <a:ext cx="409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你说的（日常口语）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058150" y="1162050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软件理解成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515100" y="5124450"/>
            <a:ext cx="25146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建议画面：任选一句口语，展示它被拆成四个字段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到点了，会怎么样&lt;/Text&gt;&#10;            &lt;Text style={{ fontSize: 16, color: '#E8EEF7', opacity: 0.55, letterSpacing: 1 }}&gt;不是在角落弹个小通知，是整屏挡一下&lt;/Text&gt;&#10;        &lt;/Box&gt;&#10;        &lt;Text style={{ fontSize: 14, fontFamily: 'Consolas', color: '#4FE0B0', opacity: 0.8 }}&gt;核心体验&lt;/Text&gt;&#10;    &lt;/Box&gt;&#10;    &lt;Box style={{ height: 500, flexDirection: 'row', gap: 28 }}&gt;&#10;        &lt;Box style={{ width: 640, height: 460, flexDirection: 'column', justifyContent: 'center', alignItems: 'center', gap: 12, background: 'rgba(79,224,176,0.05)', border: '2px dashed rgba(79,224,176,0.55)', borderRadius: 14 }}&gt;&#10;            &lt;Text style={{ fontSize: 13, fontFamily: 'Consolas', color: '#4FE0B0', letterSpacing: 1 }}&gt;截图 ⑨&lt;/Text&gt;&#10;            &lt;Text style={{ fontSize: 22, fontWeight: 'bold', color: '#E8EEF7', textAlign: 'center' }}&gt;全屏休息弹窗&lt;/Text&gt;&#10;            &lt;Text style={{ fontSize: 14, color: '#E8EEF7', opacity: 0.5, textAlign: 'center', lineHeight: 1.7 }}&gt;建议画面：底图 + 正中间那句提示语&lt;br /&gt;+ 「稍后提醒」按钮&lt;/Text&gt;&#10;        &lt;/Box&gt;&#10;        &lt;Box style={{ flex: 1, flexDirection: 'column', gap: 14 }}&gt;&#10;            &lt;Box style={{ height: 96, flexDirection: 'column', justifyContent: 'center', gap: 6, padding: '0 20px', background: 'rgba(232,238,247,0.04)', border: '1px solid rgba(232,238,247,0.10)', borderRadius: 10 }}&gt;&#10;                &lt;Text style={{ fontSize: 19, fontWeight: 'bold', color: '#4FE0B0' }}&gt;弹的是什么&lt;/Text&gt;&#10;                &lt;Text style={{ fontSize: 15, color: '#E8EEF7', opacity: 0.72, lineHeight: 1.5 }}&gt;正中间是你自己写的那句话；底图、配色、字的大小都能换，改的时候能实时预览。&lt;/Text&gt;&#10;            &lt;/Box&gt;&#10;            &lt;Box style={{ height: 96, flexDirection: 'column', justifyContent: 'center', gap: 6, padding: '0 20px', background: 'rgba(232,238,247,0.04)', border: '1px solid rgba(232,238,247,0.10)', borderRadius: 10 }}&gt;&#10;                &lt;Text style={{ fontSize: 19, fontWeight: 'bold', color: '#4FE0B0' }}&gt;两个选择&lt;/Text&gt;&#10;                &lt;Text style={{ fontSize: 15, color: '#E8EEF7', opacity: 0.72, lineHeight: 1.5 }}&gt;「稍后提醒」推迟一会儿，或者直接结束这次休息。&lt;/Text&gt;&#10;            &lt;/Box&gt;&#10;            &lt;Box style={{ height: 112, flexDirection: 'column', justifyContent: 'center', gap: 6, padding: '0 20px', background: 'rgba(79,224,176,0.12)', border: '1px solid #4FE0B0', borderRadius: 10 }}&gt;&#10;                &lt;Text style={{ fontSize: 19, fontWeight: 'bold', color: '#4FE0B0' }}&gt;要锁屏 / 关机时，留 60 秒反悔&lt;/Text&gt;&#10;                &lt;Text style={{ fontSize: 15, color: '#E8EEF7', opacity: 0.85, lineHeight: 1.5 }}&gt;先倒计时 60 秒，这期间随时能点掉；真要关机也来得及取消。执行失败了弹窗会留着让你重试。&lt;/Text&gt;&#10;            &lt;/Box&gt;&#10;            &lt;Box style={{ height: 120, flexDirection: 'column', justifyContent: 'center', alignItems: 'center', gap: 6, background: 'rgba(79,224,176,0.05)', border: '2px dashed rgba(79,224,176,0.55)', borderRadius: 10 }}&gt;&#10;                &lt;Text style={{ fontSize: 13, fontFamily: 'Consolas', color: '#4FE0B0', letterSpacing: 1 }}&gt;截图 ⑩&lt;/Text&gt;&#10;                &lt;Text style={{ fontSize: 16, fontWeight: 'bold', color: '#E8EEF7', textAlign: 'center' }}&gt;弹窗上的倒计时&lt;/Text&gt;&#10;                &lt;Text style={{ fontSize: 12, color: '#E8EEF7', opacity: 0.5, textAlign: 'center', lineHeight: 1.5 }}&gt;建议画面：附加锁屏或关机时，&lt;br /&gt;右下角的 60 秒倒计时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10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27527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到点了，会怎么样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09600" y="1143000"/>
            <a:ext cx="6096000" cy="4381500"/>
          </a:xfrm>
          <a:prstGeom prst="roundRect">
            <a:avLst>
              <a:gd name="adj" fmla="val 3043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438525" y="27432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⑨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028950" y="3009900"/>
            <a:ext cx="12573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E8EEF7"/>
                </a:solidFill>
                <a:latin typeface="Microsoft YaHei"/>
                <a:ea typeface="Microsoft YaHei"/>
              </a:rPr>
              <a:t>全屏休息弹窗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972300" y="1143000"/>
            <a:ext cx="4610100" cy="914400"/>
          </a:xfrm>
          <a:prstGeom prst="roundRect">
            <a:avLst>
              <a:gd name="adj" fmla="val 10417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162800" y="1209675"/>
            <a:ext cx="4229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弹的是什么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972300" y="2190750"/>
            <a:ext cx="4610100" cy="914400"/>
          </a:xfrm>
          <a:prstGeom prst="roundRect">
            <a:avLst>
              <a:gd name="adj" fmla="val 10417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162800" y="2381250"/>
            <a:ext cx="4229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两个选择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972300" y="3238500"/>
            <a:ext cx="4610100" cy="1066800"/>
          </a:xfrm>
          <a:prstGeom prst="roundRect">
            <a:avLst>
              <a:gd name="adj" fmla="val 8929"/>
            </a:avLst>
          </a:prstGeom>
          <a:solidFill>
            <a:srgbClr val="4FE0B0">
              <a:alpha val="12000"/>
            </a:srgbClr>
          </a:solidFill>
          <a:ln w="12700">
            <a:solidFill>
              <a:srgbClr val="4FE0B0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162800" y="3381375"/>
            <a:ext cx="4229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要锁屏</a:t>
            </a:r>
            <a:r>
              <a:rPr lang="en-US" sz="1425" b="1">
                <a:solidFill>
                  <a:srgbClr val="4FE0B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关机时，留</a:t>
            </a:r>
            <a:r>
              <a:rPr lang="en-US" sz="1425" b="1">
                <a:solidFill>
                  <a:srgbClr val="4FE0B0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秒反悔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972300" y="4438650"/>
            <a:ext cx="4610100" cy="1143000"/>
          </a:xfrm>
          <a:prstGeom prst="roundRect">
            <a:avLst>
              <a:gd name="adj" fmla="val 8333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058275" y="45720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⑩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743950" y="4781550"/>
            <a:ext cx="10668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弹窗上的倒计时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2752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不是在角落弹个小通知，是整屏挡一下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049000" y="8096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FE0B0">
                    <a:alpha val="80000"/>
                  </a:srgbClr>
                </a:solidFill>
                <a:latin typeface="Consolas"/>
                <a:ea typeface="Consolas"/>
              </a:rPr>
              <a:t>核心体验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2581275" y="3381375"/>
            <a:ext cx="2152650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建议画面：底图</a:t>
            </a:r>
            <a:r>
              <a:rPr lang="en-US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正中间那句提示语</a:t>
            </a:r>
            <a:endParaRPr/>
          </a:p>
          <a:p>
            <a:pPr algn="ctr">
              <a:lnSpc>
                <a:spcPct val="170000"/>
              </a:lnSpc>
            </a:pPr>
            <a:r>
              <a:rPr lang="en-US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「稍后提醒」按钮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162800" y="1485900"/>
            <a:ext cx="4229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正中间是你自己写的那句话；底图、配色、字的大小都能换，改的时候能实时预览。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62800" y="2657475"/>
            <a:ext cx="4229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「稍后提醒」推迟一会儿，或者直接结束这次休息。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162800" y="3657600"/>
            <a:ext cx="4229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先倒计时</a:t>
            </a:r>
            <a:r>
              <a:rPr lang="en-US" sz="1125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125">
                <a:solidFill>
                  <a:srgbClr val="E8EEF7">
                    <a:alpha val="85000"/>
                  </a:srgbClr>
                </a:solidFill>
                <a:latin typeface="Microsoft YaHei"/>
                <a:ea typeface="Microsoft YaHei"/>
              </a:rPr>
              <a:t>秒，这期间随时能点掉；真要关机也来得及取消。执行失败了弹窗会留着让你重试。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477250" y="5029200"/>
            <a:ext cx="1600200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建议画面：附加锁屏或关机时，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右下角的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秒倒计时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平时怎么用&lt;/Text&gt;&#10;            &lt;Text style={{ fontSize: 16, color: '#E8EEF7', opacity: 0.55, letterSpacing: 1 }}&gt;除了定时提醒，还有两种最常用的用法&lt;/Text&gt;&#10;        &lt;/Box&gt;&#10;        &lt;Text style={{ fontSize: 14, fontFamily: 'Consolas', color: '#E8EEF7', opacity: 0.35 }}&gt;11&lt;/Text&gt;&#10;    &lt;/Box&gt;&#10;    &lt;Box style={{ height: 500, flexDirection: 'column', gap: 16 }}&gt;&#10;        &lt;Box style={{ flexDirection: 'row', gap: 28 }}&gt;&#10;            &lt;Box style={{ flex: 1, height: 320, flexDirection: 'column', justifyContent: 'center', alignItems: 'center', gap: 10, background: 'rgba(79,224,176,0.05)', border: '2px dashed rgba(79,224,176,0.55)', borderRadius: 12 }}&gt;&#10;                &lt;Text style={{ fontSize: 13, fontFamily: 'Consolas', color: '#4FE0B0', letterSpacing: 1 }}&gt;截图 ⑪&lt;/Text&gt;&#10;                &lt;Text style={{ fontSize: 20, fontWeight: 'bold', color: '#E8EEF7', textAlign: 'center' }}&gt;休息节律页&lt;/Text&gt;&#10;                &lt;Text style={{ fontSize: 13, color: '#E8EEF7', opacity: 0.5, textAlign: 'center', lineHeight: 1.6 }}&gt;建议画面：间隔设置&lt;br /&gt;+ 本轮进度条&lt;/Text&gt;&#10;            &lt;/Box&gt;&#10;            &lt;Box style={{ flex: 1, height: 320, flexDirection: 'column', justifyContent: 'center', alignItems: 'center', gap: 10, background: 'rgba(79,224,176,0.05)', border: '2px dashed rgba(79,224,176,0.55)', borderRadius: 12 }}&gt;&#10;                &lt;Text style={{ fontSize: 13, fontFamily: 'Consolas', color: '#4FE0B0', letterSpacing: 1 }}&gt;截图 ⑫&lt;/Text&gt;&#10;                &lt;Text style={{ fontSize: 20, fontWeight: 'bold', color: '#E8EEF7', textAlign: 'center' }}&gt;智能体页 · 休息建议卡片&lt;/Text&gt;&#10;                &lt;Text style={{ fontSize: 13, color: '#E8EEF7', opacity: 0.5, textAlign: 'center', lineHeight: 1.6 }}&gt;建议画面：点「换个建议」后&lt;br /&gt;出现的那一条建议&lt;/Text&gt;&#10;            &lt;/Box&gt;&#10;        &lt;/Box&gt;&#10;        &lt;Box style={{ flexDirection: 'row', gap: 20 }}&gt;&#10;            &lt;Box style={{ flex: 1, height: 132, flexDirection: 'column', gap: 8, padding: 18, background: 'rgba(232,238,247,0.04)', border: '1px solid rgba(232,238,247,0.10)', borderRadius: 12 }}&gt;&#10;                &lt;Text style={{ fontSize: 19, fontWeight: 'bold', color: '#4FE0B0' }}&gt;休息节律：到点就提醒，不用一条条设&lt;/Text&gt;&#10;                &lt;Text style={{ fontSize: 15, color: '#E8EEF7', opacity: 0.72, lineHeight: 1.55 }}&gt;默认每 40 分钟一次，间隔和提示语随时改；界面上有进度条，本轮还剩多久一眼看得到。&lt;/Text&gt;&#10;            &lt;/Box&gt;&#10;            &lt;Box style={{ flex: 1, height: 132, flexDirection: 'column', gap: 8, padding: 18, background: 'rgba(232,238,247,0.04)', border: '1px solid rgba(232,238,247,0.10)', borderRadius: 12 }}&gt;&#10;                &lt;Text style={{ fontSize: 19, fontWeight: 'bold', color: '#4FE0B0' }}&gt;休息建议：不知道该干嘛，它给一句&lt;/Text&gt;&#10;                &lt;Text style={{ fontSize: 15, color: '#E8EEF7', opacity: 0.72, lineHeight: 1.55 }}&gt;点一下「换个建议」，它会看你设的间隔和已经提醒过几次，给一句能马上做的事：站起来走几步、喝口水。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11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27527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平时怎么用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1143000"/>
            <a:ext cx="5353050" cy="3048000"/>
          </a:xfrm>
          <a:prstGeom prst="roundRect">
            <a:avLst>
              <a:gd name="adj" fmla="val 3750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067050" y="2143125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⑪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2809875" y="2390775"/>
            <a:ext cx="952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休息节律页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229350" y="1143000"/>
            <a:ext cx="5353050" cy="3048000"/>
          </a:xfrm>
          <a:prstGeom prst="roundRect">
            <a:avLst>
              <a:gd name="adj" fmla="val 3750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686800" y="2143125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⑫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867650" y="2390775"/>
            <a:ext cx="20764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智能体页</a:t>
            </a:r>
            <a:r>
              <a:rPr lang="en-US" sz="15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休息建议卡片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4343400"/>
            <a:ext cx="5391150" cy="1257300"/>
          </a:xfrm>
          <a:prstGeom prst="roundRect">
            <a:avLst>
              <a:gd name="adj" fmla="val 9091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81050" y="4514850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休息节律：到点就提醒，不用一条条设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191250" y="4343400"/>
            <a:ext cx="5391150" cy="1257300"/>
          </a:xfrm>
          <a:prstGeom prst="roundRect">
            <a:avLst>
              <a:gd name="adj" fmla="val 9091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362700" y="4514850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FE0B0"/>
                </a:solidFill>
                <a:latin typeface="Microsoft YaHei"/>
                <a:ea typeface="Microsoft YaHei"/>
              </a:rPr>
              <a:t>休息建议：不知道该干嘛，它给一句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2752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除了定时提醒，还有两种最常用的用法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439525" y="809625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35000"/>
                  </a:srgbClr>
                </a:solidFill>
                <a:latin typeface="Consolas"/>
                <a:ea typeface="Consolas"/>
              </a:rPr>
              <a:t>11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733675" y="2714625"/>
            <a:ext cx="111442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建议画面：间隔设置</a:t>
            </a:r>
            <a:endParaRPr/>
          </a:p>
          <a:p>
            <a:pPr algn="ctr">
              <a:lnSpc>
                <a:spcPct val="160000"/>
              </a:lnSpc>
            </a:pPr>
            <a:r>
              <a:rPr lang="en-US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本轮进度条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105775" y="2714625"/>
            <a:ext cx="160972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建议画面：点「换个建议」后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出现的那一条建议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81050" y="4810125"/>
            <a:ext cx="5048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默认每</a:t>
            </a:r>
            <a:r>
              <a:rPr lang="en-US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分钟一次，间隔和提示语随时改；界面上有进度条，本轮还剩多久一眼看得到。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362700" y="4810125"/>
            <a:ext cx="5048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点一下「换个建议」，它会看你设的间隔和已经提醒过几次，给一句能马上做的事：站起来走几步、喝口水。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182350" y="61150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断网也照样用&lt;/Text&gt;&#10;            &lt;Text style={{ fontSize: 16, color: '#E8EEF7', opacity: 0.55, letterSpacing: 1 }}&gt;网络只是加分项，不是必需品&lt;/Text&gt;&#10;        &lt;/Box&gt;&#10;        &lt;Text style={{ fontSize: 14, fontFamily: 'Consolas', color: '#E8EEF7', opacity: 0.35 }}&gt;12&lt;/Text&gt;&#10;    &lt;/Box&gt;&#10;    &lt;Box style={{ height: 500, flexDirection: 'column', gap: 14 }}&gt;&#10;        &lt;Box style={{ height: 190, flexDirection: 'row', gap: 24, padding: 20, background: 'rgba(232,238,247,0.04)', border: '1px solid rgba(232,238,247,0.10)', borderRadius: 12 }}&gt;&#10;            &lt;Box style={{ width: 300, flexDirection: 'column', gap: 8, justifyContent: 'center' }}&gt;&#10;                &lt;Text style={{ fontSize: 14, fontFamily: 'Consolas', color: '#4FE0B0', letterSpacing: 2 }}&gt;没网的时候&lt;/Text&gt;&#10;                &lt;Text style={{ fontSize: 21, fontWeight: 'bold', color: '#E8EEF7', lineHeight: 1.4 }}&gt;软件自己顶上&lt;/Text&gt;&#10;                &lt;Text style={{ fontSize: 15, color: '#E8EEF7', opacity: 0.68, lineHeight: 1.55 }}&gt;它自带一套规则。断网、或者你什么都没配，那句话照样能解析，功能一点不断。&lt;/Text&gt;&#10;            &lt;/Box&gt;&#10;            &lt;Box style={{ flex: 1, height: 160, flexDirection: 'column', justifyContent: 'center', alignItems: 'center', gap: 6, background: 'rgba(79,224,176,0.05)', border: '2px dashed rgba(79,224,176,0.55)', borderRadius: 10 }}&gt;&#10;                &lt;Text style={{ fontSize: 13, fontFamily: 'Consolas', color: '#4FE0B0', letterSpacing: 1 }}&gt;截图 ⑬&lt;/Text&gt;&#10;                &lt;Text style={{ fontSize: 17, fontWeight: 'bold', color: '#E8EEF7', textAlign: 'center' }}&gt;断网后的解析结果&lt;/Text&gt;&#10;                &lt;Text style={{ fontSize: 12, color: '#E8EEF7', opacity: 0.5, textAlign: 'center', lineHeight: 1.5 }}&gt;建议画面：页面提示「云端不可用，&lt;br /&gt;已自动切换本机规则引擎」&lt;/Text&gt;&#10;            &lt;/Box&gt;&#10;        &lt;/Box&gt;&#10;        &lt;Box style={{ height: 190, flexDirection: 'row', gap: 24, padding: 20, background: 'rgba(232,238,247,0.04)', border: '1px solid rgba(232,238,247,0.10)', borderRadius: 12 }}&gt;&#10;            &lt;Box style={{ width: 300, flexDirection: 'column', gap: 8, justifyContent: 'center' }}&gt;&#10;                &lt;Text style={{ fontSize: 14, fontFamily: 'Consolas', color: '#4FE0B0', letterSpacing: 2 }}&gt;想让它更聪明&lt;/Text&gt;&#10;                &lt;Text style={{ fontSize: 21, fontWeight: 'bold', color: '#E8EEF7', lineHeight: 1.4 }}&gt;填三个格子就行&lt;/Text&gt;&#10;                &lt;Text style={{ fontSize: 15, color: '#E8EEF7', opacity: 0.68, lineHeight: 1.55 }}&gt;想接一个网上更聪明的大模型，填地址、模型名、密钥三个格子就完事，全程不用写代码；不填也完全能用。&lt;/Text&gt;&#10;            &lt;/Box&gt;&#10;            &lt;Box style={{ flex: 1, height: 160, flexDirection: 'column', justifyContent: 'center', alignItems: 'center', gap: 6, background: 'rgba(79,224,176,0.05)', border: '2px dashed rgba(79,224,176,0.55)', borderRadius: 10 }}&gt;&#10;                &lt;Text style={{ fontSize: 13, fontFamily: 'Consolas', color: '#4FE0B0', letterSpacing: 1 }}&gt;截图 ⑭&lt;/Text&gt;&#10;                &lt;Text style={{ fontSize: 17, fontWeight: 'bold', color: '#E8EEF7', textAlign: 'center' }}&gt;智能体页 · 接入口三格表单&lt;/Text&gt;&#10;                &lt;Text style={{ fontSize: 12, color: '#E8EEF7', opacity: 0.5, textAlign: 'center', lineHeight: 1.5 }}&gt;建议画面：接口地址 / 模型名称 / 密钥&lt;br /&gt;三个输入框&lt;/Text&gt;&#10;            &lt;/Box&gt;&#10;        &lt;/Box&gt;&#10;        &lt;Box style={{ height: 56, flexDirection: 'row', alignItems: 'center', padding: '0 20px', background: 'rgba(79,224,176,0.12)', border: '1px solid #4FE0B0', borderRadius: 10 }}&gt;&#10;            &lt;Text style={{ fontSize: 17, color: '#E8EEF7', opacity: 0.9 }}&gt;用不用网络由你决定：接上了，它更聪明；不接，它照样好用。这两条路的结果都会先过一遍检查。&lt;/Text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12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21050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断网也照样用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09600" y="1143000"/>
            <a:ext cx="10972800" cy="1809750"/>
          </a:xfrm>
          <a:prstGeom prst="roundRect">
            <a:avLst>
              <a:gd name="adj" fmla="val 6316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00100" y="14573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4FE0B0"/>
                </a:solidFill>
                <a:latin typeface="Consolas"/>
                <a:ea typeface="Consolas"/>
              </a:rPr>
              <a:t>没网的时候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00100" y="169545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E8EEF7"/>
                </a:solidFill>
                <a:latin typeface="Microsoft YaHei"/>
                <a:ea typeface="Microsoft YaHei"/>
              </a:rPr>
              <a:t>软件自己顶上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3886200" y="1333500"/>
            <a:ext cx="7505700" cy="1524000"/>
          </a:xfrm>
          <a:prstGeom prst="roundRect">
            <a:avLst>
              <a:gd name="adj" fmla="val 6250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419975" y="165735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⑬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991350" y="1866900"/>
            <a:ext cx="12954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断网后的解析结果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3086100"/>
            <a:ext cx="10972800" cy="1809750"/>
          </a:xfrm>
          <a:prstGeom prst="roundRect">
            <a:avLst>
              <a:gd name="adj" fmla="val 6316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4FE0B0"/>
                </a:solidFill>
                <a:latin typeface="Consolas"/>
                <a:ea typeface="Consolas"/>
              </a:rPr>
              <a:t>想让它更聪明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00100" y="3514725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E8EEF7"/>
                </a:solidFill>
                <a:latin typeface="Microsoft YaHei"/>
                <a:ea typeface="Microsoft YaHei"/>
              </a:rPr>
              <a:t>填三个格子就行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886200" y="3276600"/>
            <a:ext cx="7505700" cy="1524000"/>
          </a:xfrm>
          <a:prstGeom prst="roundRect">
            <a:avLst>
              <a:gd name="adj" fmla="val 6250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419975" y="360045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⑭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677025" y="3810000"/>
            <a:ext cx="19335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智能体页</a:t>
            </a:r>
            <a:r>
              <a:rPr lang="en-US" sz="1275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接入口三格表单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502920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4FE0B0">
              <a:alpha val="12000"/>
            </a:srgbClr>
          </a:solidFill>
          <a:ln w="12700">
            <a:solidFill>
              <a:srgbClr val="4FE0B0"/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210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网络只是加分项，不是必需品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430000" y="8096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35000"/>
                  </a:srgbClr>
                </a:solidFill>
                <a:latin typeface="Consolas"/>
                <a:ea typeface="Consolas"/>
              </a:rPr>
              <a:t>12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00100" y="2114550"/>
            <a:ext cx="2857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E8EEF7">
                    <a:alpha val="68000"/>
                  </a:srgbClr>
                </a:solidFill>
                <a:latin typeface="Microsoft YaHei"/>
                <a:ea typeface="Microsoft YaHei"/>
              </a:rPr>
              <a:t>它自带一套规则。断网、或者你什么都没配，那句话照样能解析，功能一点不断。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724650" y="2124075"/>
            <a:ext cx="1828800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建议画面：页面提示「云端不可用，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已自动切换本机规则引擎」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00100" y="3933825"/>
            <a:ext cx="28575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E8EEF7">
                    <a:alpha val="68000"/>
                  </a:srgbClr>
                </a:solidFill>
                <a:latin typeface="Microsoft YaHei"/>
                <a:ea typeface="Microsoft YaHei"/>
              </a:rPr>
              <a:t>想接一个网上更聪明的大模型，填地址、模型名、密钥三个格子就完事，全程不用写代码；不填也完全能用。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686550" y="4067175"/>
            <a:ext cx="1914525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建议画面：接口地址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模型名称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密钥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三个输入框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00100" y="5200650"/>
            <a:ext cx="7124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7">
                    <a:alpha val="90000"/>
                  </a:srgbClr>
                </a:solidFill>
                <a:latin typeface="Microsoft YaHei"/>
                <a:ea typeface="Microsoft YaHei"/>
              </a:rPr>
              <a:t>用不用网络由你决定：接上了，它更聪明；不接，它照样好用。这两条路的结果都会先过一遍检查。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3" name="" descr="&lt;Slide style={{ width: 1280, height: 720, background: '#0B1220', padding: '20px 64px' }}&gt;&#10;    &lt;Box style={{ height: 600, flexDirection: 'row', alignItems: 'center', gap: 64 }}&gt;&#10;        &lt;Text style={{ fontSize: 230, fontWeight: 'bold', fontFamily: 'Consolas', color: '#4FE0B0', opacity: 0.15, lineHeight: 1 }}&gt;03&lt;/Text&gt;&#10;        &lt;Box style={{ flexDirection: 'column', gap: 20, width: 560 }}&gt;&#10;            &lt;Text style={{ fontSize: 60, fontWeight: 'bold', color: '#E8EEF7', lineHeight: 1.15 }}&gt;做得怎么样&lt;/Text&gt;&#10;            &lt;Box style={{ height: 4, width: 110, background: 'linear-gradient(135deg, #4FE0B0 0%, #2E9E8F 100%)', borderRadius: 2 }} /&gt;&#10;            &lt;Text style={{ fontSize: 20, color: '#E8EEF7', opacity: 0.72, lineHeight: 1.65 }}&gt;用看得见的东西回答：做完了多少、&lt;br /&gt;检查得有多严、跟常用工具有什么不一样。&lt;/Text&gt;&#10;            &lt;Text style={{ fontSize: 15, fontFamily: 'Consolas', color: '#4FE0B0', letterSpacing: 2 }}&gt;P13 – P17&lt;/Text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13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657600" y="1885950"/>
            <a:ext cx="53340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500" b="1">
                <a:solidFill>
                  <a:srgbClr val="E8EEF7"/>
                </a:solidFill>
                <a:latin typeface="Microsoft YaHei"/>
                <a:ea typeface="Microsoft YaHei"/>
              </a:rPr>
              <a:t>做得怎么样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3657600" y="2867025"/>
            <a:ext cx="1047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FE0B0"/>
              </a:gs>
              <a:gs pos="100000">
                <a:srgbClr val="2E9E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657600" y="4048125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4FE0B0"/>
                </a:solidFill>
                <a:latin typeface="Consolas"/>
                <a:ea typeface="Consolas"/>
              </a:rPr>
              <a:t>P13 – P17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2438400" cy="2628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0" b="1">
                <a:solidFill>
                  <a:srgbClr val="4FE0B0">
                    <a:alpha val="15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657600" y="3095625"/>
            <a:ext cx="5334000" cy="762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用看得见的东西回答：做完了多少、</a:t>
            </a:r>
            <a:endParaRPr/>
          </a:p>
          <a:p>
            <a:pPr>
              <a:lnSpc>
                <a:spcPct val="165000"/>
              </a:lnSpc>
            </a:pPr>
            <a:r>
              <a:rPr lang="zh-CN" sz="1500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检查得有多严、跟常用工具有什么不一样。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92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已经做完：能下载、能装、能用&lt;/Text&gt;&#10;            &lt;Text style={{ fontSize: 16, color: '#E8EEF7', opacity: 0.55, letterSpacing: 1 }}&gt;不是只有几张效果图的项目&lt;/Text&gt;&#10;        &lt;/Box&gt;&#10;        &lt;Text style={{ fontSize: 14, fontFamily: 'Consolas', color: '#4FE0B0', opacity: 0.8 }}&gt;完成度&lt;/Text&gt;&#10;    &lt;/Box&gt;&#10;    &lt;Box style={{ height: 500, flexDirection: 'row', gap: 48 }}&gt;&#10;        &lt;Box style={{ width: 460, flexDirection: 'column', justifyContent: 'center' }}&gt;&#10;            &lt;Text style={{ fontSize: 150, fontWeight: 'bold', fontFamily: 'Consolas', color: '#4FE0B0', lineHeight: 1 }}&gt;138&lt;/Text&gt;&#10;            &lt;Text style={{ fontSize: 26, color: '#E8EEF7', marginTop: 12 }}&gt;项自动检查，全部通过&lt;/Text&gt;&#10;            &lt;Text style={{ fontSize: 17, color: '#E8EEF7', opacity: 0.6, marginTop: 6, lineHeight: 1.5 }}&gt;每改一次代码就自动跑一遍，&lt;br /&gt;有一项不过，这次改动就不算完。&lt;/Text&gt;&#10;            &lt;Box style={{ height: 3, width: 96, background: 'linear-gradient(135deg, #4FE0B0 0%, #2E9E8F 100%)', borderRadius: 2, marginTop: 22 }} /&gt;&#10;            &lt;Text style={{ fontSize: 16, color: '#E8EEF7', opacity: 0.62, lineHeight: 1.6, marginTop: 22 }}&gt;也就是说，刚才演示的每一步都不是&quot;今天运气好&quot;，而是每次跑都一样。&lt;/Text&gt;&#10;        &lt;/Box&gt;&#10;        &lt;Box style={{ flex: 1, flexDirection: 'column', gap: 12, justifyContent: 'center' }}&gt;&#10;            &lt;Box style={{ height: 62, flexDirection: 'row', alignItems: 'center', justifyContent: 'space-between', padding: '0 22px', background: 'rgba(232,238,247,0.05)', borderRadius: 10 }}&gt;&#10;                &lt;Text style={{ fontSize: 18, color: '#E8EEF7' }}&gt;界面部分的检查&lt;/Text&gt;&#10;                &lt;Text style={{ fontSize: 22, fontWeight: 'bold', fontFamily: 'Consolas', color: '#4FE0B0' }}&gt;77 项&lt;/Text&gt;&#10;            &lt;/Box&gt;&#10;            &lt;Box style={{ height: 62, flexDirection: 'row', alignItems: 'center', justifyContent: 'space-between', padding: '0 22px', background: 'rgba(232,238,247,0.05)', borderRadius: 10 }}&gt;&#10;                &lt;Text style={{ fontSize: 18, color: '#E8EEF7' }}&gt;核心逻辑部分的检查&lt;/Text&gt;&#10;                &lt;Text style={{ fontSize: 22, fontWeight: 'bold', fontFamily: 'Consolas', color: '#4FE0B0' }}&gt;61 项&lt;/Text&gt;&#10;            &lt;/Box&gt;&#10;            &lt;Box style={{ height: 62, flexDirection: 'row', alignItems: 'center', justifyContent: 'space-between', padding: '0 22px', background: 'rgba(232,238,247,0.05)', borderRadius: 10 }}&gt;&#10;                &lt;Text style={{ fontSize: 18, color: '#E8EEF7' }}&gt;通过率&lt;/Text&gt;&#10;                &lt;Text style={{ fontSize: 22, fontWeight: 'bold', fontFamily: 'Consolas', color: '#4FE0B0' }}&gt;100%&lt;/Text&gt;&#10;            &lt;/Box&gt;&#10;            &lt;Box style={{ height: 130, flexDirection: 'column', justifyContent: 'center', alignItems: 'center', gap: 6, background: 'rgba(79,224,176,0.05)', border: '2px dashed rgba(79,224,176,0.55)', borderRadius: 10 }}&gt;&#10;                &lt;Text style={{ fontSize: 13, fontFamily: 'Consolas', color: '#4FE0B0', letterSpacing: 1 }}&gt;截图 ⑮&lt;/Text&gt;&#10;                &lt;Text style={{ fontSize: 17, fontWeight: 'bold', color: '#E8EEF7', textAlign: 'center' }}&gt;官网下载页&lt;/Text&gt;&#10;                &lt;Text style={{ fontSize: 12, color: '#E8EEF7', opacity: 0.5, textAlign: 'center', lineHeight: 1.5 }}&gt;建议画面：Windows 与 macOS&lt;br /&gt;两个下载入口同框&lt;/Text&gt;&#10;            &lt;/Box&gt;&#10;            &lt;Box style={{ flexDirection: 'row', gap: 10 }}&gt;&#10;                &lt;Box style={{ flex: 1, padding: '10px 6px', background: 'rgba(79,224,176,0.10)', borderRadius: 8, alignItems: 'center' }}&gt;&#10;                    &lt;Text style={{ fontSize: 14, color: '#E8EEF7', opacity: 0.88, textAlign: 'center' }}&gt;两个平台都能装&lt;/Text&gt;&#10;                &lt;/Box&gt;&#10;                &lt;Box style={{ flex: 1, padding: '10px 6px', background: 'rgba(79,224,176,0.10)', borderRadius: 8, alignItems: 'center' }}&gt;&#10;                    &lt;Text style={{ fontSize: 14, color: '#E8EEF7', opacity: 0.88, textAlign: 'center' }}&gt;官网可直接下载&lt;/Text&gt;&#10;                &lt;/Box&gt;&#10;                &lt;Box style={{ flex: 1, padding: '10px 6px', background: 'rgba(79,224,176,0.10)', borderRadius: 8, alignItems: 'center' }}&gt;&#10;                    &lt;Text style={{ fontSize: 14, color: '#E8EEF7', opacity: 0.88, textAlign: 'center' }}&gt;中英双语&lt;/Text&gt;&#10;                &lt;/Box&gt;&#10;                &lt;Box style={{ flex: 1, padding: '10px 6px', background: 'rgba(79,224,176,0.10)', borderRadius: 8, alignItems: 'center' }}&gt;&#10;                    &lt;Text style={{ fontSize: 14, color: '#E8EEF7', opacity: 0.88, textAlign: 'center' }}&gt;不用注册账号&lt;/Text&gt;&#10;                &lt;/Box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14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4800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已经做完：能下载、能装、能用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4381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4FE0B0"/>
                </a:solidFill>
                <a:latin typeface="Consolas"/>
                <a:ea typeface="Consolas"/>
              </a:rPr>
              <a:t>138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3448050"/>
            <a:ext cx="4381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E8EEF7"/>
                </a:solidFill>
                <a:latin typeface="Microsoft YaHei"/>
                <a:ea typeface="Microsoft YaHei"/>
              </a:rPr>
              <a:t>项自动检查，全部通过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4610100"/>
            <a:ext cx="9144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4FE0B0"/>
              </a:gs>
              <a:gs pos="100000">
                <a:srgbClr val="2E9E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5448300" y="1619250"/>
            <a:ext cx="6134100" cy="590550"/>
          </a:xfrm>
          <a:prstGeom prst="roundRect">
            <a:avLst>
              <a:gd name="adj" fmla="val 16129"/>
            </a:avLst>
          </a:prstGeom>
          <a:solidFill>
            <a:srgbClr val="E8EEF7">
              <a:alpha val="5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657850" y="18097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8EEF7"/>
                </a:solidFill>
                <a:latin typeface="Microsoft YaHei"/>
                <a:ea typeface="Microsoft YaHei"/>
              </a:rPr>
              <a:t>界面部分的检查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868025" y="1790700"/>
            <a:ext cx="504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FE0B0"/>
                </a:solidFill>
                <a:latin typeface="Consolas"/>
                <a:ea typeface="Consolas"/>
              </a:rPr>
              <a:t xml:space="preserve">77 </a:t>
            </a:r>
            <a:r>
              <a:rPr lang="zh-CN" sz="1650" b="1">
                <a:solidFill>
                  <a:srgbClr val="4FE0B0"/>
                </a:solidFill>
                <a:latin typeface="Consolas"/>
                <a:ea typeface="Consolas"/>
              </a:rPr>
              <a:t>项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448300" y="2324100"/>
            <a:ext cx="6134100" cy="590550"/>
          </a:xfrm>
          <a:prstGeom prst="roundRect">
            <a:avLst>
              <a:gd name="adj" fmla="val 16129"/>
            </a:avLst>
          </a:prstGeom>
          <a:solidFill>
            <a:srgbClr val="E8EEF7">
              <a:alpha val="5000"/>
            </a:srgbClr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657850" y="2514600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8EEF7"/>
                </a:solidFill>
                <a:latin typeface="Microsoft YaHei"/>
                <a:ea typeface="Microsoft YaHei"/>
              </a:rPr>
              <a:t>核心逻辑部分的检查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868025" y="2495550"/>
            <a:ext cx="504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FE0B0"/>
                </a:solidFill>
                <a:latin typeface="Consolas"/>
                <a:ea typeface="Consolas"/>
              </a:rPr>
              <a:t xml:space="preserve">61 </a:t>
            </a:r>
            <a:r>
              <a:rPr lang="zh-CN" sz="1650" b="1">
                <a:solidFill>
                  <a:srgbClr val="4FE0B0"/>
                </a:solidFill>
                <a:latin typeface="Consolas"/>
                <a:ea typeface="Consolas"/>
              </a:rPr>
              <a:t>项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448300" y="3028950"/>
            <a:ext cx="6134100" cy="590550"/>
          </a:xfrm>
          <a:prstGeom prst="roundRect">
            <a:avLst>
              <a:gd name="adj" fmla="val 16129"/>
            </a:avLst>
          </a:prstGeom>
          <a:solidFill>
            <a:srgbClr val="E8EEF7">
              <a:alpha val="5000"/>
            </a:srgbClr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657850" y="32194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8EEF7"/>
                </a:solidFill>
                <a:latin typeface="Microsoft YaHei"/>
                <a:ea typeface="Microsoft YaHei"/>
              </a:rPr>
              <a:t>通过率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829925" y="3200400"/>
            <a:ext cx="542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FE0B0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448300" y="3733800"/>
            <a:ext cx="6134100" cy="1238250"/>
          </a:xfrm>
          <a:prstGeom prst="roundRect">
            <a:avLst>
              <a:gd name="adj" fmla="val 7692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296275" y="3914775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⑮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115300" y="4124325"/>
            <a:ext cx="80962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官网下载页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448300" y="5086350"/>
            <a:ext cx="1466850" cy="352425"/>
          </a:xfrm>
          <a:prstGeom prst="roundRect">
            <a:avLst>
              <a:gd name="adj" fmla="val 21622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7010400" y="5086350"/>
            <a:ext cx="1457325" cy="352425"/>
          </a:xfrm>
          <a:prstGeom prst="roundRect">
            <a:avLst>
              <a:gd name="adj" fmla="val 21622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8562975" y="5086350"/>
            <a:ext cx="1466850" cy="352425"/>
          </a:xfrm>
          <a:prstGeom prst="roundRect">
            <a:avLst>
              <a:gd name="adj" fmla="val 21622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10125075" y="5086350"/>
            <a:ext cx="1457325" cy="352425"/>
          </a:xfrm>
          <a:prstGeom prst="roundRect">
            <a:avLst>
              <a:gd name="adj" fmla="val 21622"/>
            </a:avLst>
          </a:prstGeom>
          <a:solidFill>
            <a:srgbClr val="4FE0B0">
              <a:alpha val="10000"/>
            </a:srgbClr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不是只有几张效果图的项目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182350" y="809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FE0B0">
                    <a:alpha val="80000"/>
                  </a:srgbClr>
                </a:solidFill>
                <a:latin typeface="Consolas"/>
                <a:ea typeface="Consolas"/>
              </a:rPr>
              <a:t>完成度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3810000"/>
            <a:ext cx="4381500" cy="590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7">
                    <a:alpha val="60000"/>
                  </a:srgbClr>
                </a:solidFill>
                <a:latin typeface="Microsoft YaHei"/>
                <a:ea typeface="Microsoft YaHei"/>
              </a:rPr>
              <a:t>每改一次代码就自动跑一遍，</a:t>
            </a:r>
            <a:endParaRPr/>
          </a:p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7">
                    <a:alpha val="60000"/>
                  </a:srgbClr>
                </a:solidFill>
                <a:latin typeface="Microsoft YaHei"/>
                <a:ea typeface="Microsoft YaHei"/>
              </a:rPr>
              <a:t>有一项不过，这次改动就不算完。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4848225"/>
            <a:ext cx="4381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也就是说，刚才演示的每一步都不是</a:t>
            </a:r>
            <a:r>
              <a:rPr lang="en-US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今天运气好</a:t>
            </a:r>
            <a:r>
              <a:rPr lang="en-US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，而是每次跑都一样。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715250" y="4381500"/>
            <a:ext cx="1600200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Windows </a:t>
            </a: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macOS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两个下载入口同框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0" y="5181600"/>
            <a:ext cx="9334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88000"/>
                  </a:srgbClr>
                </a:solidFill>
                <a:latin typeface="Microsoft YaHei"/>
                <a:ea typeface="Microsoft YaHei"/>
              </a:rPr>
              <a:t>两个平台都能装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277100" y="5181600"/>
            <a:ext cx="9334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88000"/>
                  </a:srgbClr>
                </a:solidFill>
                <a:latin typeface="Microsoft YaHei"/>
                <a:ea typeface="Microsoft YaHei"/>
              </a:rPr>
              <a:t>官网可直接下载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029700" y="5181600"/>
            <a:ext cx="5334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88000"/>
                  </a:srgbClr>
                </a:solidFill>
                <a:latin typeface="Microsoft YaHei"/>
                <a:ea typeface="Microsoft YaHei"/>
              </a:rPr>
              <a:t>中英双语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458450" y="5181600"/>
            <a:ext cx="8001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88000"/>
                  </a:srgbClr>
                </a:solidFill>
                <a:latin typeface="Microsoft YaHei"/>
                <a:ea typeface="Microsoft YaHei"/>
              </a:rPr>
              <a:t>不用注册账号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25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技术原理速览&lt;/Text&gt;&#10;            &lt;Text style={{ fontSize: 16, color: '#E8EEF7', opacity: 0.55, letterSpacing: 1 }}&gt;全篇只在这一页讲技术名词，看完就回到人话&lt;/Text&gt;&#10;        &lt;/Box&gt;&#10;        &lt;Text style={{ fontSize: 14, fontFamily: 'Consolas', color: '#4FE0B0', opacity: 0.8 }}&gt;技术说明&lt;/Text&gt;&#10;    &lt;/Box&gt;&#10;    &lt;Box style={{ height: 500, flexDirection: 'row', gap: 32 }}&gt;&#10;        &lt;Box style={{ width: 320, flexDirection: 'column', justifyContent: 'space-between', padding: 22, background: 'rgba(79,224,176,0.08)', border: '1px solid rgba(79,224,176,0.35)', borderRadius: 14 }}&gt;&#10;            &lt;Box style={{ flexDirection: 'column', gap: 14 }}&gt;&#10;                &lt;Text style={{ fontSize: 26, fontWeight: 'bold', color: '#E8EEF7', lineHeight: 1.35 }}&gt;技术名词&lt;br /&gt;都放这一页&lt;/Text&gt;&#10;                &lt;Box style={{ height: 3, width: 80, background: 'linear-gradient(135deg, #4FE0B0 0%, #2E9E8F 100%)', borderRadius: 2 }} /&gt;&#10;                &lt;Text style={{ fontSize: 15, color: '#E8EEF7', opacity: 0.72, lineHeight: 1.6 }}&gt;前面讲的都是怎么用；这一页交代它是怎么做出来的，好让评委知道这不是&quot;调了个接口&quot;就完事。&lt;/Text&gt;&#10;            &lt;/Box&gt;&#10;            &lt;Box style={{ flexDirection: 'column', gap: 6, paddingTop: 14, borderTop: '1px solid rgba(232,238,247,0.14)' }}&gt;&#10;                &lt;Text style={{ fontSize: 14, color: '#E8EEF7', opacity: 0.6, lineHeight: 1.5 }}&gt;下一页还有一处技术设计要交代，之后就回到产品本身。&lt;/Text&gt;&#10;            &lt;/Box&gt;&#10;        &lt;/Box&gt;&#10;        &lt;Box style={{ flex: 1, flexDirection: 'column', gap: 14 }}&gt;&#10;            &lt;Box style={{ height: 132, flexDirection: 'column', gap: 8, padding: 18, background: 'rgba(232,238,247,0.04)', border: '1px solid rgba(232,238,247,0.10)', borderRadius: 12 }}&gt;&#10;                &lt;Text style={{ fontSize: 20, fontWeight: 'bold', color: '#4FE0B0' }}&gt;用什么做的&lt;/Text&gt;&#10;                &lt;Text style={{ fontSize: 15, color: '#E8EEF7', opacity: 0.75, lineHeight: 1.55 }}&gt;桌面外壳用 Tauri 2，界面用 Vue 3 + TypeScript，核心逻辑（定时、弹窗、锁屏关机、本机那套规则）用 Rust 写。同一套代码出 Windows 和 macOS 两个版本。&lt;/Text&gt;&#10;            &lt;/Box&gt;&#10;            &lt;Box style={{ height: 132, flexDirection: 'column', gap: 8, padding: 18, background: 'rgba(232,238,247,0.04)', border: '1px solid rgba(232,238,247,0.10)', borderRadius: 12 }}&gt;&#10;                &lt;Text style={{ fontSize: 20, fontWeight: 'bold', color: '#4FE0B0' }}&gt;一句话怎么变成提醒&lt;/Text&gt;&#10;                &lt;Text style={{ fontSize: 15, color: '#E8EEF7', opacity: 0.75, lineHeight: 1.55 }}&gt;联网时交给网上的大模型去理解；没网就用软件自带的一套规则（本机规则引擎）。不管走哪条路，结果都要先过一遍校验才写进数据。&lt;/Text&gt;&#10;            &lt;/Box&gt;&#10;            &lt;Box style={{ height: 132, flexDirection: 'column', gap: 8, padding: 18, background: 'rgba(232,238,247,0.04)', border: '1px solid rgba(232,238,247,0.10)', borderRadius: 12 }}&gt;&#10;                &lt;Text style={{ fontSize: 20, fontWeight: 'bold', color: '#4FE0B0' }}&gt;数据怎么存&lt;/Text&gt;&#10;                &lt;Text style={{ fontSize: 15, color: '#E8EEF7', opacity: 0.75, lineHeight: 1.55 }}&gt;就存在你自己电脑的一个文件里。写入时先写临时文件、成功后再替换（原子写入）——写到一半断电，原来的数据也不会坏。没有服务器，也没有要你注册的东西。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15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技术原理速览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1143000"/>
            <a:ext cx="3048000" cy="4762500"/>
          </a:xfrm>
          <a:prstGeom prst="roundRect">
            <a:avLst>
              <a:gd name="adj" fmla="val 4375"/>
            </a:avLst>
          </a:prstGeom>
          <a:solidFill>
            <a:srgbClr val="4FE0B0">
              <a:alpha val="8000"/>
            </a:srgbClr>
          </a:solidFill>
          <a:ln w="12700">
            <a:solidFill>
              <a:srgbClr val="4FE0B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19150" y="1352550"/>
            <a:ext cx="2628900" cy="8096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E8EEF7"/>
                </a:solidFill>
                <a:latin typeface="Microsoft YaHei"/>
                <a:ea typeface="Microsoft YaHei"/>
              </a:rPr>
              <a:t>技术名词</a:t>
            </a:r>
            <a:endParaRPr/>
          </a:p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E8EEF7"/>
                </a:solidFill>
                <a:latin typeface="Microsoft YaHei"/>
                <a:ea typeface="Microsoft YaHei"/>
              </a:rPr>
              <a:t>都放这一页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819150" y="2295525"/>
            <a:ext cx="762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4FE0B0"/>
              </a:gs>
              <a:gs pos="100000">
                <a:srgbClr val="2E9E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819150" y="5067300"/>
            <a:ext cx="2628900" cy="638175"/>
          </a:xfrm>
          <a:custGeom>
            <a:pathLst>
              <a:path w="276" h="67">
                <a:moveTo>
                  <a:pt x="0" y="0"/>
                </a:moveTo>
                <a:lnTo>
                  <a:pt x="276" y="0"/>
                </a:lnTo>
                <a:lnTo>
                  <a:pt x="27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7">
              <a:alpha val="14000"/>
            </a:srgbClr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3962400" y="1143000"/>
            <a:ext cx="7620000" cy="1257300"/>
          </a:xfrm>
          <a:prstGeom prst="roundRect">
            <a:avLst>
              <a:gd name="adj" fmla="val 9091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133850" y="131445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4FE0B0"/>
                </a:solidFill>
                <a:latin typeface="Microsoft YaHei"/>
                <a:ea typeface="Microsoft YaHei"/>
              </a:rPr>
              <a:t>用什么做的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3962400" y="2533650"/>
            <a:ext cx="7620000" cy="1257300"/>
          </a:xfrm>
          <a:prstGeom prst="roundRect">
            <a:avLst>
              <a:gd name="adj" fmla="val 9091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133850" y="270510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4FE0B0"/>
                </a:solidFill>
                <a:latin typeface="Microsoft YaHei"/>
                <a:ea typeface="Microsoft YaHei"/>
              </a:rPr>
              <a:t>一句话怎么变成提醒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3962400" y="3924300"/>
            <a:ext cx="7620000" cy="1257300"/>
          </a:xfrm>
          <a:prstGeom prst="roundRect">
            <a:avLst>
              <a:gd name="adj" fmla="val 9091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133850" y="409575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4FE0B0"/>
                </a:solidFill>
                <a:latin typeface="Microsoft YaHei"/>
                <a:ea typeface="Microsoft YaHei"/>
              </a:rPr>
              <a:t>数据怎么存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全篇只在这一页讲技术名词，看完就回到人话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049000" y="8096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FE0B0">
                    <a:alpha val="80000"/>
                  </a:srgbClr>
                </a:solidFill>
                <a:latin typeface="Consolas"/>
                <a:ea typeface="Consolas"/>
              </a:rPr>
              <a:t>技术说明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19150" y="2457450"/>
            <a:ext cx="26289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前面讲的都是怎么用；这一页交代它是怎么做出来的，好让评委知道这不是</a:t>
            </a:r>
            <a:r>
              <a:rPr lang="en-US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调了个接口</a:t>
            </a:r>
            <a:r>
              <a:rPr lang="en-US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E8EEF7">
                    <a:alpha val="72000"/>
                  </a:srgbClr>
                </a:solidFill>
                <a:latin typeface="Microsoft YaHei"/>
                <a:ea typeface="Microsoft YaHei"/>
              </a:rPr>
              <a:t>就完事。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19150" y="5210175"/>
            <a:ext cx="2628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E8EEF7">
                    <a:alpha val="60000"/>
                  </a:srgbClr>
                </a:solidFill>
                <a:latin typeface="Microsoft YaHei"/>
                <a:ea typeface="Microsoft YaHei"/>
              </a:rPr>
              <a:t>下一页还有一处技术设计要交代，之后就回到产品本身。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133850" y="1619250"/>
            <a:ext cx="7277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>桌面外壳用</a:t>
            </a:r>
            <a:r>
              <a:rPr lang="en-US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 xml:space="preserve"> Tauri 2</a:t>
            </a:r>
            <a:r>
              <a:rPr lang="zh-CN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>，界面用</a:t>
            </a:r>
            <a:r>
              <a:rPr lang="en-US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 xml:space="preserve"> Vue 3 + TypeScript</a:t>
            </a:r>
            <a:r>
              <a:rPr lang="zh-CN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>，核心逻辑（定时、弹窗、锁屏关机、本机那套规则）用</a:t>
            </a:r>
            <a:r>
              <a:rPr lang="en-US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 xml:space="preserve"> Rust </a:t>
            </a:r>
            <a:r>
              <a:rPr lang="zh-CN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>写。同一套代码出</a:t>
            </a:r>
            <a:r>
              <a:rPr lang="en-US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 xml:space="preserve"> Windows </a:t>
            </a:r>
            <a:r>
              <a:rPr lang="zh-CN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>和</a:t>
            </a:r>
            <a:r>
              <a:rPr lang="en-US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 xml:space="preserve"> macOS </a:t>
            </a:r>
            <a:r>
              <a:rPr lang="zh-CN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>两个版本。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133850" y="3009900"/>
            <a:ext cx="7277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>联网时交给网上的大模型去理解；没网就用软件自带的一套规则（本机规则引擎）。不管走哪条路，结果都要先过一遍校验才写进数据。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133850" y="4400550"/>
            <a:ext cx="7277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E8EEF7">
                    <a:alpha val="75000"/>
                  </a:srgbClr>
                </a:solidFill>
                <a:latin typeface="Microsoft YaHei"/>
                <a:ea typeface="Microsoft YaHei"/>
              </a:rPr>
              <a:t>就存在你自己电脑的一个文件里。写入时先写临时文件、成功后再替换（原子写入）——写到一半断电，原来的数据也不会坏。没有服务器，也没有要你注册的东西。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47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AI 说的，软件会再核一遍&lt;/Text&gt;&#10;            &lt;Text style={{ fontSize: 16, color: '#E8EEF7', opacity: 0.55, letterSpacing: 1 }}&gt;不管结果是谁给的，写进数据前都得过这一关&lt;/Text&gt;&#10;        &lt;/Box&gt;&#10;        &lt;Text style={{ fontSize: 14, fontFamily: 'Consolas', color: '#4FE0B0', opacity: 0.8 }}&gt;可靠性设计&lt;/Text&gt;&#10;    &lt;/Box&gt;&#10;    &lt;Box style={{ height: 500, flexDirection: 'row', gap: 28 }}&gt;&#10;        &lt;Box style={{ width: 700, flexDirection: 'column', gap: 12 }}&gt;&#10;            &lt;Text style={{ fontSize: 17, color: '#E8EEF7', opacity: 0.8, lineHeight: 1.5 }}&gt;五类内容各有各的规矩：只认列举出来的这些，不合规就不写进去。&lt;/Text&gt;&#10;            &lt;Table&#10;                style={{ width: 700, height: 360 }}&#10;                defaultTextStyle={{ fontSize: 15, textAlign: 'left', color: '#E8EEF7' }}&#10;                defaultCellStyle={{&#10;                    border: {&#10;                        left: { width: 1, color: 'rgba(232,238,247,0.12)' },&#10;                        right: { width: 1, color: 'rgba(232,238,247,0.12)' },&#10;                        top: { width: 1, color: 'rgba(232,238,247,0.12)' },&#10;                        bottom: { width: 1, color: 'rgba(232,238,247,0.12)' },&#10;                    },&#10;                }}&#10;                cells={[&#10;                    [&#10;                        { text: '检查什么', textStyle: { bold: true, color: '#0B1220' }, cellStyle: { background: { color: '#4FE0B0' } } },&#10;                        { text: '只认这些', textStyle: { bold: true, color: '#0B1220' }, cellStyle: { background: { color: '#4FE0B0' } } },&#10;                        { text: '不合规怎么办', textStyle: { bold: true, color: '#0B1220' }, cellStyle: { background: { color: '#4FE0B0' } } },&#10;                    ],&#10;                    [&#10;                        { text: '类型', cellStyle: { background: { color: 'rgba(232,238,247,0.05)' } } },&#10;                        '单次 / 每天 / 每周 / 每月',&#10;                        { text: '退回「单次」', textStyle: { color: '#4FE0B0' } },&#10;                    ],&#10;                    [&#10;                        '时间',&#10;                        '合法的 时:分',&#10;                        { text: '退回早上 9:00', textStyle: { color: '#4FE0B0' } },&#10;                    ],&#10;                    [&#10;                        { text: '星期', cellStyle: { background: { color: 'rgba(232,238,247,0.05)' } } },&#10;                        '只能是 0–6',&#10;                        { text: '越界的直接丢掉', textStyle: { color: '#4FE0B0' } },&#10;                    ],&#10;                    [&#10;                        '日期',&#10;                        '只能是 1–31',&#10;                        { text: '越界的直接丢掉', textStyle: { color: '#4FE0B0' } },&#10;                    ],&#10;                    [&#10;                        { text: '系统操作', cellStyle: { background: { color: 'rgba(232,238,247,0.05)' } } },&#10;                        '锁屏 / 关机 / 重启',&#10;                        { text: '置空，不执行', textStyle: { color: '#4FE0B0' } },&#10;                    ],&#10;                    [&#10;                        '标题',&#10;                        '不能为空',&#10;                        { text: '用你原来那句话', textStyle: { color: '#4FE0B0' } },&#10;                    ],&#10;                ]}&#10;            /&gt;&#10;        &lt;/Box&gt;&#10;        &lt;Box style={{ flex: 1, flexDirection: 'column', gap: 14 }}&gt;&#10;            &lt;Box style={{ height: 200, flexDirection: 'column', justifyContent: 'center', alignItems: 'center', gap: 6, background: 'rgba(79,224,176,0.05)', border: '2px dashed rgba(79,224,176,0.55)', borderRadius: 10, padding: '0 14px' }}&gt;&#10;                &lt;Text style={{ fontSize: 13, fontFamily: 'Consolas', color: '#4FE0B0', letterSpacing: 1 }}&gt;截图 ⑯&lt;/Text&gt;&#10;                &lt;Text style={{ fontSize: 17, fontWeight: 'bold', color: '#E8EEF7', textAlign: 'center' }}&gt;解析结果页（标注来源）&lt;/Text&gt;&#10;                &lt;Text style={{ fontSize: 12, color: '#E8EEF7', opacity: 0.5, textAlign: 'center', lineHeight: 1.5 }}&gt;建议画面：展示结果旁边&lt;br /&gt;「来自云端大模型 / 来自本机引擎」的标注&lt;/Text&gt;&#10;            &lt;/Box&gt;&#10;            &lt;Box style={{ flex: 1, flexDirection: 'column', justifyContent: 'center', gap: 10, padding: '18px 20px', background: 'rgba(79,224,176,0.12)', border: '1px solid #4FE0B0', borderRadius: 12 }}&gt;&#10;                &lt;Text style={{ fontSize: 16, color: '#E8EEF7', lineHeight: 1.6 }}&gt;大模型只负责&lt;span style={{ fontWeight: 'bold', color: '#4FE0B0' }}&gt;提个建议&lt;/span&gt;，能不能写进去由&lt;span style={{ fontWeight: 'bold', color: '#4FE0B0' }}&gt;软件说了算&lt;/span&gt;。&lt;/Text&gt;&#10;                &lt;Text style={{ fontSize: 16, color: '#E8EEF7', lineHeight: 1.6 }}&gt;而且结果会先摆成一张表单，&lt;span style={{ fontWeight: 'bold', color: '#4FE0B0' }}&gt;你点确认才真的写进去&lt;/span&gt;——人一直在最后一道。&lt;/Text&gt;&#10;                &lt;Text style={{ fontSize: 14, color: '#E8EEF7', opacity: 0.6, lineHeight: 1.5, marginTop: 4 }}&gt;这一条不是嘴上说说：有专门的检查会故意喂进去一堆乱七八糟的字段，验证它们全被挡下。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16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3876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说的，软件会再核一遍</a:t>
            </a:r>
            <a:endParaRPr/>
          </a:p>
        </p:txBody>
      </p:sp>
      <p:graphicFrame>
        <p:nvGraphicFramePr>
          <p:cNvPr id="150" name=""/>
          <p:cNvGraphicFramePr/>
          <p:nvPr/>
        </p:nvGraphicFramePr>
        <p:xfrm rot="0" flipH="0" flipV="0">
          <a:off x="609600" y="1552575"/>
          <a:ext cx="6667500" cy="3429000"/>
        </p:xfrm>
        <a:graphic>
          <a:graphicData uri="http://schemas.openxmlformats.org/drawingml/2006/table">
            <a:tbl>
              <a:tblGrid>
                <a:gridCol w="1319096">
                  <a:extLst>
                    <a:ext uri="{9D8B030D-6E8A-4147-A177-3AD203B41FA5}">
                      <a16:colId val="1"/>
                    </a:ext>
                  </a:extLst>
                </a:gridCol>
                <a:gridCol w="3176444">
                  <a:extLst>
                    <a:ext uri="{9D8B030D-6E8A-4147-A177-3AD203B41FA5}">
                      <a16:colId val="2"/>
                    </a:ext>
                  </a:extLst>
                </a:gridCol>
                <a:gridCol w="217196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</a:rPr>
                        <a:t>检查什么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E0B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</a:rPr>
                        <a:t>只认这些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E0B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</a:rPr>
                        <a:t>不合规怎么办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E0B0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类型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EF7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单次 / 每天 / 每周 / 每月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FE0B0"/>
                          </a:solidFill>
                          <a:latin typeface="Microsoft YaHei"/>
                          <a:ea typeface="Microsoft YaHei"/>
                        </a:rPr>
                        <a:t>退回「单次」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合法的 时:分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FE0B0"/>
                          </a:solidFill>
                          <a:latin typeface="Microsoft YaHei"/>
                          <a:ea typeface="Microsoft YaHei"/>
                        </a:rPr>
                        <a:t>退回早上 9:00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星期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EF7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只能是 0–6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FE0B0"/>
                          </a:solidFill>
                          <a:latin typeface="Microsoft YaHei"/>
                          <a:ea typeface="Microsoft YaHei"/>
                        </a:rPr>
                        <a:t>越界的直接丢掉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日期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只能是 1–31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FE0B0"/>
                          </a:solidFill>
                          <a:latin typeface="Microsoft YaHei"/>
                          <a:ea typeface="Microsoft YaHei"/>
                        </a:rPr>
                        <a:t>越界的直接丢掉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系统操作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EF7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锁屏 / 关机 / 重启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FE0B0"/>
                          </a:solidFill>
                          <a:latin typeface="Microsoft YaHei"/>
                          <a:ea typeface="Microsoft YaHei"/>
                        </a:rPr>
                        <a:t>置空，不执行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898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标题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8EEF7"/>
                          </a:solidFill>
                          <a:latin typeface="Microsoft YaHei"/>
                          <a:ea typeface="Microsoft YaHei"/>
                        </a:rPr>
                        <a:t>不能为空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FE0B0"/>
                          </a:solidFill>
                          <a:latin typeface="Microsoft YaHei"/>
                          <a:ea typeface="Microsoft YaHei"/>
                        </a:rPr>
                        <a:t>用你原来那句话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151" name=""/>
          <p:cNvSpPr/>
          <p:nvPr/>
        </p:nvSpPr>
        <p:spPr>
          <a:xfrm rot="0" flipH="0" flipV="0">
            <a:off x="7543800" y="1143000"/>
            <a:ext cx="4038600" cy="1905000"/>
          </a:xfrm>
          <a:prstGeom prst="roundRect">
            <a:avLst>
              <a:gd name="adj" fmla="val 5000"/>
            </a:avLst>
          </a:prstGeom>
          <a:solidFill>
            <a:srgbClr val="4FE0B0">
              <a:alpha val="5000"/>
            </a:srgbClr>
          </a:solidFill>
          <a:ln w="25400">
            <a:solidFill>
              <a:srgbClr val="4FE0B0">
                <a:alpha val="5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344025" y="165735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FE0B0"/>
                </a:solidFill>
                <a:latin typeface="Consolas"/>
                <a:ea typeface="Consolas"/>
              </a:rPr>
              <a:t>截图</a:t>
            </a:r>
            <a:r>
              <a:rPr lang="en-US" sz="975" spc="75">
                <a:solidFill>
                  <a:srgbClr val="4FE0B0"/>
                </a:solidFill>
                <a:latin typeface="Consolas"/>
                <a:ea typeface="Consolas"/>
              </a:rPr>
              <a:t xml:space="preserve"> ⑯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677275" y="1866900"/>
            <a:ext cx="17811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Microsoft YaHei"/>
                <a:ea typeface="Microsoft YaHei"/>
              </a:rPr>
              <a:t>解析结果页（标注来源）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7543800" y="3181350"/>
            <a:ext cx="4038600" cy="2724150"/>
          </a:xfrm>
          <a:prstGeom prst="roundRect">
            <a:avLst>
              <a:gd name="adj" fmla="val 4196"/>
            </a:avLst>
          </a:prstGeom>
          <a:solidFill>
            <a:srgbClr val="4FE0B0">
              <a:alpha val="12000"/>
            </a:srgbClr>
          </a:solidFill>
          <a:ln w="12700">
            <a:solidFill>
              <a:srgbClr val="4FE0B0"/>
            </a:solidFill>
            <a:prstDash val="solid"/>
          </a:ln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734300" y="3743325"/>
            <a:ext cx="3657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大模型只负责</a:t>
            </a:r>
            <a:r>
              <a:rPr lang="zh-CN" sz="1200" b="1">
                <a:solidFill>
                  <a:srgbClr val="4FE0B0"/>
                </a:solidFill>
                <a:latin typeface="Microsoft YaHei"/>
                <a:ea typeface="Microsoft YaHei"/>
              </a:rPr>
              <a:t>提个建议</a:t>
            </a: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，能不能写进去由</a:t>
            </a:r>
            <a:r>
              <a:rPr lang="zh-CN" sz="1200" b="1">
                <a:solidFill>
                  <a:srgbClr val="4FE0B0"/>
                </a:solidFill>
                <a:latin typeface="Microsoft YaHei"/>
                <a:ea typeface="Microsoft YaHei"/>
              </a:rPr>
              <a:t>软件说了算</a:t>
            </a: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734300" y="4133850"/>
            <a:ext cx="3657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而且结果会先摆成一张表单，</a:t>
            </a:r>
            <a:r>
              <a:rPr lang="zh-CN" sz="1200" b="1">
                <a:solidFill>
                  <a:srgbClr val="4FE0B0"/>
                </a:solidFill>
                <a:latin typeface="Microsoft YaHei"/>
                <a:ea typeface="Microsoft YaHei"/>
              </a:rPr>
              <a:t>你点确认才真的写进去</a:t>
            </a: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——人一直在最后一道。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3876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不管结果是谁给的，写进数据前都得过这一关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915650" y="8096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FE0B0">
                    <a:alpha val="80000"/>
                  </a:srgbClr>
                </a:solidFill>
                <a:latin typeface="Consolas"/>
                <a:ea typeface="Consolas"/>
              </a:rPr>
              <a:t>可靠性设计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666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7">
                    <a:alpha val="80000"/>
                  </a:srgbClr>
                </a:solidFill>
                <a:latin typeface="Microsoft YaHei"/>
                <a:ea typeface="Microsoft YaHei"/>
              </a:rPr>
              <a:t>五类内容各有各的规矩：只认列举出来的这些，不合规就不写进去。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486775" y="2124075"/>
            <a:ext cx="2162175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建议画面：展示结果旁边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「来自云端大模型</a:t>
            </a:r>
            <a:r>
              <a:rPr lang="en-US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来自本机引擎」的标注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734300" y="4857750"/>
            <a:ext cx="3657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E8EEF7">
                    <a:alpha val="60000"/>
                  </a:srgbClr>
                </a:solidFill>
                <a:latin typeface="Microsoft YaHei"/>
                <a:ea typeface="Microsoft YaHei"/>
              </a:rPr>
              <a:t>这一条不是嘴上说说：有专门的检查会故意喂进去一堆乱七八糟的字段，验证它们全被挡下。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64" name="" descr="&lt;Slide style={{ width: 1280, height: 720, background: '#0B1220', padding: '20px 64px' }}&gt;&#10;    &lt;Box style={{ height: 100, flexDirection: 'row', alignItems: 'flex-end', justifyContent: 'space-between', paddingBottom: 18 }}&gt;&#10;        &lt;Box style={{ flexDirection: 'column', gap: 6 }}&gt;&#10;            &lt;Text style={{ fontSize: 36, fontWeight: 'bold', color: '#E8EEF7' }}&gt;五个不一样的地方&lt;/Text&gt;&#10;            &lt;Text style={{ fontSize: 16, color: '#E8EEF7', opacity: 0.55, letterSpacing: 1 }}&gt;每条都对应一个看得见的动作，不是说法&lt;/Text&gt;&#10;        &lt;/Box&gt;&#10;        &lt;Text style={{ fontSize: 14, fontFamily: 'Consolas', color: '#4FE0B0', opacity: 0.8 }}&gt;创新点&lt;/Text&gt;&#10;    &lt;/Box&gt;&#10;    &lt;Box style={{ height: 500, flexDirection: 'row', gap: 32 }}&gt;&#10;        &lt;Box style={{ flex: 1, flexDirection: 'column', gap: 10 }}&gt;&#10;            &lt;Box style={{ height: 80, flexDirection: 'row', alignItems: 'center', gap: 18, padding: '0 20px', background: 'rgba(232,238,247,0.04)', border: '1px solid rgba(232,238,247,0.10)', borderRadius: 10 }}&gt;&#10;                &lt;Text style={{ fontSize: 38, fontWeight: 'bold', fontFamily: 'Consolas', color: '#4FE0B0', lineHeight: 1 }}&gt;01&lt;/Text&gt;&#10;                &lt;Box style={{ flexDirection: 'column', gap: 4 }}&gt;&#10;                    &lt;Text style={{ fontSize: 19, fontWeight: 'bold', color: '#E8EEF7' }}&gt;说一句话就把提醒设好&lt;/Text&gt;&#10;                    &lt;Text style={{ fontSize: 14, color: '#E8EEF7', opacity: 0.65 }}&gt;不用点一堆表单，也不用先学一套说法。&lt;/Text&gt;&#10;                &lt;/Box&gt;&#10;            &lt;/Box&gt;&#10;            &lt;Box style={{ height: 80, flexDirection: 'row', alignItems: 'center', gap: 18, padding: '0 20px', background: 'rgba(232,238,247,0.04)', border: '1px solid rgba(232,238,247,0.10)', borderRadius: 10 }}&gt;&#10;                &lt;Text style={{ fontSize: 38, fontWeight: 'bold', fontFamily: 'Consolas', color: '#4FE0B0', lineHeight: 1 }}&gt;02&lt;/Text&gt;&#10;                &lt;Box style={{ flexDirection: 'column', gap: 4 }}&gt;&#10;                    &lt;Text style={{ fontSize: 19, fontWeight: 'bold', color: '#E8EEF7' }}&gt;没网也能听懂你&lt;/Text&gt;&#10;                    &lt;Text style={{ fontSize: 14, color: '#E8EEF7', opacity: 0.65 }}&gt;软件自带一套规则，断网照样解析，功能不断。&lt;/Text&gt;&#10;                &lt;/Box&gt;&#10;            &lt;/Box&gt;&#10;            &lt;Box style={{ height: 80, flexDirection: 'row', alignItems: 'center', gap: 18, padding: '0 20px', background: 'rgba(232,238,247,0.04)', border: '1px solid rgba(232,238,247,0.10)', borderRadius: 10 }}&gt;&#10;                &lt;Text style={{ fontSize: 38, fontWeight: 'bold', fontFamily: 'Consolas', color: '#4FE0B0', lineHeight: 1 }}&gt;03&lt;/Text&gt;&#10;                &lt;Box style={{ flexDirection: 'column', gap: 4 }}&gt;&#10;                    &lt;Text style={{ fontSize: 19, fontWeight: 'bold', color: '#E8EEF7' }}&gt;AI 说的会先核一遍&lt;/Text&gt;&#10;                    &lt;Text style={{ fontSize: 14, color: '#E8EEF7', opacity: 0.65 }}&gt;不合规的内容写不进你的提醒列表。&lt;/Text&gt;&#10;                &lt;/Box&gt;&#10;            &lt;/Box&gt;&#10;            &lt;Box style={{ height: 80, flexDirection: 'row', alignItems: 'center', gap: 18, padding: '0 20px', background: 'rgba(232,238,247,0.04)', border: '1px solid rgba(232,238,247,0.10)', borderRadius: 10 }}&gt;&#10;                &lt;Text style={{ fontSize: 38, fontWeight: 'bold', fontFamily: 'Consolas', color: '#4FE0B0', lineHeight: 1 }}&gt;04&lt;/Text&gt;&#10;                &lt;Box style={{ flexDirection: 'column', gap: 4 }}&gt;&#10;                    &lt;Text style={{ fontSize: 19, fontWeight: 'bold', color: '#E8EEF7' }}&gt;一个人 + AI 助手做出来的&lt;/Text&gt;&#10;                    &lt;Text style={{ fontSize: 14, color: '#E8EEF7', opacity: 0.65 }}&gt;想法、结构、检查都是自己定的，AI 帮忙写代码，138 项检查兜底。&lt;/Text&gt;&#10;                &lt;/Box&gt;&#10;            &lt;/Box&gt;&#10;            &lt;Box style={{ height: 80, flexDirection: 'row', alignItems: 'center', gap: 18, padding: '0 20px', background: 'rgba(232,238,247,0.04)', border: '1px solid rgba(232,238,247,0.10)', borderRadius: 10 }}&gt;&#10;                &lt;Text style={{ fontSize: 38, fontWeight: 'bold', fontFamily: 'Consolas', color: '#4FE0B0', lineHeight: 1 }}&gt;05&lt;/Text&gt;&#10;                &lt;Box style={{ flexDirection: 'column', gap: 4 }}&gt;&#10;                    &lt;Text style={{ fontSize: 19, fontWeight: 'bold', color: '#E8EEF7' }}&gt;立场是让你休息&lt;/Text&gt;&#10;                    &lt;Text style={{ fontSize: 14, color: '#E8EEF7', opacity: 0.65 }}&gt;不催你干活，不比谁更拼，文案也不制造焦虑。&lt;/Text&gt;&#10;                &lt;/Box&gt;&#10;            &lt;/Box&gt;&#10;        &lt;/Box&gt;&#10;        &lt;Box style={{ width: 450, flexDirection: 'column', gap: 14 }}&gt;&#10;            &lt;Box style={{ flexDirection: 'column', gap: 10, padding: 20, background: 'rgba(232,238,247,0.05)', border: '1px solid rgba(232,238,247,0.12)', borderRadius: 12 }}&gt;&#10;                &lt;Text style={{ fontSize: 20, fontWeight: 'bold', color: '#4FE0B0' }}&gt;和现在常用的工具比&lt;/Text&gt;&#10;                &lt;Box style={{ flexDirection: 'row', alignItems: 'center', gap: 8 }}&gt;&#10;                    &lt;Text style={{ width: 150, fontSize: 14, color: '#E8EEF7', opacity: 0.5 }}&gt;对比项&lt;/Text&gt;&#10;                    &lt;Text style={{ flex: 1, fontSize: 14, color: '#E8EEF7', opacity: 0.5 }}&gt;常用工具&lt;/Text&gt;&#10;                    &lt;Text style={{ flex: 1, fontSize: 14, color: '#4FE0B0' }}&gt;知歇&lt;/Text&gt;&#10;                &lt;/Box&gt;&#10;                &lt;Box style={{ flexDirection: 'row', alignItems: 'center', gap: 8 }}&gt;&#10;                    &lt;Text style={{ width: 150, fontSize: 15, color: '#E8EEF7' }}&gt;建一条提醒&lt;/Text&gt;&#10;                    &lt;Text style={{ flex: 1, fontSize: 14, color: '#E8EEF7', opacity: 0.55 }}&gt;填一堆表单&lt;/Text&gt;&#10;                    &lt;Text style={{ flex: 1, fontSize: 15, fontWeight: 'bold', color: '#4FE0B0' }}&gt;说一句话&lt;/Text&gt;&#10;                &lt;/Box&gt;&#10;                &lt;Box style={{ flexDirection: 'row', alignItems: 'center', gap: 8 }}&gt;&#10;                    &lt;Text style={{ width: 150, fontSize: 15, color: '#E8EEF7' }}&gt;断网的时候&lt;/Text&gt;&#10;                    &lt;Text style={{ flex: 1, fontSize: 14, color: '#E8EEF7', opacity: 0.55 }}&gt;多半歇菜&lt;/Text&gt;&#10;                    &lt;Text style={{ flex: 1, fontSize: 15, fontWeight: 'bold', color: '#4FE0B0' }}&gt;照样能用&lt;/Text&gt;&#10;                &lt;/Box&gt;&#10;                &lt;Box style={{ flexDirection: 'row', alignItems: 'center', gap: 8 }}&gt;&#10;                    &lt;Text style={{ width: 150, fontSize: 15, color: '#E8EEF7' }}&gt;到点锁屏 / 关机&lt;/Text&gt;&#10;                    &lt;Text style={{ flex: 1, fontSize: 14, color: '#E8EEF7', opacity: 0.55 }}&gt;基本没有&lt;/Text&gt;&#10;                    &lt;Text style={{ flex: 1, fontSize: 15, fontWeight: 'bold', color: '#4FE0B0' }}&gt;有，留 60 秒反悔&lt;/Text&gt;&#10;                &lt;/Box&gt;&#10;                &lt;Box style={{ flexDirection: 'row', alignItems: 'center', gap: 8 }}&gt;&#10;                    &lt;Text style={{ width: 150, fontSize: 15, color: '#E8EEF7' }}&gt;要不要账号&lt;/Text&gt;&#10;                    &lt;Text style={{ flex: 1, fontSize: 14, color: '#E8EEF7', opacity: 0.55 }}&gt;不少要登录&lt;/Text&gt;&#10;                    &lt;Text style={{ flex: 1, fontSize: 15, fontWeight: 'bold', color: '#4FE0B0' }}&gt;不要，数据在本机&lt;/Text&gt;&#10;                &lt;/Box&gt;&#10;            &lt;/Box&gt;&#10;            &lt;Box style={{ flexDirection: 'column', justifyContent: 'center', padding: '16px 20px', background: 'rgba(79,224,176,0.12)', border: '1px solid #4FE0B0', borderRadius: 12 }}&gt;&#10;                &lt;Text style={{ fontSize: 16, color: '#E8EEF7', lineHeight: 1.6 }}&gt;说到底就一句：把一件&quot;知道该做、却懒得去设&quot;的事，变成说一句话的事。&lt;/Text&gt;&#10;            &lt;/Box&gt;&#10;        &lt;/Box&gt;&#10;    &lt;/Box&gt;&#10;    &lt;Box style={{ height: 60, flexDirection: 'row', alignItems: 'center', justifyContent: 'space-between' }}&gt;&#10;        &lt;Text style={{ fontSize: 14, color: '#E8EEF7', opacity: 0.42 }}&gt;知歇 ZhiXie · V1.0.0&lt;/Text&gt;&#10;        &lt;Text style={{ fontSize: 14, fontFamily: 'Consolas', color: '#E8EEF7', opacity: 0.42 }}&gt;17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29146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8EEF7"/>
                </a:solidFill>
                <a:latin typeface="Microsoft YaHei"/>
                <a:ea typeface="Microsoft YaHei"/>
              </a:rPr>
              <a:t>五个不一样的地方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09600" y="1143000"/>
            <a:ext cx="6381750" cy="762000"/>
          </a:xfrm>
          <a:prstGeom prst="roundRect">
            <a:avLst>
              <a:gd name="adj" fmla="val 125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00100" y="1304925"/>
            <a:ext cx="4095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4FE0B0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381125" y="1314450"/>
            <a:ext cx="240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说一句话就把提醒设好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2000250"/>
            <a:ext cx="6381750" cy="762000"/>
          </a:xfrm>
          <a:prstGeom prst="roundRect">
            <a:avLst>
              <a:gd name="adj" fmla="val 125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00100" y="2162175"/>
            <a:ext cx="4095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4FE0B0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381125" y="2171700"/>
            <a:ext cx="2800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没网也能听懂你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2857500"/>
            <a:ext cx="6381750" cy="762000"/>
          </a:xfrm>
          <a:prstGeom prst="roundRect">
            <a:avLst>
              <a:gd name="adj" fmla="val 125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0100" y="3019425"/>
            <a:ext cx="4095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4FE0B0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381125" y="3028950"/>
            <a:ext cx="2133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说的会先核一遍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3714750"/>
            <a:ext cx="6381750" cy="762000"/>
          </a:xfrm>
          <a:prstGeom prst="roundRect">
            <a:avLst>
              <a:gd name="adj" fmla="val 125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00100" y="3876675"/>
            <a:ext cx="4095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4FE0B0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381125" y="38862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一个人</a:t>
            </a:r>
            <a:r>
              <a:rPr lang="en-US" sz="1425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+ AI </a:t>
            </a: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助手做出来的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4572000"/>
            <a:ext cx="6381750" cy="762000"/>
          </a:xfrm>
          <a:prstGeom prst="roundRect">
            <a:avLst>
              <a:gd name="adj" fmla="val 12500"/>
            </a:avLst>
          </a:prstGeom>
          <a:solidFill>
            <a:srgbClr val="E8EEF7">
              <a:alpha val="4000"/>
            </a:srgbClr>
          </a:solidFill>
          <a:ln w="12700">
            <a:solidFill>
              <a:srgbClr val="E8EEF7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00100" y="4733925"/>
            <a:ext cx="4095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4FE0B0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381125" y="4743450"/>
            <a:ext cx="2800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立场是让你休息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7296150" y="1143000"/>
            <a:ext cx="4286250" cy="1933575"/>
          </a:xfrm>
          <a:prstGeom prst="roundRect">
            <a:avLst>
              <a:gd name="adj" fmla="val 5911"/>
            </a:avLst>
          </a:prstGeom>
          <a:solidFill>
            <a:srgbClr val="E8EEF7">
              <a:alpha val="5000"/>
            </a:srgbClr>
          </a:solidFill>
          <a:ln w="12700">
            <a:solidFill>
              <a:srgbClr val="E8EEF7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486650" y="1333500"/>
            <a:ext cx="390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4FE0B0"/>
                </a:solidFill>
                <a:latin typeface="Microsoft YaHei"/>
                <a:ea typeface="Microsoft YaHei"/>
              </a:rPr>
              <a:t>和现在常用的工具比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229850" y="16573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FE0B0"/>
                </a:solidFill>
                <a:latin typeface="Microsoft YaHei"/>
                <a:ea typeface="Microsoft YaHei"/>
              </a:rPr>
              <a:t>知歇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486650" y="19145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7"/>
                </a:solidFill>
                <a:latin typeface="Microsoft YaHei"/>
                <a:ea typeface="Microsoft YaHei"/>
              </a:rPr>
              <a:t>建一条提醒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0229850" y="1914525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FE0B0"/>
                </a:solidFill>
                <a:latin typeface="Microsoft YaHei"/>
                <a:ea typeface="Microsoft YaHei"/>
              </a:rPr>
              <a:t>说一句话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486650" y="21812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7"/>
                </a:solidFill>
                <a:latin typeface="Microsoft YaHei"/>
                <a:ea typeface="Microsoft YaHei"/>
              </a:rPr>
              <a:t>断网的时候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229850" y="2181225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FE0B0"/>
                </a:solidFill>
                <a:latin typeface="Microsoft YaHei"/>
                <a:ea typeface="Microsoft YaHei"/>
              </a:rPr>
              <a:t>照样能用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7486650" y="24479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7"/>
                </a:solidFill>
                <a:latin typeface="Microsoft YaHei"/>
                <a:ea typeface="Microsoft YaHei"/>
              </a:rPr>
              <a:t>到点锁屏</a:t>
            </a:r>
            <a:r>
              <a:rPr lang="en-US" sz="1125">
                <a:solidFill>
                  <a:srgbClr val="E8EE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E8EEF7"/>
                </a:solidFill>
                <a:latin typeface="Microsoft YaHei"/>
                <a:ea typeface="Microsoft YaHei"/>
              </a:rPr>
              <a:t>关机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229850" y="2447925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FE0B0"/>
                </a:solidFill>
                <a:latin typeface="Microsoft YaHei"/>
                <a:ea typeface="Microsoft YaHei"/>
              </a:rPr>
              <a:t>有，留</a:t>
            </a:r>
            <a:r>
              <a:rPr lang="en-US" sz="1125" b="1">
                <a:solidFill>
                  <a:srgbClr val="4FE0B0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125" b="1">
                <a:solidFill>
                  <a:srgbClr val="4FE0B0"/>
                </a:solidFill>
                <a:latin typeface="Microsoft YaHei"/>
                <a:ea typeface="Microsoft YaHei"/>
              </a:rPr>
              <a:t>秒反悔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486650" y="27146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7"/>
                </a:solidFill>
                <a:latin typeface="Microsoft YaHei"/>
                <a:ea typeface="Microsoft YaHei"/>
              </a:rPr>
              <a:t>要不要账号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0229850" y="2714625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FE0B0"/>
                </a:solidFill>
                <a:latin typeface="Microsoft YaHei"/>
                <a:ea typeface="Microsoft YaHei"/>
              </a:rPr>
              <a:t>不要，数据在本机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7296150" y="3209925"/>
            <a:ext cx="4286250" cy="895350"/>
          </a:xfrm>
          <a:prstGeom prst="roundRect">
            <a:avLst>
              <a:gd name="adj" fmla="val 12766"/>
            </a:avLst>
          </a:prstGeom>
          <a:solidFill>
            <a:srgbClr val="4FE0B0">
              <a:alpha val="12000"/>
            </a:srgbClr>
          </a:solidFill>
          <a:ln w="12700">
            <a:solidFill>
              <a:srgbClr val="4FE0B0"/>
            </a:solidFill>
            <a:prstDash val="solid"/>
          </a:ln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486650" y="3362325"/>
            <a:ext cx="3905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说到底就一句：把一件</a:t>
            </a:r>
            <a:r>
              <a:rPr lang="en-US" sz="1200">
                <a:solidFill>
                  <a:srgbClr val="E8EEF7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知道该做、却懒得去设</a:t>
            </a:r>
            <a:r>
              <a:rPr lang="en-US" sz="1200">
                <a:solidFill>
                  <a:srgbClr val="E8EEF7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EEF7"/>
                </a:solidFill>
                <a:latin typeface="Microsoft YaHei"/>
                <a:ea typeface="Microsoft YaHei"/>
              </a:rPr>
              <a:t>的事，变成说一句话的事。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2914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每条都对应一个看得见的动作，不是说法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182350" y="809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FE0B0">
                    <a:alpha val="80000"/>
                  </a:srgbClr>
                </a:solidFill>
                <a:latin typeface="Consolas"/>
                <a:ea typeface="Consolas"/>
              </a:rPr>
              <a:t>创新点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381125" y="157162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不用点一堆表单，也不用先学一套说法。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381125" y="2428875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软件自带一套规则，断网照样解析，功能不断。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381125" y="32861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不合规的内容写不进你的提醒列表。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381125" y="4143375"/>
            <a:ext cx="4029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想法、结构、检查都是自己定的，</a:t>
            </a:r>
            <a:r>
              <a:rPr lang="en-US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帮忙写代码，</a:t>
            </a:r>
            <a:r>
              <a:rPr lang="en-US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 xml:space="preserve">138 </a:t>
            </a: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项检查兜底。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381125" y="5000625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65000"/>
                  </a:srgbClr>
                </a:solidFill>
                <a:latin typeface="Microsoft YaHei"/>
                <a:ea typeface="Microsoft YaHei"/>
              </a:rPr>
              <a:t>不催你干活，不比谁更拼，文案也不制造焦虑。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486650" y="16573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对比项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991600" y="16573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常用工具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991600" y="19240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填一堆表单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991600" y="21907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多半歇菜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991600" y="24574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基本没有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991600" y="27241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55000"/>
                  </a:srgbClr>
                </a:solidFill>
                <a:latin typeface="Microsoft YaHei"/>
                <a:ea typeface="Microsoft YaHei"/>
              </a:rPr>
              <a:t>不少要登录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>知歇</a:t>
            </a:r>
            <a:r>
              <a:rPr lang="en-US" sz="1050">
                <a:solidFill>
                  <a:srgbClr val="E8EEF7">
                    <a:alpha val="42000"/>
                  </a:srgbClr>
                </a:solidFill>
                <a:latin typeface="Microsoft YaHei"/>
                <a:ea typeface="Microsoft YaHei"/>
              </a:rPr>
              <a:t xml:space="preserve"> ZhiXie · V1.0.0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7">
                    <a:alpha val="42000"/>
                  </a:srgbClr>
                </a:solidFill>
                <a:latin typeface="Consolas"/>
                <a:ea typeface="Consolas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210" name="" descr="&lt;Slide style={{ width: 1280, height: 720, background: '#0B1220', padding: '20px 64px' }}&gt;&#10;    &lt;Box style={{ height: 680, flexDirection: 'column', justifyContent: 'center', alignItems: 'center', gap: 20 }}&gt;&#10;        &lt;svg width={520} height={168} viewBox='0 0 520 168'&gt;&#10;            &lt;circle cx='260' cy='168' r='150' fill='none' stroke='#4FE0B0' strokeWidth='1' opacity='0.18' /&gt;&#10;            &lt;circle cx='260' cy='168' r='112' fill='none' stroke='#4FE0B0' strokeWidth='1' opacity='0.30' /&gt;&#10;            &lt;circle cx='260' cy='168' r='74' fill='none' stroke='#4FE0B0' strokeWidth='1.5' opacity='0.50' /&gt;&#10;            &lt;path d='M110 168 A150 150 0 0 1 410 168' fill='none' stroke='#4FE0B0' strokeWidth='3' opacity='0.9' /&gt;&#10;            &lt;circle cx='260' cy='18' r='6' fill='#4FE0B0' /&gt;&#10;            &lt;path d='M260 18 L260 44' fill='none' stroke='#4FE0B0' strokeWidth='2' opacity='0.6' /&gt;&#10;        &lt;/svg&gt;&#10;        &lt;Text style={{ fontSize: 56, fontWeight: 'bold', color: '#E8EEF7', letterSpacing: 4 }}&gt;知时而歇，张弛有度&lt;/Text&gt;&#10;        &lt;Text style={{ fontSize: 20, color: '#4FE0B0', letterSpacing: 2 }}&gt;会听人话的桌面休息提醒&lt;/Text&gt;&#10;        &lt;Box style={{ height: 3, width: 140, background: 'linear-gradient(135deg, #4FE0B0 0%, #2E9E8F 100%)', borderRadius: 2, marginTop: 4 }} /&gt;&#10;        &lt;Text style={{ fontSize: 17, color: '#E8EEF7', opacity: 0.62, marginTop: 4 }}&gt;已经做完，官网可直接下载安装；Windows 和 macOS 都能用。&lt;/Text&gt;&#10;        &lt;Text style={{ fontSize: 17, color: '#E8EEF7', opacity: 0.62 }}&gt;我们希望做的，不是一个催你干活的工具，而是一个提醒你停下来的工具。&lt;/Text&gt;&#10;        &lt;Text style={{ fontSize: 16, color: '#E8EEF7', opacity: 0.5, letterSpacing: 1, marginTop: 8 }}&gt;创新主赛道 · AIGC 创新组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2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19500" y="1238250"/>
            <a:ext cx="4953000" cy="1600200"/>
          </a:xfrm>
          <a:prstGeom prst="rect">
            <a:avLst/>
          </a:prstGeom>
          <a:ln/>
        </p:spPr>
      </p:pic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524250" y="3028950"/>
            <a:ext cx="51435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 spc="300">
                <a:solidFill>
                  <a:srgbClr val="E8EEF7"/>
                </a:solidFill>
                <a:latin typeface="Microsoft YaHei"/>
                <a:ea typeface="Microsoft YaHei"/>
              </a:rPr>
              <a:t>知时而歇，张弛有度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943475" y="3867150"/>
            <a:ext cx="230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4FE0B0"/>
                </a:solidFill>
                <a:latin typeface="Microsoft YaHei"/>
                <a:ea typeface="Microsoft YaHei"/>
              </a:rPr>
              <a:t>会听人话的桌面休息提醒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5429250" y="4324350"/>
            <a:ext cx="13335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4FE0B0"/>
              </a:gs>
              <a:gs pos="100000">
                <a:srgbClr val="2E9E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810000" y="4581525"/>
            <a:ext cx="4572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已经做完，官网可直接下载安装；</a:t>
            </a:r>
            <a:r>
              <a:rPr lang="en-US" sz="1275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 xml:space="preserve">Windows </a:t>
            </a:r>
            <a:r>
              <a:rPr lang="zh-CN" sz="1275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和</a:t>
            </a:r>
            <a:r>
              <a:rPr lang="en-US" sz="1275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 xml:space="preserve"> macOS </a:t>
            </a:r>
            <a:r>
              <a:rPr lang="zh-CN" sz="1275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都能用。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429000" y="4972050"/>
            <a:ext cx="5343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7">
                    <a:alpha val="62000"/>
                  </a:srgbClr>
                </a:solidFill>
                <a:latin typeface="Microsoft YaHei"/>
                <a:ea typeface="Microsoft YaHei"/>
              </a:rPr>
              <a:t>我们希望做的，不是一个催你干活的工具，而是一个提醒你停下来的工具。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133975" y="5438775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创新主赛道</a:t>
            </a:r>
            <a:r>
              <a:rPr lang="en-US" sz="1200" spc="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AIGC </a:t>
            </a:r>
            <a:r>
              <a:rPr lang="zh-CN" sz="1200" spc="75">
                <a:solidFill>
                  <a:srgbClr val="E8EEF7">
                    <a:alpha val="50000"/>
                  </a:srgbClr>
                </a:solidFill>
                <a:latin typeface="Microsoft YaHei"/>
                <a:ea typeface="Microsoft YaHei"/>
              </a:rPr>
              <a:t>创新组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2026-10-11T19:15:46Z</dcterms:created>
  <dcterms:modified xsi:type="dcterms:W3CDTF">2026-10-11T19:15:46Z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{"AIGC":{"Label":"1","ContentProducer":"00119111010856365494821B355","ProduceID":"01a12a95a15077cd82a920e5c087c5e4","ReservedCode1":"","ContentPropagator":"00119111010856365494821B355","PropagateID":"01a12a95a15077cd82a920e5c087c5e4","ReservedCode2":""}}</vt:lpwstr>
  </property>
</Properties>
</file>