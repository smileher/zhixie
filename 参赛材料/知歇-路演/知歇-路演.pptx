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11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10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28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3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6" Type="http://schemas.openxmlformats.org/officeDocument/2006/relationships/slide" Target="slides/slide6.xml" /><Relationship Id="rId4" Type="http://schemas.openxmlformats.org/officeDocument/2006/relationships/slide" Target="slides/slide4.xml" /><Relationship Id="rId32" Type="http://schemas.openxmlformats.org/officeDocument/2006/relationships/tableStyles" Target="tableStyles.xml" /><Relationship Id="rId31" Type="http://schemas.openxmlformats.org/officeDocument/2006/relationships/presProps" Target="presProps.xml" /><Relationship Id="rId30" Type="http://schemas.openxmlformats.org/officeDocument/2006/relationships/notesMaster" Target="notesMasters/notesMaster1.xml" /><Relationship Id="rId3" Type="http://schemas.openxmlformats.org/officeDocument/2006/relationships/slide" Target="slides/slide3.xml" /><Relationship Id="rId33" Type="http://schemas.openxmlformats.org/officeDocument/2006/relationships/viewProps" Target="viewProps.xml" /><Relationship Id="rId10" Type="http://schemas.openxmlformats.org/officeDocument/2006/relationships/slide" Target="slides/slide10.xml" /><Relationship Id="rId28" Type="http://schemas.openxmlformats.org/officeDocument/2006/relationships/slide" Target="slides/slide28.xml" /><Relationship Id="rId26" Type="http://schemas.openxmlformats.org/officeDocument/2006/relationships/slide" Target="slides/slide26.xml" /><Relationship Id="rId24" Type="http://schemas.openxmlformats.org/officeDocument/2006/relationships/slide" Target="slides/slide24.xml" /><Relationship Id="rId29" Type="http://schemas.openxmlformats.org/officeDocument/2006/relationships/slide" Target="slides/slide29.xml" /><Relationship Id="rId5" Type="http://schemas.openxmlformats.org/officeDocument/2006/relationships/slide" Target="slides/slide5.xml" /><Relationship Id="rId27" Type="http://schemas.openxmlformats.org/officeDocument/2006/relationships/slide" Target="slides/slide27.xml" /><Relationship Id="rId13" Type="http://schemas.openxmlformats.org/officeDocument/2006/relationships/slide" Target="slides/slide13.xml" /><Relationship Id="rId25" Type="http://schemas.openxmlformats.org/officeDocument/2006/relationships/slide" Target="slides/slide25.xml" /><Relationship Id="rId20" Type="http://schemas.openxmlformats.org/officeDocument/2006/relationships/slide" Target="slides/slide20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1" Type="http://schemas.openxmlformats.org/officeDocument/2006/relationships/slide" Target="slides/slide1.xml" /><Relationship Id="rId18" Type="http://schemas.openxmlformats.org/officeDocument/2006/relationships/slide" Target="slides/slide18.xml" /><Relationship Id="rId21" Type="http://schemas.openxmlformats.org/officeDocument/2006/relationships/slide" Target="slides/slide2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23" Type="http://schemas.openxmlformats.org/officeDocument/2006/relationships/slide" Target="slides/slide23.xml" /><Relationship Id="rId17" Type="http://schemas.openxmlformats.org/officeDocument/2006/relationships/slide" Target="slides/slide17.xml" /><Relationship Id="rId15" Type="http://schemas.openxmlformats.org/officeDocument/2006/relationships/slide" Target="slides/slide15.xml" /><Relationship Id="rId22" Type="http://schemas.openxmlformats.org/officeDocument/2006/relationships/slide" Target="slides/slide22.xml" /><Relationship Id="rId16" Type="http://schemas.openxmlformats.org/officeDocument/2006/relationships/slide" Target="slides/slide16.xml" /><Relationship Id="rId14" Type="http://schemas.openxmlformats.org/officeDocument/2006/relationships/slide" Target="slides/slide14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3" Type="http://schemas.openxmlformats.org/officeDocument/2006/relationships/image" Target="media/image3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2" Type="http://schemas.openxmlformats.org/officeDocument/2006/relationships/image" Target="media/image6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slide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" name="" descr="&lt;Slide style={{ width: 1280, height: 720, background: '#0B1220', padding: '64px 80px', flexDirection: 'row', alignItems: 'center', justifyContent: 'space-between' }}&gt;&#10;    &lt;Box style={{ width: 660, flexDirection: 'column', gap: 20 }}&gt;&#10;      &lt;Box style={{ flexDirection: 'row', alignItems: 'center', gap: 14 }}&gt;&#10;        &lt;svg width={44} height={44} viewBox='0 0 40 40'&gt;&#10;          &lt;circle cx='20' cy='20' r='17' fill='none' stroke='#4FE0B0' strokeWidth='1' opacity='0.4' /&gt;&#10;          &lt;path d='M28 10 A17 17 0 1 0 28 30' fill='none' stroke='#4FE0B0' strokeWidth='2.5' /&gt;&#10;          &lt;rect x='15' y='15' width='2.4' height='10' rx='1.2' fill='#4FE0B0' /&gt;&#10;          &lt;rect x='20' y='15' width='2.4' height='10' rx='1.2' fill='#4FE0B0' /&gt;&#10;        &lt;/svg&gt;&#10;        &lt;Text style={{ fontSize: 22, color: '#4FE0B0', opacity: 0.7, letterSpacing: 6 }}&gt;Z H I X I E&lt;/Text&gt;&#10;      &lt;/Box&gt;&#10;      &lt;Text style={{ fontSize: 76, fontWeight: 'bold', color: '#E8EEF7', lineHeight: 1.15 }}&gt;知歇 &lt;span style={{ color: '#4FE0B0' }}&gt;ZhiXie&lt;/span&gt;&lt;/Text&gt;&#10;      &lt;Text style={{ fontSize: 30, color: '#4FE0B0', letterSpacing: 3 }}&gt;知时而歇，张弛有度&lt;/Text&gt;&#10;      &lt;Box style={{ height: 3, width: 120, background: 'linear-gradient(135deg, #4FE0B0 0%, #2E9E8F 100%)', borderRadius: 2 }} /&gt;&#10;      &lt;Text style={{ fontSize: 28, color: '#4FE0B0', opacity: 0.85, lineHeight: 1.55 }}&gt;会听人话的桌面休息提醒。&lt;br /&gt;说一句话，它就把提醒设好。&lt;/Text&gt;&#10;      &lt;Box style={{ flexDirection: 'row', alignItems: 'center', gap: 12, marginTop: 8 }}&gt;&#10;        &lt;svg width={26} height={26} viewBox='0 0 22 22'&gt;&#10;          &lt;circle cx='11' cy='11' r='10' fill='rgba(79,224,176,0.12)' stroke='#4FE0B0' strokeWidth='1.5' /&gt;&#10;          &lt;path d='M6 11 L9.5 14.5 L16 8' fill='none' stroke='#4FE0B0' strokeWidth='2' /&gt;&#10;        &lt;/svg&gt;&#10;        &lt;Text style={{ fontSize: 26, color: '#4FE0B0' }}&gt;已经做完 · 双平台可直接下载安装&lt;/Text&gt;&#10;      &lt;/Box&gt;&#10;      &lt;Text style={{ fontSize: 20, color: '#4FE0B0', fontFamily: 'Consolas', marginTop: 6 }}&gt;https://smileher.github.io/ZhiXie/&lt;/Text&gt;&#10;      &lt;Text style={{ fontSize: 22, color: '#4FE0B0', opacity: 0.5, letterSpacing: 1, marginTop: 8 }}&gt;创新主赛道 · AIGC 创新组&lt;/Text&gt;&#10;    &lt;/Box&gt;&#10;    &lt;Box style={{ width: 420, height: 420, justifyContent: 'center', alignItems: 'center' }}&gt;&#10;      &lt;svg width={420} height={420} viewBox='0 0 440 440'&gt;&#10;        &lt;circle cx='220' cy='220' r='200' fill='rgba(79,224,176,0.05)' /&gt;&#10;        &lt;circle cx='220' cy='220' r='200' fill='none' stroke='#4FE0B0' strokeWidth='1' opacity='0.22' /&gt;&#10;        &lt;circle cx='220' cy='220' r='146' fill='none' stroke='#4FE0B0' strokeWidth='1' opacity='0.32' /&gt;&#10;        &lt;circle cx='220' cy='220' r='92' fill='none' stroke='#4FE0B0' strokeWidth='1.5' opacity='0.5' /&gt;&#10;        &lt;circle cx='220' cy='220' r='5' fill='#4FE0B0' /&gt;&#10;        &lt;path d='M220 220 L392 112' fill='none' stroke='#4FE0B0' strokeWidth='2' opacity='0.7' /&gt;&#10;        &lt;path d='M330 128 A200 200 0 0 1 392 214' fill='none' stroke='#4FE0B0' strokeWidth='2.5' opacity='0.9' /&gt;&#10;        &lt;circle cx='392' cy='112' r='4' fill='#4FE0B0' /&gt;&#10;      &lt;/svg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866775"/>
            <a:ext cx="419100" cy="4191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1476375"/>
            <a:ext cx="6286500" cy="10001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700" b="1">
                <a:solidFill>
                  <a:srgbClr val="E8EEF7"/>
                </a:solidFill>
                <a:latin typeface="Microsoft YaHei"/>
                <a:ea typeface="Microsoft YaHei"/>
              </a:rPr>
              <a:t>知歇</a:t>
            </a:r>
            <a:r>
              <a:rPr lang="en-US" sz="57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5700" b="1">
                <a:solidFill>
                  <a:srgbClr val="4FE0B0"/>
                </a:solidFill>
                <a:latin typeface="Microsoft YaHei"/>
                <a:ea typeface="Microsoft YaHei"/>
              </a:rPr>
              <a:t>ZhiXie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2667000"/>
            <a:ext cx="6286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225">
                <a:solidFill>
                  <a:srgbClr val="4FE0B0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762000" y="3200400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2000" y="4714875"/>
            <a:ext cx="247650" cy="247650"/>
          </a:xfrm>
          <a:prstGeom prst="rect">
            <a:avLst/>
          </a:prstGeom>
          <a:ln/>
        </p:spPr>
      </p:pic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123950" y="4686300"/>
            <a:ext cx="3695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已经做完</a:t>
            </a:r>
            <a:r>
              <a:rPr lang="en-US" sz="195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双平台可直接下载安装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523875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4FE0B0"/>
                </a:solidFill>
                <a:latin typeface="Consolas"/>
                <a:ea typeface="Consolas"/>
              </a:rPr>
              <a:t>https://smileher.github.io/ZhiXie/</a:t>
            </a:r>
            <a:endParaRPr/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429500" y="1428750"/>
            <a:ext cx="4000500" cy="4000500"/>
          </a:xfrm>
          <a:prstGeom prst="rect">
            <a:avLst/>
          </a:prstGeom>
          <a:ln/>
        </p:spPr>
      </p:pic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1314450" y="952500"/>
            <a:ext cx="1600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450">
                <a:solidFill>
                  <a:srgbClr val="4FE0B0">
                    <a:alpha val="70000"/>
                  </a:srgbClr>
                </a:solidFill>
                <a:latin typeface="Microsoft YaHei"/>
                <a:ea typeface="Microsoft YaHei"/>
              </a:rPr>
              <a:t>Z H I X I E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3419475"/>
            <a:ext cx="6286500" cy="1000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210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会听人话的桌面休息提醒。</a:t>
            </a:r>
            <a:endParaRPr/>
          </a:p>
          <a:p>
            <a:pPr>
              <a:lnSpc>
                <a:spcPct val="155000"/>
              </a:lnSpc>
            </a:pPr>
            <a:r>
              <a:rPr lang="zh-CN" sz="210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说一句话，它就把提醒设好。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5734050"/>
            <a:ext cx="6286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65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AIGC </a:t>
            </a:r>
            <a:r>
              <a:rPr lang="zh-CN" sz="165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366" name="" descr="&lt;Slide style={{ width: 1280, height: 720, background: '#0B1220', padding: '0 80px', flexDirection: 'row', alignItems: 'center', gap: 60 }}&gt;&#10;    &lt;Box style={{ width: 340, flexDirection: 'column', gap: 8 }}&gt;&#10;      &lt;Text style={{ fontSize: 56, fontWeight: 'bold', color: '#E8EEF7' }}&gt;Contents&lt;/Text&gt;&#10;      &lt;Text style={{ fontSize: 40, fontWeight: 'bold', color: '#4FE0B0' }}&gt;// 目录&lt;/Text&gt;&#10;      &lt;Box style={{ height: 3, width: 120, background: 'linear-gradient(135deg, #4FE0B0 0%, #2E9E8F 100%)', borderRadius: 2, marginTop: 10 }} /&gt;&#10;      &lt;svg width={200} height={140} viewBox='0 0 220 150' style={{ marginTop: 24 }}&gt;&#10;        &lt;circle cx='110' cy='75' r='66' fill='none' stroke='#4FE0B0' strokeWidth='1' opacity='0.3' /&gt;&#10;        &lt;circle cx='110' cy='75' r='40' fill='none' stroke='#4FE0B0' strokeWidth='1.5' opacity='0.45' /&gt;&#10;        &lt;path d='M110 75 L164 44' fill='none' stroke='#4FE0B0' strokeWidth='2' opacity='0.7' /&gt;&#10;        &lt;path d='M146 51 A66 66 0 0 1 164 84' fill='none' stroke='#4FE0B0' strokeWidth='2.5' /&gt;&#10;        &lt;circle cx='110' cy='75' r='4' fill='#4FE0B0' /&gt;&#10;      &lt;/svg&gt;&#10;      &lt;Text style={{ fontSize: 20, color: '#4FE0B0', opacity: 0.5, letterSpacing: 1, marginTop: 20 }}&gt;创新主赛道 · AIGC 创新组&lt;/Text&gt;&#10;    &lt;/Box&gt;&#10;    &lt;Box style={{ flex: 1, flexDirection: 'column' }}&gt;&#10;      &lt;Box style={{ height: 54, flexDirection: 'row', alignItems: 'center', gap: 18, borderBottom: '1px solid rgba(232,238,247,0.10)', }}&gt;&#10;        &lt;Text style={{ fontSize: 30, fontFamily: 'Consolas', color: '#4FE0B0', width: 56 }}&gt;01&lt;/Text&gt;&#10;        &lt;Text style={{ fontSize: 26, color: '#E8EEF7', flex: 1 }}&gt;项目背景&lt;/Text&gt;&#10;        &lt;Text style={{ fontSize: 20, fontFamily: 'Consolas', color: '#E8EEF7', opacity: 0.45 }}&gt;P03–P05&lt;/Text&gt;&#10;      &lt;/Box&gt;&#10;      &lt;Box style={{ height: 54, flexDirection: 'row', alignItems: 'center', gap: 18, borderBottom: '1px solid rgba(232,238,247,0.10)', }}&gt;&#10;        &lt;Text style={{ fontSize: 30, fontFamily: 'Consolas', color: '#4FE0B0', width: 56 }}&gt;02&lt;/Text&gt;&#10;        &lt;Text style={{ fontSize: 26, color: '#E8EEF7', flex: 1 }}&gt;目标用户群体&lt;/Text&gt;&#10;        &lt;Text style={{ fontSize: 20, fontFamily: 'Consolas', color: '#E8EEF7', opacity: 0.45 }}&gt;P06–P08&lt;/Text&gt;&#10;      &lt;/Box&gt;&#10;      &lt;Box style={{ height: 54, flexDirection: 'row', alignItems: 'center', gap: 18, borderBottom: '1px solid rgba(232,238,247,0.10)', }}&gt;&#10;        &lt;Text style={{ fontSize: 30, fontFamily: 'Consolas', color: '#4FE0B0', width: 56 }}&gt;03&lt;/Text&gt;&#10;        &lt;Text style={{ fontSize: 26, color: '#E8EEF7', flex: 1 }}&gt;应用场景&lt;/Text&gt;&#10;        &lt;Text style={{ fontSize: 20, fontFamily: 'Consolas', color: '#E8EEF7', opacity: 0.45 }}&gt;P09–P11&lt;/Text&gt;&#10;      &lt;/Box&gt;&#10;      &lt;Box style={{ height: 54, flexDirection: 'row', alignItems: 'center', gap: 18, borderBottom: '1px solid rgba(232,238,247,0.10)', }}&gt;&#10;        &lt;Text style={{ fontSize: 30, fontFamily: 'Consolas', color: '#4FE0B0', width: 56 }}&gt;04&lt;/Text&gt;&#10;        &lt;Text style={{ fontSize: 26, color: '#E8EEF7', flex: 1 }}&gt;智能体开发过程&lt;/Text&gt;&#10;        &lt;Text style={{ fontSize: 20, fontFamily: 'Consolas', color: '#E8EEF7', opacity: 0.45 }}&gt;P12–P16&lt;/Text&gt;&#10;      &lt;/Box&gt;&#10;      &lt;Box style={{ height: 54, flexDirection: 'row', alignItems: 'center', gap: 18, borderBottom: '1px solid rgba(232,238,247,0.10)', }}&gt;&#10;        &lt;Text style={{ fontSize: 30, fontFamily: 'Consolas', color: '#4FE0B0', width: 56 }}&gt;05&lt;/Text&gt;&#10;        &lt;Text style={{ fontSize: 26, color: '#E8EEF7', flex: 1 }}&gt;实施计划&lt;/Text&gt;&#10;        &lt;Text style={{ fontSize: 20, fontFamily: 'Consolas', color: '#E8EEF7', opacity: 0.45 }}&gt;P17–P21&lt;/Text&gt;&#10;      &lt;/Box&gt;&#10;      &lt;Box style={{ height: 54, flexDirection: 'row', alignItems: 'center', gap: 18, borderBottom: '1px solid rgba(232,238,247,0.10)', }}&gt;&#10;        &lt;Text style={{ fontSize: 30, fontFamily: 'Consolas', color: '#4FE0B0', width: 56 }}&gt;06&lt;/Text&gt;&#10;        &lt;Text style={{ fontSize: 26, color: '#E8EEF7', flex: 1 }}&gt;预期成果&lt;/Text&gt;&#10;        &lt;Text style={{ fontSize: 20, fontFamily: 'Consolas', color: '#E8EEF7', opacity: 0.45 }}&gt;P22–P23&lt;/Text&gt;&#10;      &lt;/Box&gt;&#10;      &lt;Box style={{ height: 54, flexDirection: 'row', alignItems: 'center', gap: 18, borderBottom: '1px solid rgba(232,238,247,0.10)', }}&gt;&#10;        &lt;Text style={{ fontSize: 30, fontFamily: 'Consolas', color: '#4FE0B0', width: 56 }}&gt;07&lt;/Text&gt;&#10;        &lt;Text style={{ fontSize: 26, color: '#E8EEF7', flex: 1 }}&gt;创新点&lt;/Text&gt;&#10;        &lt;Text style={{ fontSize: 20, fontFamily: 'Consolas', color: '#E8EEF7', opacity: 0.45 }}&gt;P24–P26&lt;/Text&gt;&#10;      &lt;/Box&gt;&#10;      &lt;Box style={{ height: 54, flexDirection: 'row', alignItems: 'center', gap: 18, }}&gt;&#10;        &lt;Text style={{ fontSize: 30, fontFamily: 'Consolas', color: '#4FE0B0', width: 56 }}&gt;08&lt;/Text&gt;&#10;        &lt;Text style={{ fontSize: 26, color: '#E8EEF7', flex: 1 }}&gt;应用价值&lt;/Text&gt;&#10;        &lt;Text style={{ fontSize: 20, fontFamily: 'Consolas', color: '#E8EEF7', opacity: 0.45 }}&gt;P27–P28&lt;/Text&gt;&#10;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762000" y="1676400"/>
            <a:ext cx="32385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E8EEF7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762000" y="2400300"/>
            <a:ext cx="32385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// </a:t>
            </a:r>
            <a:r>
              <a:rPr lang="zh-CN" sz="3000" b="1">
                <a:solidFill>
                  <a:srgbClr val="4FE0B0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762000" y="3028950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3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3362325"/>
            <a:ext cx="1905000" cy="1333500"/>
          </a:xfrm>
          <a:prstGeom prst="rect">
            <a:avLst/>
          </a:prstGeom>
          <a:ln/>
        </p:spPr>
      </p:pic>
      <p:sp>
        <p:nvSpPr>
          <p:cNvPr id="372" name=""/>
          <p:cNvSpPr/>
          <p:nvPr/>
        </p:nvSpPr>
        <p:spPr>
          <a:xfrm rot="0" flipH="0" flipV="0">
            <a:off x="4572000" y="1371600"/>
            <a:ext cx="6858000" cy="514350"/>
          </a:xfrm>
          <a:custGeom>
            <a:pathLst>
              <a:path w="720" h="54">
                <a:moveTo>
                  <a:pt x="0" y="53"/>
                </a:moveTo>
                <a:lnTo>
                  <a:pt x="720" y="53"/>
                </a:lnTo>
                <a:lnTo>
                  <a:pt x="720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4572000" y="145732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276850" y="1476375"/>
            <a:ext cx="51911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4572000" y="1885950"/>
            <a:ext cx="6858000" cy="514350"/>
          </a:xfrm>
          <a:custGeom>
            <a:pathLst>
              <a:path w="720" h="54">
                <a:moveTo>
                  <a:pt x="0" y="53"/>
                </a:moveTo>
                <a:lnTo>
                  <a:pt x="720" y="53"/>
                </a:lnTo>
                <a:lnTo>
                  <a:pt x="720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4572000" y="197167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5276850" y="1990725"/>
            <a:ext cx="51911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4572000" y="2400300"/>
            <a:ext cx="6858000" cy="514350"/>
          </a:xfrm>
          <a:custGeom>
            <a:pathLst>
              <a:path w="720" h="54">
                <a:moveTo>
                  <a:pt x="0" y="53"/>
                </a:moveTo>
                <a:lnTo>
                  <a:pt x="720" y="53"/>
                </a:lnTo>
                <a:lnTo>
                  <a:pt x="720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572000" y="248602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5276850" y="2505075"/>
            <a:ext cx="52101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4572000" y="2914650"/>
            <a:ext cx="6858000" cy="514350"/>
          </a:xfrm>
          <a:custGeom>
            <a:pathLst>
              <a:path w="720" h="54">
                <a:moveTo>
                  <a:pt x="0" y="53"/>
                </a:moveTo>
                <a:lnTo>
                  <a:pt x="720" y="53"/>
                </a:lnTo>
                <a:lnTo>
                  <a:pt x="720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4572000" y="300037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276850" y="3019425"/>
            <a:ext cx="51911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4572000" y="3429000"/>
            <a:ext cx="6858000" cy="514350"/>
          </a:xfrm>
          <a:custGeom>
            <a:pathLst>
              <a:path w="720" h="54">
                <a:moveTo>
                  <a:pt x="0" y="53"/>
                </a:moveTo>
                <a:lnTo>
                  <a:pt x="720" y="53"/>
                </a:lnTo>
                <a:lnTo>
                  <a:pt x="720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4572000" y="351472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5276850" y="3533775"/>
            <a:ext cx="51911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4572000" y="3943350"/>
            <a:ext cx="6858000" cy="514350"/>
          </a:xfrm>
          <a:custGeom>
            <a:pathLst>
              <a:path w="720" h="54">
                <a:moveTo>
                  <a:pt x="0" y="53"/>
                </a:moveTo>
                <a:lnTo>
                  <a:pt x="720" y="53"/>
                </a:lnTo>
                <a:lnTo>
                  <a:pt x="720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572000" y="402907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06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5276850" y="4048125"/>
            <a:ext cx="51911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572000" y="4457700"/>
            <a:ext cx="6858000" cy="514350"/>
          </a:xfrm>
          <a:custGeom>
            <a:pathLst>
              <a:path w="720" h="54">
                <a:moveTo>
                  <a:pt x="0" y="53"/>
                </a:moveTo>
                <a:lnTo>
                  <a:pt x="720" y="53"/>
                </a:lnTo>
                <a:lnTo>
                  <a:pt x="720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572000" y="454342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07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5276850" y="4562475"/>
            <a:ext cx="51911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4572000" y="5057775"/>
            <a:ext cx="533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4FE0B0"/>
                </a:solidFill>
                <a:latin typeface="Consolas"/>
                <a:ea typeface="Consolas"/>
              </a:rPr>
              <a:t>08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5276850" y="5076825"/>
            <a:ext cx="51911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62000" y="4962525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50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AIGC </a:t>
            </a:r>
            <a:r>
              <a:rPr lang="zh-CN" sz="150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0639425" y="15144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P03–P05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10639425" y="202882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P06–P08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0658475" y="2543175"/>
            <a:ext cx="771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P09–P11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0639425" y="305752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P12–P16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0639425" y="35718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P17–P21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10639425" y="408622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P22–P23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0639425" y="46005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P24–P26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0639425" y="511492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P27–P28</a:t>
            </a:r>
            <a:endParaRPr/>
          </a:p>
        </p:txBody>
      </p:sp>
    </p:spTree>
  </p:cSld>
</p:sld>
</file>

<file path=ppt/slides/slide3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737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4FE0B0', fontWeight: 'bold'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1 · 项目背景&lt;/Text&gt;&#10;        &lt;Text style={{ fontSize: 40, fontWeight: 'bold', color: '#E8EEF7' }}&gt;一坐就是三四个小时&lt;/Text&gt;&#10;      &lt;/Box&gt;&#10;      &lt;Text style={{ fontSize: 20, fontFamily: 'Consolas', color: '#E8EEF7', opacity: 0.35 }}&gt;3&lt;/Text&gt;&#10;    &lt;/Box&gt;&#10;    &lt;Box style={{ height: 470, flexDirection: 'row', gap: 40, alignItems: 'center' }}&gt;&#10;      &lt;Box style={{ flex: 1, flexDirection: 'column', gap: 18 }}&gt;&#10;        &lt;Text style={{ fontSize: 36, fontWeight: 'bold', color: '#4FE0B0', lineHeight: 1.4 }}&gt;您上一次连续坐在电脑前，&lt;br /&gt;是多久？&lt;/Text&gt;&#10;        &lt;Text style={{ fontSize: 28, color: '#E8EEF7', opacity: 0.8, lineHeight: 1.5 }}&gt;一进入专注，时间感就没了。&lt;/Text&gt;&#10;        &lt;Text style={{ fontSize: 28, color: '#E8EEF7', opacity: 0.8, lineHeight: 1.5 }}&gt;身体一直在发信号，只是被忽略。&lt;/Text&gt;&#10;        &lt;Box style={{ background: 'rgba(79,224,176,0.10)', border: '1px solid rgba(79,224,176,0.4)', borderRadius: 12, padding: '18px 22px'}}&gt;&#10;          &lt;Text style={{ fontSize: 28, color: '#E8EEF7', lineHeight: 1.5 }}&gt;谁能用上：&lt;span style={{ color: '#4FE0B0', fontWeight: 'bold' }}&gt;学生、久坐办公的人&lt;/span&gt;&lt;/Text&gt;&#10;        &lt;/Box&gt;&#10;      &lt;/Box&gt;&#10;      &lt;Box style={{ width: 520, flexDirection: 'column', gap: 20 }}&gt;&#10;      &lt;Box style={{ height: 130, background: '#1B2740', border: '1px solid rgba(232,238,247,0.12)', borderRadius: 12, padding: '0 24px'}}&gt;&#10;        &lt;Text style={{ fontSize: 40, fontFamily: 'Consolas', color: '#4FE0B0' }}&gt;1&lt;/Text&gt;&#10;        &lt;Box style={{ flex: 1, flexDirection: 'column', gap: 6 }}&gt;&#10;          &lt;Text style={{ fontSize: 28, fontWeight: 'bold', color: '#E8EEF7' }}&gt;眼睛先报警&lt;/Text&gt;&#10;          &lt;Text style={{ fontSize: 24, color: '#E8EEF7', opacity: 0.65 }}&gt;干涩、发胀、看东西发花&lt;/Text&gt;&#10;        &lt;/Box&gt;&#10;      &lt;/Box&gt;&#10;      &lt;Box style={{ height: 130, background: '#1B2740', border: '1px solid rgba(232,238,247,0.12)', borderRadius: 12, padding: '0 24px'}}&gt;&#10;        &lt;Text style={{ fontSize: 40, fontFamily: 'Consolas', color: '#4FE0B0' }}&gt;2&lt;/Text&gt;&#10;        &lt;Box style={{ flex: 1, flexDirection: 'column', gap: 6 }}&gt;&#10;          &lt;Text style={{ fontSize: 28, fontWeight: 'bold', color: '#E8EEF7' }}&gt;肩颈变僵硬&lt;/Text&gt;&#10;          &lt;Text style={{ fontSize: 24, color: '#E8EEF7', opacity: 0.65 }}&gt;一动脖子就咔咔响&lt;/Text&gt;&#10;        &lt;/Box&gt;&#10;      &lt;/Box&gt;&#10;      &lt;Box style={{ height: 130, background: '#1B2740', border: '1px solid rgba(232,238,247,0.12)', borderRadius: 12, padding: '0 24px'}}&gt;&#10;        &lt;Text style={{ fontSize: 40, fontFamily: 'Consolas', color: '#4FE0B0' }}&gt;3&lt;/Text&gt;&#10;        &lt;Box style={{ flex: 1, flexDirection: 'column', gap: 6 }}&gt;&#10;          &lt;Text style={{ fontSize: 28, fontWeight: 'bold', color: '#E8EEF7' }}&gt;腰背会发麻&lt;/Text&gt;&#10;          &lt;Text style={{ fontSize: 24, color: '#E8EEF7', opacity: 0.65 }}&gt;起身才知道坐了多久&lt;/Text&gt;&#10;        &lt;/Box&gt;&#10;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3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739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7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429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01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项目背景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429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一坐就是三四个小时</a:t>
            </a:r>
            <a:endParaRPr/>
          </a:p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609600" y="2143125"/>
            <a:ext cx="5638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您上一次连续坐在电脑前，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是多久？</a:t>
            </a:r>
            <a:endParaRPr/>
          </a:p>
        </p:txBody>
      </p:sp>
      <p:sp>
        <p:nvSpPr>
          <p:cNvPr id="746" name=""/>
          <p:cNvSpPr/>
          <p:nvPr/>
        </p:nvSpPr>
        <p:spPr>
          <a:xfrm rot="0" flipH="0" flipV="0">
            <a:off x="609600" y="4781550"/>
            <a:ext cx="5638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819150" y="4953000"/>
            <a:ext cx="5219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谁能用上：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学生、久坐办公的人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6629400" y="182880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6858000" y="1828800"/>
            <a:ext cx="449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>
                <a:solidFill>
                  <a:srgbClr val="4FE0B0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6858000" y="2286000"/>
            <a:ext cx="4495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眼睛先报警</a:t>
            </a:r>
            <a:endParaRPr/>
          </a:p>
        </p:txBody>
      </p:sp>
      <p:sp>
        <p:nvSpPr>
          <p:cNvPr id="751" name=""/>
          <p:cNvSpPr/>
          <p:nvPr/>
        </p:nvSpPr>
        <p:spPr>
          <a:xfrm rot="0" flipH="0" flipV="0">
            <a:off x="6629400" y="325755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6858000" y="3257550"/>
            <a:ext cx="449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>
                <a:solidFill>
                  <a:srgbClr val="4FE0B0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6858000" y="3714750"/>
            <a:ext cx="4495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肩颈变僵硬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6629400" y="468630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6858000" y="4686300"/>
            <a:ext cx="449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>
                <a:solidFill>
                  <a:srgbClr val="4FE0B0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6858000" y="5143500"/>
            <a:ext cx="4495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腰背会发麻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11468100" y="12763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09600" y="3467100"/>
            <a:ext cx="5638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一进入专注，时间感就没了。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609600" y="4124325"/>
            <a:ext cx="5638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身体一直在发信号，只是被忽略。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6858000" y="2667000"/>
            <a:ext cx="4495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干涩、发胀、看东西发花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6858000" y="4095750"/>
            <a:ext cx="4495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一动脖子就咔咔响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6858000" y="5524500"/>
            <a:ext cx="4495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起身才知道坐了多久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1144250" y="6200775"/>
            <a:ext cx="438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3 / 29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772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4FE0B0', fontWeight: 'bold'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1 · 项目背景&lt;/Text&gt;&#10;        &lt;Text style={{ fontSize: 40, fontWeight: 'bold', color: '#E8EEF7' }}&gt;现有方案，总差一口气&lt;/Text&gt;&#10;      &lt;/Box&gt;&#10;      &lt;Text style={{ fontSize: 20, fontFamily: 'Consolas', color: '#E8EEF7', opacity: 0.35 }}&gt;4&lt;/Text&gt;&#10;    &lt;/Box&gt;&#10;    &lt;Box style={{ height: 470, flexDirection: 'column', gap: 10 }}&gt;&#10;      &lt;Box style={{ height: 116, background: '#1B2740', border: '1px solid rgba(232,238,247,0.12)', borderRadius: 12, padding: '16px 22px'}}&gt;&#10;        &lt;Box style={{ flexDirection: 'column', gap: 6 }}&gt;&#10;          &lt;Box style={{ flexDirection: 'row', alignItems: 'baseline', gap: 12 }}&gt;&#10;            &lt;Text style={{ fontSize: 32, fontFamily: 'Consolas', color: '#4FE0B0' }}&gt;1&lt;/Text&gt;&#10;            &lt;Text style={{ fontSize: 26, fontWeight: 'bold', color: '#E8EEF7' }}&gt;手机闹钟&lt;/Text&gt;&#10;          &lt;/Box&gt;&#10;          &lt;Text style={{ fontSize: 22, color: '#E8EEF7', opacity: 0.75, lineHeight: 1.4 }}&gt;到点就响吓一跳；专注时被打断，还得解锁去操作&lt;/Text&gt;&#10;        &lt;/Box&gt;&#10;      &lt;/Box&gt;&#10;      &lt;Box style={{ height: 116, background: '#1B2740', border: '1px solid rgba(232,238,247,0.12)', borderRadius: 12, padding: '16px 22px'}}&gt;&#10;        &lt;Box style={{ flexDirection: 'column', gap: 6 }}&gt;&#10;          &lt;Box style={{ flexDirection: 'row', alignItems: 'baseline', gap: 12 }}&gt;&#10;            &lt;Text style={{ fontSize: 32, fontFamily: 'Consolas', color: '#4FE0B0' }}&gt;2&lt;/Text&gt;&#10;            &lt;Text style={{ fontSize: 26, fontWeight: 'bold', color: '#E8EEF7' }}&gt;日历 / 待办&lt;/Text&gt;&#10;          &lt;/Box&gt;&#10;          &lt;Text style={{ fontSize: 22, color: '#E8EEF7', opacity: 0.75, lineHeight: 1.4 }}&gt;字段要一个个填；当时没设，过后就想不起来&lt;/Text&gt;&#10;        &lt;/Box&gt;&#10;      &lt;/Box&gt;&#10;      &lt;Box style={{ height: 116, background: '#1B2740', border: '1px solid rgba(232,238,247,0.12)', borderRadius: 12, padding: '16px 22px'}}&gt;&#10;        &lt;Box style={{ flexDirection: 'column', gap: 6 }}&gt;&#10;          &lt;Box style={{ flexDirection: 'row', alignItems: 'baseline', gap: 12 }}&gt;&#10;            &lt;Text style={{ fontSize: 32, fontFamily: 'Consolas', color: '#4FE0B0' }}&gt;3&lt;/Text&gt;&#10;            &lt;Text style={{ fontSize: 26, fontWeight: 'bold', color: '#E8EEF7' }}&gt;同类休息软件&lt;/Text&gt;&#10;          &lt;/Box&gt;&#10;          &lt;Text style={{ fontSize: 22, color: '#E8EEF7', opacity: 0.75, lineHeight: 1.4 }}&gt;多是英文界面、一堆表单，有的还催你打卡比拼&lt;/Text&gt;&#10;        &lt;/Box&gt;&#10;      &lt;/Box&gt;&#10;      &lt;Box style={{ background: 'rgba(79,224,176,0.10)', border: '1px solid rgba(79,224,176,0.4)', borderRadius: 12, padding: '20px 24px'}}&gt;&#10;          &lt;Text style={{ fontSize: 28, color: '#E8EEF7', lineHeight: 1.5 }}&gt;真正缺的，是一个&lt;span style={{ color: '#4FE0B0', fontWeight: 'bold' }}&gt;听得懂人话、到点温柔提醒&lt;/span&gt;的桌面工具。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4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7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01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项目背景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810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现有方案，总差一口气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609600" y="1638300"/>
            <a:ext cx="10972800" cy="1104900"/>
          </a:xfrm>
          <a:prstGeom prst="roundRect">
            <a:avLst>
              <a:gd name="adj" fmla="val 1034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819150" y="1790700"/>
            <a:ext cx="171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>
                <a:solidFill>
                  <a:srgbClr val="4FE0B0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104900" y="1790700"/>
            <a:ext cx="9906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手机闹钟</a:t>
            </a:r>
            <a:endParaRPr/>
          </a:p>
        </p:txBody>
      </p:sp>
      <p:sp>
        <p:nvSpPr>
          <p:cNvPr id="783" name=""/>
          <p:cNvSpPr/>
          <p:nvPr/>
        </p:nvSpPr>
        <p:spPr>
          <a:xfrm rot="0" flipH="0" flipV="0">
            <a:off x="609600" y="2838450"/>
            <a:ext cx="10972800" cy="1104900"/>
          </a:xfrm>
          <a:prstGeom prst="roundRect">
            <a:avLst>
              <a:gd name="adj" fmla="val 1034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819150" y="2990850"/>
            <a:ext cx="171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>
                <a:solidFill>
                  <a:srgbClr val="4FE0B0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104900" y="2990850"/>
            <a:ext cx="12001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日历</a:t>
            </a:r>
            <a:r>
              <a:rPr lang="en-US" sz="19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待办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609600" y="4038600"/>
            <a:ext cx="10972800" cy="1104900"/>
          </a:xfrm>
          <a:prstGeom prst="roundRect">
            <a:avLst>
              <a:gd name="adj" fmla="val 1034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819150" y="4191000"/>
            <a:ext cx="171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>
                <a:solidFill>
                  <a:srgbClr val="4FE0B0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104900" y="4191000"/>
            <a:ext cx="14859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同类休息软件</a:t>
            </a:r>
            <a:endParaRPr/>
          </a:p>
        </p:txBody>
      </p:sp>
      <p:sp>
        <p:nvSpPr>
          <p:cNvPr id="789" name=""/>
          <p:cNvSpPr/>
          <p:nvPr/>
        </p:nvSpPr>
        <p:spPr>
          <a:xfrm rot="0" flipH="0" flipV="0">
            <a:off x="609600" y="5238750"/>
            <a:ext cx="10972800" cy="866775"/>
          </a:xfrm>
          <a:prstGeom prst="roundRect">
            <a:avLst>
              <a:gd name="adj" fmla="val 13187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838200" y="5429250"/>
            <a:ext cx="105156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真正缺的，是一个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听得懂人话、到点温柔提醒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的桌面工具。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11468100" y="12763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819150" y="2219325"/>
            <a:ext cx="10553700" cy="3524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到点就响吓一跳；专注时被打断，还得解锁去操作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819150" y="3419475"/>
            <a:ext cx="10553700" cy="3524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字段要一个个填；当时没设，过后就想不起来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819150" y="4619625"/>
            <a:ext cx="10553700" cy="3524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多是英文界面、一堆表单，有的还催你打卡比拼</a:t>
            </a:r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11144250" y="6200775"/>
            <a:ext cx="438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4 / 29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804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4FE0B0', fontWeight: 'bold'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1 · 项目背景&lt;/Text&gt;&#10;        &lt;Text style={{ fontSize: 40, fontWeight: 'bold', color: '#E8EEF7' }}&gt;知歇是什么&lt;/Text&gt;&#10;      &lt;/Box&gt;&#10;      &lt;Text style={{ fontSize: 20, fontFamily: 'Consolas', color: '#E8EEF7', opacity: 0.35 }}&gt;5&lt;/Text&gt;&#10;    &lt;/Box&gt;&#10;    &lt;Box style={{ height: 470, flexDirection: 'row', gap: 40, alignItems: 'center' }}&gt;&#10;      &lt;Box style={{ width: 500, flexDirection: 'column', gap: 20 }}&gt;&#10;        &lt;Box style={{ height: 215, flexDirection: 'column', justifyContent: 'center', alignItems: 'center', gap: 10, background: 'rgba(79,224,176,0.06)', border: '2px dashed rgba(79,224,176,0.45)', borderRadius: 12, padding: '0 20px' }}&gt;&#10;        &lt;Text style={{ fontSize: 22, fontFamily: 'Consolas', color: '#4FE0B0', letterSpacing: 1 }}&gt;截图 ③&lt;/Text&gt;&#10;        &lt;Text style={{ fontSize: 28, fontWeight: 'bold', color: '#E8EEF7', textAlign: 'center' }}&gt;知歇主界面&lt;/Text&gt;&#10;        &lt;Text style={{ fontSize: 22, color: '#E8EEF7', opacity: 0.55, textAlign: 'center', lineHeight: 1.6 }}&gt;建议画面：休息节律页或智能体页首屏&lt;/Text&gt;&#10;      &lt;/Box&gt;&#10;        &lt;Box style={{ height: 215, flexDirection: 'column', justifyContent: 'center', alignItems: 'center', gap: 10, background: 'rgba(79,224,176,0.06)', border: '2px dashed rgba(79,224,176,0.45)', borderRadius: 12, padding: '0 20px' }}&gt;&#10;        &lt;Text style={{ fontSize: 22, fontFamily: 'Consolas', color: '#4FE0B0', letterSpacing: 1 }}&gt;截图 ④&lt;/Text&gt;&#10;        &lt;Text style={{ fontSize: 28, fontWeight: 'bold', color: '#E8EEF7', textAlign: 'center' }}&gt;一句话建提醒&lt;/Text&gt;&#10;        &lt;Text style={{ fontSize: 22, color: '#E8EEF7', opacity: 0.55, textAlign: 'center', lineHeight: 1.6 }}&gt;建议画面：输入「每久坐 50 分钟提醒我」&lt;br /&gt;的解析结果页&lt;/Text&gt;&#10;      &lt;/Box&gt;&#10;      &lt;/Box&gt;&#10;      &lt;Box style={{ flex: 1, flexDirection: 'column', gap: 12 }}&gt;&#10;        &lt;Text style={{ fontSize: 36, fontWeight: 'bold', color: '#4FE0B0', lineHeight: 1.3 }}&gt;说一句话，&lt;br /&gt;提醒就建好了。&lt;/Text&gt;&#10;        &lt;Text style={{ fontSize: 28, color: '#E8EEF7', opacity: 0.8, lineHeight: 1.4 }}&gt;「每久坐 50 分钟提醒我」——不必填表单。&lt;/Text&gt;&#10;        &lt;Text style={{ fontSize: 28, color: '#E8EEF7', opacity: 0.8, lineHeight: 1.4 }}&gt;到点弹窗，可推迟，也能顺带锁屏。&lt;/Text&gt;&#10;        &lt;Box style={{ background: '#1B2740', border: '1px solid rgba(232,238,247,0.12)', borderRadius: 12, padding: '12px 18px'}}&gt;&#10;          &lt;Text style={{ fontSize: 24, color: '#E8EEF7', opacity: 0.8, lineHeight: 1.5 }}&gt;&lt;span style={{ color: '#4FE0B0', fontWeight: 'bold' }}&gt;智能体&lt;/span&gt;（软件里那个帮你把话变成提醒的小助手）帮你听懂这句话。&lt;/Text&gt;&#10;        &lt;/Box&gt;&#10;        &lt;Box style={{ background: 'rgba(79,224,176,0.10)', border: '1px solid rgba(79,224,176,0.4)', borderRadius: 12, padding: '12px 18px'}}&gt;&#10;          &lt;Text style={{ fontSize: 26, color: '#E8EEF7', lineHeight: 1.5 }}&gt;状态：&lt;span style={{ color: '#4FE0B0', fontWeight: 'bold' }}&gt;已经做完 · 双平台可下载安装&lt;/span&gt;&lt;/Text&gt;&#10;          &lt;Text style={{ fontSize: 20, color: '#4FE0B0', fontFamily: 'Consolas', marginTop: 6 }}&gt;https://smileher.github.io/ZhiXie/&lt;/Text&gt;&#10;  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5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806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8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905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01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项目背景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1905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知歇是什么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609600" y="1733550"/>
            <a:ext cx="4762500" cy="2047875"/>
          </a:xfrm>
          <a:prstGeom prst="roundRect">
            <a:avLst>
              <a:gd name="adj" fmla="val 5581"/>
            </a:avLst>
          </a:prstGeom>
          <a:solidFill>
            <a:srgbClr val="4FE0B0">
              <a:alpha val="6000"/>
            </a:srgbClr>
          </a:solidFill>
          <a:ln w="25400">
            <a:solidFill>
              <a:srgbClr val="4FE0B0">
                <a:alpha val="4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2628900" y="217170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③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2324100" y="2524125"/>
            <a:ext cx="13335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知歇主界面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609600" y="3971925"/>
            <a:ext cx="4762500" cy="2047875"/>
          </a:xfrm>
          <a:prstGeom prst="roundRect">
            <a:avLst>
              <a:gd name="adj" fmla="val 5581"/>
            </a:avLst>
          </a:prstGeom>
          <a:solidFill>
            <a:srgbClr val="4FE0B0">
              <a:alpha val="6000"/>
            </a:srgbClr>
          </a:solidFill>
          <a:ln w="25400">
            <a:solidFill>
              <a:srgbClr val="4FE0B0">
                <a:alpha val="4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2628900" y="42100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④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2190750" y="4562475"/>
            <a:ext cx="16002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一句话建提醒</a:t>
            </a:r>
            <a:endParaRPr/>
          </a:p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5753100" y="1647825"/>
            <a:ext cx="5829300" cy="1076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说一句话，</a:t>
            </a:r>
            <a:endParaRPr/>
          </a:p>
          <a:p>
            <a:pPr>
              <a:lnSpc>
                <a:spcPct val="13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提醒就建好了。</a:t>
            </a:r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5753100" y="3981450"/>
            <a:ext cx="5829300" cy="1057275"/>
          </a:xfrm>
          <a:prstGeom prst="roundRect">
            <a:avLst>
              <a:gd name="adj" fmla="val 1081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0" name=""/>
          <p:cNvSpPr/>
          <p:nvPr/>
        </p:nvSpPr>
        <p:spPr>
          <a:xfrm rot="0" flipH="0" flipV="0">
            <a:off x="5753100" y="5153025"/>
            <a:ext cx="5829300" cy="962025"/>
          </a:xfrm>
          <a:prstGeom prst="roundRect">
            <a:avLst>
              <a:gd name="adj" fmla="val 11881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5924550" y="5267325"/>
            <a:ext cx="54864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状态：</a:t>
            </a:r>
            <a:r>
              <a:rPr lang="zh-CN" sz="1950" b="1">
                <a:solidFill>
                  <a:srgbClr val="4FE0B0"/>
                </a:solidFill>
                <a:latin typeface="Microsoft YaHei"/>
                <a:ea typeface="Microsoft YaHei"/>
              </a:rPr>
              <a:t>已经做完</a:t>
            </a:r>
            <a:r>
              <a:rPr lang="en-US" sz="19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950" b="1">
                <a:solidFill>
                  <a:srgbClr val="4FE0B0"/>
                </a:solidFill>
                <a:latin typeface="Microsoft YaHei"/>
                <a:ea typeface="Microsoft YaHei"/>
              </a:rPr>
              <a:t>双平台可下载安装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5924550" y="5772150"/>
            <a:ext cx="5486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4FE0B0"/>
                </a:solidFill>
                <a:latin typeface="Consolas"/>
                <a:ea typeface="Consolas"/>
              </a:rPr>
              <a:t>https://smileher.github.io/ZhiXie/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1468100" y="12763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5</a:t>
            </a:r>
            <a:endParaRPr/>
          </a:p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1209675" y="2943225"/>
            <a:ext cx="3562350" cy="4095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建议画面：休息节律页或智能体页首屏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1038225" y="4981575"/>
            <a:ext cx="3914775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建议画面：输入「每久坐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分钟提醒我」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的解析结果页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5753100" y="2838450"/>
            <a:ext cx="582930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「每久坐</a:t>
            </a:r>
            <a:r>
              <a:rPr lang="en-US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分钟提醒我」——不必填表单。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5753100" y="3409950"/>
            <a:ext cx="582930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到点弹窗，可推迟，也能顺带锁屏。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5924550" y="4095750"/>
            <a:ext cx="5486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4FE0B0">
                    <a:alpha val="80000"/>
                  </a:srgbClr>
                </a:solidFill>
                <a:latin typeface="Microsoft YaHei"/>
                <a:ea typeface="Microsoft YaHei"/>
              </a:rPr>
              <a:t>智能体</a:t>
            </a:r>
            <a:r>
              <a:rPr lang="zh-CN" sz="18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（软件里那个帮你把话变成提醒的小助手）帮你听懂这句话。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144250" y="6200775"/>
            <a:ext cx="438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5 / 29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838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4FE0B0', fontWeight: 'bold'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2 · 目标用户群体&lt;/Text&gt;&#10;        &lt;Text style={{ fontSize: 40, fontWeight: 'bold', color: '#E8EEF7' }}&gt;用户画像 · 学生群体&lt;/Text&gt;&#10;      &lt;/Box&gt;&#10;      &lt;Text style={{ fontSize: 20, fontFamily: 'Consolas', color: '#E8EEF7', opacity: 0.35 }}&gt;6&lt;/Text&gt;&#10;    &lt;/Box&gt;&#10;    &lt;Box style={{ height: 470, flexDirection: 'row', gap: 40, alignItems: 'center' }}&gt;&#10;      &lt;Box style={{ width: 540, height: 440, background: '#1B2740', border: '1px solid rgba(232,238,247,0.12)', borderRadius: 14, padding: '24px 24px', flexDirection: 'column', gap: 14 }}&gt;&#10;        &lt;Text style={{ fontSize: 24, fontWeight: 'bold', color: '#E8EEF7' }}&gt;高等教育在学规模 · 2024&lt;/Text&gt;&#10;        &lt;Box style={{ flexDirection: 'row', alignItems: 'center', gap: 10, height: 30 }}&gt;&#10;          &lt;Text style={{ fontSize: 20, color: '#E8EEF7', opacity: 0.75, width: '140' }}&gt;在学总规模&lt;/Text&gt;&#10;          &lt;Box style={{ width: 230, height: 22, borderRadius: 6, background: 'rgba(232,238,247,0.08)' }}&gt;&#10;            &lt;Box style={{ width: 230, height: 22, borderRadius: 6, background: 'linear-gradient(90deg, #4FE0B0, #2E9E8F)' }} /&gt;&#10;          &lt;/Box&gt;&#10;          &lt;Text style={{ fontSize: 19, fontFamily: 'Consolas', color: '#4FE0B0', fontWeight: 'bold' }}&gt;4846万&lt;/Text&gt;&#10;        &lt;/Box&gt;&#10;        &lt;Box style={{ flexDirection: 'row', alignItems: 'center', gap: 10, height: 30 }}&gt;&#10;          &lt;Text style={{ fontSize: 20, color: '#E8EEF7', opacity: 0.75, width: '140' }}&gt;本专科在校&lt;/Text&gt;&#10;          &lt;Box style={{ width: 230, height: 22, borderRadius: 6, background: 'rgba(232,238,247,0.08)' }}&gt;&#10;            &lt;Box style={{ width: 185, height: 22, borderRadius: 6, background: 'linear-gradient(90deg, #4FE0B0, #2E9E8F)' }} /&gt;&#10;          &lt;/Box&gt;&#10;          &lt;Text style={{ fontSize: 19, fontFamily: 'Consolas', color: '#4FE0B0', fontWeight: 'bold' }}&gt;3891万&lt;/Text&gt;&#10;        &lt;/Box&gt;&#10;        &lt;Box style={{ flexDirection: 'row', alignItems: 'center', gap: 10, height: 30 }}&gt;&#10;          &lt;Text style={{ fontSize: 20, color: '#E8EEF7', opacity: 0.75, width: '140' }}&gt;在学研究生&lt;/Text&gt;&#10;          &lt;Box style={{ width: 230, height: 22, borderRadius: 6, background: 'rgba(232,238,247,0.08)' }}&gt;&#10;            &lt;Box style={{ width: 22, height: 22, borderRadius: 6, background: 'linear-gradient(90deg, #4FE0B0, #2E9E8F)' }} /&gt;&#10;          &lt;/Box&gt;&#10;          &lt;Text style={{ fontSize: 19, fontFamily: 'Consolas', color: '#4FE0B0', fontWeight: 'bold' }}&gt;410万&lt;/Text&gt;&#10;        &lt;/Box&gt;&#10;        &lt;Box style={{ height: 1, background: 'rgba(232,238,247,0.10)' }} /&gt;&#10;        &lt;Text style={{ fontSize: 22, color: '#E8EEF7' }}&gt;毛入学率 &lt;span style={{ fontSize: 30, color: '#4FE0B0', fontWeight: 'bold' }}&gt;60.8%&lt;/span&gt;，进入普及化阶段&lt;/Text&gt;&#10;        &lt;Text style={{ fontSize: 19, color: '#E8EEF7', opacity: 0.8, lineHeight: 1.5 }}&gt;2025 备考人群：考研报名 &lt;span style={{ color: '#4FE0B0', fontWeight: 'bold' }}&gt;388 万&lt;/span&gt;&lt;br /&gt;国考报名 &lt;span style={{ color: '#4FE0B0', fontWeight: 'bold' }}&gt;341.6 万&lt;/span&gt;，人群持续扩大&lt;/Text&gt;&#10;        &lt;Text style={{ fontSize: 15, color: '#E8EEF7', opacity: 0.5 }}&gt;数据来源：教育部《2024 年全国教育事业发展统计公报》&lt;/Text&gt;&#10;      &lt;/Box&gt;&#10;      &lt;Box style={{ flex: 1, flexDirection: 'column', gap: 18 }}&gt;&#10;        &lt;Text style={{ fontSize: 36, fontWeight: 'bold', color: '#4FE0B0', lineHeight: 1.4 }}&gt;最容易坐忘的，&lt;br /&gt;是在校生。&lt;/Text&gt;&#10;        &lt;Text style={{ fontSize: 28, color: '#E8EEF7', opacity: 0.8, lineHeight: 1.5 }}&gt;备考、写论文、做实验，一坐一整天。&lt;/Text&gt;&#10;        &lt;Text style={{ fontSize: 28, color: '#E8EEF7', opacity: 0.8, lineHeight: 1.5 }}&gt;有手机有电脑，却少一个提醒自己休息的。&lt;/Text&gt;&#10;        &lt;Box style={{ background: 'rgba(79,224,176,0.10)', border: '1px solid rgba(79,224,176,0.4)', borderRadius: 12, padding: '18px 22px'}}&gt;&#10;          &lt;Text style={{ fontSize: 28, color: '#E8EEF7', lineHeight: 1.5 }}&gt;典型：&lt;span style={{ color: '#4FE0B0', fontWeight: 'bold' }}&gt;大学生、考研 / 考公族&lt;/span&gt;&lt;/Text&gt;&#10;  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6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8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39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02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目标用户群体</a:t>
            </a:r>
            <a:endParaRPr/>
          </a:p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390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用户画像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学生群体</a:t>
            </a:r>
            <a:endParaRPr/>
          </a:p>
        </p:txBody>
      </p:sp>
      <p:sp>
        <p:nvSpPr>
          <p:cNvPr id="846" name=""/>
          <p:cNvSpPr/>
          <p:nvPr/>
        </p:nvSpPr>
        <p:spPr>
          <a:xfrm rot="0" flipH="0" flipV="0">
            <a:off x="609600" y="1781175"/>
            <a:ext cx="5143500" cy="4191000"/>
          </a:xfrm>
          <a:prstGeom prst="roundRect">
            <a:avLst>
              <a:gd name="adj" fmla="val 3182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838200" y="2009775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高等教育在学规模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2024</a:t>
            </a:r>
            <a:endParaRPr/>
          </a:p>
        </p:txBody>
      </p:sp>
      <p:sp>
        <p:nvSpPr>
          <p:cNvPr id="848" name=""/>
          <p:cNvSpPr/>
          <p:nvPr/>
        </p:nvSpPr>
        <p:spPr>
          <a:xfrm rot="0" flipH="0" flipV="0">
            <a:off x="2266950" y="2457450"/>
            <a:ext cx="219075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849" name=""/>
          <p:cNvSpPr/>
          <p:nvPr/>
        </p:nvSpPr>
        <p:spPr>
          <a:xfrm rot="0" flipH="0" flipV="0">
            <a:off x="2266950" y="2457450"/>
            <a:ext cx="2190750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4552950" y="2457450"/>
            <a:ext cx="590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4846</a:t>
            </a:r>
            <a:r>
              <a:rPr lang="zh-CN" sz="1425" b="1">
                <a:solidFill>
                  <a:srgbClr val="4FE0B0"/>
                </a:solidFill>
                <a:latin typeface="Consolas"/>
                <a:ea typeface="Consolas"/>
              </a:rPr>
              <a:t>万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2266950" y="2876550"/>
            <a:ext cx="219075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852" name=""/>
          <p:cNvSpPr/>
          <p:nvPr/>
        </p:nvSpPr>
        <p:spPr>
          <a:xfrm rot="0" flipH="0" flipV="0">
            <a:off x="2266950" y="2876550"/>
            <a:ext cx="1762125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4552950" y="2876550"/>
            <a:ext cx="590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3891</a:t>
            </a:r>
            <a:r>
              <a:rPr lang="zh-CN" sz="1425" b="1">
                <a:solidFill>
                  <a:srgbClr val="4FE0B0"/>
                </a:solidFill>
                <a:latin typeface="Consolas"/>
                <a:ea typeface="Consolas"/>
              </a:rPr>
              <a:t>万</a:t>
            </a:r>
            <a:endParaRPr/>
          </a:p>
        </p:txBody>
      </p:sp>
      <p:sp>
        <p:nvSpPr>
          <p:cNvPr id="854" name=""/>
          <p:cNvSpPr/>
          <p:nvPr/>
        </p:nvSpPr>
        <p:spPr>
          <a:xfrm rot="0" flipH="0" flipV="0">
            <a:off x="2266950" y="3295650"/>
            <a:ext cx="219075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855" name=""/>
          <p:cNvSpPr/>
          <p:nvPr/>
        </p:nvSpPr>
        <p:spPr>
          <a:xfrm rot="0" flipH="0" flipV="0">
            <a:off x="2266950" y="3295650"/>
            <a:ext cx="209550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4552950" y="3295650"/>
            <a:ext cx="485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410</a:t>
            </a:r>
            <a:r>
              <a:rPr lang="zh-CN" sz="1425" b="1">
                <a:solidFill>
                  <a:srgbClr val="4FE0B0"/>
                </a:solidFill>
                <a:latin typeface="Consolas"/>
                <a:ea typeface="Consolas"/>
              </a:rPr>
              <a:t>万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838200" y="3676650"/>
            <a:ext cx="4686300" cy="9525"/>
          </a:xfrm>
          <a:prstGeom prst="rect">
            <a:avLst/>
          </a:pr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838200" y="3819525"/>
            <a:ext cx="4686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/>
                </a:solidFill>
                <a:latin typeface="Microsoft YaHei"/>
                <a:ea typeface="Microsoft YaHei"/>
              </a:rPr>
              <a:t>毛入学率</a:t>
            </a:r>
            <a:r>
              <a:rPr lang="en-US" sz="1650">
                <a:solidFill>
                  <a:srgbClr val="E8EE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2250" b="1">
                <a:solidFill>
                  <a:srgbClr val="4FE0B0"/>
                </a:solidFill>
                <a:latin typeface="Microsoft YaHei"/>
                <a:ea typeface="Microsoft YaHei"/>
              </a:rPr>
              <a:t>60.8%</a:t>
            </a:r>
            <a:r>
              <a:rPr lang="zh-CN" sz="1650">
                <a:solidFill>
                  <a:srgbClr val="E8EEF7"/>
                </a:solidFill>
                <a:latin typeface="Microsoft YaHei"/>
                <a:ea typeface="Microsoft YaHei"/>
              </a:rPr>
              <a:t>，进入普及化阶段</a:t>
            </a:r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6134100" y="2143125"/>
            <a:ext cx="54483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最容易坐忘的，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是在校生。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6134100" y="4781550"/>
            <a:ext cx="54483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6343650" y="4953000"/>
            <a:ext cx="50292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典型：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大学生、考研</a:t>
            </a:r>
            <a:r>
              <a:rPr lang="en-US" sz="210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考公族</a:t>
            </a:r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11468100" y="12763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6</a:t>
            </a:r>
            <a:endParaRPr/>
          </a:p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838200" y="24479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在学总规模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38200" y="28670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本专科在校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838200" y="32861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在学研究生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838200" y="4295775"/>
            <a:ext cx="4686300" cy="657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4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2025 </a:t>
            </a:r>
            <a:r>
              <a:rPr lang="zh-CN" sz="14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备考人群：考研报名</a:t>
            </a:r>
            <a:r>
              <a:rPr lang="en-US" sz="14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425" b="1">
                <a:solidFill>
                  <a:srgbClr val="4FE0B0">
                    <a:alpha val="80000"/>
                  </a:srgbClr>
                </a:solidFill>
                <a:latin typeface="Microsoft YaHei"/>
                <a:ea typeface="Microsoft YaHei"/>
              </a:rPr>
              <a:t xml:space="preserve">388 </a:t>
            </a:r>
            <a:r>
              <a:rPr lang="zh-CN" sz="1425" b="1">
                <a:solidFill>
                  <a:srgbClr val="4FE0B0">
                    <a:alpha val="80000"/>
                  </a:srgbClr>
                </a:solidFill>
                <a:latin typeface="Microsoft YaHei"/>
                <a:ea typeface="Microsoft YaHei"/>
              </a:rPr>
              <a:t>万</a:t>
            </a:r>
            <a:endParaRPr/>
          </a:p>
          <a:p>
            <a:pPr>
              <a:lnSpc>
                <a:spcPct val="150000"/>
              </a:lnSpc>
            </a:pPr>
            <a:r>
              <a:rPr lang="zh-CN" sz="14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国考报名</a:t>
            </a:r>
            <a:r>
              <a:rPr lang="en-US" sz="14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425" b="1">
                <a:solidFill>
                  <a:srgbClr val="4FE0B0">
                    <a:alpha val="80000"/>
                  </a:srgbClr>
                </a:solidFill>
                <a:latin typeface="Microsoft YaHei"/>
                <a:ea typeface="Microsoft YaHei"/>
              </a:rPr>
              <a:t xml:space="preserve">341.6 </a:t>
            </a:r>
            <a:r>
              <a:rPr lang="zh-CN" sz="1425" b="1">
                <a:solidFill>
                  <a:srgbClr val="4FE0B0">
                    <a:alpha val="80000"/>
                  </a:srgbClr>
                </a:solidFill>
                <a:latin typeface="Microsoft YaHei"/>
                <a:ea typeface="Microsoft YaHei"/>
              </a:rPr>
              <a:t>万</a:t>
            </a:r>
            <a:r>
              <a:rPr lang="zh-CN" sz="14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，人群持续扩大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838200" y="5086350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数据来源：教育部《</a:t>
            </a:r>
            <a:r>
              <a:rPr lang="en-US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2024 </a:t>
            </a:r>
            <a:r>
              <a:rPr lang="zh-CN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年全国教育事业发展统计公报》</a:t>
            </a:r>
            <a:endParaRPr/>
          </a:p>
        </p:txBody>
      </p:sp>
      <p:sp>
        <p:nvSpPr>
          <p:cNvPr id="875" name="" descr="{&quot;isTemplate&quot;:true,&quot;type&quot;:&quot;text&quot;}"/>
          <p:cNvSpPr txBox="1"/>
          <p:nvPr/>
        </p:nvSpPr>
        <p:spPr>
          <a:xfrm rot="0" flipH="0" flipV="0">
            <a:off x="6134100" y="3467100"/>
            <a:ext cx="54483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备考、写论文、做实验，一坐一整天。</a:t>
            </a:r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6134100" y="4124325"/>
            <a:ext cx="54483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有手机有电脑，却少一个提醒自己休息的。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11144250" y="6200775"/>
            <a:ext cx="438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6 / 29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879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4FE0B0', fontWeight: 'bold'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2 · 目标用户群体&lt;/Text&gt;&#10;        &lt;Text style={{ fontSize: 40, fontWeight: 'bold', color: '#E8EEF7' }}&gt;用户画像 · 职场人群&lt;/Text&gt;&#10;      &lt;/Box&gt;&#10;      &lt;Text style={{ fontSize: 20, fontFamily: 'Consolas', color: '#E8EEF7', opacity: 0.35 }}&gt;7&lt;/Text&gt;&#10;    &lt;/Box&gt;&#10;    &lt;Box style={{ height: 470, flexDirection: 'row', gap: 40, alignItems: 'center' }}&gt;&#10;      &lt;Box style={{ width: 540, height: 440, background: '#1B2740', border: '1px solid rgba(232,238,247,0.12)', borderRadius: 14, padding: '24px 24px', flexDirection: 'column', gap: 12 }}&gt;&#10;        &lt;Text style={{ fontSize: 24, fontWeight: 'bold', color: '#E8EEF7' }}&gt;职场久坐 · 关键数据&lt;/Text&gt;&#10;        &lt;Box style={{ flexDirection: 'row', alignItems: 'center', gap: 10, height: 30 }}&gt;&#10;          &lt;Text style={{ fontSize: 20, color: '#E8EEF7', opacity: 0.75, width: '170' }}&gt;日均久坐超 6 小时&lt;/Text&gt;&#10;          &lt;Box style={{ width: 180, height: 22, borderRadius: 6, background: 'rgba(232,238,247,0.08)' }}&gt;&#10;            &lt;Box style={{ width: 73, height: 22, borderRadius: 6, background: 'linear-gradient(90deg, #4FE0B0, #2E9E8F)' }} /&gt;&#10;          &lt;/Box&gt;&#10;          &lt;Text style={{ fontSize: 19, fontFamily: 'Consolas', color: '#4FE0B0', fontWeight: 'bold' }}&gt;28.8%&lt;/Text&gt;&#10;        &lt;/Box&gt;&#10;        &lt;Box style={{ flexDirection: 'row', alignItems: 'center', gap: 10, height: 30 }}&gt;&#10;          &lt;Text style={{ fontSize: 20, color: '#E8EEF7', opacity: 0.75, width: '170' }}&gt;单次久坐 2 小时+&lt;/Text&gt;&#10;          &lt;Box style={{ width: 180, height: 22, borderRadius: 6, background: 'rgba(232,238,247,0.08)' }}&gt;&#10;            &lt;Box style={{ width: 180, height: 22, borderRadius: 6, background: 'linear-gradient(90deg, #4FE0B0, #2E9E8F)' }} /&gt;&#10;          &lt;/Box&gt;&#10;          &lt;Text style={{ fontSize: 19, fontFamily: 'Consolas', color: '#4FE0B0', fontWeight: 'bold' }}&gt;71.4%&lt;/Text&gt;&#10;        &lt;/Box&gt;&#10;        &lt;Box style={{ flexDirection: 'row', alignItems: 'center', gap: 10, height: 30 }}&gt;&#10;          &lt;Text style={{ fontSize: 20, color: '#E8EEF7', opacity: 0.75, width: '170' }}&gt;视力疲劳&lt;/Text&gt;&#10;          &lt;Box style={{ width: 180, height: 22, borderRadius: 6, background: 'rgba(232,238,247,0.08)' }}&gt;&#10;            &lt;Box style={{ width: 134, height: 22, borderRadius: 6, background: 'linear-gradient(90deg, #4FE0B0, #2E9E8F)' }} /&gt;&#10;          &lt;/Box&gt;&#10;          &lt;Text style={{ fontSize: 19, fontFamily: 'Consolas', color: '#4FE0B0', fontWeight: 'bold' }}&gt;53.1%&lt;/Text&gt;&#10;        &lt;/Box&gt;&#10;        &lt;Box style={{ flexDirection: 'row', alignItems: 'center', gap: 10, height: 30 }}&gt;&#10;          &lt;Text style={{ fontSize: 20, color: '#E8EEF7', opacity: 0.75, width: '170' }}&gt;颈椎腰椎不适&lt;/Text&gt;&#10;          &lt;Box style={{ width: 180, height: 22, borderRadius: 6, background: 'rgba(232,238,247,0.08)' }}&gt;&#10;            &lt;Box style={{ width: 123, height: 22, borderRadius: 6, background: 'linear-gradient(90deg, #4FE0B0, #2E9E8F)' }} /&gt;&#10;          &lt;/Box&gt;&#10;          &lt;Text style={{ fontSize: 19, fontFamily: 'Consolas', color: '#4FE0B0', fontWeight: 'bold' }}&gt;48.9%&lt;/Text&gt;&#10;        &lt;/Box&gt;&#10;        &lt;Box style={{ height: 1, background: 'rgba(232,238,247,0.10)' }} /&gt;&#10;        &lt;Text style={{ fontSize: 22, color: '#E8EEF7', lineHeight: 1.5 }}&gt;每日久坐超过 8 小时，心血管事件风险&lt;br /&gt;升高约 &lt;span style={{ fontSize: 28, color: '#4FE0B0', fontWeight: 'bold' }}&gt;86%&lt;/span&gt;&lt;/Text&gt;&#10;        &lt;Text style={{ fontSize: 15, color: '#E8EEF7', opacity: 0.5 }}&gt;数据来源：中国居民慢性病与营养监测 · 智联招聘职场调研&lt;/Text&gt;&#10;      &lt;/Box&gt;&#10;      &lt;Box style={{ flex: 1, flexDirection: 'column', gap: 18 }}&gt;&#10;        &lt;Text style={{ fontSize: 36, fontWeight: 'bold', color: '#4FE0B0', lineHeight: 1.4 }}&gt;久坐办公族，&lt;br /&gt;负担最重。&lt;/Text&gt;&#10;        &lt;Text style={{ fontSize: 28, color: '#E8EEF7', opacity: 0.8, lineHeight: 1.5 }}&gt;视疲劳、肩颈问题，常年排在前面。&lt;/Text&gt;&#10;        &lt;Text style={{ fontSize: 28, color: '#E8EEF7', opacity: 0.8, lineHeight: 1.5 }}&gt;他们要的是不打断、又能见效的提醒。&lt;/Text&gt;&#10;        &lt;Box style={{ background: 'rgba(79,224,176,0.10)', border: '1px solid rgba(79,224,176,0.4)', borderRadius: 12, padding: '18px 22px'}}&gt;&#10;          &lt;Text style={{ fontSize: 28, color: '#E8EEF7', lineHeight: 1.5 }}&gt;典型：&lt;span style={{ color: '#4FE0B0', fontWeight: 'bold' }}&gt;程序、文案、设计、运营&lt;/span&gt;&lt;/Text&gt;&#10;  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7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881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8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884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39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02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目标用户群体</a:t>
            </a:r>
            <a:endParaRPr/>
          </a:p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390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用户画像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职场人群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609600" y="1781175"/>
            <a:ext cx="5143500" cy="4191000"/>
          </a:xfrm>
          <a:prstGeom prst="roundRect">
            <a:avLst>
              <a:gd name="adj" fmla="val 3182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838200" y="2009775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职场久坐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关键数据</a:t>
            </a:r>
            <a:endParaRPr/>
          </a:p>
        </p:txBody>
      </p:sp>
      <p:sp>
        <p:nvSpPr>
          <p:cNvPr id="889" name=""/>
          <p:cNvSpPr/>
          <p:nvPr/>
        </p:nvSpPr>
        <p:spPr>
          <a:xfrm rot="0" flipH="0" flipV="0">
            <a:off x="2552700" y="243840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890" name=""/>
          <p:cNvSpPr/>
          <p:nvPr/>
        </p:nvSpPr>
        <p:spPr>
          <a:xfrm rot="0" flipH="0" flipV="0">
            <a:off x="2552700" y="2438400"/>
            <a:ext cx="695325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4362450" y="243840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28.8%</a:t>
            </a:r>
            <a:endParaRPr/>
          </a:p>
        </p:txBody>
      </p:sp>
      <p:sp>
        <p:nvSpPr>
          <p:cNvPr id="892" name=""/>
          <p:cNvSpPr/>
          <p:nvPr/>
        </p:nvSpPr>
        <p:spPr>
          <a:xfrm rot="0" flipH="0" flipV="0">
            <a:off x="2552700" y="283845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893" name=""/>
          <p:cNvSpPr/>
          <p:nvPr/>
        </p:nvSpPr>
        <p:spPr>
          <a:xfrm rot="0" flipH="0" flipV="0">
            <a:off x="2552700" y="2838450"/>
            <a:ext cx="1714500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4362450" y="283845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71.4%</a:t>
            </a:r>
            <a:endParaRPr/>
          </a:p>
        </p:txBody>
      </p:sp>
      <p:sp>
        <p:nvSpPr>
          <p:cNvPr id="895" name=""/>
          <p:cNvSpPr/>
          <p:nvPr/>
        </p:nvSpPr>
        <p:spPr>
          <a:xfrm rot="0" flipH="0" flipV="0">
            <a:off x="2552700" y="323850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896" name=""/>
          <p:cNvSpPr/>
          <p:nvPr/>
        </p:nvSpPr>
        <p:spPr>
          <a:xfrm rot="0" flipH="0" flipV="0">
            <a:off x="2552700" y="3238500"/>
            <a:ext cx="1276350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4362450" y="323850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53.1%</a:t>
            </a:r>
            <a:endParaRPr/>
          </a:p>
        </p:txBody>
      </p:sp>
      <p:sp>
        <p:nvSpPr>
          <p:cNvPr id="898" name=""/>
          <p:cNvSpPr/>
          <p:nvPr/>
        </p:nvSpPr>
        <p:spPr>
          <a:xfrm rot="0" flipH="0" flipV="0">
            <a:off x="2552700" y="363855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899" name=""/>
          <p:cNvSpPr/>
          <p:nvPr/>
        </p:nvSpPr>
        <p:spPr>
          <a:xfrm rot="0" flipH="0" flipV="0">
            <a:off x="2552700" y="3638550"/>
            <a:ext cx="1171575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900" name="" descr="{&quot;isTemplate&quot;:true,&quot;type&quot;:&quot;text&quot;}"/>
          <p:cNvSpPr txBox="1"/>
          <p:nvPr/>
        </p:nvSpPr>
        <p:spPr>
          <a:xfrm rot="0" flipH="0" flipV="0">
            <a:off x="4362450" y="363855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48.9%</a:t>
            </a:r>
            <a:endParaRPr/>
          </a:p>
        </p:txBody>
      </p:sp>
      <p:sp>
        <p:nvSpPr>
          <p:cNvPr id="901" name=""/>
          <p:cNvSpPr/>
          <p:nvPr/>
        </p:nvSpPr>
        <p:spPr>
          <a:xfrm rot="0" flipH="0" flipV="0">
            <a:off x="838200" y="4000500"/>
            <a:ext cx="4686300" cy="9525"/>
          </a:xfrm>
          <a:prstGeom prst="rect">
            <a:avLst/>
          </a:pr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838200" y="4124325"/>
            <a:ext cx="4686300" cy="8572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E8EEF7"/>
                </a:solidFill>
                <a:latin typeface="Microsoft YaHei"/>
                <a:ea typeface="Microsoft YaHei"/>
              </a:rPr>
              <a:t>每日久坐超过</a:t>
            </a:r>
            <a:r>
              <a:rPr lang="en-US" sz="1650">
                <a:solidFill>
                  <a:srgbClr val="E8EEF7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650">
                <a:solidFill>
                  <a:srgbClr val="E8EEF7"/>
                </a:solidFill>
                <a:latin typeface="Microsoft YaHei"/>
                <a:ea typeface="Microsoft YaHei"/>
              </a:rPr>
              <a:t>小时，心血管事件风险</a:t>
            </a:r>
            <a:endParaRPr/>
          </a:p>
          <a:p>
            <a:pPr>
              <a:lnSpc>
                <a:spcPct val="150000"/>
              </a:lnSpc>
            </a:pPr>
            <a:r>
              <a:rPr lang="zh-CN" sz="1650">
                <a:solidFill>
                  <a:srgbClr val="E8EEF7"/>
                </a:solidFill>
                <a:latin typeface="Microsoft YaHei"/>
                <a:ea typeface="Microsoft YaHei"/>
              </a:rPr>
              <a:t>升高约</a:t>
            </a:r>
            <a:r>
              <a:rPr lang="en-US" sz="1650">
                <a:solidFill>
                  <a:srgbClr val="E8EE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2100" b="1">
                <a:solidFill>
                  <a:srgbClr val="4FE0B0"/>
                </a:solidFill>
                <a:latin typeface="Microsoft YaHei"/>
                <a:ea typeface="Microsoft YaHei"/>
              </a:rPr>
              <a:t>86%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6134100" y="2143125"/>
            <a:ext cx="54483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久坐办公族，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负担最重。</a:t>
            </a:r>
            <a:endParaRPr/>
          </a:p>
        </p:txBody>
      </p:sp>
      <p:sp>
        <p:nvSpPr>
          <p:cNvPr id="904" name=""/>
          <p:cNvSpPr/>
          <p:nvPr/>
        </p:nvSpPr>
        <p:spPr>
          <a:xfrm rot="0" flipH="0" flipV="0">
            <a:off x="6134100" y="4781550"/>
            <a:ext cx="54483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6343650" y="4953000"/>
            <a:ext cx="50292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典型：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程序、文案、设计、运营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907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11468100" y="12763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7</a:t>
            </a:r>
            <a:endParaRPr/>
          </a:p>
        </p:txBody>
      </p:sp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838200" y="2428875"/>
            <a:ext cx="1619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日均久坐超</a:t>
            </a:r>
            <a:r>
              <a:rPr lang="en-US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小时</a:t>
            </a:r>
            <a:endParaRPr/>
          </a:p>
        </p:txBody>
      </p:sp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838200" y="2828925"/>
            <a:ext cx="1619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单次久坐</a:t>
            </a:r>
            <a:r>
              <a:rPr lang="en-US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小时</a:t>
            </a:r>
            <a:r>
              <a:rPr lang="en-US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+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838200" y="3228975"/>
            <a:ext cx="1619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视力疲劳</a:t>
            </a:r>
            <a:endParaRPr/>
          </a:p>
        </p:txBody>
      </p:sp>
      <p:sp>
        <p:nvSpPr>
          <p:cNvPr id="917" name="" descr="{&quot;isTemplate&quot;:true,&quot;type&quot;:&quot;text&quot;}"/>
          <p:cNvSpPr txBox="1"/>
          <p:nvPr/>
        </p:nvSpPr>
        <p:spPr>
          <a:xfrm rot="0" flipH="0" flipV="0">
            <a:off x="838200" y="3629025"/>
            <a:ext cx="1619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颈椎腰椎不适</a:t>
            </a:r>
            <a:endParaRPr/>
          </a:p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838200" y="509587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数据来源：中国居民慢性病与营养监测</a:t>
            </a:r>
            <a:r>
              <a:rPr lang="en-US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智联招聘职场调研</a:t>
            </a:r>
            <a:endParaRPr/>
          </a:p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6134100" y="3467100"/>
            <a:ext cx="54483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视疲劳、肩颈问题，常年排在前面。</a:t>
            </a:r>
            <a:endParaRPr/>
          </a:p>
        </p:txBody>
      </p:sp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6134100" y="4124325"/>
            <a:ext cx="54483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他们要的是不打断、又能见效的提醒。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11144250" y="6200775"/>
            <a:ext cx="438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7 / 29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923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4FE0B0', fontWeight: 'bold'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2 · 目标用户群体&lt;/Text&gt;&#10;        &lt;Text style={{ fontSize: 40, fontWeight: 'bold', color: '#E8EEF7' }}&gt;调研数据支撑&lt;/Text&gt;&#10;      &lt;/Box&gt;&#10;      &lt;Text style={{ fontSize: 20, fontFamily: 'Consolas', color: '#E8EEF7', opacity: 0.35 }}&gt;8&lt;/Text&gt;&#10;    &lt;/Box&gt;&#10;    &lt;Box style={{ height: 470, flexDirection: 'row', gap: 40, alignItems: 'center' }}&gt;&#10;      &lt;Box style={{ width: 540, height: 440, background: '#1B2740', border: '1px solid rgba(232,238,247,0.12)', borderRadius: 14, padding: '24px 24px', flexDirection: 'column', gap: 12 }}&gt;&#10;        &lt;Text style={{ fontSize: 24, fontWeight: 'bold', color: '#E8EEF7' }}&gt;青年久坐应对意愿 · 公开调研&lt;/Text&gt;&#10;        &lt;Box style={{ flexDirection: 'row', alignItems: 'center', gap: 10, height: 30 }}&gt;&#10;          &lt;Text style={{ fontSize: 20, color: '#E8EEF7', opacity: 0.75, width: '190' }}&gt;尝试过「轻养生」&lt;/Text&gt;&#10;          &lt;Box style={{ width: 180, height: 22, borderRadius: 6, background: 'rgba(232,238,247,0.08)' }}&gt;&#10;            &lt;Box style={{ width: 180, height: 22, borderRadius: 6, background: 'linear-gradient(90deg, #4FE0B0, #2E9E8F)' }} /&gt;&#10;          &lt;/Box&gt;&#10;          &lt;Text style={{ fontSize: 19, fontFamily: 'Consolas', color: '#4FE0B0', fontWeight: 'bold' }}&gt;97.2%&lt;/Text&gt;&#10;        &lt;/Box&gt;&#10;        &lt;Box style={{ flexDirection: 'row', alignItems: 'center', gap: 10, height: 30 }}&gt;&#10;          &lt;Text style={{ fontSize: 20, color: '#E8EEF7', opacity: 0.75, width: '190' }}&gt;用设备 / 站立办公&lt;/Text&gt;&#10;          &lt;Box style={{ width: 180, height: 22, borderRadius: 6, background: 'rgba(232,238,247,0.08)' }}&gt;&#10;            &lt;Box style={{ width: 99, height: 22, borderRadius: 6, background: 'linear-gradient(90deg, #4FE0B0, #2E9E8F)' }} /&gt;&#10;          &lt;/Box&gt;&#10;          &lt;Text style={{ fontSize: 19, fontFamily: 'Consolas', color: '#4FE0B0', fontWeight: 'bold' }}&gt;53.5%&lt;/Text&gt;&#10;        &lt;/Box&gt;&#10;        &lt;Box style={{ flexDirection: 'row', alignItems: 'center', gap: 10, height: 30 }}&gt;&#10;          &lt;Text style={{ fontSize: 20, color: '#E8EEF7', opacity: 0.75, width: '190' }}&gt;短暂起身休息交流&lt;/Text&gt;&#10;          &lt;Box style={{ width: 180, height: 22, borderRadius: 6, background: 'rgba(232,238,247,0.08)' }}&gt;&#10;            &lt;Box style={{ width: 84, height: 22, borderRadius: 6, background: 'linear-gradient(90deg, #4FE0B0, #2E9E8F)' }} /&gt;&#10;          &lt;/Box&gt;&#10;          &lt;Text style={{ fontSize: 19, fontFamily: 'Consolas', color: '#4FE0B0', fontWeight: 'bold' }}&gt;45.4%&lt;/Text&gt;&#10;        &lt;/Box&gt;&#10;        &lt;Box style={{ flexDirection: 'row', alignItems: 'center', gap: 10, height: 30 }}&gt;&#10;          &lt;Text style={{ fontSize: 20, color: '#E8EEF7', opacity: 0.75, width: '190' }}&gt;定时提醒强制起身&lt;/Text&gt;&#10;          &lt;Box style={{ width: 180, height: 22, borderRadius: 6, background: 'rgba(232,238,247,0.08)' }}&gt;&#10;            &lt;Box style={{ width: 66, height: 22, borderRadius: 6, background: 'linear-gradient(90deg, #4FE0B0, #2E9E8F)' }} /&gt;&#10;          &lt;/Box&gt;&#10;          &lt;Text style={{ fontSize: 19, fontFamily: 'Consolas', color: '#4FE0B0', fontWeight: 'bold' }}&gt;35.9%&lt;/Text&gt;&#10;        &lt;/Box&gt;&#10;        &lt;Box style={{ height: 1, background: 'rgba(232,238,247,0.10)' }} /&gt;&#10;        &lt;Text style={{ fontSize: 15, color: '#E8EEF7', opacity: 0.5 }}&gt;数据来源：中国青年报社社会调查中心联合问卷网&lt;br /&gt;（1334 名受访青年，新华网发布）&lt;/Text&gt;&#10;      &lt;/Box&gt;&#10;      &lt;Box style={{ flex: 1, flexDirection: 'column', gap: 18 }}&gt;&#10;        &lt;Text style={{ fontSize: 36, fontWeight: 'bold', color: '#4FE0B0', lineHeight: 1.4 }}&gt;需求是真的，&lt;br /&gt;不是我们猜的。&lt;/Text&gt;&#10;        &lt;Text style={{ fontSize: 28, color: '#E8EEF7', opacity: 0.8, lineHeight: 1.5 }}&gt;面对久坐，青年们已经在主动找办法。&lt;/Text&gt;&#10;        &lt;Text style={{ fontSize: 28, color: '#E8EEF7', opacity: 0.8, lineHeight: 1.5 }}&gt;只是现有办法都靠自觉，坚持不下来。&lt;/Text&gt;&#10;        &lt;Box style={{ background: 'rgba(79,224,176,0.10)', border: '1px solid rgba(79,224,176,0.4)', borderRadius: 12, padding: '18px 22px'}}&gt;&#10;          &lt;Text style={{ fontSize: 28, color: '#E8EEF7', lineHeight: 1.5 }}&gt;&lt;span style={{ color: '#4FE0B0', fontWeight: 'bold' }}&gt;35.9%&lt;/span&gt; 明确愿意「设置定时提醒，&lt;br /&gt;强制起身活动、远眺」——正是知歇在做的事&lt;/Text&gt;&#10;  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8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925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9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2286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02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目标用户群体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2286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调研数据支撑</a:t>
            </a:r>
            <a:endParaRPr/>
          </a:p>
        </p:txBody>
      </p:sp>
      <p:sp>
        <p:nvSpPr>
          <p:cNvPr id="931" name=""/>
          <p:cNvSpPr/>
          <p:nvPr/>
        </p:nvSpPr>
        <p:spPr>
          <a:xfrm rot="0" flipH="0" flipV="0">
            <a:off x="609600" y="1781175"/>
            <a:ext cx="5143500" cy="4191000"/>
          </a:xfrm>
          <a:prstGeom prst="roundRect">
            <a:avLst>
              <a:gd name="adj" fmla="val 3182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838200" y="2009775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青年久坐应对意愿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公开调研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2743200" y="243840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934" name=""/>
          <p:cNvSpPr/>
          <p:nvPr/>
        </p:nvSpPr>
        <p:spPr>
          <a:xfrm rot="0" flipH="0" flipV="0">
            <a:off x="2743200" y="2438400"/>
            <a:ext cx="1714500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4552950" y="243840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97.2%</a:t>
            </a:r>
            <a:endParaRPr/>
          </a:p>
        </p:txBody>
      </p:sp>
      <p:sp>
        <p:nvSpPr>
          <p:cNvPr id="936" name=""/>
          <p:cNvSpPr/>
          <p:nvPr/>
        </p:nvSpPr>
        <p:spPr>
          <a:xfrm rot="0" flipH="0" flipV="0">
            <a:off x="2743200" y="283845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937" name=""/>
          <p:cNvSpPr/>
          <p:nvPr/>
        </p:nvSpPr>
        <p:spPr>
          <a:xfrm rot="0" flipH="0" flipV="0">
            <a:off x="2743200" y="2838450"/>
            <a:ext cx="942975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4552950" y="283845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53.5%</a:t>
            </a:r>
            <a:endParaRPr/>
          </a:p>
        </p:txBody>
      </p:sp>
      <p:sp>
        <p:nvSpPr>
          <p:cNvPr id="939" name=""/>
          <p:cNvSpPr/>
          <p:nvPr/>
        </p:nvSpPr>
        <p:spPr>
          <a:xfrm rot="0" flipH="0" flipV="0">
            <a:off x="2743200" y="323850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940" name=""/>
          <p:cNvSpPr/>
          <p:nvPr/>
        </p:nvSpPr>
        <p:spPr>
          <a:xfrm rot="0" flipH="0" flipV="0">
            <a:off x="2743200" y="3238500"/>
            <a:ext cx="800100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941" name="" descr="{&quot;isTemplate&quot;:true,&quot;type&quot;:&quot;text&quot;}"/>
          <p:cNvSpPr txBox="1"/>
          <p:nvPr/>
        </p:nvSpPr>
        <p:spPr>
          <a:xfrm rot="0" flipH="0" flipV="0">
            <a:off x="4552950" y="323850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45.4%</a:t>
            </a:r>
            <a:endParaRPr/>
          </a:p>
        </p:txBody>
      </p:sp>
      <p:sp>
        <p:nvSpPr>
          <p:cNvPr id="942" name=""/>
          <p:cNvSpPr/>
          <p:nvPr/>
        </p:nvSpPr>
        <p:spPr>
          <a:xfrm rot="0" flipH="0" flipV="0">
            <a:off x="2743200" y="3638550"/>
            <a:ext cx="1714500" cy="209550"/>
          </a:xfrm>
          <a:prstGeom prst="roundRect">
            <a:avLst>
              <a:gd name="adj" fmla="val 27273"/>
            </a:avLst>
          </a:prstGeom>
          <a:solidFill>
            <a:srgbClr val="E8EEF7">
              <a:alpha val="8000"/>
            </a:srgbClr>
          </a:solidFill>
          <a:ln/>
        </p:spPr>
        <p:txBody>
          <a:bodyPr/>
          <a:p/>
        </p:txBody>
      </p:sp>
      <p:sp>
        <p:nvSpPr>
          <p:cNvPr id="943" name=""/>
          <p:cNvSpPr/>
          <p:nvPr/>
        </p:nvSpPr>
        <p:spPr>
          <a:xfrm rot="0" flipH="0" flipV="0">
            <a:off x="2743200" y="3638550"/>
            <a:ext cx="628650" cy="209550"/>
          </a:xfrm>
          <a:prstGeom prst="roundRect">
            <a:avLst>
              <a:gd name="adj" fmla="val 27273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4552950" y="363855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4FE0B0"/>
                </a:solidFill>
                <a:latin typeface="Consolas"/>
                <a:ea typeface="Consolas"/>
              </a:rPr>
              <a:t>35.9%</a:t>
            </a:r>
            <a:endParaRPr/>
          </a:p>
        </p:txBody>
      </p:sp>
      <p:sp>
        <p:nvSpPr>
          <p:cNvPr id="945" name=""/>
          <p:cNvSpPr/>
          <p:nvPr/>
        </p:nvSpPr>
        <p:spPr>
          <a:xfrm rot="0" flipH="0" flipV="0">
            <a:off x="838200" y="4000500"/>
            <a:ext cx="4686300" cy="9525"/>
          </a:xfrm>
          <a:prstGeom prst="rect">
            <a:avLst/>
          </a:pr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6134100" y="1666875"/>
            <a:ext cx="54483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需求是真的，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不是我们猜的。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6134100" y="4305300"/>
            <a:ext cx="5448300" cy="1790700"/>
          </a:xfrm>
          <a:prstGeom prst="roundRect">
            <a:avLst>
              <a:gd name="adj" fmla="val 6383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6343650" y="4476750"/>
            <a:ext cx="5029200" cy="1447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2100" b="1">
                <a:solidFill>
                  <a:srgbClr val="4FE0B0"/>
                </a:solidFill>
                <a:latin typeface="Microsoft YaHei"/>
                <a:ea typeface="Microsoft YaHei"/>
              </a:rPr>
              <a:t>35.9%</a:t>
            </a:r>
            <a:r>
              <a:rPr lang="en-US" sz="2100">
                <a:solidFill>
                  <a:srgbClr val="E8EEF7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明确愿意「设置定时提醒，</a:t>
            </a:r>
            <a:endParaRPr/>
          </a:p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强制起身活动、远眺」——正是知歇在做的事</a:t>
            </a:r>
            <a:endParaRPr/>
          </a:p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11468100" y="12763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8</a:t>
            </a:r>
            <a:endParaRPr/>
          </a:p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838200" y="2428875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尝试过「轻养生」</a:t>
            </a:r>
            <a:endParaRPr/>
          </a:p>
        </p:txBody>
      </p:sp>
      <p:sp>
        <p:nvSpPr>
          <p:cNvPr id="958" name="" descr="{&quot;isTemplate&quot;:true,&quot;type&quot;:&quot;text&quot;}"/>
          <p:cNvSpPr txBox="1"/>
          <p:nvPr/>
        </p:nvSpPr>
        <p:spPr>
          <a:xfrm rot="0" flipH="0" flipV="0">
            <a:off x="838200" y="2828925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用设备</a:t>
            </a:r>
            <a:r>
              <a:rPr lang="en-US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站立办公</a:t>
            </a:r>
            <a:endParaRPr/>
          </a:p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838200" y="3228975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短暂起身休息交流</a:t>
            </a:r>
            <a:endParaRPr/>
          </a:p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838200" y="3629025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定时提醒强制起身</a:t>
            </a:r>
            <a:endParaRPr/>
          </a:p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838200" y="4124325"/>
            <a:ext cx="4686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数据来源：中国青年报社社会调查中心联合问卷网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（</a:t>
            </a:r>
            <a:r>
              <a:rPr lang="en-US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1334 </a:t>
            </a:r>
            <a:r>
              <a:rPr lang="zh-CN" sz="112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名受访青年，新华网发布）</a:t>
            </a:r>
            <a:endParaRPr/>
          </a:p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6134100" y="2990850"/>
            <a:ext cx="54483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面对久坐，青年们已经在主动找办法。</a:t>
            </a:r>
            <a:endParaRPr/>
          </a:p>
        </p:txBody>
      </p:sp>
      <p:sp>
        <p:nvSpPr>
          <p:cNvPr id="963" name="" descr="{&quot;isTemplate&quot;:true,&quot;type&quot;:&quot;text&quot;}"/>
          <p:cNvSpPr txBox="1"/>
          <p:nvPr/>
        </p:nvSpPr>
        <p:spPr>
          <a:xfrm rot="0" flipH="0" flipV="0">
            <a:off x="6134100" y="3648075"/>
            <a:ext cx="54483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只是现有办法都靠自觉，坚持不下来。</a:t>
            </a:r>
            <a:endParaRPr/>
          </a:p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11144250" y="6200775"/>
            <a:ext cx="438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8 / 29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966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4FE0B0', fontWeight: 'bold'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3 · 应用场景&lt;/Text&gt;&#10;        &lt;Text style={{ fontSize: 40, fontWeight: 'bold', color: '#E8EEF7' }}&gt;场景一 · 学生与备考&lt;/Text&gt;&#10;      &lt;/Box&gt;&#10;      &lt;Text style={{ fontSize: 20, fontFamily: 'Consolas', color: '#E8EEF7', opacity: 0.35 }}&gt;9&lt;/Text&gt;&#10;    &lt;/Box&gt;&#10;    &lt;Box style={{ height: 470, flexDirection: 'row', gap: 32, alignItems: 'center' }}&gt;&#10;      &lt;Box style={{ flex: 1, flexDirection: 'column', gap: 20 }}&gt;&#10;        &lt;Box style={{ height: 130, background: '#1B2740', border: '1px solid rgba(232,238,247,0.12)', borderRadius: 12, padding: '0 24px'}}&gt;&#10;          &lt;Box style={{ flex: 1, flexDirection: 'column', gap: 8 }}&gt;&#10;            &lt;Text style={{ fontSize: 30, fontWeight: 'bold', color: '#E8EEF7' }}&gt;机房与实验课&lt;/Text&gt;&#10;            &lt;Text style={{ fontSize: 26, color: '#E8EEF7', opacity: 0.7, lineHeight: 1.45 }}&gt;上机一节连一节，下课铃是唯一的提醒&lt;/Text&gt;&#10;          &lt;/Box&gt;&#10;        &lt;/Box&gt;&#10;        &lt;Box style={{ height: 130, background: '#1B2740', border: '1px solid rgba(232,238,247,0.12)', borderRadius: 12, padding: '0 24px'}}&gt;&#10;          &lt;Box style={{ flex: 1, flexDirection: 'column', gap: 8 }}&gt;&#10;            &lt;Text style={{ fontSize: 30, fontWeight: 'bold', color: '#E8EEF7' }}&gt;晚自习 / 图书馆&lt;/Text&gt;&#10;            &lt;Text style={{ fontSize: 26, color: '#E8EEF7', opacity: 0.7, lineHeight: 1.45 }}&gt;戴上耳机进入状态，一抬头两小时过去&lt;/Text&gt;&#10;          &lt;/Box&gt;&#10;        &lt;/Box&gt;&#10;        &lt;Box style={{ height: 130, background: '#1B2740', border: '1px solid rgba(232,238,247,0.12)', borderRadius: 12, padding: '0 24px'}}&gt;&#10;          &lt;Box style={{ flex: 1, flexDirection: 'column', gap: 8 }}&gt;&#10;            &lt;Text style={{ fontSize: 30, fontWeight: 'bold', color: '#E8EEF7' }}&gt;备考冲刺&lt;/Text&gt;&#10;            &lt;Text style={{ fontSize: 26, color: '#E8EEF7', opacity: 0.7, lineHeight: 1.45 }}&gt;真题一套接一套，离开屏幕才想起歇&lt;/Text&gt;&#10;          &lt;/Box&gt;&#10;        &lt;/Box&gt;&#10;      &lt;/Box&gt;&#10;      &lt;Box style={{ width: 320, height: 430, background: 'rgba(79,224,176,0.10)', border: '1px solid rgba(79,224,176,0.4)', borderRadius: 12, padding: '30px 26px'}}&gt;&#10;          &lt;Text style={{ fontSize: 24, color: '#4FE0B0', letterSpacing: 2, textAlign: 'center' }}&gt;共同点&lt;/Text&gt;&#10;          &lt;Text style={{ fontSize: 32, fontWeight: 'bold', color: '#E8EEF7', textAlign: 'center', lineHeight: 1.5 }}&gt;不是不想歇，&lt;br /&gt;是没人提醒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9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968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9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971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39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03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应用场景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390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场景一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学生与备考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609600" y="1828800"/>
            <a:ext cx="7620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838200" y="1828800"/>
            <a:ext cx="7162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机房与实验课</a:t>
            </a:r>
            <a:endParaRPr/>
          </a:p>
        </p:txBody>
      </p:sp>
      <p:sp>
        <p:nvSpPr>
          <p:cNvPr id="976" name=""/>
          <p:cNvSpPr/>
          <p:nvPr/>
        </p:nvSpPr>
        <p:spPr>
          <a:xfrm rot="0" flipH="0" flipV="0">
            <a:off x="609600" y="3257550"/>
            <a:ext cx="7620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7" name="" descr="{&quot;isTemplate&quot;:true,&quot;type&quot;:&quot;text&quot;}"/>
          <p:cNvSpPr txBox="1"/>
          <p:nvPr/>
        </p:nvSpPr>
        <p:spPr>
          <a:xfrm rot="0" flipH="0" flipV="0">
            <a:off x="838200" y="3257550"/>
            <a:ext cx="7162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晚自习</a:t>
            </a:r>
            <a:r>
              <a:rPr lang="en-US" sz="22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图书馆</a:t>
            </a:r>
            <a:endParaRPr/>
          </a:p>
        </p:txBody>
      </p:sp>
      <p:sp>
        <p:nvSpPr>
          <p:cNvPr id="978" name=""/>
          <p:cNvSpPr/>
          <p:nvPr/>
        </p:nvSpPr>
        <p:spPr>
          <a:xfrm rot="0" flipH="0" flipV="0">
            <a:off x="609600" y="4686300"/>
            <a:ext cx="7620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838200" y="4686300"/>
            <a:ext cx="7162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备考冲刺</a:t>
            </a:r>
            <a:endParaRPr/>
          </a:p>
        </p:txBody>
      </p:sp>
      <p:sp>
        <p:nvSpPr>
          <p:cNvPr id="980" name=""/>
          <p:cNvSpPr/>
          <p:nvPr/>
        </p:nvSpPr>
        <p:spPr>
          <a:xfrm rot="0" flipH="0" flipV="0">
            <a:off x="8534400" y="1828800"/>
            <a:ext cx="3048000" cy="4095750"/>
          </a:xfrm>
          <a:prstGeom prst="roundRect">
            <a:avLst>
              <a:gd name="adj" fmla="val 375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8782050" y="2114550"/>
            <a:ext cx="2552700" cy="2762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800" spc="150">
                <a:solidFill>
                  <a:srgbClr val="4FE0B0"/>
                </a:solidFill>
                <a:latin typeface="Microsoft YaHei"/>
                <a:ea typeface="Microsoft YaHei"/>
              </a:rPr>
              <a:t>共同点</a:t>
            </a:r>
            <a:endParaRPr/>
          </a:p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8782050" y="2390775"/>
            <a:ext cx="2552700" cy="11049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不是不想歇，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是没人提醒</a:t>
            </a:r>
            <a:endParaRPr/>
          </a:p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984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988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989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11468100" y="12763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9</a:t>
            </a:r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838200" y="2247900"/>
            <a:ext cx="71628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上机一节连一节，下课铃是唯一的提醒</a:t>
            </a:r>
            <a:endParaRPr/>
          </a:p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838200" y="3676650"/>
            <a:ext cx="71628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戴上耳机进入状态，一抬头两小时过去</a:t>
            </a:r>
            <a:endParaRPr/>
          </a:p>
        </p:txBody>
      </p:sp>
      <p:sp>
        <p:nvSpPr>
          <p:cNvPr id="993" name="" descr="{&quot;isTemplate&quot;:true,&quot;type&quot;:&quot;text&quot;}"/>
          <p:cNvSpPr txBox="1"/>
          <p:nvPr/>
        </p:nvSpPr>
        <p:spPr>
          <a:xfrm rot="0" flipH="0" flipV="0">
            <a:off x="838200" y="5105400"/>
            <a:ext cx="71628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真题一套接一套，离开屏幕才想起歇</a:t>
            </a:r>
            <a:endParaRPr/>
          </a:p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11144250" y="6200775"/>
            <a:ext cx="438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9 / 29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4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4FE0B0', fontWeight: 'bold'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3 · 应用场景&lt;/Text&gt;&#10;        &lt;Text style={{ fontSize: 40, fontWeight: 'bold', color: '#E8EEF7' }}&gt;场景二 · 职场久坐&lt;/Text&gt;&#10;      &lt;/Box&gt;&#10;      &lt;Text style={{ fontSize: 20, fontFamily: 'Consolas', color: '#E8EEF7', opacity: 0.35 }}&gt;10&lt;/Text&gt;&#10;    &lt;/Box&gt;&#10;    &lt;Box style={{ height: 470, flexDirection: 'row', gap: 32, alignItems: 'center' }}&gt;&#10;      &lt;Box style={{ flex: 1, flexDirection: 'column', gap: 20 }}&gt;&#10;        &lt;Box style={{ height: 130, background: '#1B2740', border: '1px solid rgba(232,238,247,0.12)', borderRadius: 12, padding: '0 24px'}}&gt;&#10;          &lt;Box style={{ flex: 1, flexDirection: 'column', gap: 8 }}&gt;&#10;            &lt;Text style={{ fontSize: 30, fontWeight: 'bold', color: '#E8EEF7' }}&gt;写代码 / 改文档&lt;/Text&gt;&#10;            &lt;Text style={{ fontSize: 26, color: '#E8EEF7', opacity: 0.7, lineHeight: 1.45 }}&gt;进入心流停不下来，一坐一上午&lt;/Text&gt;&#10;          &lt;/Box&gt;&#10;        &lt;/Box&gt;&#10;        &lt;Box style={{ height: 130, background: '#1B2740', border: '1px solid rgba(232,238,247,0.12)', borderRadius: 12, padding: '0 24px'}}&gt;&#10;          &lt;Box style={{ flex: 1, flexDirection: 'column', gap: 8 }}&gt;&#10;            &lt;Text style={{ fontSize: 30, fontWeight: 'bold', color: '#E8EEF7' }}&gt;会议连着屏幕&lt;/Text&gt;&#10;            &lt;Text style={{ fontSize: 26, color: '#E8EEF7', opacity: 0.7, lineHeight: 1.45 }}&gt;会议室与工位来回切，眼睛没喘过气&lt;/Text&gt;&#10;          &lt;/Box&gt;&#10;        &lt;/Box&gt;&#10;        &lt;Box style={{ height: 130, background: '#1B2740', border: '1px solid rgba(232,238,247,0.12)', borderRadius: 12, padding: '0 24px'}}&gt;&#10;          &lt;Box style={{ flex: 1, flexDirection: 'column', gap: 8 }}&gt;&#10;            &lt;Text style={{ fontSize: 30, fontWeight: 'bold', color: '#E8EEF7' }}&gt;创意设计赶稿&lt;/Text&gt;&#10;            &lt;Text style={{ fontSize: 26, color: '#E8EEF7', opacity: 0.7, lineHeight: 1.45 }}&gt;改到深处，脖子已经前倾很久&lt;/Text&gt;&#10;          &lt;/Box&gt;&#10;        &lt;/Box&gt;&#10;      &lt;/Box&gt;&#10;      &lt;Box style={{ width: 320, height: 430, background: 'rgba(79,224,176,0.10)', border: '1px solid rgba(79,224,176,0.4)', borderRadius: 12, padding: '30px 26px'}}&gt;&#10;          &lt;Text style={{ fontSize: 24, color: '#4FE0B0', letterSpacing: 2, textAlign: 'center' }}&gt;共同点&lt;/Text&gt;&#10;          &lt;Text style={{ fontSize: 32, fontWeight: 'bold', color: '#E8EEF7', textAlign: 'center', lineHeight: 1.5 }}&gt;不打断心流，&lt;br /&gt;又能见效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0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6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009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03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应用场景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009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场景二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职场久坐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609600" y="1828800"/>
            <a:ext cx="7620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8200" y="1828800"/>
            <a:ext cx="7162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写代码</a:t>
            </a:r>
            <a:r>
              <a:rPr lang="en-US" sz="22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改文档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609600" y="3257550"/>
            <a:ext cx="7620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38200" y="3257550"/>
            <a:ext cx="7162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会议连着屏幕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609600" y="4686300"/>
            <a:ext cx="7620000" cy="1238250"/>
          </a:xfrm>
          <a:prstGeom prst="roundRect">
            <a:avLst>
              <a:gd name="adj" fmla="val 923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38200" y="4686300"/>
            <a:ext cx="7162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创意设计赶稿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534400" y="1828800"/>
            <a:ext cx="3048000" cy="4095750"/>
          </a:xfrm>
          <a:prstGeom prst="roundRect">
            <a:avLst>
              <a:gd name="adj" fmla="val 375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782050" y="2114550"/>
            <a:ext cx="2552700" cy="2762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800" spc="150">
                <a:solidFill>
                  <a:srgbClr val="4FE0B0"/>
                </a:solidFill>
                <a:latin typeface="Microsoft YaHei"/>
                <a:ea typeface="Microsoft YaHei"/>
              </a:rPr>
              <a:t>共同点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782050" y="2390775"/>
            <a:ext cx="2552700" cy="11049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不打断心流，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又能见效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10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38200" y="2247900"/>
            <a:ext cx="71628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进入心流停不下来，一坐一上午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838200" y="3676650"/>
            <a:ext cx="71628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会议室与工位来回切，眼睛没喘过气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" y="5105400"/>
            <a:ext cx="71628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改到深处，脖子已经前倾很久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10 / 29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44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4FE0B0', fontWeight: 'bold'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3 · 应用场景&lt;/Text&gt;&#10;        &lt;Text style={{ fontSize: 40, fontWeight: 'bold', color: '#E8EEF7' }}&gt;场景三 · 跨平台随身&lt;/Text&gt;&#10;      &lt;/Box&gt;&#10;      &lt;Text style={{ fontSize: 20, fontFamily: 'Consolas', color: '#E8EEF7', opacity: 0.35 }}&gt;11&lt;/Text&gt;&#10;    &lt;/Box&gt;&#10;    &lt;Box style={{ height: 470, flexDirection: 'row', gap: 40, alignItems: 'center' }}&gt;&#10;      &lt;Box style={{ flex: 1, flexDirection: 'column', gap: 18 }}&gt;&#10;        &lt;Text style={{ fontSize: 36, fontWeight: 'bold', color: '#4FE0B0', lineHeight: 1.4 }}&gt;同一套提醒，&lt;br /&gt;两套系统都能跑。&lt;/Text&gt;&#10;        &lt;Text style={{ fontSize: 28, color: '#E8EEF7', opacity: 0.8, lineHeight: 1.5 }}&gt;Windows x64 / ARM64 与 macOS 都提供支持。&lt;/Text&gt;&#10;        &lt;Text style={{ fontSize: 28, color: '#E8EEF7', opacity: 0.8, lineHeight: 1.5 }}&gt;提醒数据存在本机，不上传、不绑定账号。&lt;/Text&gt;&#10;        &lt;Box style={{ background: 'rgba(79,224,176,0.10)', border: '1px solid rgba(79,224,176,0.4)', borderRadius: 12, padding: '18px 22px'}}&gt;&#10;          &lt;Text style={{ fontSize: 28, color: '#E8EEF7', lineHeight: 1.5 }}&gt;隐私立场：&lt;span style={{ color: '#4FE0B0', fontWeight: 'bold' }}&gt;数据留在本机，你说了算&lt;/span&gt;&lt;/Text&gt;&#10;        &lt;/Box&gt;&#10;      &lt;/Box&gt;&#10;      &lt;Box style={{ width: 560, height: 420, background: '#1B2740', border: '1px solid rgba(232,238,247,0.12)', borderRadius: 12, padding: '30px 30px'}}&gt;&#10;        &lt;svg width={500} height={260} viewBox='0 0 500 260'&gt;&#10;          &lt;rect x='20' y='30' width='200' height='150' rx='10' fill='#0B1220' stroke='rgba(232,238,247,0.2)' strokeWidth='1.5' /&gt;&#10;          &lt;rect x='20' y='30' width='200' height='28' rx='10' fill='rgba(79,224,176,0.12)' /&gt;&#10;          &lt;circle cx='38' cy='44' r='4' fill='#4FE0B0' /&gt;&lt;circle cx='54' cy='44' r='4' fill='#E8EEF7' /&gt;&#10;          &lt;text x='120' y='120' fontFamily='微软雅黑' fontSize='22' fill='#E8EEF7' textAnchor='middle'&gt;Windows&lt;/text&gt;&#10;          &lt;rect x='280' y='30' width='200' height='150' rx='10' fill='#0B1220' stroke='rgba(232,238,247,0.2)' strokeWidth='1.5' /&gt;&#10;          &lt;rect x='280' y='30' width='200' height='28' rx='10' fill='rgba(79,224,176,0.12)' /&gt;&#10;          &lt;circle cx='298' cy='44' r='4' fill='#4FE0B0' /&gt;&lt;circle cx='314' cy='44' r='4' fill='#E8EEF7' /&gt;&#10;          &lt;text x='380' y='120' fontFamily='微软雅黑' fontSize='22' fill='#E8EEF7' textAnchor='middle'&gt;macOS&lt;/text&gt;&#10;          &lt;circle cx='250' cy='105' r='17' fill='rgba(79,224,176,0.2)' stroke='#4FE0B0' strokeWidth='1.5' /&gt;&#10;          &lt;path d='M242 105 L247 110 L257 99' stroke='#4FE0B0' strokeWidth='2.5' fill='none' /&gt;&#10;        &lt;/svg&gt;&#10;        &lt;Text style={{ fontSize: 26, color: '#E8EEF7', opacity: 0.7, textAlign: 'center' }}&gt;双平台安装包，下载即用&lt;/Text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1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39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03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应用场景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390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场景三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跨平台随身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09600" y="1905000"/>
            <a:ext cx="5257800" cy="1152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同一套提醒，</a:t>
            </a:r>
            <a:endParaRPr/>
          </a:p>
          <a:p>
            <a:pPr>
              <a:lnSpc>
                <a:spcPct val="140000"/>
              </a:lnSpc>
            </a:pPr>
            <a:r>
              <a:rPr lang="zh-CN" sz="2700" b="1">
                <a:solidFill>
                  <a:srgbClr val="4FE0B0"/>
                </a:solidFill>
                <a:latin typeface="Microsoft YaHei"/>
                <a:ea typeface="Microsoft YaHei"/>
              </a:rPr>
              <a:t>两套系统都能跑。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09600" y="5019675"/>
            <a:ext cx="5257800" cy="828675"/>
          </a:xfrm>
          <a:prstGeom prst="roundRect">
            <a:avLst>
              <a:gd name="adj" fmla="val 13793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19150" y="5191125"/>
            <a:ext cx="48387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/>
                </a:solidFill>
                <a:latin typeface="Microsoft YaHei"/>
                <a:ea typeface="Microsoft YaHei"/>
              </a:rPr>
              <a:t>隐私立场：</a:t>
            </a:r>
            <a:r>
              <a:rPr lang="zh-CN" sz="2100" b="1">
                <a:solidFill>
                  <a:srgbClr val="4FE0B0"/>
                </a:solidFill>
                <a:latin typeface="Microsoft YaHei"/>
                <a:ea typeface="Microsoft YaHei"/>
              </a:rPr>
              <a:t>数据留在本机，你说了算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6248400" y="1876425"/>
            <a:ext cx="5334000" cy="4000500"/>
          </a:xfrm>
          <a:prstGeom prst="roundRect">
            <a:avLst>
              <a:gd name="adj" fmla="val 2857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34150" y="2162175"/>
            <a:ext cx="4762500" cy="2476500"/>
          </a:xfrm>
          <a:prstGeom prst="rect">
            <a:avLst/>
          </a:prstGeom>
          <a:ln/>
        </p:spPr>
      </p:pic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11382375" y="1276350"/>
            <a:ext cx="20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11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3228975"/>
            <a:ext cx="5257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Windows x64 / ARM64 </a:t>
            </a: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macOS </a:t>
            </a: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都提供支持。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09600" y="4362450"/>
            <a:ext cx="525780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10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提醒数据存在本机，不上传、不绑定账号。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534150" y="4638675"/>
            <a:ext cx="476250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双平台安装包，下载即用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068050" y="6200775"/>
            <a:ext cx="51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11 / 29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70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4FE0B0', fontWeight: 'bold'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4 · 智能体开发过程&lt;/Text&gt;&#10;        &lt;Text style={{ fontSize: 40, fontWeight: 'bold', color: '#E8EEF7' }}&gt;一个人 + AI 助手怎么配合&lt;/Text&gt;&#10;      &lt;/Box&gt;&#10;      &lt;Text style={{ fontSize: 20, fontFamily: 'Consolas', color: '#E8EEF7', opacity: 0.35 }}&gt;12&lt;/Text&gt;&#10;    &lt;/Box&gt;&#10;    &lt;Box style={{ height: 470, flexDirection: 'row', gap: 28, alignItems: 'stretch' }}&gt;&#10;      &lt;Box style={{ background: '#1B2740', border: '1px solid rgba(232,238,247,0.12)', borderRadius: 12, padding: '26px 28px'}}&gt;&#10;          &lt;Text style={{ fontSize: 34, fontWeight: 'bold', color: '#4FE0B0' }}&gt;我（开发者）负责&lt;/Text&gt;&#10;          &lt;Text style={{ fontSize: 28, color: '#E8EEF7', opacity: 0.85, lineHeight: 1.55 }}&gt;· 定产品方向与功能边界&lt;/Text&gt;&#10;          &lt;Text style={{ fontSize: 28, color: '#E8EEF7', opacity: 0.85, lineHeight: 1.55 }}&gt;· 设计数据结构和交互&lt;/Text&gt;&#10;          &lt;Text style={{ fontSize: 28, color: '#E8EEF7', opacity: 0.85, lineHeight: 1.55 }}&gt;· 做关键判断与取舍&lt;/Text&gt;&#10;          &lt;Text style={{ fontSize: 28, color: '#E8EEF7', opacity: 0.85, lineHeight: 1.55 }}&gt;· 跑测试、把关质量&lt;/Text&gt;&#10;        &lt;/Box&gt;&#10;      &lt;Box style={{ background: 'rgba(79,224,176,0.10)', border: '1px solid rgba(79,224,176,0.4)', borderRadius: 12, padding: '26px 28px'}}&gt;&#10;          &lt;Text style={{ fontSize: 34, fontWeight: 'bold', color: '#4FE0B0' }}&gt;AI 助手负责&lt;/Text&gt;&#10;          &lt;Text style={{ fontSize: 28, color: '#E8EEF7', opacity: 0.85, lineHeight: 1.55 }}&gt;· 按需求写代码与界面&lt;/Text&gt;&#10;          &lt;Text style={{ fontSize: 28, color: '#E8EEF7', opacity: 0.85, lineHeight: 1.55 }}&gt;· 起草说明文档与文案&lt;/Text&gt;&#10;          &lt;Text style={{ fontSize: 28, color: '#E8EEF7', opacity: 0.85, lineHeight: 1.55 }}&gt;· 查资料、给实现建议&lt;/Text&gt;&#10;          &lt;Text style={{ fontSize: 28, color: '#E8EEF7', opacity: 0.85, lineHeight: 1.55 }}&gt;· 出初稿，我来审改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2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43529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04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智能体开发过程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43529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一个人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助手怎么配合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09600" y="1638300"/>
            <a:ext cx="3371850" cy="4476750"/>
          </a:xfrm>
          <a:prstGeom prst="roundRect">
            <a:avLst>
              <a:gd name="adj" fmla="val 339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76300" y="1885950"/>
            <a:ext cx="2838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4FE0B0"/>
                </a:solidFill>
                <a:latin typeface="Microsoft YaHei"/>
                <a:ea typeface="Microsoft YaHei"/>
              </a:rPr>
              <a:t>我（开发者）负责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4248150" y="1638300"/>
            <a:ext cx="3105150" cy="4476750"/>
          </a:xfrm>
          <a:prstGeom prst="roundRect">
            <a:avLst>
              <a:gd name="adj" fmla="val 3681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514850" y="1885950"/>
            <a:ext cx="2571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4FE0B0"/>
                </a:solidFill>
                <a:latin typeface="Microsoft YaHei"/>
                <a:ea typeface="Microsoft YaHei"/>
              </a:rPr>
              <a:t>助手负责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12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76300" y="2276475"/>
            <a:ext cx="2838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定产品方向与功能边界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76300" y="2781300"/>
            <a:ext cx="2838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设计数据结构和交互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876300" y="3286125"/>
            <a:ext cx="2838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做关键判断与取舍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876300" y="3790950"/>
            <a:ext cx="28384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跑测试、把关质量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514850" y="2276475"/>
            <a:ext cx="25717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按需求写代码与界面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514850" y="2781300"/>
            <a:ext cx="25717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起草说明文档与文案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514850" y="3286125"/>
            <a:ext cx="25717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查资料、给实现建议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514850" y="3790950"/>
            <a:ext cx="2571750" cy="504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出初稿，我来审改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12 / 29</a:t>
            </a:r>
            <a:endParaRPr/>
          </a:p>
        </p:txBody>
      </p:sp>
    </p:spTree>
  </p:cSld>
</p:sld>
</file>

<file path=ppt/slides/slide13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00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4FE0B0', fontWeight: 'bold'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4 · 智能体开发过程&lt;/Text&gt;&#10;        &lt;Text style={{ fontSize: 40, fontWeight: 'bold', color: '#E8EEF7' }}&gt;提示词与模型选型&lt;/Text&gt;&#10;      &lt;/Box&gt;&#10;      &lt;Text style={{ fontSize: 20, fontFamily: 'Consolas', color: '#E8EEF7', opacity: 0.35 }}&gt;13&lt;/Text&gt;&#10;    &lt;/Box&gt;&#10;    &lt;Box style={{ height: 470, flexDirection: 'column', gap: 16 }}&gt;&#10;      &lt;Box style={{ height: 200, flexDirection: 'row', gap: 16, alignItems: 'stretch' }}&gt;&#10;        &lt;Box style={{ background: '#1B2740', border: '1px solid rgba(232,238,247,0.12)', borderRadius: 12, padding: '20px 24px'}}&gt;&#10;          &lt;Text style={{ fontSize: 26, fontWeight: 'bold', color: '#4FE0B0' }}&gt;提示词（约束格式）&lt;/Text&gt;&#10;          &lt;Text style={{ fontSize: 25, color: '#E8EEF7', opacity: 0.8, lineHeight: 1.5 }}&gt;“只输出 JSON：type / time / repeat / action，不要解释。”&lt;/Text&gt;&#10;        &lt;/Box&gt;&#10;        &lt;Box style={{ width: 60, justifyContent: 'center', alignItems: 'center' }}&gt;&#10;          &lt;Text style={{ fontSize: 40, color: '#4FE0B0', fontWeight: 'bold' }}&gt;→&lt;/Text&gt;&#10;        &lt;/Box&gt;&#10;        &lt;Box style={{ background: 'rgba(79,224,176,0.10)', border: '1px solid rgba(79,224,176,0.4)', borderRadius: 12, padding: '20px 24px'}}&gt;&#10;          &lt;Text style={{ fontSize: 26, fontWeight: 'bold', color: '#4FE0B0' }}&gt;结构化结果（JSON）&lt;/Text&gt;&#10;          &lt;Text style={{ fontSize: 25, color: '#E8EEF7', opacity: 0.8, lineHeight: 1.5 }}&gt;{ '{ type:&quot;rest&quot;, time:&quot;50m&quot;, repeat:&quot;daily&quot;, action:&quot;notify&quot; }' }&lt;/Text&gt;&#10;        &lt;/Box&gt;&#10;      &lt;/Box&gt;&#10;      &lt;Box style={{ height: 254, flexDirection: 'row', gap: 20, alignItems: 'stretch' }}&gt;&#10;        &lt;Box style={{ background: '#1B2740', border: '1px solid rgba(232,238,247,0.12)', borderRadius: 12, padding: '24px 28px'}}&gt;&#10;          &lt;Text style={{ fontSize: 26, fontWeight: 'bold', color: '#4FE0B0' }}&gt;模型配置（三格，存本机）&lt;/Text&gt;&#10;          &lt;Box style={{ flexDirection: 'row', justifyContent: 'space-between', alignItems: 'center', padding: '12px 0', borderBottom: '1px solid rgba(232,238,247,0.10)' }}&gt;&#10;            &lt;Text style={{ fontSize: 25, color: '#E8EEF7', opacity: 0.6 }}&gt;服务商&lt;/Text&gt;&#10;            &lt;Text style={{ fontSize: 27, fontWeight: 'bold', color: '#E8EEF7' }}&gt;DeepSeek（可改）&lt;/Text&gt;&#10;          &lt;/Box&gt;&#10;          &lt;Box style={{ flexDirection: 'row', justifyContent: 'space-between', alignItems: 'center', padding: '12px 0', borderBottom: '1px solid rgba(232,238,247,0.10)' }}&gt;&#10;            &lt;Text style={{ fontSize: 25, color: '#E8EEF7', opacity: 0.6 }}&gt;接口地址&lt;/Text&gt;&#10;            &lt;Text style={{ fontSize: 25, color: '#E8EEF7' }}&gt;/v1/chat/completions&lt;/Text&gt;&#10;          &lt;/Box&gt;&#10;          &lt;Box style={{ flexDirection: 'row', justifyContent: 'space-between', alignItems: 'center', padding: '12px 0' }}&gt;&#10;            &lt;Text style={{ fontSize: 25, color: '#E8EEF7', opacity: 0.6 }}&gt;密钥&lt;/Text&gt;&#10;            &lt;Text style={{ fontSize: 25, color: '#E8EEF7' }}&gt;sk-****（本地保存）&lt;/Text&gt;&#10;          &lt;/Box&gt;&#10;        &lt;/Box&gt;&#10;        &lt;Box style={{ width: 330, height: 254, background: 'rgba(79,224,176,0.10)', border: '1px solid rgba(79,224,176,0.4)', borderRadius: 12, padding: '26px 26px'}}&gt;&#10;          &lt;Text style={{ fontSize: 30, fontWeight: 'bold', color: '#E8EEF7', lineHeight: 1.45 }}&gt;换模型 =&lt;br /&gt;&lt;span style={{ color: '#4FE0B0' }}&gt;改配置，不重写&lt;/span&gt;&lt;/Text&gt;&#10;          &lt;Text style={{ fontSize: 24, color: '#E8EEF7', opacity: 0.7, lineHeight: 1.5 }}&gt;DeepSeek / 通义 / 本地模型，改两格就能换。&lt;/Text&gt;&#10;  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3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1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04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智能体开发过程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048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提示词与模型选型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609600" y="1638300"/>
            <a:ext cx="5219700" cy="1905000"/>
          </a:xfrm>
          <a:prstGeom prst="roundRect">
            <a:avLst>
              <a:gd name="adj" fmla="val 60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838200" y="1828800"/>
            <a:ext cx="4762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Microsoft YaHei"/>
                <a:ea typeface="Microsoft YaHei"/>
              </a:rPr>
              <a:t>提示词（约束格式）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076950" y="2362200"/>
            <a:ext cx="381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3000" b="1">
                <a:solidFill>
                  <a:srgbClr val="4FE0B0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591300" y="1638300"/>
            <a:ext cx="4991100" cy="1905000"/>
          </a:xfrm>
          <a:prstGeom prst="roundRect">
            <a:avLst>
              <a:gd name="adj" fmla="val 600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19900" y="1828800"/>
            <a:ext cx="4533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Microsoft YaHei"/>
                <a:ea typeface="Microsoft YaHei"/>
              </a:rPr>
              <a:t>结构化结果（</a:t>
            </a:r>
            <a:r>
              <a:rPr lang="en-US" sz="1950" b="1">
                <a:solidFill>
                  <a:srgbClr val="4FE0B0"/>
                </a:solidFill>
                <a:latin typeface="Microsoft YaHei"/>
                <a:ea typeface="Microsoft YaHei"/>
              </a:rPr>
              <a:t>JSON</a:t>
            </a:r>
            <a:r>
              <a:rPr lang="zh-CN" sz="1950" b="1">
                <a:solidFill>
                  <a:srgbClr val="4FE0B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09600" y="3695700"/>
            <a:ext cx="3657600" cy="2419350"/>
          </a:xfrm>
          <a:prstGeom prst="roundRect">
            <a:avLst>
              <a:gd name="adj" fmla="val 4724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76300" y="3924300"/>
            <a:ext cx="3124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Microsoft YaHei"/>
                <a:ea typeface="Microsoft YaHei"/>
              </a:rPr>
              <a:t>模型配置（三格，存本机）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876300" y="4229100"/>
            <a:ext cx="3124200" cy="561975"/>
          </a:xfrm>
          <a:custGeom>
            <a:pathLst>
              <a:path w="328" h="59">
                <a:moveTo>
                  <a:pt x="0" y="58"/>
                </a:moveTo>
                <a:lnTo>
                  <a:pt x="328" y="58"/>
                </a:lnTo>
                <a:lnTo>
                  <a:pt x="328" y="59"/>
                </a:lnTo>
                <a:lnTo>
                  <a:pt x="0" y="59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733550" y="4343400"/>
            <a:ext cx="226695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E8EEF7"/>
                </a:solidFill>
                <a:latin typeface="Microsoft YaHei"/>
                <a:ea typeface="Microsoft YaHei"/>
              </a:rPr>
              <a:t>DeepSeek</a:t>
            </a:r>
            <a:r>
              <a:rPr lang="zh-CN" sz="2025" b="1">
                <a:solidFill>
                  <a:srgbClr val="E8EEF7"/>
                </a:solidFill>
                <a:latin typeface="Microsoft YaHei"/>
                <a:ea typeface="Microsoft YaHei"/>
              </a:rPr>
              <a:t>（可改）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876300" y="4781550"/>
            <a:ext cx="3124200" cy="533400"/>
          </a:xfrm>
          <a:custGeom>
            <a:pathLst>
              <a:path w="328" h="56">
                <a:moveTo>
                  <a:pt x="0" y="55"/>
                </a:moveTo>
                <a:lnTo>
                  <a:pt x="328" y="55"/>
                </a:lnTo>
                <a:lnTo>
                  <a:pt x="3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828800" y="4895850"/>
            <a:ext cx="21717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E8EEF7"/>
                </a:solidFill>
                <a:latin typeface="Microsoft YaHei"/>
                <a:ea typeface="Microsoft YaHei"/>
              </a:rPr>
              <a:t>/v1/chat/completions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876425" y="5419725"/>
            <a:ext cx="21240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E8EEF7"/>
                </a:solidFill>
                <a:latin typeface="Microsoft YaHei"/>
                <a:ea typeface="Microsoft YaHei"/>
              </a:rPr>
              <a:t>sk-****</a:t>
            </a:r>
            <a:r>
              <a:rPr lang="zh-CN" sz="1875">
                <a:solidFill>
                  <a:srgbClr val="E8EEF7"/>
                </a:solidFill>
                <a:latin typeface="Microsoft YaHei"/>
                <a:ea typeface="Microsoft YaHei"/>
              </a:rPr>
              <a:t>（本地保存）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4457700" y="3695700"/>
            <a:ext cx="3143250" cy="2419350"/>
          </a:xfrm>
          <a:prstGeom prst="roundRect">
            <a:avLst>
              <a:gd name="adj" fmla="val 4724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705350" y="3943350"/>
            <a:ext cx="2647950" cy="1000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换模型</a:t>
            </a:r>
            <a:r>
              <a:rPr lang="en-US" sz="22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=</a:t>
            </a:r>
            <a:endParaRPr/>
          </a:p>
          <a:p>
            <a:pPr>
              <a:lnSpc>
                <a:spcPct val="145000"/>
              </a:lnSpc>
            </a:pPr>
            <a:r>
              <a:rPr lang="zh-CN" sz="2250" b="1">
                <a:solidFill>
                  <a:srgbClr val="4FE0B0"/>
                </a:solidFill>
                <a:latin typeface="Microsoft YaHei"/>
                <a:ea typeface="Microsoft YaHei"/>
              </a:rPr>
              <a:t>改配置，不重写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13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38200" y="2133600"/>
            <a:ext cx="47625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“只输出</a:t>
            </a: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：</a:t>
            </a: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type / time / repeat / action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，不要解释。”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819900" y="2133600"/>
            <a:ext cx="45339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{ type:"rest", time:"50m", repeat:"daily", action:"notify" }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876300" y="4362450"/>
            <a:ext cx="7143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服务商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876300" y="4895850"/>
            <a:ext cx="9525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接口地址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876300" y="5419725"/>
            <a:ext cx="4762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密钥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4705350" y="4943475"/>
            <a:ext cx="26479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DeepSeek / </a:t>
            </a:r>
            <a:r>
              <a:rPr lang="zh-CN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通义</a:t>
            </a:r>
            <a:r>
              <a:rPr lang="en-US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本地模型，改两格就能换。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13 / 29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38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4FE0B0', fontWeight: 'bold'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4 · 智能体开发过程&lt;/Text&gt;&#10;        &lt;Text style={{ fontSize: 40, fontWeight: 'bold', color: '#E8EEF7' }}&gt;双通道架构总览&lt;/Text&gt;&#10;      &lt;/Box&gt;&#10;      &lt;Text style={{ fontSize: 20, fontFamily: 'Consolas', color: '#E8EEF7', opacity: 0.35 }}&gt;14&lt;/Text&gt;&#10;    &lt;/Box&gt;&#10;    &lt;Box style={{ height: 470, flexDirection: 'column', gap: 14, alignItems: 'center', justifyContent: 'center' }}&gt;&#10;      &lt;svg width={1112} height={260} viewBox='0 0 1112 260'&gt;&#10;        &lt;rect x='20' y='98' width='180' height='64' rx='10' fill='#1B2740' stroke='rgba(232,238,247,0.2)' strokeWidth='1.5' /&gt;&#10;        &lt;text x='110' y='138' fontFamily='微软雅黑' fontSize='24' fill='#E8EEF7' textAnchor='middle'&gt;你说一句话&lt;/text&gt;&#10;        &lt;path d='M200 130 L262 130' stroke='#4FE0B0' strokeWidth='2' /&gt;&#10;        &lt;rect x='272' y='28' width='240' height='64' rx='10' fill='rgba(79,224,176,0.1)' stroke='#4FE0B0' strokeWidth='1.5' /&gt;&#10;        &lt;text x='392' y='68' fontFamily='微软雅黑' fontSize='24' fill='#E8EEF7' textAnchor='middle'&gt;云端大模型&lt;/text&gt;&#10;        &lt;rect x='272' y='168' width='240' height='64' rx='10' fill='rgba(79,224,176,0.1)' stroke='#4FE0B0' strokeWidth='1.5' /&gt;&#10;        &lt;text x='392' y='208' fontFamily='微软雅黑' fontSize='24' fill='#E8EEF7' textAnchor='middle'&gt;本机规则引擎&lt;/text&gt;&#10;        &lt;path d='M512 60 L606 122' stroke='#4FE0B0' strokeWidth='2' /&gt;&#10;        &lt;path d='M512 200 L606 138' stroke='#4FE0B0' strokeWidth='2' /&gt;&#10;        &lt;rect x='616' y='94' width='210' height='72' rx='10' fill='#1B2740' stroke='#4FE0B0' strokeWidth='1.5' /&gt;&#10;        &lt;text x='721' y='138' fontFamily='微软雅黑' fontSize='23' fill='#E8EEF7' textAnchor='middle'&gt;校验层（白名单）&lt;/text&gt;&#10;        &lt;path d='M826 130 L894 130' stroke='#4FE0B0' strokeWidth='2' /&gt;&#10;        &lt;rect x='904' y='94' width='188' height='72' rx='10' fill='rgba(79,224,176,0.2)' stroke='#4FE0B0' strokeWidth='1.5' /&gt;&#10;        &lt;text x='998' y='138' fontFamily='微软雅黑' fontSize='24' fill='#E8EEF7' textAnchor='middle'&gt;提醒列表&lt;/text&gt;&#10;      &lt;/svg&gt;&#10;      &lt;Box style={{ flexDirection: 'row', gap: 16, width: 1112, alignItems: 'center' }}&gt;&#10;        &lt;Box style={{ height: 100, background: '#1B2740', border: '1px solid rgba(232,238,247,0.12)', borderRadius: 12, padding: '12px 18px', alignItems: 'center'}}&gt;&#10;            &lt;Text style={{ fontSize: 21, color: '#E8EEF7', lineHeight: 1.3 }}&gt;&lt;span style={{ color: '#4FE0B0', fontWeight: 'bold' }}&gt;通道一 · 联网&lt;/span&gt;　交给云端大模型，听得懂更自由的说法，只提建议。&lt;/Text&gt;&#10;        &lt;/Box&gt;&#10;        &lt;Box style={{ height: 100, background: '#1B2740', border: '1px solid rgba(232,238,247,0.12)', borderRadius: 12, padding: '12px 18px', alignItems: 'center'}}&gt;&#10;            &lt;Text style={{ fontSize: 21, color: '#E8EEF7', lineHeight: 1.3 }}&gt;&lt;span style={{ color: '#4FE0B0', fontWeight: 'bold' }}&gt;通道二 · 断网&lt;/span&gt;　用自带规则引擎，认五类说法，照样听懂。&lt;/Text&gt;&#10;        &lt;/Box&gt;&#10;      &lt;/Box&gt;&#10;      &lt;Box style={{ background: 'rgba(79,224,176,0.10)', border: '1px solid rgba(79,224,176,0.4)', borderRadius: 12, padding: '12px 22px'}}&gt;&#10;          &lt;Text style={{ fontSize: 24, color: '#E8EEF7', lineHeight: 1.35 }}&gt;联网走云端、断网走本机——&lt;span style={{ color: '#4FE0B0', fontWeight: 'bold' }}&gt;两条通道，同一道校验&lt;/span&gt;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4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2667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04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智能体开发过程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2667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双通道架构总览</a:t>
            </a:r>
            <a:endParaRPr/>
          </a:p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00100" y="1733550"/>
            <a:ext cx="10591800" cy="2476500"/>
          </a:xfrm>
          <a:prstGeom prst="rect">
            <a:avLst/>
          </a:prstGeom>
          <a:ln/>
        </p:spPr>
      </p:pic>
      <p:sp>
        <p:nvSpPr>
          <p:cNvPr id="147" name=""/>
          <p:cNvSpPr/>
          <p:nvPr/>
        </p:nvSpPr>
        <p:spPr>
          <a:xfrm rot="0" flipH="0" flipV="0">
            <a:off x="800100" y="4343400"/>
            <a:ext cx="5572125" cy="952500"/>
          </a:xfrm>
          <a:prstGeom prst="roundRect">
            <a:avLst>
              <a:gd name="adj" fmla="val 120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71550" y="4457700"/>
            <a:ext cx="52292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4FE0B0"/>
                </a:solidFill>
                <a:latin typeface="Microsoft YaHei"/>
                <a:ea typeface="Microsoft YaHei"/>
              </a:rPr>
              <a:t>通道一</a:t>
            </a:r>
            <a:r>
              <a:rPr lang="en-US" sz="1575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75" b="1">
                <a:solidFill>
                  <a:srgbClr val="4FE0B0"/>
                </a:solidFill>
                <a:latin typeface="Microsoft YaHei"/>
                <a:ea typeface="Microsoft YaHei"/>
              </a:rPr>
              <a:t>联网</a:t>
            </a:r>
            <a:r>
              <a:rPr lang="zh-CN" sz="1575">
                <a:solidFill>
                  <a:srgbClr val="E8EEF7"/>
                </a:solidFill>
                <a:latin typeface="Microsoft YaHei"/>
                <a:ea typeface="Microsoft YaHei"/>
              </a:rPr>
              <a:t>　交给云端大模型，听得懂更自由的说法，只提建议。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524625" y="4343400"/>
            <a:ext cx="4867275" cy="952500"/>
          </a:xfrm>
          <a:prstGeom prst="roundRect">
            <a:avLst>
              <a:gd name="adj" fmla="val 120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696075" y="4457700"/>
            <a:ext cx="452437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4FE0B0"/>
                </a:solidFill>
                <a:latin typeface="Microsoft YaHei"/>
                <a:ea typeface="Microsoft YaHei"/>
              </a:rPr>
              <a:t>通道二</a:t>
            </a:r>
            <a:r>
              <a:rPr lang="en-US" sz="1575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75" b="1">
                <a:solidFill>
                  <a:srgbClr val="4FE0B0"/>
                </a:solidFill>
                <a:latin typeface="Microsoft YaHei"/>
                <a:ea typeface="Microsoft YaHei"/>
              </a:rPr>
              <a:t>断网</a:t>
            </a:r>
            <a:r>
              <a:rPr lang="zh-CN" sz="1575">
                <a:solidFill>
                  <a:srgbClr val="E8EEF7"/>
                </a:solidFill>
                <a:latin typeface="Microsoft YaHei"/>
                <a:ea typeface="Microsoft YaHei"/>
              </a:rPr>
              <a:t>　用自带规则引擎，认五类说法，照样听懂。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3257550" y="5429250"/>
            <a:ext cx="5676900" cy="600075"/>
          </a:xfrm>
          <a:prstGeom prst="roundRect">
            <a:avLst>
              <a:gd name="adj" fmla="val 19048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467100" y="5543550"/>
            <a:ext cx="5257800" cy="3714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800">
                <a:solidFill>
                  <a:srgbClr val="E8EEF7"/>
                </a:solidFill>
                <a:latin typeface="Microsoft YaHei"/>
                <a:ea typeface="Microsoft YaHei"/>
              </a:rPr>
              <a:t>联网走云端、断网走本机——</a:t>
            </a:r>
            <a:r>
              <a:rPr lang="zh-CN" sz="1800" b="1">
                <a:solidFill>
                  <a:srgbClr val="4FE0B0"/>
                </a:solidFill>
                <a:latin typeface="Microsoft YaHei"/>
                <a:ea typeface="Microsoft YaHei"/>
              </a:rPr>
              <a:t>两条通道，同一道校验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14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14 / 29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63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4FE0B0', fontWeight: 'bold'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4 · 智能体开发过程&lt;/Text&gt;&#10;        &lt;Text style={{ fontSize: 40, fontWeight: 'bold', color: '#E8EEF7' }}&gt;校验层 · AI 说的先核一遍&lt;/Text&gt;&#10;      &lt;/Box&gt;&#10;      &lt;Text style={{ fontSize: 20, fontFamily: 'Consolas', color: '#E8EEF7', opacity: 0.35 }}&gt;15&lt;/Text&gt;&#10;    &lt;/Box&gt;&#10;    &lt;Box style={{ height: 470, flexDirection: 'column', gap: 14, alignItems: 'center', justifyContent: 'center' }}&gt;&#10;      &lt;Box style={{ width: 1112, flexDirection: 'column' }}&gt;&#10;        &lt;Box style={{ height: 56, flexDirection: 'row', alignItems: 'center', padding: '0 20px', background: 'rgba(79,224,176,0.12)', borderRadius: '10px 10px 0 0' }}&gt;&#10;          &lt;Text style={{ fontSize: 28, fontWeight: 'bold', color: '#E8EEF7', width: 220 }}&gt;检查项&lt;/Text&gt;&#10;          &lt;Text style={{ fontSize: 28, fontWeight: 'bold', color: '#E8EEF7', flex: 1 }}&gt;规则&lt;/Text&gt;&#10;        &lt;/Box&gt;&#10;          &lt;Box style={{ height: 56, flexDirection: 'row', alignItems: 'center', padding: '0 20px', background: '#1B2740', borderBottom: '1px solid rgba(232,238,247,0.10)' }}&gt;&#10;            &lt;Text style={{ fontSize: 27, color: '#E8EEF7', width: 220 }}&gt;类型&lt;/Text&gt;&#10;            &lt;Text style={{ fontSize: 27, color: '#E8EEF7', opacity: 0.8, flex: 1 }}&gt;只收 rest / notify 等白名单&lt;/Text&gt;&#10;          &lt;/Box&gt;&#10;          &lt;Box style={{ height: 56, flexDirection: 'row', alignItems: 'center', padding: '0 20px', background: '#1B2740', borderBottom: '1px solid rgba(232,238,247,0.10)' }}&gt;&#10;            &lt;Text style={{ fontSize: 27, color: '#E8EEF7', width: 220 }}&gt;时间&lt;/Text&gt;&#10;            &lt;Text style={{ fontSize: 27, color: '#E8EEF7', opacity: 0.8, flex: 1 }}&gt;必须能解析为具体时刻&lt;/Text&gt;&#10;          &lt;/Box&gt;&#10;          &lt;Box style={{ height: 56, flexDirection: 'row', alignItems: 'center', padding: '0 20px', background: '#1B2740', borderBottom: '1px solid rgba(232,238,247,0.10)' }}&gt;&#10;            &lt;Text style={{ fontSize: 27, color: '#E8EEF7', width: 220 }}&gt;重复&lt;/Text&gt;&#10;            &lt;Text style={{ fontSize: 27, color: '#E8EEF7', opacity: 0.8, flex: 1 }}&gt;限定在枚举值内&lt;/Text&gt;&#10;          &lt;/Box&gt;&#10;          &lt;Box style={{ height: 56, flexDirection: 'row', alignItems: 'center', padding: '0 20px', background: '#1B2740', borderBottom: '1px solid rgba(232,238,247,0.10)' }}&gt;&#10;            &lt;Text style={{ fontSize: 27, color: '#E8EEF7', width: 220 }}&gt;系统操作&lt;/Text&gt;&#10;            &lt;Text style={{ fontSize: 27, color: '#E8EEF7', opacity: 0.8, flex: 1 }}&gt;锁屏 / 关机走白名单&lt;/Text&gt;&#10;          &lt;/Box&gt;&#10;          &lt;Box style={{ height: 56, flexDirection: 'row', alignItems: 'center', padding: '0 20px', background: '#1B2740', borderBottom: '1px solid rgba(232,238,247,0.10)' }}&gt;&#10;            &lt;Text style={{ fontSize: 27, color: '#E8EEF7', width: 220 }}&gt;越界&lt;/Text&gt;&#10;            &lt;Text style={{ fontSize: 27, color: '#E8EEF7', opacity: 0.8, flex: 1 }}&gt;一律丢弃，不写进列表&lt;/Text&gt;&#10;          &lt;/Box&gt;&#10;      &lt;/Box&gt;&#10;      &lt;Box style={{ background: 'rgba(79,224,176,0.10)', border: '1px solid rgba(79,224,176,0.4)', borderRadius: 12, padding: '16px 24px'}}&gt;&#10;          &lt;Text style={{ fontSize: 27, color: '#E8EEF7', lineHeight: 1.45 }}&gt;AI 说的先核一遍：&lt;span style={{ color: '#4FE0B0', fontWeight: 'bold' }}&gt;不合规的进不了你的提醒列表&lt;/span&gt;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5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1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42576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04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智能体开发过程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42576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校验层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AI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说的先核一遍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800100" y="1838325"/>
            <a:ext cx="10591800" cy="533400"/>
          </a:xfrm>
          <a:custGeom>
            <a:pathLst>
              <a:path w="1112" h="56">
                <a:moveTo>
                  <a:pt x="10" y="0"/>
                </a:moveTo>
                <a:lnTo>
                  <a:pt x="1102" y="0"/>
                </a:lnTo>
                <a:cubicBezTo>
                  <a:pt x="1108" y="0"/>
                  <a:pt x="1112" y="4"/>
                  <a:pt x="1112" y="10"/>
                </a:cubicBezTo>
                <a:lnTo>
                  <a:pt x="1112" y="56"/>
                </a:lnTo>
                <a:lnTo>
                  <a:pt x="1112" y="56"/>
                </a:lnTo>
                <a:lnTo>
                  <a:pt x="0" y="56"/>
                </a:lnTo>
                <a:lnTo>
                  <a:pt x="0" y="56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990600" y="1943100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检查项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086100" y="1943100"/>
            <a:ext cx="81153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规则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800100" y="2371725"/>
            <a:ext cx="10591800" cy="523875"/>
          </a:xfrm>
          <a:prstGeom prst="rect">
            <a:avLst/>
          </a:prstGeom>
          <a:solidFill>
            <a:srgbClr val="1B2740"/>
          </a:solidFill>
          <a:ln/>
        </p:spPr>
        <p:txBody>
          <a:bodyPr/>
          <a:p/>
        </p:txBody>
      </p:sp>
      <p:sp>
        <p:nvSpPr>
          <p:cNvPr id="175" name=""/>
          <p:cNvSpPr/>
          <p:nvPr/>
        </p:nvSpPr>
        <p:spPr>
          <a:xfrm rot="0" flipH="0" flipV="0">
            <a:off x="800100" y="2371725"/>
            <a:ext cx="10591800" cy="533400"/>
          </a:xfrm>
          <a:custGeom>
            <a:pathLst>
              <a:path w="1112" h="56">
                <a:moveTo>
                  <a:pt x="0" y="55"/>
                </a:moveTo>
                <a:lnTo>
                  <a:pt x="1112" y="55"/>
                </a:lnTo>
                <a:lnTo>
                  <a:pt x="111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90600" y="2476500"/>
            <a:ext cx="20955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/>
                </a:solidFill>
                <a:latin typeface="Microsoft YaHei"/>
                <a:ea typeface="Microsoft YaHei"/>
              </a:rPr>
              <a:t>类型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800100" y="2905125"/>
            <a:ext cx="10591800" cy="523875"/>
          </a:xfrm>
          <a:prstGeom prst="rect">
            <a:avLst/>
          </a:prstGeom>
          <a:solidFill>
            <a:srgbClr val="1B2740"/>
          </a:soli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800100" y="2905125"/>
            <a:ext cx="10591800" cy="533400"/>
          </a:xfrm>
          <a:custGeom>
            <a:pathLst>
              <a:path w="1112" h="56">
                <a:moveTo>
                  <a:pt x="0" y="55"/>
                </a:moveTo>
                <a:lnTo>
                  <a:pt x="1112" y="55"/>
                </a:lnTo>
                <a:lnTo>
                  <a:pt x="111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990600" y="3009900"/>
            <a:ext cx="20955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00100" y="3438525"/>
            <a:ext cx="10591800" cy="523875"/>
          </a:xfrm>
          <a:prstGeom prst="rect">
            <a:avLst/>
          </a:prstGeom>
          <a:solidFill>
            <a:srgbClr val="1B2740"/>
          </a:solidFill>
          <a:ln/>
        </p:spPr>
        <p:txBody>
          <a:bodyPr/>
          <a:p/>
        </p:txBody>
      </p:sp>
      <p:sp>
        <p:nvSpPr>
          <p:cNvPr id="181" name=""/>
          <p:cNvSpPr/>
          <p:nvPr/>
        </p:nvSpPr>
        <p:spPr>
          <a:xfrm rot="0" flipH="0" flipV="0">
            <a:off x="800100" y="3438525"/>
            <a:ext cx="10591800" cy="533400"/>
          </a:xfrm>
          <a:custGeom>
            <a:pathLst>
              <a:path w="1112" h="56">
                <a:moveTo>
                  <a:pt x="0" y="55"/>
                </a:moveTo>
                <a:lnTo>
                  <a:pt x="1112" y="55"/>
                </a:lnTo>
                <a:lnTo>
                  <a:pt x="111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90600" y="3543300"/>
            <a:ext cx="20955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/>
                </a:solidFill>
                <a:latin typeface="Microsoft YaHei"/>
                <a:ea typeface="Microsoft YaHei"/>
              </a:rPr>
              <a:t>重复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800100" y="3971925"/>
            <a:ext cx="10591800" cy="523875"/>
          </a:xfrm>
          <a:prstGeom prst="rect">
            <a:avLst/>
          </a:prstGeom>
          <a:solidFill>
            <a:srgbClr val="1B2740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800100" y="3971925"/>
            <a:ext cx="10591800" cy="533400"/>
          </a:xfrm>
          <a:custGeom>
            <a:pathLst>
              <a:path w="1112" h="56">
                <a:moveTo>
                  <a:pt x="0" y="55"/>
                </a:moveTo>
                <a:lnTo>
                  <a:pt x="1112" y="55"/>
                </a:lnTo>
                <a:lnTo>
                  <a:pt x="111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90600" y="4076700"/>
            <a:ext cx="20955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/>
                </a:solidFill>
                <a:latin typeface="Microsoft YaHei"/>
                <a:ea typeface="Microsoft YaHei"/>
              </a:rPr>
              <a:t>系统操作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800100" y="4505325"/>
            <a:ext cx="10591800" cy="523875"/>
          </a:xfrm>
          <a:prstGeom prst="rect">
            <a:avLst/>
          </a:prstGeom>
          <a:solidFill>
            <a:srgbClr val="1B2740"/>
          </a:solidFill>
          <a:ln/>
        </p:spPr>
        <p:txBody>
          <a:bodyPr/>
          <a:p/>
        </p:txBody>
      </p:sp>
      <p:sp>
        <p:nvSpPr>
          <p:cNvPr id="187" name=""/>
          <p:cNvSpPr/>
          <p:nvPr/>
        </p:nvSpPr>
        <p:spPr>
          <a:xfrm rot="0" flipH="0" flipV="0">
            <a:off x="800100" y="4505325"/>
            <a:ext cx="10591800" cy="533400"/>
          </a:xfrm>
          <a:custGeom>
            <a:pathLst>
              <a:path w="1112" h="56">
                <a:moveTo>
                  <a:pt x="0" y="55"/>
                </a:moveTo>
                <a:lnTo>
                  <a:pt x="1112" y="55"/>
                </a:lnTo>
                <a:lnTo>
                  <a:pt x="111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990600" y="4610100"/>
            <a:ext cx="20955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/>
                </a:solidFill>
                <a:latin typeface="Microsoft YaHei"/>
                <a:ea typeface="Microsoft YaHei"/>
              </a:rPr>
              <a:t>越界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3133725" y="5172075"/>
            <a:ext cx="5924550" cy="752475"/>
          </a:xfrm>
          <a:prstGeom prst="roundRect">
            <a:avLst>
              <a:gd name="adj" fmla="val 1519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3362325" y="5324475"/>
            <a:ext cx="5467350" cy="4476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2025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025">
                <a:solidFill>
                  <a:srgbClr val="E8EEF7"/>
                </a:solidFill>
                <a:latin typeface="Microsoft YaHei"/>
                <a:ea typeface="Microsoft YaHei"/>
              </a:rPr>
              <a:t>说的先核一遍：</a:t>
            </a:r>
            <a:r>
              <a:rPr lang="zh-CN" sz="2025" b="1">
                <a:solidFill>
                  <a:srgbClr val="4FE0B0"/>
                </a:solidFill>
                <a:latin typeface="Microsoft YaHei"/>
                <a:ea typeface="Microsoft YaHei"/>
              </a:rPr>
              <a:t>不合规的进不了你的提醒列表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15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086100" y="2476500"/>
            <a:ext cx="81153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只收</a:t>
            </a:r>
            <a:r>
              <a:rPr lang="en-US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rest / notify </a:t>
            </a:r>
            <a:r>
              <a:rPr lang="zh-CN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等白名单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086100" y="3009900"/>
            <a:ext cx="81153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必须能解析为具体时刻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086100" y="3543300"/>
            <a:ext cx="81153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限定在枚举值内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086100" y="4076700"/>
            <a:ext cx="81153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锁屏</a:t>
            </a:r>
            <a:r>
              <a:rPr lang="en-US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关机走白名单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086100" y="4610100"/>
            <a:ext cx="81153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一律丢弃，不写进列表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15 / 29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06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4FE0B0', fontWeight: 'bold'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4 · 智能体开发过程&lt;/Text&gt;&#10;        &lt;Text style={{ fontSize: 40, fontWeight: 'bold', color: '#E8EEF7' }}&gt;调试实录 + 138 项兜底&lt;/Text&gt;&#10;      &lt;/Box&gt;&#10;      &lt;Text style={{ fontSize: 20, fontFamily: 'Consolas', color: '#E8EEF7', opacity: 0.35 }}&gt;16&lt;/Text&gt;&#10;    &lt;/Box&gt;&#10;    &lt;Box style={{ height: 470, flexDirection: 'row', gap: 36, alignItems: 'center' }}&gt;&#10;      &lt;Box style={{ flex: 1, flexDirection: 'column', gap: 14 }}&gt;&#10;        &lt;Box style={{ height: 96, flexDirection: 'row', alignItems: 'center', gap: 18, padding: '0 22px', background: '#1B2740', border: '1px solid rgba(232,238,247,0.12)', borderRadius: 12 }}&gt;&#10;          &lt;Text style={{ fontSize: 38, fontWeight: 'bold', fontFamily: 'Consolas', color: '#4FE0B0' }}&gt;1&lt;/Text&gt;&#10;          &lt;Box style={{ flexDirection: 'column', gap: 4, flex: 1 }}&gt;&#10;            &lt;Text style={{ fontSize: 24, color: '#4FE0B0', letterSpacing: 1 }}&gt;案例&lt;/Text&gt;&#10;            &lt;Text style={{ fontSize: 26, color: '#E8EEF7', opacity: 0.85, lineHeight: 1.4 }}&gt;「三十分钟后锁屏」被理解成次日 09:00&lt;/Text&gt;&#10;          &lt;/Box&gt;&#10;        &lt;/Box&gt;&#10;        &lt;Box style={{ height: 96, flexDirection: 'row', alignItems: 'center', gap: 18, padding: '0 22px', background: '#1B2740', border: '1px solid rgba(232,238,247,0.12)', borderRadius: 12 }}&gt;&#10;          &lt;Text style={{ fontSize: 38, fontWeight: 'bold', fontFamily: 'Consolas', color: '#4FE0B0' }}&gt;2&lt;/Text&gt;&#10;          &lt;Box style={{ flexDirection: 'column', gap: 4, flex: 1 }}&gt;&#10;            &lt;Text style={{ fontSize: 24, color: '#4FE0B0', letterSpacing: 1 }}&gt;根因&lt;/Text&gt;&#10;            &lt;Text style={{ fontSize: 26, color: '#E8EEF7', opacity: 0.85, lineHeight: 1.4 }}&gt;旧代码只认阿拉伯数字，「三十」取不到&lt;/Text&gt;&#10;          &lt;/Box&gt;&#10;        &lt;/Box&gt;&#10;        &lt;Box style={{ height: 96, flexDirection: 'row', alignItems: 'center', gap: 18, padding: '0 22px', background: '#1B2740', border: '1px solid rgba(232,238,247,0.12)', borderRadius: 12 }}&gt;&#10;          &lt;Text style={{ fontSize: 38, fontWeight: 'bold', fontFamily: 'Consolas', color: '#4FE0B0' }}&gt;3&lt;/Text&gt;&#10;          &lt;Box style={{ flexDirection: 'column', gap: 4, flex: 1 }}&gt;&#10;            &lt;Text style={{ fontSize: 24, color: '#4FE0B0', letterSpacing: 1 }}&gt;修法&lt;/Text&gt;&#10;            &lt;Text style={{ fontSize: 26, color: '#E8EEF7', opacity: 0.85, lineHeight: 1.4 }}&gt;按「数量词 + 单位 + 后」扫描，中文数字也能认&lt;/Text&gt;&#10;          &lt;/Box&gt;&#10;        &lt;/Box&gt;&#10;        &lt;Box style={{ height: 96, flexDirection: 'row', alignItems: 'center', gap: 18, padding: '0 22px', background: 'rgba(79,224,176,0.10)', border: '1px solid rgba(79,224,176,0.4)', borderRadius: 12 }}&gt;&#10;          &lt;Text style={{ fontSize: 38, fontWeight: 'bold', fontFamily: 'Consolas', color: '#4FE0B0' }}&gt;4&lt;/Text&gt;&#10;          &lt;Box style={{ flexDirection: 'column', gap: 4, flex: 1 }}&gt;&#10;            &lt;Text style={{ fontSize: 24, color: '#4FE0B0', letterSpacing: 1 }}&gt;兜底&lt;/Text&gt;&#10;            &lt;Text style={{ fontSize: 26, color: '#E8EEF7', opacity: 0.85, lineHeight: 1.4 }}&gt;每次改动自动跑 &lt;span&gt;138 项&lt;/span&gt;测试，全绿才算完成&lt;/Text&gt;&#10;          &lt;/Box&gt;&#10;        &lt;/Box&gt;&#10;      &lt;/Box&gt;&#10;      &lt;Box style={{ width: 440, flexDirection: 'column', gap: 16 }}&gt;&#10;        &lt;Box style={{ height: 212, flexDirection: 'column', justifyContent: 'center', alignItems: 'center', gap: 10, background: 'rgba(79,224,176,0.06)', border: '2px dashed rgba(79,224,176,0.45)', borderRadius: 12, padding: '0 20px' }}&gt;&#10;        &lt;Text style={{ fontSize: 22, fontFamily: 'Consolas', color: '#4FE0B0', letterSpacing: 1 }}&gt;截图 ⑲&lt;/Text&gt;&#10;        &lt;Text style={{ fontSize: 28, fontWeight: 'bold', color: '#E8EEF7', textAlign: 'center' }}&gt;修复前后对比&lt;/Text&gt;&#10;        &lt;Text style={{ fontSize: 22, color: '#E8EEF7', opacity: 0.55, textAlign: 'center', lineHeight: 1.6 }}&gt;建议画面：「次日 09:00」与&lt;br /&gt;「30 分钟后」并列&lt;/Text&gt;&#10;      &lt;/Box&gt;&#10;        &lt;Box style={{ height: 212, flexDirection: 'column', justifyContent: 'center', alignItems: 'center', gap: 10, background: 'rgba(79,224,176,0.06)', border: '2px dashed rgba(79,224,176,0.45)', borderRadius: 12, padding: '0 20px' }}&gt;&#10;        &lt;Text style={{ fontSize: 22, fontFamily: 'Consolas', color: '#4FE0B0', letterSpacing: 1 }}&gt;截图 ⑱&lt;/Text&gt;&#10;        &lt;Text style={{ fontSize: 28, fontWeight: 'bold', color: '#E8EEF7', textAlign: 'center' }}&gt;测试通过截图&lt;/Text&gt;&#10;        &lt;Text style={{ fontSize: 22, color: '#E8EEF7', opacity: 0.55, textAlign: 'center', lineHeight: 1.6 }}&gt;建议画面：pnpm test / cargo test&lt;br /&gt;全绿结果或 CI 页面&lt;/Text&gt;&#10;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6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2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04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智能体开发过程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8481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调试实录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+ 138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项兜底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609600" y="1847850"/>
            <a:ext cx="6438900" cy="914400"/>
          </a:xfrm>
          <a:prstGeom prst="roundRect">
            <a:avLst>
              <a:gd name="adj" fmla="val 125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19150" y="2085975"/>
            <a:ext cx="2095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4FE0B0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200150" y="1943100"/>
            <a:ext cx="563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4FE0B0"/>
                </a:solidFill>
                <a:latin typeface="Microsoft YaHei"/>
                <a:ea typeface="Microsoft YaHei"/>
              </a:rPr>
              <a:t>案例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609600" y="2895600"/>
            <a:ext cx="6438900" cy="914400"/>
          </a:xfrm>
          <a:prstGeom prst="roundRect">
            <a:avLst>
              <a:gd name="adj" fmla="val 125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19150" y="3133725"/>
            <a:ext cx="2095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4FE0B0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200150" y="2990850"/>
            <a:ext cx="563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4FE0B0"/>
                </a:solidFill>
                <a:latin typeface="Microsoft YaHei"/>
                <a:ea typeface="Microsoft YaHei"/>
              </a:rPr>
              <a:t>根因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609600" y="3943350"/>
            <a:ext cx="6438900" cy="914400"/>
          </a:xfrm>
          <a:prstGeom prst="roundRect">
            <a:avLst>
              <a:gd name="adj" fmla="val 125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19150" y="4181475"/>
            <a:ext cx="2095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4FE0B0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200150" y="4038600"/>
            <a:ext cx="563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4FE0B0"/>
                </a:solidFill>
                <a:latin typeface="Microsoft YaHei"/>
                <a:ea typeface="Microsoft YaHei"/>
              </a:rPr>
              <a:t>修法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09600" y="4991100"/>
            <a:ext cx="6438900" cy="914400"/>
          </a:xfrm>
          <a:prstGeom prst="roundRect">
            <a:avLst>
              <a:gd name="adj" fmla="val 1250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819150" y="5229225"/>
            <a:ext cx="2095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4FE0B0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1200150" y="5086350"/>
            <a:ext cx="563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4FE0B0"/>
                </a:solidFill>
                <a:latin typeface="Microsoft YaHei"/>
                <a:ea typeface="Microsoft YaHei"/>
              </a:rPr>
              <a:t>兜底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7391400" y="1781175"/>
            <a:ext cx="4191000" cy="2019300"/>
          </a:xfrm>
          <a:prstGeom prst="roundRect">
            <a:avLst>
              <a:gd name="adj" fmla="val 5660"/>
            </a:avLst>
          </a:prstGeom>
          <a:solidFill>
            <a:srgbClr val="4FE0B0">
              <a:alpha val="6000"/>
            </a:srgbClr>
          </a:solidFill>
          <a:ln w="25400">
            <a:solidFill>
              <a:srgbClr val="4FE0B0">
                <a:alpha val="4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124950" y="20002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⑲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8686800" y="2352675"/>
            <a:ext cx="16002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修复前后对比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7391400" y="3952875"/>
            <a:ext cx="4191000" cy="2019300"/>
          </a:xfrm>
          <a:prstGeom prst="roundRect">
            <a:avLst>
              <a:gd name="adj" fmla="val 5660"/>
            </a:avLst>
          </a:prstGeom>
          <a:solidFill>
            <a:srgbClr val="4FE0B0">
              <a:alpha val="6000"/>
            </a:srgbClr>
          </a:solidFill>
          <a:ln w="25400">
            <a:solidFill>
              <a:srgbClr val="4FE0B0">
                <a:alpha val="4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124950" y="4171950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⑱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686800" y="4524375"/>
            <a:ext cx="16002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测试通过截图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16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200150" y="2257425"/>
            <a:ext cx="5638800" cy="4191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「三十分钟后锁屏」被理解成次日</a:t>
            </a:r>
            <a:r>
              <a:rPr lang="en-US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09:00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200150" y="3305175"/>
            <a:ext cx="5638800" cy="4191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旧代码只认阿拉伯数字，「三十」取不到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1200150" y="4352925"/>
            <a:ext cx="5638800" cy="4191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按「数量词</a:t>
            </a:r>
            <a:r>
              <a:rPr lang="en-US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单位</a:t>
            </a:r>
            <a:r>
              <a:rPr lang="en-US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后」扫描，中文数字也能认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200150" y="5400675"/>
            <a:ext cx="5638800" cy="4191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每次改动自动跑</a:t>
            </a:r>
            <a:r>
              <a:rPr lang="en-US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项</a:t>
            </a:r>
            <a:r>
              <a:rPr lang="zh-CN" sz="19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测试，全绿才算完成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143875" y="2771775"/>
            <a:ext cx="26860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建议画面：「次日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」与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「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30 </a:t>
            </a: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分钟后」并列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953375" y="4943475"/>
            <a:ext cx="3067050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建议画面：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pnpm test / cargo test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全绿结果或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CI </a:t>
            </a: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页面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16 / 29</a:t>
            </a:r>
            <a:endParaRPr/>
          </a:p>
        </p:txBody>
      </p:sp>
    </p:spTree>
  </p:cSld>
</p:sld>
</file>

<file path=ppt/slides/slide17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48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4FE0B0', fontWeight: 'bold'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5 · 实施计划&lt;/Text&gt;&#10;        &lt;Text style={{ fontSize: 40, fontWeight: 'bold', color: '#E8EEF7' }}&gt;实施计划总览&lt;/Text&gt;&#10;      &lt;/Box&gt;&#10;      &lt;Text style={{ fontSize: 20, fontFamily: 'Consolas', color: '#E8EEF7', opacity: 0.35 }}&gt;17&lt;/Text&gt;&#10;    &lt;/Box&gt;&#10;    &lt;Box style={{ height: 470, flexDirection: 'column', justifyContent: 'center', gap: 28 }}&gt;&#10;      &lt;Box style={{ height: 4, width: 1112, background: 'rgba(79,224,176,0.3)', borderRadius: 2 }} /&gt;&#10;      &lt;Box style={{ flexDirection: 'row', gap: 18, alignItems: 'flex-start' }}&gt;&#10;        &lt;Box style={{ flex: 1, flexDirection: 'column', alignItems: 'center', gap: 12 }}&gt;&#10;          &lt;Box style={{ width: 56, height: 56, borderRadius: 28, backgroundColor: '#4FE0B0', justifyContent: 'center', alignItems: 'center' }}&gt;&lt;Text style={{ fontSize: 28, fontWeight: 'bold', color: '#0B1220', fontFamily: 'Consolas' }}&gt;1&lt;/Text&gt;&lt;/Box&gt;&#10;          &lt;Text style={{ fontSize: 30, fontWeight: 'bold', color: '#E8EEF7' }}&gt;需求分析&lt;/Text&gt;&#10;          &lt;Text style={{ fontSize: 26, color: '#4FE0B0' }}&gt;第 1 步&lt;/Text&gt;&#10;          &lt;Text style={{ fontSize: 22, color: '#E8EEF7', opacity: 0.7 }}&gt;用户痛点与场景调研&lt;/Text&gt;&#10;        &lt;/Box&gt;&#10;        &lt;Box style={{ flex: 1, flexDirection: 'column', alignItems: 'center', gap: 12 }}&gt;&#10;          &lt;Box style={{ width: 56, height: 56, borderRadius: 28, backgroundColor: '#4FE0B0', justifyContent: 'center', alignItems: 'center' }}&gt;&lt;Text style={{ fontSize: 28, fontWeight: 'bold', color: '#0B1220', fontFamily: 'Consolas' }}&gt;2&lt;/Text&gt;&lt;/Box&gt;&#10;          &lt;Text style={{ fontSize: 30, fontWeight: 'bold', color: '#E8EEF7' }}&gt;原型设计&lt;/Text&gt;&#10;          &lt;Text style={{ fontSize: 26, color: '#4FE0B0' }}&gt;第 2 步&lt;/Text&gt;&#10;          &lt;Text style={{ fontSize: 22, color: '#E8EEF7', opacity: 0.7 }}&gt;信息架构与交互稿&lt;/Text&gt;&#10;        &lt;/Box&gt;&#10;        &lt;Box style={{ flex: 1, flexDirection: 'column', alignItems: 'center', gap: 12 }}&gt;&#10;          &lt;Box style={{ width: 56, height: 56, borderRadius: 28, backgroundColor: '#4FE0B0', justifyContent: 'center', alignItems: 'center' }}&gt;&lt;Text style={{ fontSize: 28, fontWeight: 'bold', color: '#0B1220', fontFamily: 'Consolas' }}&gt;3&lt;/Text&gt;&lt;/Box&gt;&#10;          &lt;Text style={{ fontSize: 30, fontWeight: 'bold', color: '#E8EEF7' }}&gt;工程实现&lt;/Text&gt;&#10;          &lt;Text style={{ fontSize: 26, color: '#4FE0B0' }}&gt;第 3 步&lt;/Text&gt;&#10;          &lt;Text style={{ fontSize: 22, color: '#E8EEF7', opacity: 0.7 }}&gt;双平台 + 智能体&lt;/Text&gt;&#10;        &lt;/Box&gt;&#10;        &lt;Box style={{ flex: 1, flexDirection: 'column', alignItems: 'center', gap: 12 }}&gt;&#10;          &lt;Box style={{ width: 56, height: 56, borderRadius: 28, backgroundColor: '#4FE0B0', justifyContent: 'center', alignItems: 'center' }}&gt;&lt;Text style={{ fontSize: 28, fontWeight: 'bold', color: '#0B1220', fontFamily: 'Consolas' }}&gt;4&lt;/Text&gt;&lt;/Box&gt;&#10;          &lt;Text style={{ fontSize: 30, fontWeight: 'bold', color: '#E8EEF7' }}&gt;测试验证&lt;/Text&gt;&#10;          &lt;Text style={{ fontSize: 26, color: '#4FE0B0' }}&gt;第 4 步&lt;/Text&gt;&#10;          &lt;Text style={{ fontSize: 22, color: '#E8EEF7', opacity: 0.7 }}&gt;138 项自动化测试&lt;/Text&gt;&#10;        &lt;/Box&gt;&#10;        &lt;Box style={{ flex: 1, flexDirection: 'column', alignItems: 'center', gap: 12 }}&gt;&#10;          &lt;Box style={{ width: 56, height: 56, borderRadius: 28, backgroundColor: 'rgba(79,224,176,0.3)', border: '1px solid #4FE0B0', justifyContent: 'center', alignItems: 'center' }}&gt;&lt;Text style={{ fontSize: 28, fontWeight: 'bold', color: '#4FE0B0', fontFamily: 'Consolas' }}&gt;5&lt;/Text&gt;&lt;/Box&gt;&#10;          &lt;Text style={{ fontSize: 30, fontWeight: 'bold', color: '#E8EEF7' }}&gt;发布上线&lt;/Text&gt;&#10;          &lt;Text style={{ fontSize: 26, color: '#4FE0B0' }}&gt;第 5 步&lt;/Text&gt;&#10;          &lt;Text style={{ fontSize: 22, color: '#E8EEF7', opacity: 0.7 }}&gt;官网 + 安装包交付&lt;/Text&gt;&#10;        &lt;/Box&gt;&#10;      &lt;/Box&gt;&#10;      &lt;Box style={{ background: 'rgba(79,224,176,0.10)', border: '1px solid rgba(79,224,176,0.4)', borderRadius: 12, padding: '16px 24px'}}&gt;&#10;          &lt;Text style={{ fontSize: 27, color: '#E8EEF7', lineHeight: 1.45 }}&gt;软件开发的完整过程——&lt;span style={{ color: '#4FE0B0', fontWeight: 'bold' }}&gt;需求、设计、实现、测试、发布，一步不落&lt;/span&gt;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7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2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2286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05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实施计划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2286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实施计划总览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09600" y="2324100"/>
            <a:ext cx="10591800" cy="38100"/>
          </a:xfrm>
          <a:prstGeom prst="roundRect">
            <a:avLst>
              <a:gd name="adj" fmla="val 50000"/>
            </a:avLst>
          </a:prstGeom>
          <a:solidFill>
            <a:srgbClr val="4FE0B0">
              <a:alpha val="30000"/>
            </a:srgbClr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1371600" y="2628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562100" y="27336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B1220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066800" y="3276600"/>
            <a:ext cx="1143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需求分析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257300" y="3733800"/>
            <a:ext cx="771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第</a:t>
            </a:r>
            <a:r>
              <a:rPr lang="en-US" sz="1950">
                <a:solidFill>
                  <a:srgbClr val="4FE0B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3600450" y="2628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790950" y="27336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B1220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3295650" y="3276600"/>
            <a:ext cx="1143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原型设计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486150" y="3733800"/>
            <a:ext cx="771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第</a:t>
            </a:r>
            <a:r>
              <a:rPr lang="en-US" sz="1950">
                <a:solidFill>
                  <a:srgbClr val="4FE0B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5829300" y="2628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019800" y="27336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B1220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5524500" y="3276600"/>
            <a:ext cx="1143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工程实现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5715000" y="3733800"/>
            <a:ext cx="771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第</a:t>
            </a:r>
            <a:r>
              <a:rPr lang="en-US" sz="1950">
                <a:solidFill>
                  <a:srgbClr val="4FE0B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8058150" y="2628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248650" y="27336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B1220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753350" y="3276600"/>
            <a:ext cx="1143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测试验证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943850" y="3733800"/>
            <a:ext cx="771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第</a:t>
            </a:r>
            <a:r>
              <a:rPr lang="en-US" sz="1950">
                <a:solidFill>
                  <a:srgbClr val="4FE0B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10287000" y="2628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>
              <a:alpha val="30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477500" y="27336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4FE0B0"/>
                </a:solidFill>
                <a:latin typeface="Consolas"/>
                <a:ea typeface="Consolas"/>
              </a:rPr>
              <a:t>5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9982200" y="3276600"/>
            <a:ext cx="1143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发布上线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0172700" y="3733800"/>
            <a:ext cx="771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第</a:t>
            </a:r>
            <a:r>
              <a:rPr lang="en-US" sz="1950">
                <a:solidFill>
                  <a:srgbClr val="4FE0B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609600" y="4676775"/>
            <a:ext cx="10972800" cy="752475"/>
          </a:xfrm>
          <a:prstGeom prst="roundRect">
            <a:avLst>
              <a:gd name="adj" fmla="val 1519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38200" y="4829175"/>
            <a:ext cx="10515600" cy="4476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>
                <a:solidFill>
                  <a:srgbClr val="E8EEF7"/>
                </a:solidFill>
                <a:latin typeface="Microsoft YaHei"/>
                <a:ea typeface="Microsoft YaHei"/>
              </a:rPr>
              <a:t>软件开发的完整过程——</a:t>
            </a:r>
            <a:r>
              <a:rPr lang="zh-CN" sz="2025" b="1">
                <a:solidFill>
                  <a:srgbClr val="4FE0B0"/>
                </a:solidFill>
                <a:latin typeface="Microsoft YaHei"/>
                <a:ea typeface="Microsoft YaHei"/>
              </a:rPr>
              <a:t>需求、设计、实现、测试、发布，一步不落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17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695325" y="4152900"/>
            <a:ext cx="1885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用户痛点与场景调研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028950" y="4152900"/>
            <a:ext cx="1676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信息架构与交互稿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343525" y="4152900"/>
            <a:ext cx="1504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双平台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智能体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7496175" y="4152900"/>
            <a:ext cx="1666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项自动化测试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9696450" y="4152900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官网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安装包交付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17 / 29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94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4FE0B0', fontWeight: 'bold'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5 · 实施计划&lt;/Text&gt;&#10;        &lt;Text style={{ fontSize: 40, fontWeight: 'bold', color: '#E8EEF7' }}&gt;阶段一 · 开发内测&lt;/Text&gt;&#10;      &lt;/Box&gt;&#10;      &lt;Text style={{ fontSize: 20, fontFamily: 'Consolas', color: '#E8EEF7', opacity: 0.35 }}&gt;18&lt;/Text&gt;&#10;    &lt;/Box&gt;&#10;    &lt;Box style={{ height: 470, flexDirection: 'row', gap: 28, alignItems: 'stretch' }}&gt;&#10;      &lt;Box style={{ flex: 1, flexDirection: 'column', gap: 14 }}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双平台工程实现（Tauri 2 + Vue 3 + Rust）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智能体双通道打通：云端大模型 + 本机规则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138 项自动化测试全绿（77 前端 + 61 Rust）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休息弹窗 / 自启动 / 开机运行逐项验证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小范围内测可用，版本 V1.0.0 定稿&lt;/Text&gt;&#10;        &lt;/Box&gt;&#10;      &lt;/Box&gt;&#10;      &lt;Box style={{ width: 340, height: 446, background: 'rgba(79,224,176,0.10)', border: '1px solid rgba(79,224,176,0.4)', borderRadius: 12, padding: '40px 30px'}}&gt;&#10;          &lt;Text style={{ fontSize: 52, fontWeight: 'bold', color: '#4FE0B0' }}&gt;已完成&lt;/Text&gt;&#10;          &lt;Text style={{ fontSize: 26, color: '#E8EEF7', opacity: 0.8, lineHeight: 1.55 }}&gt;阶段一目标全部达成，进入发布与参赛阶段。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8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96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2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009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05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实施计划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009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阶段一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开发内测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609600" y="16383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38200" y="16383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09600" y="25146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38200" y="25146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609600" y="33909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38200" y="33909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609600" y="42672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38200" y="42672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609600" y="51435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38200" y="51435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8343900" y="1638300"/>
            <a:ext cx="3238500" cy="4248150"/>
          </a:xfrm>
          <a:prstGeom prst="roundRect">
            <a:avLst>
              <a:gd name="adj" fmla="val 3529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629650" y="2019300"/>
            <a:ext cx="26670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4FE0B0"/>
                </a:solidFill>
                <a:latin typeface="Microsoft YaHei"/>
                <a:ea typeface="Microsoft YaHei"/>
              </a:rPr>
              <a:t>已完成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18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838200" y="19812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双平台工程实现（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Tauri 2 + Vue 3 + Rust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838200" y="28575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智能体双通道打通：云端大模型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本机规则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838200" y="37338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项自动化测试全绿（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77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前端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+ 61 Rust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838200" y="46101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休息弹窗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自启动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开机运行逐项验证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38200" y="54864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小范围内测可用，版本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V1.0.0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定稿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8629650" y="2619375"/>
            <a:ext cx="26670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9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阶段一目标全部达成，进入发布与参赛阶段。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18 / 29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330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4FE0B0', fontWeight: 'bold'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5 · 实施计划&lt;/Text&gt;&#10;        &lt;Text style={{ fontSize: 40, fontWeight: 'bold', color: '#E8EEF7' }}&gt;阶段二 · 发布参赛&lt;/Text&gt;&#10;      &lt;/Box&gt;&#10;      &lt;Text style={{ fontSize: 20, fontFamily: 'Consolas', color: '#E8EEF7', opacity: 0.35 }}&gt;19&lt;/Text&gt;&#10;    &lt;/Box&gt;&#10;    &lt;Box style={{ height: 470, flexDirection: 'row', gap: 28, alignItems: 'stretch' }}&gt;&#10;      &lt;Box style={{ flex: 1, flexDirection: 'column', gap: 14 }}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官网上线，提供下载与介绍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CI 自动打包：Windows 便携 exe + macOS dmg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参赛材料成体系：计划书 / 说明 / 测试报告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路演演示与答辩准备&lt;/Text&gt;&#10;        &lt;/Box&gt;&#10;        &lt;Box style={{ height: 78, background: '#1B2740', border: '1px solid rgba(232,238,247,0.12)', borderRadius: 12, padding: '0 24px'}}&gt;&#10;          &lt;Text style={{ fontSize: 30, fontWeight: 'bold', color: '#4FE0B0' }}&gt;✓&lt;/Text&gt;&#10;          &lt;Text style={{ fontSize: 27, color: '#E8EEF7', opacity: 0.85, flex: 1 }}&gt;收集内测反馈，滚动修正&lt;/Text&gt;&#10;        &lt;/Box&gt;&#10;      &lt;/Box&gt;&#10;      &lt;Box style={{ width: 340, height: 446, background: 'rgba(79,224,176,0.10)', border: '1px solid rgba(79,224,176,0.4)', borderRadius: 12, padding: '40px 30px'}}&gt;&#10;          &lt;Text style={{ fontSize: 52, fontWeight: 'bold', color: '#4FE0B0' }}&gt;进行中&lt;/Text&gt;&#10;          &lt;Text style={{ fontSize: 26, color: '#E8EEF7', opacity: 0.8, lineHeight: 1.55 }}&gt;按实施计划推进中，各节点可控。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19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3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009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05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实施计划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009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阶段二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发布参赛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09600" y="16383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838200" y="16383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609600" y="25146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38200" y="25146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09600" y="33909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38200" y="33909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09600" y="42672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838200" y="42672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09600" y="5143500"/>
            <a:ext cx="7467600" cy="742950"/>
          </a:xfrm>
          <a:prstGeom prst="roundRect">
            <a:avLst>
              <a:gd name="adj" fmla="val 1538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38200" y="5143500"/>
            <a:ext cx="701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343900" y="1638300"/>
            <a:ext cx="3238500" cy="4248150"/>
          </a:xfrm>
          <a:prstGeom prst="roundRect">
            <a:avLst>
              <a:gd name="adj" fmla="val 3529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8629650" y="2019300"/>
            <a:ext cx="26670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4FE0B0"/>
                </a:solidFill>
                <a:latin typeface="Microsoft YaHei"/>
                <a:ea typeface="Microsoft YaHei"/>
              </a:rPr>
              <a:t>进行中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19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8200" y="19812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官网上线，提供下载与介绍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38200" y="28575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CI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自动打包：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便携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exe + macOS dmg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38200" y="37338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参赛材料成体系：计划书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说明</a:t>
            </a:r>
            <a:r>
              <a:rPr lang="en-US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测试报告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838200" y="46101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路演演示与答辩准备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38200" y="5486400"/>
            <a:ext cx="7010400" cy="400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收集内测反馈，滚动修正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629650" y="2619375"/>
            <a:ext cx="26670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9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按实施计划推进中，各节点可控。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19 / 29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404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4FE0B0', fontWeight: 'bold'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5 · 实施计划&lt;/Text&gt;&#10;        &lt;Text style={{ fontSize: 40, fontWeight: 'bold', color: '#E8EEF7' }}&gt;质量保障怎么落地&lt;/Text&gt;&#10;      &lt;/Box&gt;&#10;      &lt;Text style={{ fontSize: 20, fontFamily: 'Consolas', color: '#E8EEF7', opacity: 0.35 }}&gt;20&lt;/Text&gt;&#10;    &lt;/Box&gt;&#10;    &lt;Box style={{ height: 470, flexDirection: 'row', gap: 18, alignItems: 'stretch' }}&gt;&#10;      &lt;Box style={{ background: '#1B2740', border: '1px solid rgba(232,238,247,0.12)', borderRadius: 12, padding: '36px 24px'}}&gt;&#10;          &lt;Box style={{ width: 56, height: 56, borderRadius: 28, backgroundColor: 'rgba(79,224,176,0.12)', justifyContent: 'center', alignItems: 'center' }}&gt;&#10;            &lt;Text style={{ fontSize: 28, fontWeight: 'bold', color: '#4FE0B0', fontFamily: 'Consolas' }}&gt;1&lt;/Text&gt;&#10;          &lt;/Box&gt;&#10;          &lt;Text style={{ fontSize: 30, fontWeight: 'bold', color: '#E8EEF7' }}&gt;自动化测试&lt;/Text&gt;&#10;          &lt;Text style={{ fontSize: 24, color: '#E8EEF7', opacity: 0.75, lineHeight: 1.6 }}&gt;· 138 项覆盖核心逻辑&lt;/Text&gt;&#10;            &lt;Text style={{ fontSize: 24, color: '#E8EEF7', opacity: 0.75, lineHeight: 1.6 }}&gt;· 每次改动自动运行&lt;/Text&gt;&#10;            &lt;Text style={{ fontSize: 24, color: '#E8EEF7', opacity: 0.75, lineHeight: 1.6 }}&gt;· 全绿才继续往下做&lt;/Text&gt;&#10;                    &lt;/Box&gt;&#10;      &lt;Box style={{ background: '#1B2740', border: '1px solid rgba(232,238,247,0.12)', borderRadius: 12, padding: '36px 24px'}}&gt;&#10;          &lt;Box style={{ width: 56, height: 56, borderRadius: 28, backgroundColor: 'rgba(79,224,176,0.12)', justifyContent: 'center', alignItems: 'center' }}&gt;&#10;            &lt;Text style={{ fontSize: 28, fontWeight: 'bold', color: '#4FE0B0', fontFamily: 'Consolas' }}&gt;2&lt;/Text&gt;&#10;          &lt;/Box&gt;&#10;          &lt;Text style={{ fontSize: 30, fontWeight: 'bold', color: '#E8EEF7' }}&gt;双平台 CI&lt;/Text&gt;&#10;          &lt;Text style={{ fontSize: 24, color: '#E8EEF7', opacity: 0.75, lineHeight: 1.6 }}&gt;· 代码一提交即打包&lt;/Text&gt;&#10;            &lt;Text style={{ fontSize: 24, color: '#E8EEF7', opacity: 0.75, lineHeight: 1.6 }}&gt;· Windows + macOS 同测&lt;/Text&gt;&#10;            &lt;Text style={{ fontSize: 24, color: '#E8EEF7', opacity: 0.75, lineHeight: 1.6 }}&gt;· 产物直接可安装&lt;/Text&gt;&#10;                    &lt;/Box&gt;&#10;      &lt;Box style={{ background: '#1B2740', border: '1px solid rgba(232,238,247,0.12)', borderRadius: 12, padding: '36px 24px'}}&gt;&#10;          &lt;Box style={{ width: 56, height: 56, borderRadius: 28, backgroundColor: 'rgba(79,224,176,0.12)', justifyContent: 'center', alignItems: 'center' }}&gt;&#10;            &lt;Text style={{ fontSize: 28, fontWeight: 'bold', color: '#4FE0B0', fontFamily: 'Consolas' }}&gt;3&lt;/Text&gt;&#10;          &lt;/Box&gt;&#10;          &lt;Text style={{ fontSize: 30, fontWeight: 'bold', color: '#E8EEF7' }}&gt;真机验证&lt;/Text&gt;&#10;          &lt;Text style={{ fontSize: 24, color: '#E8EEF7', opacity: 0.75, lineHeight: 1.6 }}&gt;· 两套系统分别实装&lt;/Text&gt;&#10;            &lt;Text style={{ fontSize: 24, color: '#E8EEF7', opacity: 0.75, lineHeight: 1.6 }}&gt;· 提醒 / 弹窗 / 自启动&lt;/Text&gt;&#10;            &lt;Text style={{ fontSize: 24, color: '#E8EEF7', opacity: 0.75, lineHeight: 1.6 }}&gt;· 按清单逐项过&lt;/Text&gt;&#10;            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0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06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4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05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实施计划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048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质量保障怎么落地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609600" y="1638300"/>
            <a:ext cx="2647950" cy="4476750"/>
          </a:xfrm>
          <a:prstGeom prst="roundRect">
            <a:avLst>
              <a:gd name="adj" fmla="val 4317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3" name=""/>
          <p:cNvSpPr/>
          <p:nvPr/>
        </p:nvSpPr>
        <p:spPr>
          <a:xfrm rot="0" flipH="0" flipV="0">
            <a:off x="838200" y="19812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028700" y="20859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4FE0B0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38200" y="2514600"/>
            <a:ext cx="2190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自动化测试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3429000" y="1638300"/>
            <a:ext cx="3076575" cy="4476750"/>
          </a:xfrm>
          <a:prstGeom prst="roundRect">
            <a:avLst>
              <a:gd name="adj" fmla="val 3715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7" name=""/>
          <p:cNvSpPr/>
          <p:nvPr/>
        </p:nvSpPr>
        <p:spPr>
          <a:xfrm rot="0" flipH="0" flipV="0">
            <a:off x="3657600" y="19812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48100" y="20859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4FE0B0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657600" y="2514600"/>
            <a:ext cx="2619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双平台</a:t>
            </a:r>
            <a:r>
              <a:rPr lang="en-US" sz="22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CI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6677025" y="1638300"/>
            <a:ext cx="2581275" cy="4476750"/>
          </a:xfrm>
          <a:prstGeom prst="roundRect">
            <a:avLst>
              <a:gd name="adj" fmla="val 4428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1" name=""/>
          <p:cNvSpPr/>
          <p:nvPr/>
        </p:nvSpPr>
        <p:spPr>
          <a:xfrm rot="0" flipH="0" flipV="0">
            <a:off x="6905625" y="19812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7096125" y="2085975"/>
            <a:ext cx="15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4FE0B0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6905625" y="2514600"/>
            <a:ext cx="21240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真机验证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20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838200" y="2857500"/>
            <a:ext cx="219075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138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项覆盖核心逻辑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838200" y="3305175"/>
            <a:ext cx="219075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每次改动自动运行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838200" y="3752850"/>
            <a:ext cx="219075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全绿才继续往下做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3657600" y="2857500"/>
            <a:ext cx="2619375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代码一提交即打包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657600" y="3305175"/>
            <a:ext cx="2619375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Windows + macOS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同测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3657600" y="3752850"/>
            <a:ext cx="2619375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产物直接可安装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905625" y="2857500"/>
            <a:ext cx="2124075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两套系统分别实装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905625" y="3305175"/>
            <a:ext cx="2124075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提醒</a:t>
            </a: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弹窗</a:t>
            </a: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自启动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6905625" y="3752850"/>
            <a:ext cx="2124075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按清单逐项过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20 / 29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443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4FE0B0', fontWeight: 'bold'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5 · 实施计划&lt;/Text&gt;&#10;        &lt;Text style={{ fontSize: 40, fontWeight: 'bold', color: '#E8EEF7' }}&gt;风险与应对&lt;/Text&gt;&#10;      &lt;/Box&gt;&#10;      &lt;Text style={{ fontSize: 20, fontFamily: 'Consolas', color: '#E8EEF7', opacity: 0.35 }}&gt;21&lt;/Text&gt;&#10;    &lt;/Box&gt;&#10;    &lt;Box style={{ height: 470, flexDirection: 'column', gap: 16, justifyContent: 'center' }}&gt;&#10;      &lt;Box style={{ height: 120, background: '#1B2740', border: '1px solid rgba(232,238,247,0.12)', borderRadius: 12, padding: '16px 24px'}}&gt;&#10;        &lt;Box style={{ flexDirection: 'column', gap: 8 }}&gt;&#10;          &lt;Box style={{ flexDirection: 'row', alignItems: 'baseline', gap: 12 }}&gt;&#10;            &lt;Text style={{ fontSize: 28, fontWeight: 'bold', color: '#E8EEF7' }}&gt;安装包构建偶发失败&lt;/Text&gt;&#10;            &lt;Text style={{ fontSize: 20, color: '#E8EEF7', opacity: 0.55 }}&gt;Windows 打包链路长，偶发中断&lt;/Text&gt;&#10;          &lt;/Box&gt;&#10;          &lt;Box style={{ flexDirection: 'row', alignItems: 'center', gap: 12 }}&gt;&#10;            &lt;Text style={{ fontSize: 30, color: '#4FE0B0', fontWeight: 'bold' }}&gt;→&lt;/Text&gt;&#10;            &lt;Text style={{ fontSize: 24, color: '#E8EEF7', opacity: 0.85, lineHeight: 1.4 }}&gt;自动重试 + 便携包兜底，双保险&lt;/Text&gt;&#10;          &lt;/Box&gt;&#10;        &lt;/Box&gt;&#10;      &lt;/Box&gt;&#10;      &lt;Box style={{ height: 120, background: '#1B2740', border: '1px solid rgba(232,238,247,0.12)', borderRadius: 12, padding: '16px 24px'}}&gt;&#10;        &lt;Box style={{ flexDirection: 'column', gap: 8 }}&gt;&#10;          &lt;Box style={{ flexDirection: 'row', alignItems: 'baseline', gap: 12 }}&gt;&#10;            &lt;Text style={{ fontSize: 28, fontWeight: 'bold', color: '#E8EEF7' }}&gt;单人开发节奏&lt;/Text&gt;&#10;            &lt;Text style={{ fontSize: 20, color: '#E8EEF7', opacity: 0.55 }}&gt;一个人精力与时间有限&lt;/Text&gt;&#10;          &lt;/Box&gt;&#10;          &lt;Box style={{ flexDirection: 'row', alignItems: 'center', gap: 12 }}&gt;&#10;            &lt;Text style={{ fontSize: 30, color: '#4FE0B0', fontWeight: 'bold' }}&gt;→&lt;/Text&gt;&#10;            &lt;Text style={{ fontSize: 24, color: '#E8EEF7', opacity: 0.85, lineHeight: 1.4 }}&gt;人机协同 + 138 项测试兜底&lt;/Text&gt;&#10;          &lt;/Box&gt;&#10;        &lt;/Box&gt;&#10;      &lt;/Box&gt;&#10;      &lt;Box style={{ height: 120, background: '#1B2740', border: '1px solid rgba(232,238,247,0.12)', borderRadius: 12, padding: '16px 24px'}}&gt;&#10;        &lt;Box style={{ flexDirection: 'column', gap: 8 }}&gt;&#10;          &lt;Box style={{ flexDirection: 'row', alignItems: 'baseline', gap: 12 }}&gt;&#10;            &lt;Text style={{ fontSize: 28, fontWeight: 'bold', color: '#E8EEF7' }}&gt;双平台差异&lt;/Text&gt;&#10;            &lt;Text style={{ fontSize: 20, color: '#E8EEF7', opacity: 0.55 }}&gt;两套系统行为不完全一致&lt;/Text&gt;&#10;          &lt;/Box&gt;&#10;          &lt;Box style={{ flexDirection: 'row', alignItems: 'center', gap: 12 }}&gt;&#10;            &lt;Text style={{ fontSize: 30, color: '#4FE0B0', fontWeight: 'bold' }}&gt;→&lt;/Text&gt;&#10;            &lt;Text style={{ fontSize: 24, color: '#E8EEF7', opacity: 0.85, lineHeight: 1.4 }}&gt;双平台 CI 实测 + 真机逐项验证&lt;/Text&gt;&#10;          &lt;/Box&gt;&#10;  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1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905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05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实施计划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1905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风险与应对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609600" y="2009775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838200" y="2162175"/>
            <a:ext cx="24003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安装包构建偶发失败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838200" y="2590800"/>
            <a:ext cx="28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09600" y="3305175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838200" y="34575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单人开发节奏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838200" y="3886200"/>
            <a:ext cx="28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9600" y="4600575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838200" y="4752975"/>
            <a:ext cx="1333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双平台差异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838200" y="5181600"/>
            <a:ext cx="28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250" b="1">
                <a:solidFill>
                  <a:srgbClr val="4FE0B0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21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352800" y="2162175"/>
            <a:ext cx="27336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150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打包链路长，偶发中断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1238250" y="2562225"/>
            <a:ext cx="3238500" cy="390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自动重试</a:t>
            </a:r>
            <a:r>
              <a:rPr lang="en-US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便携包兜底，双保险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2552700" y="345757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一个人精力与时间有限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1238250" y="3857625"/>
            <a:ext cx="2771775" cy="390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人机协同</a:t>
            </a:r>
            <a:r>
              <a:rPr lang="en-US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+ 138 </a:t>
            </a: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项测试兜底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2286000" y="4752975"/>
            <a:ext cx="2095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两套系统行为不完全一致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238250" y="5153025"/>
            <a:ext cx="3133725" cy="3905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双平台</a:t>
            </a:r>
            <a:r>
              <a:rPr lang="en-US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CI </a:t>
            </a: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实测</a:t>
            </a:r>
            <a:r>
              <a:rPr lang="en-US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真机逐项验证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21 / 29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476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4FE0B0', fontWeight: 'bold'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6 · 预期成果&lt;/Text&gt;&#10;        &lt;Text style={{ fontSize: 40, fontWeight: 'bold', color: '#E8EEF7' }}&gt;已经做成的成果&lt;/Text&gt;&#10;      &lt;/Box&gt;&#10;      &lt;Text style={{ fontSize: 20, fontFamily: 'Consolas', color: '#E8EEF7', opacity: 0.35 }}&gt;22&lt;/Text&gt;&#10;    &lt;/Box&gt;&#10;    &lt;Box style={{ height: 470, flexDirection: 'row', gap: 40, alignItems: 'center' }}&gt;&#10;      &lt;Box style={{ width: 400, flexDirection: 'column', alignItems: 'center', justifyContent: 'center', gap: 12 }}&gt;&#10;        &lt;Text style={{ fontSize: 150, fontWeight: 'bold', fontFamily: 'Consolas', color: '#4FE0B0', lineHeight: 1 }}&gt;138&lt;/Text&gt;&#10;        &lt;Box style={{ height: 4, width: 120, background: 'linear-gradient(135deg, #4FE0B0 0%, #2E9E8F 100%)', borderRadius: 2 }} /&gt;&#10;        &lt;Text style={{ fontSize: 28, color: '#E8EEF7', opacity: 0.85, textAlign: 'center' }}&gt;项自动化测试 · 全部通过&lt;/Text&gt;&#10;        &lt;Text style={{ fontSize: 25, color: '#E8EEF7', opacity: 0.65, textAlign: 'center' }}&gt;77 前端 + 61 Rust&lt;/Text&gt;&#10;      &lt;/Box&gt;&#10;      &lt;Box style={{ flex: 1, flexDirection: 'column', gap: 14 }}&gt;&#10;        &lt;Box style={{ height: 360, flexDirection: 'column', justifyContent: 'center', alignItems: 'center', gap: 10, background: 'rgba(79,224,176,0.06)', border: '2px dashed rgba(79,224,176,0.45)', borderRadius: 12, padding: '0 20px' }}&gt;&#10;        &lt;Text style={{ fontSize: 22, fontFamily: 'Consolas', color: '#4FE0B0', letterSpacing: 1 }}&gt;截图 ⑰&lt;/Text&gt;&#10;        &lt;Text style={{ fontSize: 28, fontWeight: 'bold', color: '#E8EEF7', textAlign: 'center' }}&gt;双平台下载页&lt;/Text&gt;&#10;        &lt;Text style={{ fontSize: 22, color: '#E8EEF7', opacity: 0.55, textAlign: 'center', lineHeight: 1.6 }}&gt;建议画面：Windows 与 macOS&lt;br /&gt;两个下载入口同框&lt;/Text&gt;&#10;      &lt;/Box&gt;&#10;        &lt;Text style={{ fontSize: 24, color: '#E8EEF7', opacity: 0.6, textAlign: 'center' }}&gt;装上就能用，不用注册、不用配置&lt;/Text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2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4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2667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06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预期成果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2667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已经做成的成果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1323975" y="2524125"/>
            <a:ext cx="2390775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>
                <a:solidFill>
                  <a:srgbClr val="4FE0B0"/>
                </a:solidFill>
                <a:latin typeface="Consolas"/>
                <a:ea typeface="Consolas"/>
              </a:rPr>
              <a:t>138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1943100" y="4352925"/>
            <a:ext cx="1143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86" name=""/>
          <p:cNvSpPr/>
          <p:nvPr/>
        </p:nvSpPr>
        <p:spPr>
          <a:xfrm rot="0" flipH="0" flipV="0">
            <a:off x="4800600" y="1962150"/>
            <a:ext cx="6781800" cy="3429000"/>
          </a:xfrm>
          <a:prstGeom prst="roundRect">
            <a:avLst>
              <a:gd name="adj" fmla="val 3333"/>
            </a:avLst>
          </a:prstGeom>
          <a:solidFill>
            <a:srgbClr val="4FE0B0">
              <a:alpha val="6000"/>
            </a:srgbClr>
          </a:solidFill>
          <a:ln w="25400">
            <a:solidFill>
              <a:srgbClr val="4FE0B0">
                <a:alpha val="45000"/>
              </a:srgbClr>
            </a:solidFill>
            <a:prstDash val="dash"/>
          </a:ln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7829550" y="2886075"/>
            <a:ext cx="73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/>
                </a:solidFill>
                <a:latin typeface="Consolas"/>
                <a:ea typeface="Consolas"/>
              </a:rPr>
              <a:t>截图</a:t>
            </a:r>
            <a:r>
              <a:rPr lang="en-US" sz="1650" spc="75">
                <a:solidFill>
                  <a:srgbClr val="4FE0B0"/>
                </a:solidFill>
                <a:latin typeface="Consolas"/>
                <a:ea typeface="Consolas"/>
              </a:rPr>
              <a:t xml:space="preserve"> ⑰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7391400" y="3238500"/>
            <a:ext cx="1600200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双平台下载页</a:t>
            </a:r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22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066800" y="4505325"/>
            <a:ext cx="2905125" cy="3238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项自动化测试</a:t>
            </a:r>
            <a:r>
              <a:rPr lang="en-US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1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全部通过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1562100" y="4943475"/>
            <a:ext cx="1905000" cy="2857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87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77 </a:t>
            </a:r>
            <a:r>
              <a:rPr lang="zh-CN" sz="187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前端</a:t>
            </a:r>
            <a:r>
              <a:rPr lang="en-US" sz="187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 + 61 Rust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734175" y="3657600"/>
            <a:ext cx="2924175" cy="80962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建议画面：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Windows </a:t>
            </a: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与</a:t>
            </a:r>
            <a:r>
              <a:rPr lang="en-US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macOS</a:t>
            </a:r>
            <a:endParaRPr/>
          </a:p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两个下载入口同框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4800600" y="5524500"/>
            <a:ext cx="6781800" cy="2762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装上就能用，不用注册、不用配置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22 / 29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503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4FE0B0', fontWeight: 'bold' }}&gt;预期成果&lt;/Text&gt;&#10;        &lt;Text style={{ fontSize: 21.33, color: '#E8EEF7', opacity: 0.5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6 · 预期成果&lt;/Text&gt;&#10;        &lt;Text style={{ fontSize: 40, fontWeight: 'bold', color: '#E8EEF7' }}&gt;可交付物清单&lt;/Text&gt;&#10;      &lt;/Box&gt;&#10;      &lt;Text style={{ fontSize: 20, fontFamily: 'Consolas', color: '#E8EEF7', opacity: 0.35 }}&gt;23&lt;/Text&gt;&#10;    &lt;/Box&gt;&#10;    &lt;Box style={{ height: 470, flexDirection: 'row', gap: 18, alignItems: 'stretch' }}&gt;&#10;      &lt;Box style={{ flex: 1, flexDirection: 'column', alignItems: 'center', gap: 14, padding: '40px 16px', background: '#1B2740', border: '1px solid rgba(232,238,247,0.12)', borderRadius: 12 }}&gt;&#10;        &lt;Text style={{ fontSize: 44, fontWeight: 'bold', color: '#4FE0B0', fontFamily: 'Consolas' }}&gt;01&lt;/Text&gt;&#10;        &lt;Text style={{ fontSize: 32, fontWeight: 'bold', color: '#E8EEF7' }}&gt;软件&lt;/Text&gt;&#10;        &lt;Text style={{ fontSize: 24, color: '#E8EEF7', opacity: 0.72, textAlign: 'center', lineHeight: 1.5 }}&gt;双平台安装包&lt;br /&gt;装上就能用&lt;/Text&gt;&#10;      &lt;/Box&gt;&#10;      &lt;Box style={{ flex: 1, flexDirection: 'column', alignItems: 'center', gap: 14, padding: '40px 16px', background: '#1B2740', border: '1px solid rgba(232,238,247,0.12)', borderRadius: 12 }}&gt;&#10;        &lt;Text style={{ fontSize: 44, fontWeight: 'bold', color: '#4FE0B0', fontFamily: 'Consolas' }}&gt;02&lt;/Text&gt;&#10;        &lt;Text style={{ fontSize: 32, fontWeight: 'bold', color: '#E8EEF7' }}&gt;官网&lt;/Text&gt;&#10;        &lt;Text style={{ fontSize: 24, color: '#E8EEF7', opacity: 0.72, textAlign: 'center', lineHeight: 1.5 }}&gt;下载与介绍页&lt;br /&gt;自动发版&lt;/Text&gt;&#10;      &lt;/Box&gt;&#10;      &lt;Box style={{ flex: 1, flexDirection: 'column', alignItems: 'center', gap: 14, padding: '40px 16px', background: '#1B2740', border: '1px solid rgba(232,238,247,0.12)', borderRadius: 12 }}&gt;&#10;        &lt;Text style={{ fontSize: 44, fontWeight: 'bold', color: '#4FE0B0', fontFamily: 'Consolas' }}&gt;03&lt;/Text&gt;&#10;        &lt;Text style={{ fontSize: 32, fontWeight: 'bold', color: '#E8EEF7' }}&gt;文档&lt;/Text&gt;&#10;        &lt;Text style={{ fontSize: 24, color: '#E8EEF7', opacity: 0.72, textAlign: 'center', lineHeight: 1.5 }}&gt;计划书 / 使用说明&lt;br /&gt;测试报告&lt;/Text&gt;&#10;      &lt;/Box&gt;&#10;      &lt;Box style={{ flex: 1, flexDirection: 'column', alignItems: 'center', gap: 14, padding: '40px 16px', background: 'rgba(79,224,176,0.10)', border: '1px solid rgba(79,224,176,0.4)', borderRadius: 12 }}&gt;&#10;        &lt;Text style={{ fontSize: 44, fontWeight: 'bold', color: '#4FE0B0', fontFamily: 'Consolas' }}&gt;04&lt;/Text&gt;&#10;        &lt;Text style={{ fontSize: 32, fontWeight: 'bold', color: '#E8EEF7' }}&gt;测试&lt;/Text&gt;&#10;        &lt;Text style={{ fontSize: 24, color: '#E8EEF7', opacity: 0.72, textAlign: 'center', lineHeight: 1.5 }}&gt;138 项自动检查&lt;br /&gt;持续全绿&lt;/Text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3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05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5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2286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06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预期成果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2286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可交付物清单</a:t>
            </a:r>
            <a:endParaRPr/>
          </a:p>
        </p:txBody>
      </p:sp>
      <p:sp>
        <p:nvSpPr>
          <p:cNvPr id="511" name=""/>
          <p:cNvSpPr/>
          <p:nvPr/>
        </p:nvSpPr>
        <p:spPr>
          <a:xfrm rot="0" flipH="0" flipV="0">
            <a:off x="609600" y="1638300"/>
            <a:ext cx="2619375" cy="4476750"/>
          </a:xfrm>
          <a:prstGeom prst="roundRect">
            <a:avLst>
              <a:gd name="adj" fmla="val 4364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685925" y="20193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619250" y="2657475"/>
            <a:ext cx="6096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软件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3400425" y="1638300"/>
            <a:ext cx="2609850" cy="4476750"/>
          </a:xfrm>
          <a:prstGeom prst="roundRect">
            <a:avLst>
              <a:gd name="adj" fmla="val 4380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4476750" y="20193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4400550" y="2657475"/>
            <a:ext cx="6096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官网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6181725" y="1638300"/>
            <a:ext cx="2619375" cy="4476750"/>
          </a:xfrm>
          <a:prstGeom prst="roundRect">
            <a:avLst>
              <a:gd name="adj" fmla="val 4364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7258050" y="20193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7191375" y="2657475"/>
            <a:ext cx="6096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8972550" y="1638300"/>
            <a:ext cx="2609850" cy="4476750"/>
          </a:xfrm>
          <a:prstGeom prst="roundRect">
            <a:avLst>
              <a:gd name="adj" fmla="val 438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048875" y="2019300"/>
            <a:ext cx="4667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4FE0B0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9972675" y="2657475"/>
            <a:ext cx="6096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23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238250" y="3162300"/>
            <a:ext cx="1371600" cy="8286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双平台安装包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装上就能用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4019550" y="3162300"/>
            <a:ext cx="1371600" cy="8286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下载与介绍页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自动发版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6591300" y="3162300"/>
            <a:ext cx="1800225" cy="8286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计划书</a:t>
            </a:r>
            <a:r>
              <a:rPr lang="en-US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使用说明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测试报告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9486900" y="3162300"/>
            <a:ext cx="1590675" cy="8286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项自动检查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8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持续全绿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23 / 29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537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4FE0B0', fontWeight: 'bold'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7 · 创新点&lt;/Text&gt;&#10;        &lt;Text style={{ fontSize: 40, fontWeight: 'bold', color: '#E8EEF7' }}&gt;创新①② · 一句话建提醒 + AI 校验&lt;/Text&gt;&#10;      &lt;/Box&gt;&#10;      &lt;Text style={{ fontSize: 20, fontFamily: 'Consolas', color: '#E8EEF7', opacity: 0.35 }}&gt;24&lt;/Text&gt;&#10;    &lt;/Box&gt;&#10;    &lt;Box style={{ height: 470, flexDirection: 'row', gap: 24, alignItems: 'stretch' }}&gt;&#10;      &lt;Box style={{ background: 'rgba(79,224,176,0.10)', border: '1px solid rgba(79,224,176,0.4)', borderRadius: 12, padding: '24px 26px'}}&gt;&#10;          &lt;Box style={{ flexDirection: 'row', alignItems: 'center', gap: 14 }}&gt;&#10;            &lt;Text style={{ fontSize: 36, fontFamily: 'Consolas', color: '#4FE0B0' }}&gt;①&lt;/Text&gt;&#10;            &lt;Text style={{ fontSize: 30, fontWeight: 'bold', color: '#E8EEF7' }}&gt;说一句话建提醒&lt;/Text&gt;&#10;          &lt;/Box&gt;&#10;          &lt;Text style={{ fontSize: 25, color: '#E8EEF7', opacity: 0.75, lineHeight: 1.5 }}&gt;自然语言替代一堆表单，第一次用就会。&lt;/Text&gt;&#10;          &lt;Box style={{ flexDirection: 'row', gap: 14, marginTop: 6 }}&gt;&#10;            &lt;Box style={{ flex: 1, flexDirection: 'column', gap: 8, padding: '16px', background: 'rgba(79,224,176,0.14)', borderRadius: 10 }}&gt;&#10;              &lt;Text style={{ fontSize: 22, fontWeight: 'bold', color: '#4FE0B0' }}&gt;你做的&lt;/Text&gt;&#10;              &lt;Text style={{ fontSize: 24, color: '#E8EEF7', opacity: 0.9, lineHeight: 1.45 }}&gt;「每久坐 50 分钟提醒我」&lt;/Text&gt;&#10;            &lt;/Box&gt;&#10;            &lt;Box style={{ flex: 1, flexDirection: 'column', gap: 8, padding: '16px', background: '#0B1220', borderRadius: 10 }}&gt;&#10;              &lt;Text style={{ fontSize: 22, fontWeight: 'bold', color: '#E8EEF7', opacity: 0.6 }}&gt;传统做法&lt;/Text&gt;&#10;              &lt;Text style={{ fontSize: 24, color: '#E8EEF7', opacity: 0.75, lineHeight: 1.45 }}&gt;时间 / 重复 / 类型 / 操作……逐个填&lt;/Text&gt;&#10;            &lt;/Box&gt;&#10;          &lt;/Box&gt;&#10;          &lt;Text style={{ fontSize: 25, color: '#E8EEF7', opacity: 0.75, lineHeight: 1.5 }}&gt;门槛只有一个：&lt;span style={{ color: '#4FE0B0', fontWeight: 'bold' }}&gt;会说中文&lt;/span&gt;。&lt;/Text&gt;&#10;        &lt;/Box&gt;&#10;      &lt;Box style={{ background: '#1B2740', border: '1px solid rgba(232,238,247,0.12)', borderRadius: 12, padding: '24px 26px'}}&gt;&#10;          &lt;Box style={{ flexDirection: 'row', alignItems: 'center', gap: 14 }}&gt;&#10;            &lt;Text style={{ fontSize: 36, fontFamily: 'Consolas', color: '#4FE0B0' }}&gt;②&lt;/Text&gt;&#10;            &lt;Text style={{ fontSize: 30, fontWeight: 'bold', color: '#E8EEF7' }}&gt;AI 校验机制&lt;/Text&gt;&#10;          &lt;/Box&gt;&#10;          &lt;Text style={{ fontSize: 25, color: '#E8EEF7', opacity: 0.75, lineHeight: 1.5 }}&gt;大模型只提建议，软件把关不让胡说写进列表。&lt;/Text&gt;&#10;          &lt;Box style={{ flexDirection: 'column', gap: 10, marginTop: 6 }}&gt;&#10;            &lt;Box style={{ height: 56, flexDirection: 'row', alignItems: 'center', padding: '0 18px', background: '#0B1220', borderRadius: 10 }}&gt;&#10;              &lt;Text style={{ fontSize: 24, color: '#E8EEF7', opacity: 0.85 }}&gt;大模型：理解你的话，出一份结构化建议&lt;/Text&gt;&#10;            &lt;/Box&gt;&#10;            &lt;Box style={{ height: 56, flexDirection: 'row', alignItems: 'center', padding: '0 18px', background: 'rgba(79,224,176,0.12)', borderRadius: 10 }}&gt;&#10;              &lt;Text style={{ fontSize: 24, color: '#E8EEF7', opacity: 0.85 }}&gt;校验层：类型 / 时间 / 操作，白名单才放行&lt;/Text&gt;&#10;            &lt;/Box&gt;&#10;            &lt;Box style={{ height: 56, flexDirection: 'row', alignItems: 'center', padding: '0 18px', background: '#0B1220', borderRadius: 10 }}&gt;&#10;              &lt;Text style={{ fontSize: 24, color: '#E8EEF7', opacity: 0.85 }}&gt;越界一律丢弃，&lt;span style={{ color: '#4FE0B0', fontWeight: 'bold' }}&gt;提醒列表永远干净&lt;/span&gt;&lt;/Text&gt;&#10;            &lt;/Box&gt;&#10;          &lt;/Box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4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39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5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5838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07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创新点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58388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创新①②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一句话建提醒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校验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609600" y="1638300"/>
            <a:ext cx="7162800" cy="4476750"/>
          </a:xfrm>
          <a:prstGeom prst="roundRect">
            <a:avLst>
              <a:gd name="adj" fmla="val 2553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857250" y="1866900"/>
            <a:ext cx="342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4FE0B0"/>
                </a:solidFill>
                <a:latin typeface="Consolas"/>
                <a:ea typeface="Consolas"/>
              </a:rPr>
              <a:t>①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1333500" y="19050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说一句话建提醒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857250" y="2771775"/>
            <a:ext cx="3267075" cy="1438275"/>
          </a:xfrm>
          <a:prstGeom prst="roundRect">
            <a:avLst>
              <a:gd name="adj" fmla="val 6623"/>
            </a:avLst>
          </a:prstGeom>
          <a:solidFill>
            <a:srgbClr val="4FE0B0">
              <a:alpha val="14000"/>
            </a:srgbClr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1009650" y="2924175"/>
            <a:ext cx="2962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4FE0B0"/>
                </a:solidFill>
                <a:latin typeface="Microsoft YaHei"/>
                <a:ea typeface="Microsoft YaHei"/>
              </a:rPr>
              <a:t>你做的</a:t>
            </a:r>
            <a:endParaRPr/>
          </a:p>
        </p:txBody>
      </p:sp>
      <p:sp>
        <p:nvSpPr>
          <p:cNvPr id="550" name=""/>
          <p:cNvSpPr/>
          <p:nvPr/>
        </p:nvSpPr>
        <p:spPr>
          <a:xfrm rot="0" flipH="0" flipV="0">
            <a:off x="4257675" y="2771775"/>
            <a:ext cx="3267075" cy="1438275"/>
          </a:xfrm>
          <a:prstGeom prst="roundRect">
            <a:avLst>
              <a:gd name="adj" fmla="val 6623"/>
            </a:avLst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8001000" y="1638300"/>
            <a:ext cx="3581400" cy="4476750"/>
          </a:xfrm>
          <a:prstGeom prst="roundRect">
            <a:avLst>
              <a:gd name="adj" fmla="val 3191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8248650" y="1866900"/>
            <a:ext cx="342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4FE0B0"/>
                </a:solidFill>
                <a:latin typeface="Consolas"/>
                <a:ea typeface="Consolas"/>
              </a:rPr>
              <a:t>②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8724900" y="1905000"/>
            <a:ext cx="15144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校验机制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8248650" y="3200400"/>
            <a:ext cx="30861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55" name=""/>
          <p:cNvSpPr/>
          <p:nvPr/>
        </p:nvSpPr>
        <p:spPr>
          <a:xfrm rot="0" flipH="0" flipV="0">
            <a:off x="8248650" y="3829050"/>
            <a:ext cx="3086100" cy="533400"/>
          </a:xfrm>
          <a:prstGeom prst="roundRect">
            <a:avLst>
              <a:gd name="adj" fmla="val 17857"/>
            </a:avLst>
          </a:pr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556" name=""/>
          <p:cNvSpPr/>
          <p:nvPr/>
        </p:nvSpPr>
        <p:spPr>
          <a:xfrm rot="0" flipH="0" flipV="0">
            <a:off x="8248650" y="4457700"/>
            <a:ext cx="30861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24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857250" y="2286000"/>
            <a:ext cx="6667500" cy="4286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自然语言替代一堆表单，第一次用就会。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1009650" y="3257550"/>
            <a:ext cx="2962275" cy="4000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8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「每久坐</a:t>
            </a:r>
            <a:r>
              <a:rPr lang="en-US" sz="18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8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分钟提醒我」</a:t>
            </a:r>
            <a:endParaRPr/>
          </a:p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4410075" y="2924175"/>
            <a:ext cx="2962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传统做法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4410075" y="3257550"/>
            <a:ext cx="296227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时间</a:t>
            </a: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重复</a:t>
            </a: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类型</a:t>
            </a:r>
            <a:r>
              <a:rPr lang="en-US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操作……逐个填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857250" y="4210050"/>
            <a:ext cx="6667500" cy="4286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门槛只有一个：</a:t>
            </a:r>
            <a:r>
              <a:rPr lang="zh-CN" sz="1875" b="1">
                <a:solidFill>
                  <a:srgbClr val="4FE0B0">
                    <a:alpha val="75000"/>
                  </a:srgbClr>
                </a:solidFill>
                <a:latin typeface="Microsoft YaHei"/>
                <a:ea typeface="Microsoft YaHei"/>
              </a:rPr>
              <a:t>会说中文</a:t>
            </a:r>
            <a:r>
              <a:rPr lang="zh-CN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8248650" y="2286000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大模型只提建议，软件把关不让胡说写进列表。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8420100" y="3190875"/>
            <a:ext cx="2743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大模型：理解你的话，出一份结构化建议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8420100" y="3819525"/>
            <a:ext cx="2743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校验层：类型</a:t>
            </a:r>
            <a:r>
              <a:rPr lang="en-US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时间</a:t>
            </a:r>
            <a:r>
              <a:rPr lang="en-US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操作，白名单才放行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8420100" y="4448175"/>
            <a:ext cx="2743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越界一律丢弃，</a:t>
            </a:r>
            <a:r>
              <a:rPr lang="zh-CN" sz="1800" b="1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提醒列表永远干净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24 / 29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576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4FE0B0', fontWeight: 'bold'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7 · 创新点&lt;/Text&gt;&#10;        &lt;Text style={{ fontSize: 40, fontWeight: 'bold', color: '#E8EEF7' }}&gt;创新③④ · 人机协同 + 立场&lt;/Text&gt;&#10;      &lt;/Box&gt;&#10;      &lt;Text style={{ fontSize: 20, fontFamily: 'Consolas', color: '#E8EEF7', opacity: 0.35 }}&gt;25&lt;/Text&gt;&#10;    &lt;/Box&gt;&#10;    &lt;Box style={{ height: 470, flexDirection: 'row', gap: 24, alignItems: 'stretch' }}&gt;&#10;      &lt;Box style={{ background: '#1B2740', border: '1px solid rgba(232,238,247,0.12)', borderRadius: 12, padding: '24px 26px'}}&gt;&#10;          &lt;Box style={{ flexDirection: 'row', alignItems: 'center', gap: 14 }}&gt;&#10;            &lt;Text style={{ fontSize: 36, fontFamily: 'Consolas', color: '#4FE0B0' }}&gt;③&lt;/Text&gt;&#10;            &lt;Text style={{ fontSize: 30, fontWeight: 'bold', color: '#E8EEF7' }}&gt;人机协同开发&lt;/Text&gt;&#10;          &lt;/Box&gt;&#10;          &lt;Text style={{ fontSize: 25, color: '#E8EEF7', opacity: 0.75, lineHeight: 1.5 }}&gt;高职生 + AI 助手，138 项检查兜底，做出跨平台软件。&lt;/Text&gt;&#10;          &lt;Box style={{ flexDirection: 'row', gap: 12, alignItems: 'center', marginTop: 6 }}&gt;&#10;            &lt;Box style={{ flex: 1, flexDirection: 'column', gap: 6, padding: '16px', background: '#0B1220', borderRadius: 10, alignItems: 'center' }}&gt;&#10;              &lt;Text style={{ fontSize: 26, fontWeight: 'bold', color: '#E8EEF7' }}&gt;我&lt;/Text&gt;&#10;              &lt;Text style={{ fontSize: 22, color: '#E8EEF7', opacity: 0.7, textAlign: 'center' }}&gt;定方向 · 设计 · 把关&lt;/Text&gt;&#10;            &lt;/Box&gt;&#10;            &lt;Text style={{ fontSize: 32, color: '#4FE0B0', fontWeight: 'bold' }}&gt;+&lt;/Text&gt;&#10;            &lt;Box style={{ flex: 1, flexDirection: 'column', gap: 6, padding: '16px', background: 'rgba(79,224,176,0.12)', borderRadius: 10, alignItems: 'center' }}&gt;&#10;              &lt;Text style={{ fontSize: 26, fontWeight: 'bold', color: '#E8EEF7' }}&gt;AI 助手&lt;/Text&gt;&#10;              &lt;Text style={{ fontSize: 22, color: '#E8EEF7', opacity: 0.7, textAlign: 'center' }}&gt;写代码 · 文案 · 草稿&lt;/Text&gt;&#10;            &lt;/Box&gt;&#10;          &lt;/Box&gt;&#10;          &lt;Box style={{ height: 60, flexDirection: 'row', alignItems: 'center', justifyContent: 'center', gap: 14, background: 'rgba(79,224,176,0.12)', borderRadius: 10, marginTop: 6 }}&gt;&#10;            &lt;Text style={{ fontSize: 26, fontWeight: 'bold', color: '#E8EEF7' }}&gt;→ 知歇 ZhiXie&lt;/Text&gt;&#10;            &lt;Text style={{ fontSize: 23, color: '#E8EEF7', opacity: 0.75 }}&gt;双平台 · 138 项测试兜底&lt;/Text&gt;&#10;          &lt;/Box&gt;&#10;        &lt;/Box&gt;&#10;      &lt;Box style={{ background: 'rgba(79,224,176,0.10)', border: '1px solid rgba(79,224,176,0.4)', borderRadius: 12, padding: '24px 26px'}}&gt;&#10;          &lt;Box style={{ flexDirection: 'row', alignItems: 'center', gap: 14 }}&gt;&#10;            &lt;Text style={{ fontSize: 36, fontFamily: 'Consolas', color: '#4FE0B0' }}&gt;④&lt;/Text&gt;&#10;            &lt;Text style={{ fontSize: 30, fontWeight: 'bold', color: '#E8EEF7' }}&gt;立场让你休息&lt;/Text&gt;&#10;          &lt;/Box&gt;&#10;          &lt;Text style={{ fontSize: 28, fontWeight: 'bold', color: '#E8EEF7', lineHeight: 1.5 }}&gt;它的立场是让你休息，&lt;br /&gt;不是催你多干。&lt;/Text&gt;&#10;          &lt;Box style={{ flexDirection: 'column', gap: 10, marginTop: 6 }}&gt;&#10;            &lt;Text style={{ fontSize: 25, color: '#E8EEF7', opacity: 0.8 }}&gt;· 没有排行榜，不比谁坐得久&lt;/Text&gt;&#10;            &lt;Text style={{ fontSize: 25, color: '#E8EEF7', opacity: 0.8 }}&gt;· 没有连续打卡，不制造亏欠感&lt;/Text&gt;&#10;            &lt;Text style={{ fontSize: 25, color: '#E8EEF7', opacity: 0.8 }}&gt;· 没有「再看一会」，到点就提醒&lt;/Text&gt;&#10;          &lt;/Box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5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78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5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4591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07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创新点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45910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创新③④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人机协同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立场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609600" y="1638300"/>
            <a:ext cx="7886700" cy="4476750"/>
          </a:xfrm>
          <a:prstGeom prst="roundRect">
            <a:avLst>
              <a:gd name="adj" fmla="val 2553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857250" y="1866900"/>
            <a:ext cx="342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4FE0B0"/>
                </a:solidFill>
                <a:latin typeface="Consolas"/>
                <a:ea typeface="Consolas"/>
              </a:rPr>
              <a:t>③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1333500" y="1905000"/>
            <a:ext cx="1714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人机协同开发</a:t>
            </a:r>
            <a:endParaRPr/>
          </a:p>
        </p:txBody>
      </p:sp>
      <p:sp>
        <p:nvSpPr>
          <p:cNvPr id="587" name=""/>
          <p:cNvSpPr/>
          <p:nvPr/>
        </p:nvSpPr>
        <p:spPr>
          <a:xfrm rot="0" flipH="0" flipV="0">
            <a:off x="857250" y="2771775"/>
            <a:ext cx="3495675" cy="923925"/>
          </a:xfrm>
          <a:prstGeom prst="roundRect">
            <a:avLst>
              <a:gd name="adj" fmla="val 10309"/>
            </a:avLst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2486025" y="2924175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我</a:t>
            </a:r>
            <a:endParaRPr/>
          </a:p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4467225" y="3048000"/>
            <a:ext cx="1809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4FE0B0"/>
                </a:solidFill>
                <a:latin typeface="Microsoft YaHei"/>
                <a:ea typeface="Microsoft YaHei"/>
              </a:rPr>
              <a:t>+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4762500" y="2771775"/>
            <a:ext cx="3486150" cy="923925"/>
          </a:xfrm>
          <a:prstGeom prst="roundRect">
            <a:avLst>
              <a:gd name="adj" fmla="val 10309"/>
            </a:avLst>
          </a:pr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6096000" y="2924175"/>
            <a:ext cx="819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857250" y="3752850"/>
            <a:ext cx="7391400" cy="571500"/>
          </a:xfrm>
          <a:prstGeom prst="roundRect">
            <a:avLst>
              <a:gd name="adj" fmla="val 16667"/>
            </a:avLst>
          </a:pr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2486025" y="3886200"/>
            <a:ext cx="16287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知歇</a:t>
            </a:r>
            <a:r>
              <a:rPr lang="en-US" sz="19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594" name=""/>
          <p:cNvSpPr/>
          <p:nvPr/>
        </p:nvSpPr>
        <p:spPr>
          <a:xfrm rot="0" flipH="0" flipV="0">
            <a:off x="8724900" y="1638300"/>
            <a:ext cx="2857500" cy="4476750"/>
          </a:xfrm>
          <a:prstGeom prst="roundRect">
            <a:avLst>
              <a:gd name="adj" fmla="val 4000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8972550" y="1866900"/>
            <a:ext cx="342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4FE0B0"/>
                </a:solidFill>
                <a:latin typeface="Consolas"/>
                <a:ea typeface="Consolas"/>
              </a:rPr>
              <a:t>④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9448800" y="1905000"/>
            <a:ext cx="1714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立场让你休息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8972550" y="2286000"/>
            <a:ext cx="2362200" cy="1447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它的立场是让你休息，</a:t>
            </a:r>
            <a:endParaRPr/>
          </a:p>
          <a:p>
            <a:pPr>
              <a:lnSpc>
                <a:spcPct val="150000"/>
              </a:lnSpc>
            </a:pPr>
            <a:r>
              <a:rPr lang="zh-CN" sz="2100" b="1">
                <a:solidFill>
                  <a:srgbClr val="E8EEF7"/>
                </a:solidFill>
                <a:latin typeface="Microsoft YaHei"/>
                <a:ea typeface="Microsoft YaHei"/>
              </a:rPr>
              <a:t>不是催你多干。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25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857250" y="2286000"/>
            <a:ext cx="7391400" cy="4286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高职生</a:t>
            </a:r>
            <a:r>
              <a:rPr lang="en-US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助手，</a:t>
            </a:r>
            <a:r>
              <a:rPr lang="en-US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87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项检查兜底，做出跨平台软件。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1685925" y="3286125"/>
            <a:ext cx="18478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定方向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设计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把关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5581650" y="3286125"/>
            <a:ext cx="18478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写代码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文案</a:t>
            </a:r>
            <a:r>
              <a:rPr lang="en-US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草稿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4248150" y="3905250"/>
            <a:ext cx="23812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双平台</a:t>
            </a:r>
            <a:r>
              <a:rPr lang="en-US" sz="172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 xml:space="preserve"> · 138 </a:t>
            </a:r>
            <a:r>
              <a:rPr lang="zh-CN" sz="1725">
                <a:solidFill>
                  <a:srgbClr val="E8EEF7">
                    <a:alpha val="75000"/>
                  </a:srgbClr>
                </a:solidFill>
                <a:latin typeface="Microsoft YaHei"/>
                <a:ea typeface="Microsoft YaHei"/>
              </a:rPr>
              <a:t>项测试兜底</a:t>
            </a:r>
            <a:endParaRPr/>
          </a:p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8972550" y="3790950"/>
            <a:ext cx="23622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没有排行榜，不比谁坐得久</a:t>
            </a:r>
            <a:endParaRPr/>
          </a:p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8972550" y="4457700"/>
            <a:ext cx="23622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没有连续打卡，不制造亏欠感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8972550" y="5124450"/>
            <a:ext cx="23622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没有「再看一会」，到点就提醒</a:t>
            </a:r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25 / 29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615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4FE0B0', fontWeight: 'bold' }}&gt;创新点&lt;/Text&gt;&#10;        &lt;Text style={{ fontSize: 21.33, color: '#E8EEF7', opacity: 0.5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7 · 创新点&lt;/Text&gt;&#10;        &lt;Text style={{ fontSize: 40, fontWeight: 'bold', color: '#E8EEF7' }}&gt;创新⑤ · 双通道 + 本机数据&lt;/Text&gt;&#10;      &lt;/Box&gt;&#10;      &lt;Text style={{ fontSize: 20, fontFamily: 'Consolas', color: '#E8EEF7', opacity: 0.35 }}&gt;26&lt;/Text&gt;&#10;    &lt;/Box&gt;&#10;    &lt;Box style={{ height: 470, flexDirection: 'column', gap: 16 }}&gt;&#10;      &lt;Box style={{ background: 'rgba(79,224,176,0.10)', border: '1px solid rgba(79,224,176,0.4)', borderRadius: 12, padding: '20px 24px'}}&gt;&#10;          &lt;Box style={{ flexDirection: 'row', alignItems: 'center', gap: 14 }}&gt;&#10;            &lt;Text style={{ fontSize: 36, fontFamily: 'Consolas', color: '#4FE0B0' }}&gt;⑤&lt;/Text&gt;&#10;            &lt;Text style={{ fontSize: 30, fontWeight: 'bold', color: '#E8EEF7' }}&gt;双通道 + 本机数据&lt;/Text&gt;&#10;          &lt;/Box&gt;&#10;          &lt;Text style={{ fontSize: 26, color: '#E8EEF7', opacity: 0.8, lineHeight: 1.5 }}&gt;断网也能用（云端大模型 + 本机规则引擎）；数据留在本机、隐私可控，&lt;span style={{ color: '#4FE0B0', fontWeight: 'bold' }}&gt;两套系统都是同一个知歇&lt;/span&gt;。&lt;/Text&gt;&#10;        &lt;/Box&gt;&#10;      &lt;Box style={{ flexDirection: 'column', gap: 10 }}&gt;&#10;        &lt;Box style={{ height: 54, flexDirection: 'row', alignItems: 'center', gap: 18, padding: '0 20px', background: '#1B2740', border: '1px solid rgba(232,238,247,0.12)', borderRadius: 10 }}&gt;&#10;          &lt;Text style={{ fontSize: 28, fontFamily: 'Consolas', color: '#4FE0B0', width: 40 }}&gt;1&lt;/Text&gt;&#10;          &lt;Text style={{ fontSize: 25, fontWeight: 'bold', color: '#E8EEF7', width: 280 }}&gt;说一句话建提醒&lt;/Text&gt;&#10;          &lt;Text style={{ fontSize: 24, color: '#E8EEF7', opacity: 0.7, flex: 1 }}&gt;自然语言替代一堆表单&lt;/Text&gt;&#10;        &lt;/Box&gt;&#10;        &lt;Box style={{ height: 54, flexDirection: 'row', alignItems: 'center', gap: 18, padding: '0 20px', background: '#1B2740', border: '1px solid rgba(232,238,247,0.12)', borderRadius: 10 }}&gt;&#10;          &lt;Text style={{ fontSize: 28, fontFamily: 'Consolas', color: '#4FE0B0', width: 40 }}&gt;2&lt;/Text&gt;&#10;          &lt;Text style={{ fontSize: 25, fontWeight: 'bold', color: '#E8EEF7', width: 280 }}&gt;AI 校验机制&lt;/Text&gt;&#10;          &lt;Text style={{ fontSize: 24, color: '#E8EEF7', opacity: 0.7, flex: 1 }}&gt;大模型只提建议，软件把关&lt;/Text&gt;&#10;        &lt;/Box&gt;&#10;        &lt;Box style={{ height: 54, flexDirection: 'row', alignItems: 'center', gap: 18, padding: '0 20px', background: '#1B2740', border: '1px solid rgba(232,238,247,0.12)', borderRadius: 10 }}&gt;&#10;          &lt;Text style={{ fontSize: 28, fontFamily: 'Consolas', color: '#4FE0B0', width: 40 }}&gt;3&lt;/Text&gt;&#10;          &lt;Text style={{ fontSize: 25, fontWeight: 'bold', color: '#E8EEF7', width: 280 }}&gt;人机协同开发&lt;/Text&gt;&#10;          &lt;Text style={{ fontSize: 24, color: '#E8EEF7', opacity: 0.7, flex: 1 }}&gt;高职生 + AI 做出跨平台软件&lt;/Text&gt;&#10;        &lt;/Box&gt;&#10;        &lt;Box style={{ height: 54, flexDirection: 'row', alignItems: 'center', gap: 18, padding: '0 20px', background: '#1B2740', border: '1px solid rgba(232,238,247,0.12)', borderRadius: 10 }}&gt;&#10;          &lt;Text style={{ fontSize: 28, fontFamily: 'Consolas', color: '#4FE0B0', width: 40 }}&gt;4&lt;/Text&gt;&#10;          &lt;Text style={{ fontSize: 25, fontWeight: 'bold', color: '#E8EEF7', width: 280 }}&gt;立场让你休息&lt;/Text&gt;&#10;          &lt;Text style={{ fontSize: 24, color: '#E8EEF7', opacity: 0.7, flex: 1 }}&gt;不催干活、不比拼、不制造焦虑&lt;/Text&gt;&#10;        &lt;/Box&gt;&#10;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6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617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6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4591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07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创新点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45910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创新⑤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双通道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本机数据</a:t>
            </a:r>
            <a:endParaRPr/>
          </a:p>
        </p:txBody>
      </p:sp>
      <p:sp>
        <p:nvSpPr>
          <p:cNvPr id="623" name=""/>
          <p:cNvSpPr/>
          <p:nvPr/>
        </p:nvSpPr>
        <p:spPr>
          <a:xfrm rot="0" flipH="0" flipV="0">
            <a:off x="609600" y="1638300"/>
            <a:ext cx="10972800" cy="1695450"/>
          </a:xfrm>
          <a:prstGeom prst="roundRect">
            <a:avLst>
              <a:gd name="adj" fmla="val 6742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838200" y="1828800"/>
            <a:ext cx="342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4FE0B0"/>
                </a:solidFill>
                <a:latin typeface="Consolas"/>
                <a:ea typeface="Consolas"/>
              </a:rPr>
              <a:t>⑤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314450" y="1866900"/>
            <a:ext cx="23336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双通道</a:t>
            </a:r>
            <a:r>
              <a:rPr lang="en-US" sz="22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250" b="1">
                <a:solidFill>
                  <a:srgbClr val="E8EEF7"/>
                </a:solidFill>
                <a:latin typeface="Microsoft YaHei"/>
                <a:ea typeface="Microsoft YaHei"/>
              </a:rPr>
              <a:t>本机数据</a:t>
            </a:r>
            <a:endParaRPr/>
          </a:p>
        </p:txBody>
      </p:sp>
      <p:sp>
        <p:nvSpPr>
          <p:cNvPr id="626" name=""/>
          <p:cNvSpPr/>
          <p:nvPr/>
        </p:nvSpPr>
        <p:spPr>
          <a:xfrm rot="0" flipH="0" flipV="0">
            <a:off x="609600" y="3486150"/>
            <a:ext cx="10972800" cy="514350"/>
          </a:xfrm>
          <a:prstGeom prst="roundRect">
            <a:avLst>
              <a:gd name="adj" fmla="val 18519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800100" y="3581400"/>
            <a:ext cx="381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4FE0B0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1352550" y="3600450"/>
            <a:ext cx="26670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E8EEF7"/>
                </a:solidFill>
                <a:latin typeface="Microsoft YaHei"/>
                <a:ea typeface="Microsoft YaHei"/>
              </a:rPr>
              <a:t>说一句话建提醒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609600" y="4095750"/>
            <a:ext cx="10972800" cy="514350"/>
          </a:xfrm>
          <a:prstGeom prst="roundRect">
            <a:avLst>
              <a:gd name="adj" fmla="val 18519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800100" y="4191000"/>
            <a:ext cx="381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4FE0B0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352550" y="4210050"/>
            <a:ext cx="26670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875" b="1">
                <a:solidFill>
                  <a:srgbClr val="E8EEF7"/>
                </a:solidFill>
                <a:latin typeface="Microsoft YaHei"/>
                <a:ea typeface="Microsoft YaHei"/>
              </a:rPr>
              <a:t>校验机制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609600" y="4705350"/>
            <a:ext cx="10972800" cy="514350"/>
          </a:xfrm>
          <a:prstGeom prst="roundRect">
            <a:avLst>
              <a:gd name="adj" fmla="val 18519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800100" y="4800600"/>
            <a:ext cx="381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4FE0B0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1352550" y="4819650"/>
            <a:ext cx="26670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E8EEF7"/>
                </a:solidFill>
                <a:latin typeface="Microsoft YaHei"/>
                <a:ea typeface="Microsoft YaHei"/>
              </a:rPr>
              <a:t>人机协同开发</a:t>
            </a:r>
            <a:endParaRPr/>
          </a:p>
        </p:txBody>
      </p:sp>
      <p:sp>
        <p:nvSpPr>
          <p:cNvPr id="635" name=""/>
          <p:cNvSpPr/>
          <p:nvPr/>
        </p:nvSpPr>
        <p:spPr>
          <a:xfrm rot="0" flipH="0" flipV="0">
            <a:off x="609600" y="5314950"/>
            <a:ext cx="10972800" cy="514350"/>
          </a:xfrm>
          <a:prstGeom prst="roundRect">
            <a:avLst>
              <a:gd name="adj" fmla="val 18519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800100" y="5410200"/>
            <a:ext cx="381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>
                <a:solidFill>
                  <a:srgbClr val="4FE0B0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1352550" y="5429250"/>
            <a:ext cx="26670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E8EEF7"/>
                </a:solidFill>
                <a:latin typeface="Microsoft YaHei"/>
                <a:ea typeface="Microsoft YaHei"/>
              </a:rPr>
              <a:t>立场让你休息</a:t>
            </a:r>
            <a:endParaRPr/>
          </a:p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26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838200" y="2247900"/>
            <a:ext cx="105156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9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断网也能用（云端大模型</a:t>
            </a:r>
            <a:r>
              <a:rPr lang="en-US" sz="19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本机规则引擎）；数据留在本机、隐私可控，</a:t>
            </a:r>
            <a:r>
              <a:rPr lang="zh-CN" sz="1950" b="1">
                <a:solidFill>
                  <a:srgbClr val="4FE0B0">
                    <a:alpha val="80000"/>
                  </a:srgbClr>
                </a:solidFill>
                <a:latin typeface="Microsoft YaHei"/>
                <a:ea typeface="Microsoft YaHei"/>
              </a:rPr>
              <a:t>两套系统都是同一个知歇</a:t>
            </a:r>
            <a:r>
              <a:rPr lang="zh-CN" sz="19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4191000" y="3609975"/>
            <a:ext cx="7200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自然语言替代一堆表单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4191000" y="4219575"/>
            <a:ext cx="7200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大模型只提建议，软件把关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4191000" y="4829175"/>
            <a:ext cx="7200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高职生</a:t>
            </a:r>
            <a:r>
              <a:rPr lang="en-US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做出跨平台软件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4191000" y="5438775"/>
            <a:ext cx="7200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不催干活、不比拼、不制造焦虑</a:t>
            </a:r>
            <a:endParaRPr/>
          </a:p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26 / 29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653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4FE0B0', fontWeight: 'bold'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8 · 应用价值&lt;/Text&gt;&#10;        &lt;Text style={{ fontSize: 40, fontWeight: 'bold', color: '#E8EEF7' }}&gt;应用价值 · 三层&lt;/Text&gt;&#10;      &lt;/Box&gt;&#10;      &lt;Text style={{ fontSize: 20, fontFamily: 'Consolas', color: '#E8EEF7', opacity: 0.35 }}&gt;27&lt;/Text&gt;&#10;    &lt;/Box&gt;&#10;    &lt;Box style={{ height: 470, flexDirection: 'row', gap: 20, alignItems: 'stretch' }}&gt;&#10;      &lt;Box style={{ background: '#1B2740', border: '1px solid rgba(232,238,247,0.12)', borderRadius: 12, padding: '36px 24px'}}&gt;&#10;          &lt;Text style={{ fontSize: 34, fontWeight: 'bold', color: '#4FE0B0' }}&gt;个人&lt;/Text&gt;&#10;          &lt;Box style={{ height: 3, width: 60, background: 'rgba(79,224,176,0.5)', borderRadius: 2 }} /&gt;&#10;          &lt;Text style={{ fontSize: 25, color: '#E8EEF7', opacity: 0.8, lineHeight: 1.65 }}&gt;· 少久坐、护视力&lt;/Text&gt;&#10;            &lt;Text style={{ fontSize: 25, color: '#E8EEF7', opacity: 0.8, lineHeight: 1.65 }}&gt;· 提醒温和，到点就说&lt;/Text&gt;&#10;            &lt;Text style={{ fontSize: 25, color: '#E8EEF7', opacity: 0.8, lineHeight: 1.65 }}&gt;· 数据留本机更安心&lt;/Text&gt;&#10;                    &lt;/Box&gt;&#10;      &lt;Box style={{ background: '#1B2740', border: '1px solid rgba(232,238,247,0.12)', borderRadius: 12, padding: '36px 24px'}}&gt;&#10;          &lt;Text style={{ fontSize: 34, fontWeight: 'bold', color: '#4FE0B0' }}&gt;教育&lt;/Text&gt;&#10;          &lt;Box style={{ height: 3, width: 60, background: 'rgba(79,224,176,0.5)', borderRadius: 2 }} /&gt;&#10;          &lt;Text style={{ fontSize: 25, color: '#E8EEF7', opacity: 0.8, lineHeight: 1.65 }}&gt;· 高职生 + AI 做出真实产品&lt;/Text&gt;&#10;            &lt;Text style={{ fontSize: 25, color: '#E8EEF7', opacity: 0.8, lineHeight: 1.65 }}&gt;· 人机协同过程完整可复用&lt;/Text&gt;&#10;            &lt;Text style={{ fontSize: 25, color: '#E8EEF7', opacity: 0.8, lineHeight: 1.65 }}&gt;· 可作编程课与创业课案例&lt;/Text&gt;&#10;                    &lt;/Box&gt;&#10;      &lt;Box style={{ background: '#1B2740', border: '1px solid rgba(232,238,247,0.12)', borderRadius: 12, padding: '36px 24px'}}&gt;&#10;          &lt;Text style={{ fontSize: 34, fontWeight: 'bold', color: '#4FE0B0' }}&gt;社会&lt;/Text&gt;&#10;          &lt;Box style={{ height: 3, width: 60, background: 'rgba(79,224,176,0.5)', borderRadius: 2 }} /&gt;&#10;          &lt;Text style={{ fontSize: 25, color: '#E8EEF7', opacity: 0.8, lineHeight: 1.65 }}&gt;· 倡导健康用机习惯&lt;/Text&gt;&#10;            &lt;Text style={{ fontSize: 25, color: '#E8EEF7', opacity: 0.8, lineHeight: 1.65 }}&gt;· 让「该歇了」被大方说出来&lt;/Text&gt;&#10;            &lt;Text style={{ fontSize: 25, color: '#E8EEF7', opacity: 0.8, lineHeight: 1.65 }}&gt;· 关注久坐人群的休息权&lt;/Text&gt;&#10;            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7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655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2628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08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应用价值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2628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应用价值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三层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609600" y="1638300"/>
            <a:ext cx="2752725" cy="4476750"/>
          </a:xfrm>
          <a:prstGeom prst="roundRect">
            <a:avLst>
              <a:gd name="adj" fmla="val 4152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838200" y="1981200"/>
            <a:ext cx="22955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4FE0B0"/>
                </a:solidFill>
                <a:latin typeface="Microsoft YaHei"/>
                <a:ea typeface="Microsoft YaHei"/>
              </a:rPr>
              <a:t>个人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38200" y="2371725"/>
            <a:ext cx="571500" cy="28575"/>
          </a:xfrm>
          <a:prstGeom prst="roundRect">
            <a:avLst>
              <a:gd name="adj" fmla="val 66667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/>
        </p:txBody>
      </p:sp>
      <p:sp>
        <p:nvSpPr>
          <p:cNvPr id="664" name=""/>
          <p:cNvSpPr/>
          <p:nvPr/>
        </p:nvSpPr>
        <p:spPr>
          <a:xfrm rot="0" flipH="0" flipV="0">
            <a:off x="3552825" y="1638300"/>
            <a:ext cx="3314700" cy="4476750"/>
          </a:xfrm>
          <a:prstGeom prst="roundRect">
            <a:avLst>
              <a:gd name="adj" fmla="val 3448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3781425" y="1981200"/>
            <a:ext cx="2857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4FE0B0"/>
                </a:solidFill>
                <a:latin typeface="Microsoft YaHei"/>
                <a:ea typeface="Microsoft YaHei"/>
              </a:rPr>
              <a:t>教育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3781425" y="2371725"/>
            <a:ext cx="571500" cy="28575"/>
          </a:xfrm>
          <a:prstGeom prst="roundRect">
            <a:avLst>
              <a:gd name="adj" fmla="val 66667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7058025" y="1638300"/>
            <a:ext cx="3467100" cy="4476750"/>
          </a:xfrm>
          <a:prstGeom prst="roundRect">
            <a:avLst>
              <a:gd name="adj" fmla="val 3297"/>
            </a:avLst>
          </a:prstGeom>
          <a:solidFill>
            <a:srgbClr val="1B2740"/>
          </a:solidFill>
          <a:ln w="12700">
            <a:solidFill>
              <a:srgbClr val="E8EE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7286625" y="1981200"/>
            <a:ext cx="3009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4FE0B0"/>
                </a:solidFill>
                <a:latin typeface="Microsoft YaHei"/>
                <a:ea typeface="Microsoft YaHei"/>
              </a:rPr>
              <a:t>社会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7286625" y="2371725"/>
            <a:ext cx="571500" cy="28575"/>
          </a:xfrm>
          <a:prstGeom prst="roundRect">
            <a:avLst>
              <a:gd name="adj" fmla="val 66667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27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838200" y="2400300"/>
            <a:ext cx="2295525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少久坐、护视力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838200" y="2876550"/>
            <a:ext cx="2295525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提醒温和，到点就说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838200" y="3352800"/>
            <a:ext cx="2295525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数据留本机更安心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3781425" y="2400300"/>
            <a:ext cx="2857500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高职生</a:t>
            </a: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做出真实产品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3781425" y="2876550"/>
            <a:ext cx="2857500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人机协同过程完整可复用</a:t>
            </a:r>
            <a:endParaRPr/>
          </a:p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3781425" y="3352800"/>
            <a:ext cx="2857500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可作编程课与创业课案例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7286625" y="2400300"/>
            <a:ext cx="3009900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倡导健康用机习惯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286625" y="2876550"/>
            <a:ext cx="3009900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让「该歇了」被大方说出来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7286625" y="3352800"/>
            <a:ext cx="3009900" cy="4762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875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关注久坐人群的休息权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27 / 29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689" name="" descr="&lt;Slide style={{ width: 1280, height: 720, background: '#0B1220', padding: '16px 64px' }}&gt;&#10;    &lt;Box style={{ height: 56, flexDirection: 'row', alignItems: 'center', justifyContent: 'space-between', borderBottom: '1px solid rgba(232,238,247,0.14)' }}&gt;&#10;      &lt;Box style={{ flexDirection: 'row', alignItems: 'center', gap: 10 }}&gt;&#10;        &lt;svg width={24} height={24} viewBox='0 0 40 40'&gt;&lt;path d='M28 10 A17 17 0 1 0 28 30' fill='none' stroke='#4FE0B0' strokeWidth='2.5' /&gt;&lt;rect x='15' y='15' width='2.4' height='10' rx='1.2' fill='#4FE0B0' /&gt;&lt;rect x='20' y='15' width='2.4' height='10' rx='1.2' fill='#4FE0B0' /&gt;&lt;/svg&gt;&#10;        &lt;Text style={{ fontSize: 18, fontWeight: 'bold', color: '#4FE0B0' }}&gt;知歇 ZhiXie&lt;/Text&gt;&#10;      &lt;/Box&gt;&#10;      &lt;Box style={{ flexDirection: 'row', alignItems: 'center', gap: 14 }}&gt;&#10;        &lt;Text style={{ fontSize: 21.33, color: '#E8EEF7', opacity: 0.5 }}&gt;项目背景&lt;/Text&gt;&#10;        &lt;Text style={{ fontSize: 21.33, color: '#E8EEF7', opacity: 0.5 }}&gt;目标用户群体&lt;/Text&gt;&#10;        &lt;Text style={{ fontSize: 21.33, color: '#E8EEF7', opacity: 0.5 }}&gt;应用场景&lt;/Text&gt;&#10;        &lt;Text style={{ fontSize: 21.33, color: '#E8EEF7', opacity: 0.5 }}&gt;智能体开发过程&lt;/Text&gt;&#10;        &lt;Text style={{ fontSize: 21.33, color: '#E8EEF7', opacity: 0.5 }}&gt;实施计划&lt;/Text&gt;&#10;        &lt;Text style={{ fontSize: 21.33, color: '#E8EEF7', opacity: 0.5 }}&gt;预期成果&lt;/Text&gt;&#10;        &lt;Text style={{ fontSize: 21.33, color: '#E8EEF7', opacity: 0.5 }}&gt;创新点&lt;/Text&gt;&#10;        &lt;Text style={{ fontSize: 21.33, color: '#4FE0B0', fontWeight: 'bold' }}&gt;应用价值&lt;/Text&gt;&#10;      &lt;/Box&gt;&#10;    &lt;/Box&gt;&#10;    &lt;Box style={{ height: 100, flexDirection: 'row', alignItems: 'flex-end', justifyContent: 'space-between', paddingBottom: 14 }}&gt;&#10;      &lt;Box style={{ flexDirection: 'column', gap: 4 }}&gt;&#10;        &lt;Text style={{ fontSize: 21.33, fontFamily: 'Consolas', color: '#4FE0B0', letterSpacing: 2 }}&gt;08 · 应用价值&lt;/Text&gt;&#10;        &lt;Text style={{ fontSize: 40, fontWeight: 'bold', color: '#E8EEF7' }}&gt;应用价值 · 对比与收束&lt;/Text&gt;&#10;      &lt;/Box&gt;&#10;      &lt;Text style={{ fontSize: 20, fontFamily: 'Consolas', color: '#E8EEF7', opacity: 0.35 }}&gt;28&lt;/Text&gt;&#10;    &lt;/Box&gt;&#10;    &lt;Box style={{ height: 470, flexDirection: 'column', gap: 20, alignItems: 'center', justifyContent: 'center' }}&gt;&#10;      &lt;Box style={{ width: 1000, flexDirection: 'column' }}&gt;&#10;        &lt;Box style={{ height: 56, flexDirection: 'row', alignItems: 'center', padding: '0 20px', background: 'rgba(79,224,176,0.12)', borderRadius: '10px 10px 0 0' }}&gt;&#10;          &lt;Text style={{ fontSize: 27, fontWeight: 'bold', color: '#E8EEF7', width: 200 }}&gt;维度&lt;/Text&gt;&#10;          &lt;Text style={{ fontSize: 27, fontWeight: 'bold', color: '#4FE0B0', flex: 1 }}&gt;知歇&lt;/Text&gt;&#10;          &lt;Text style={{ fontSize: 27, fontWeight: 'bold', color: '#E8EEF7', opacity: 0.6, flex: 1 }}&gt;传统做法&lt;/Text&gt;&#10;        &lt;/Box&gt;&#10;        &lt;Box style={{ height: 62, flexDirection: 'row', alignItems: 'center', padding: '0 20px', background: '#1B2740', borderBottom: '1px solid rgba(232,238,247,0.10)' }}&gt;&#10;          &lt;Text style={{ fontSize: 26, color: '#E8EEF7', width: 200 }}&gt;建提醒&lt;/Text&gt;&#10;          &lt;Text style={{ fontSize: 26, color: '#4FE0B0', flex: 1 }}&gt;说一句话&lt;/Text&gt;&#10;          &lt;Text style={{ fontSize: 26, color: '#E8EEF7', opacity: 0.7, flex: 1 }}&gt;填表单&lt;/Text&gt;&#10;        &lt;/Box&gt;&#10;        &lt;Box style={{ height: 62, flexDirection: 'row', alignItems: 'center', padding: '0 20px', background: '#1B2740', borderBottom: '1px solid rgba(232,238,247,0.10)' }}&gt;&#10;          &lt;Text style={{ fontSize: 26, color: '#E8EEF7', width: 200 }}&gt;隐私&lt;/Text&gt;&#10;          &lt;Text style={{ fontSize: 26, color: '#4FE0B0', flex: 1 }}&gt;本机数据&lt;/Text&gt;&#10;          &lt;Text style={{ fontSize: 26, color: '#E8EEF7', opacity: 0.7, flex: 1 }}&gt;常上云&lt;/Text&gt;&#10;        &lt;/Box&gt;&#10;        &lt;Box style={{ height: 62, flexDirection: 'row', alignItems: 'center', padding: '0 20px', background: '#1B2740', borderRadius: '0 0 10px 10px' }}&gt;&#10;          &lt;Text style={{ fontSize: 26, color: '#E8EEF7', width: 200 }}&gt;断网&lt;/Text&gt;&#10;          &lt;Text style={{ fontSize: 26, color: '#4FE0B0', flex: 1 }}&gt;仍可用&lt;/Text&gt;&#10;          &lt;Text style={{ fontSize: 26, color: '#E8EEF7', opacity: 0.7, flex: 1 }}&gt;多受限&lt;/Text&gt;&#10;        &lt;/Box&gt;&#10;      &lt;/Box&gt;&#10;      &lt;Box style={{ width: 1000, height: 130, background: 'rgba(79,224,176,0.10)', border: '1px solid rgba(79,224,176,0.4)', borderRadius: 12, padding: '0 30px'}}&gt;&#10;          &lt;Text style={{ fontSize: 32, fontWeight: 'bold', color: '#E8EEF7', textAlign: 'center', lineHeight: 1.5 }}&gt;别人填表单，我们说一句话；&lt;br /&gt;&lt;span style={{ color: '#4FE0B0' }}&gt;提醒你停下来，而不是催你干活。&lt;/span&gt;&lt;/Text&gt;&#10;        &lt;/Box&gt;&#10;    &lt;/Box&gt;&#10;    &lt;Box style={{ height: 40, flexDirection: 'row', alignItems: 'center', justifyContent: 'space-between' }}&gt;&#10;      &lt;Text style={{ fontSize: 18, color: '#E8EEF7', opacity: 0.45 }}&gt;知歇 ZhiXie · V1.0.0&lt;/Text&gt;&#10;      &lt;Text style={{ fontSize: 18, fontFamily: 'Consolas', color: '#E8EEF7', opacity: 0.45 }}&gt;28 / 2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691" name=""/>
          <p:cNvSpPr/>
          <p:nvPr/>
        </p:nvSpPr>
        <p:spPr>
          <a:xfrm rot="0" flipH="0" flipV="0">
            <a:off x="609600" y="152400"/>
            <a:ext cx="10972800" cy="533400"/>
          </a:xfrm>
          <a:custGeom>
            <a:pathLst>
              <a:path w="1152" h="56">
                <a:moveTo>
                  <a:pt x="0" y="55"/>
                </a:moveTo>
                <a:lnTo>
                  <a:pt x="1152" y="55"/>
                </a:lnTo>
                <a:lnTo>
                  <a:pt x="115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pic>
        <p:nvPicPr>
          <p:cNvPr id="6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304800"/>
            <a:ext cx="228600" cy="228600"/>
          </a:xfrm>
          <a:prstGeom prst="rect">
            <a:avLst/>
          </a:prstGeom>
          <a:ln/>
        </p:spPr>
      </p:pic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33450" y="3143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350" b="1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107632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4FE0B0"/>
                </a:solidFill>
                <a:latin typeface="Microsoft YaHei"/>
                <a:ea typeface="Microsoft YaHei"/>
              </a:rPr>
              <a:t>应用价值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771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00" spc="150">
                <a:solidFill>
                  <a:srgbClr val="4FE0B0"/>
                </a:solidFill>
                <a:latin typeface="Consolas"/>
                <a:ea typeface="Consolas"/>
              </a:rPr>
              <a:t xml:space="preserve">08 · </a:t>
            </a:r>
            <a:r>
              <a:rPr lang="zh-CN" sz="1600" spc="150">
                <a:solidFill>
                  <a:srgbClr val="4FE0B0"/>
                </a:solidFill>
                <a:latin typeface="Consolas"/>
                <a:ea typeface="Consolas"/>
              </a:rPr>
              <a:t>应用价值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609600" y="1047750"/>
            <a:ext cx="3771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应用价值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对比与收束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1333500" y="2009775"/>
            <a:ext cx="9525000" cy="533400"/>
          </a:xfrm>
          <a:custGeom>
            <a:pathLst>
              <a:path w="1000" h="56">
                <a:moveTo>
                  <a:pt x="10" y="0"/>
                </a:moveTo>
                <a:lnTo>
                  <a:pt x="990" y="0"/>
                </a:lnTo>
                <a:cubicBezTo>
                  <a:pt x="996" y="0"/>
                  <a:pt x="1000" y="4"/>
                  <a:pt x="1000" y="10"/>
                </a:cubicBezTo>
                <a:lnTo>
                  <a:pt x="1000" y="56"/>
                </a:lnTo>
                <a:lnTo>
                  <a:pt x="1000" y="56"/>
                </a:lnTo>
                <a:lnTo>
                  <a:pt x="0" y="56"/>
                </a:lnTo>
                <a:lnTo>
                  <a:pt x="0" y="56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4FE0B0">
              <a:alpha val="12000"/>
            </a:srgbClr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1524000" y="2124075"/>
            <a:ext cx="19050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E8EEF7"/>
                </a:solidFill>
                <a:latin typeface="Microsoft YaHei"/>
                <a:ea typeface="Microsoft YaHei"/>
              </a:rPr>
              <a:t>维度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3429000" y="2124075"/>
            <a:ext cx="36195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1333500" y="2543175"/>
            <a:ext cx="9525000" cy="581025"/>
          </a:xfrm>
          <a:prstGeom prst="rect">
            <a:avLst/>
          </a:prstGeom>
          <a:solidFill>
            <a:srgbClr val="1B2740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1333500" y="2543175"/>
            <a:ext cx="9525000" cy="590550"/>
          </a:xfrm>
          <a:custGeom>
            <a:pathLst>
              <a:path w="1000" h="62">
                <a:moveTo>
                  <a:pt x="0" y="61"/>
                </a:moveTo>
                <a:lnTo>
                  <a:pt x="1000" y="61"/>
                </a:lnTo>
                <a:lnTo>
                  <a:pt x="1000" y="62"/>
                </a:lnTo>
                <a:lnTo>
                  <a:pt x="0" y="62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1524000" y="2686050"/>
            <a:ext cx="1905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建提醒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3429000" y="2686050"/>
            <a:ext cx="3619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说一句话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1333500" y="3133725"/>
            <a:ext cx="9525000" cy="581025"/>
          </a:xfrm>
          <a:prstGeom prst="rect">
            <a:avLst/>
          </a:prstGeom>
          <a:solidFill>
            <a:srgbClr val="1B2740"/>
          </a:solidFill>
          <a:ln/>
        </p:spPr>
        <p:txBody>
          <a:bodyPr/>
          <a:p/>
        </p:txBody>
      </p:sp>
      <p:sp>
        <p:nvSpPr>
          <p:cNvPr id="705" name=""/>
          <p:cNvSpPr/>
          <p:nvPr/>
        </p:nvSpPr>
        <p:spPr>
          <a:xfrm rot="0" flipH="0" flipV="0">
            <a:off x="1333500" y="3133725"/>
            <a:ext cx="9525000" cy="590550"/>
          </a:xfrm>
          <a:custGeom>
            <a:pathLst>
              <a:path w="1000" h="62">
                <a:moveTo>
                  <a:pt x="0" y="61"/>
                </a:moveTo>
                <a:lnTo>
                  <a:pt x="1000" y="61"/>
                </a:lnTo>
                <a:lnTo>
                  <a:pt x="1000" y="62"/>
                </a:lnTo>
                <a:lnTo>
                  <a:pt x="0" y="62"/>
                </a:lnTo>
                <a:close/>
              </a:path>
            </a:pathLst>
          </a:custGeom>
          <a:solidFill>
            <a:srgbClr val="E8EEF7">
              <a:alpha val="10000"/>
            </a:srgbClr>
          </a:solidFill>
          <a:ln/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524000" y="3276600"/>
            <a:ext cx="1905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隐私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3429000" y="3276600"/>
            <a:ext cx="3619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本机数据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1333500" y="3724275"/>
            <a:ext cx="9525000" cy="590550"/>
          </a:xfrm>
          <a:custGeom>
            <a:pathLst>
              <a:path w="1000" h="62">
                <a:moveTo>
                  <a:pt x="0" y="0"/>
                </a:moveTo>
                <a:lnTo>
                  <a:pt x="1000" y="0"/>
                </a:lnTo>
                <a:lnTo>
                  <a:pt x="1000" y="0"/>
                </a:lnTo>
                <a:lnTo>
                  <a:pt x="1000" y="52"/>
                </a:lnTo>
                <a:cubicBezTo>
                  <a:pt x="1000" y="58"/>
                  <a:pt x="996" y="62"/>
                  <a:pt x="990" y="62"/>
                </a:cubicBezTo>
                <a:lnTo>
                  <a:pt x="10" y="62"/>
                </a:lnTo>
                <a:cubicBezTo>
                  <a:pt x="4" y="62"/>
                  <a:pt x="0" y="58"/>
                  <a:pt x="0" y="52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B2740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524000" y="3867150"/>
            <a:ext cx="1905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断网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3429000" y="3867150"/>
            <a:ext cx="3619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4FE0B0"/>
                </a:solidFill>
                <a:latin typeface="Microsoft YaHei"/>
                <a:ea typeface="Microsoft YaHei"/>
              </a:rPr>
              <a:t>仍可用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1333500" y="4505325"/>
            <a:ext cx="9525000" cy="1238250"/>
          </a:xfrm>
          <a:prstGeom prst="roundRect">
            <a:avLst>
              <a:gd name="adj" fmla="val 9231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1619250" y="4505325"/>
            <a:ext cx="8953500" cy="11049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2400" b="1">
                <a:solidFill>
                  <a:srgbClr val="E8EEF7"/>
                </a:solidFill>
                <a:latin typeface="Microsoft YaHei"/>
                <a:ea typeface="Microsoft YaHei"/>
              </a:rPr>
              <a:t>别人填表单，我们说一句话；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2400" b="1">
                <a:solidFill>
                  <a:srgbClr val="4FE0B0"/>
                </a:solidFill>
                <a:latin typeface="Microsoft YaHei"/>
                <a:ea typeface="Microsoft YaHei"/>
              </a:rPr>
              <a:t>提醒你停下来，而不是催你干活。</a:t>
            </a:r>
            <a:endParaRPr/>
          </a:p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329565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4248150" y="295275"/>
            <a:ext cx="1219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目标用户群体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56007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553200" y="2952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81153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实施计划</a:t>
            </a:r>
            <a:endParaRPr/>
          </a:p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9067800" y="295275"/>
            <a:ext cx="819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10020300" y="295275"/>
            <a:ext cx="609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创新点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1363325" y="1276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28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7048500" y="2124075"/>
            <a:ext cx="36195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传统做法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7048500" y="2686050"/>
            <a:ext cx="3619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填表单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7048500" y="3276600"/>
            <a:ext cx="3619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常上云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048500" y="3867150"/>
            <a:ext cx="3619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多受限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609600" y="6200775"/>
            <a:ext cx="1533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350">
                <a:solidFill>
                  <a:srgbClr val="E8EEF7">
                    <a:alpha val="45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11049000" y="620077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>
                    <a:alpha val="45000"/>
                  </a:srgbClr>
                </a:solidFill>
                <a:latin typeface="Consolas"/>
                <a:ea typeface="Consolas"/>
              </a:rPr>
              <a:t>28 / 29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727" name="" descr="&lt;Slide style={{ width: 1280, height: 720, background: '#0B1220', padding: '64px 80px', flexDirection: 'column', alignItems: 'center', justifyContent: 'center', gap: 22 }}&gt;&#10;    &lt;svg width={200} height={200} viewBox='0 0 200 200'&gt;&#10;      &lt;circle cx='100' cy='100' r='92' fill='none' stroke='#4FE0B0' strokeWidth='1' opacity='0.22' /&gt;&#10;      &lt;circle cx='100' cy='100' r='64' fill='none' stroke='#4FE0B0' strokeWidth='1.5' opacity='0.4' /&gt;&#10;      &lt;path d='M100 100 L176 56' fill='none' stroke='#4FE0B0' strokeWidth='2' opacity='0.7' /&gt;&#10;      &lt;path d='M148 64 A92 92 0 0 1 176 100' fill='none' stroke='#4FE0B0' strokeWidth='2.5' opacity='0.9' /&gt;&#10;      &lt;circle cx='100' cy='100' r='4' fill='#4FE0B0' /&gt;&#10;      &lt;circle cx='176' cy='56' r='3.5' fill='#4FE0B0' /&gt;&#10;    &lt;/svg&gt;&#10;    &lt;Text style={{ fontSize: 56, fontWeight: 'bold', color: '#E8EEF7', lineHeight: 1.2 }}&gt;知时而歇，张弛有度&lt;/Text&gt;&#10;    &lt;Text style={{ fontSize: 30, color: '#4FE0B0', letterSpacing: 2 }}&gt;提醒你停下来，而不是催你干活&lt;/Text&gt;&#10;    &lt;Box style={{ height: 3, width: 120, background: 'linear-gradient(135deg, #4FE0B0 0%, #2E9E8F 100%)', borderRadius: 2 }} /&gt;&#10;    &lt;Box style={{ flexDirection: 'row', alignItems: 'center', gap: 12, marginTop: 6 }}&gt;&#10;      &lt;svg width={26} height={26} viewBox='0 0 22 22'&gt;&#10;        &lt;circle cx='11' cy='11' r='10' fill='rgba(79,224,176,0.12)' stroke='#4FE0B0' strokeWidth='1.5' /&gt;&#10;        &lt;path d='M6 11 L9.5 14.5 L16 8' fill='none' stroke='#4FE0B0' strokeWidth='2' /&gt;&#10;      &lt;/svg&gt;&#10;      &lt;Text style={{ fontSize: 28, color: '#4FE0B0' }}&gt;已经做完 · 双平台可直接下载安装&lt;/Text&gt;&#10;    &lt;/Box&gt;&#10;    &lt;Text style={{ fontSize: 20, color: '#4FE0B0', fontFamily: 'Consolas', marginTop: 6 }}&gt;https://smileher.github.io/ZhiXie/&lt;/Text&gt;&#10;    &lt;Text style={{ fontSize: 22, color: '#4FE0B0', opacity: 0.5, letterSpacing: 1, marginTop: 6 }}&gt;创新主赛道 · AIGC 创新组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pic>
        <p:nvPicPr>
          <p:cNvPr id="7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143500" y="790575"/>
            <a:ext cx="1905000" cy="1905000"/>
          </a:xfrm>
          <a:prstGeom prst="rect">
            <a:avLst/>
          </a:prstGeom>
          <a:ln/>
        </p:spPr>
      </p:pic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3695700" y="2905125"/>
            <a:ext cx="4800600" cy="7715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200" b="1">
                <a:solidFill>
                  <a:srgbClr val="E8EEF7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3962400" y="3886200"/>
            <a:ext cx="4267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150">
                <a:solidFill>
                  <a:srgbClr val="4FE0B0"/>
                </a:solidFill>
                <a:latin typeface="Microsoft YaHei"/>
                <a:ea typeface="Microsoft YaHei"/>
              </a:rPr>
              <a:t>提醒你停下来，而不是催你干活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5524500" y="4438650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7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933825" y="4772025"/>
            <a:ext cx="247650" cy="247650"/>
          </a:xfrm>
          <a:prstGeom prst="rect">
            <a:avLst/>
          </a:prstGeom>
          <a:ln/>
        </p:spPr>
      </p:pic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4295775" y="4733925"/>
            <a:ext cx="39719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已经做完</a:t>
            </a:r>
            <a:r>
              <a:rPr lang="en-US" sz="2100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100">
                <a:solidFill>
                  <a:srgbClr val="4FE0B0"/>
                </a:solidFill>
                <a:latin typeface="Microsoft YaHei"/>
                <a:ea typeface="Microsoft YaHei"/>
              </a:rPr>
              <a:t>双平台可直接下载安装</a:t>
            </a:r>
            <a:endParaRPr/>
          </a:p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4743450" y="5324475"/>
            <a:ext cx="2705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4FE0B0"/>
                </a:solidFill>
                <a:latin typeface="Consolas"/>
                <a:ea typeface="Consolas"/>
              </a:rPr>
              <a:t>https://smileher.github.io/ZhiXie/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4800600" y="58197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65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AIGC </a:t>
            </a:r>
            <a:r>
              <a:rPr lang="zh-CN" sz="1650" spc="75">
                <a:solidFill>
                  <a:srgbClr val="4FE0B0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2026-10-12T20:15:34Z</dcterms:created>
  <dcterms:modified xsi:type="dcterms:W3CDTF">2026-10-12T20:15:34Z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{"AIGC":{"Label":"1","ContentProducer":"00119111010856365494821B355","ProduceID":"01a12edca49a7e53b2bb350eab44c7b3","ReservedCode1":"","ContentPropagator":"00119111010856365494821B355","PropagateID":"01a12edca49a7e53b2bb350eab44c7b3","ReservedCode2":""}}</vt:lpwstr>
  </property>
</Properties>
</file>