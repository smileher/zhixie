
<file path=[Content_Types].xml><?xml version="1.0" encoding="utf-8"?>
<Types xmlns="http://schemas.openxmlformats.org/package/2006/content-types">
  <Default Extension="svg" ContentType="image/svg+xml"/>
  <Default Extension="xml" ContentType="application/xml"/>
  <Default Extension="rels" ContentType="application/vnd.openxmlformats-package.relationships+xml"/>
  <Override PartName="/ppt/presentation.xml" ContentType="application/vnd.openxmlformats-officedocument.presentationml.presentation.main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6.xml" ContentType="application/vnd.openxmlformats-officedocument.presentationml.slide+xml"/>
  <Override PartName="/ppt/slides/slide1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5.xml" ContentType="application/vnd.openxmlformats-officedocument.presentationml.slide+xml"/>
  <Override PartName="/ppt/viewProps.xml" ContentType="application/vnd.openxmlformats-officedocument.presentationml.viewProps+xml"/>
  <Override PartName="/ppt/notesMasters/notesMaster1.xml" ContentType="application/vnd.openxmlformats-officedocument.presentationml.notesMaster+xml"/>
  <Override PartName="/ppt/slides/slide12.xml" ContentType="application/vnd.openxmlformats-officedocument.presentationml.slide+xml"/>
  <Override PartName="/ppt/slideMasters/slideMaster1.xml" ContentType="application/vnd.openxmlformats-officedocument.presentationml.slideMaster+xml"/>
  <Override PartName="/docProps/app.xml" ContentType="application/vnd.openxmlformats-officedocument.extended-properties+xml"/>
  <Override PartName="/ppt/slides/slide9.xml" ContentType="application/vnd.openxmlformats-officedocument.presentationml.slide+xml"/>
  <Override PartName="/docProps/core.xml" ContentType="application/vnd.openxmlformats-package.core-properties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docProps/custom.xml" ContentType="application/vnd.openxmlformats-officedocument.custom-properties+xml"/>
  <Override PartName="/ppt/slides/slide14.xml" ContentType="application/vnd.openxmlformats-officedocument.presentationml.slide+xml"/>
  <Override PartName="/ppt/slides/slide10.xml" ContentType="application/vnd.openxmlformats-officedocument.presentationml.slide+xml"/>
  <Override PartName="/ppt/tableStyles.xml" ContentType="application/vnd.openxmlformats-officedocument.presentationml.tableStyles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slides/slide4.xml" ContentType="application/vnd.openxmlformats-officedocument.presentationml.slide+xml"/>
  <Override PartName="/ppt/slides/slide8.xml" ContentType="application/vnd.openxmlformats-officedocument.presentationml.slide+xml"/>
  <Override PartName="/ppt/slideLayouts/slideLayout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officeDocument/2006/relationships/custom-properties" Target="docProps/custom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Relationship Id="rId0" Type="http://schemas.openxmlformats.org/officeDocument/2006/relationships/officeDocument" Target="ppt/presentation.xml" /></Relationships>
</file>

<file path=ppt/presentation.xml><?xml version="1.0" encoding="utf-8"?>
<p:presentation xmlns:r="http://schemas.openxmlformats.org/officeDocument/2006/relationships" xmlns:p="http://schemas.openxmlformats.org/presentationml/2006/main" xmlns:a="http://schemas.openxmlformats.org/drawingml/2006/main" firstSlideNum="1">
  <p:sldMasterIdLst>
    <p:sldMasterId id="2147483648" r:id="rId0"/>
  </p:sldMasterIdLst>
  <p:notesMasterIdLst>
    <p:notesMasterId r:id="rId19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8" Type="http://schemas.openxmlformats.org/officeDocument/2006/relationships/slide" Target="slides/slide8.xml" /><Relationship Id="rId7" Type="http://schemas.openxmlformats.org/officeDocument/2006/relationships/slide" Target="slides/slide7.xml" /><Relationship Id="rId4" Type="http://schemas.openxmlformats.org/officeDocument/2006/relationships/slide" Target="slides/slide4.xml" /><Relationship Id="rId2" Type="http://schemas.openxmlformats.org/officeDocument/2006/relationships/slide" Target="slides/slide2.xml" /><Relationship Id="rId21" Type="http://schemas.openxmlformats.org/officeDocument/2006/relationships/tableStyles" Target="tableStyles.xml" /><Relationship Id="rId16" Type="http://schemas.openxmlformats.org/officeDocument/2006/relationships/slide" Target="slides/slide16.xml" /><Relationship Id="rId10" Type="http://schemas.openxmlformats.org/officeDocument/2006/relationships/slide" Target="slides/slide10.xml" /><Relationship Id="rId15" Type="http://schemas.openxmlformats.org/officeDocument/2006/relationships/slide" Target="slides/slide15.xml" /><Relationship Id="rId14" Type="http://schemas.openxmlformats.org/officeDocument/2006/relationships/slide" Target="slides/slide14.xml" /><Relationship Id="rId13" Type="http://schemas.openxmlformats.org/officeDocument/2006/relationships/slide" Target="slides/slide13.xml" /><Relationship Id="rId9" Type="http://schemas.openxmlformats.org/officeDocument/2006/relationships/slide" Target="slides/slide9.xml" /><Relationship Id="rId22" Type="http://schemas.openxmlformats.org/officeDocument/2006/relationships/viewProps" Target="viewProps.xml" /><Relationship Id="rId18" Type="http://schemas.openxmlformats.org/officeDocument/2006/relationships/slide" Target="slides/slide18.xml" /><Relationship Id="rId11" Type="http://schemas.openxmlformats.org/officeDocument/2006/relationships/slide" Target="slides/slide11.xml" /><Relationship Id="rId0" Type="http://schemas.openxmlformats.org/officeDocument/2006/relationships/slideMaster" Target="slideMasters/slideMaster1.xml" /><Relationship Id="rId20" Type="http://schemas.openxmlformats.org/officeDocument/2006/relationships/presProps" Target="presProps.xml" /><Relationship Id="rId1" Type="http://schemas.openxmlformats.org/officeDocument/2006/relationships/slide" Target="slides/slide1.xml" /><Relationship Id="rId6" Type="http://schemas.openxmlformats.org/officeDocument/2006/relationships/slide" Target="slides/slide6.xml" /><Relationship Id="rId5" Type="http://schemas.openxmlformats.org/officeDocument/2006/relationships/slide" Target="slides/slide5.xml" /><Relationship Id="rId3" Type="http://schemas.openxmlformats.org/officeDocument/2006/relationships/slide" Target="slides/slide3.xml" /><Relationship Id="rId19" Type="http://schemas.openxmlformats.org/officeDocument/2006/relationships/notesMaster" Target="notesMasters/notesMaster1.xml" /><Relationship Id="rId12" Type="http://schemas.openxmlformats.org/officeDocument/2006/relationships/slide" Target="slides/slide12.xml" /><Relationship Id="rId17" Type="http://schemas.openxmlformats.org/officeDocument/2006/relationships/slide" Target="slides/slide17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r="http://schemas.openxmlformats.org/officeDocument/2006/relationships"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image" Target="media/image1.svg" /><Relationship Id="rId2" Type="http://schemas.openxmlformats.org/officeDocument/2006/relationships/image" Target="media/image2.svg" /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2" Type="http://schemas.openxmlformats.org/officeDocument/2006/relationships/image" Target="media/image11.svg" /><Relationship Id="rId1" Type="http://schemas.openxmlformats.org/officeDocument/2006/relationships/image" Target="media/image10.svg" /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2" Type="http://schemas.openxmlformats.org/officeDocument/2006/relationships/image" Target="media/image13.svg" /><Relationship Id="rId1" Type="http://schemas.openxmlformats.org/officeDocument/2006/relationships/image" Target="media/image12.svg" /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2" Type="http://schemas.openxmlformats.org/officeDocument/2006/relationships/image" Target="media/image15.svg" /><Relationship Id="rId1" Type="http://schemas.openxmlformats.org/officeDocument/2006/relationships/image" Target="media/image14.svg" /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image" Target="media/image16.svg" /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image" Target="media/image3.svg" /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3" Type="http://schemas.openxmlformats.org/officeDocument/2006/relationships/image" Target="media/image6.svg" /><Relationship Id="rId2" Type="http://schemas.openxmlformats.org/officeDocument/2006/relationships/image" Target="media/image5.svg" /><Relationship Id="rId1" Type="http://schemas.openxmlformats.org/officeDocument/2006/relationships/image" Target="media/image4.svg" /><Relationship Id="rId4" Type="http://schemas.openxmlformats.org/officeDocument/2006/relationships/image" Target="media/image7.svg" /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image" Target="media/image8.svg" /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image" Target="media/image9.svg" /><Relationship Id="rId0" Type="http://schemas.openxmlformats.org/officeDocument/2006/relationships/slideLayout" Target="../slideLayouts/slideLayout1.xml" /></Relationships>
</file>

<file path=ppt/slides/slide1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1" name="" descr="&lt;Slide style={{ width: 1280, height: 720, background: '#0B1220', padding: '64px 80px', flexDirection: 'row', alignItems: 'center', justifyContent: 'space-between' }}&gt;&#10;    &lt;Box style={{ width: 620, flexDirection: 'column', gap: 20 }}&gt;&#10;        &lt;Box style={{ flexDirection: 'row', alignItems: 'center', gap: 14 }}&gt;&#10;            &lt;svg width={40} height={40} viewBox='0 0 40 40'&gt;&#10;                &lt;circle cx='20' cy='20' r='17' fill='none' stroke='#4FE0B0' strokeWidth='1' opacity='0.45' /&gt;&#10;                &lt;path d='M28 10 A17 17 0 1 0 28 30' fill='none' stroke='#4FE0B0' strokeWidth='2.5' /&gt;&#10;                &lt;rect x='15' y='15' width='2.4' height='10' rx='1.2' fill='#4FE0B0' /&gt;&#10;                &lt;rect x='20' y='15' width='2.4' height='10' rx='1.2' fill='#4FE0B0' /&gt;&#10;            &lt;/svg&gt;&#10;            &lt;Text style={{ fontSize: 15, color: '#E8EEF7', opacity: 0.5, letterSpacing: 6 }}&gt;Z H I X I E&lt;/Text&gt;&#10;        &lt;/Box&gt;&#10;        &lt;Text style={{ fontSize: 72, fontWeight: 'bold', color: '#E8EEF7', lineHeight: 1.15 }}&gt;知歇 &lt;span style={{ color: '#4FE0B0' }}&gt;ZhiXie&lt;/span&gt;&lt;/Text&gt;&#10;        &lt;Text style={{ fontSize: 26, color: '#4FE0B0', letterSpacing: 3 }}&gt;知时而歇，张弛有度&lt;/Text&gt;&#10;        &lt;Box style={{ height: 3, width: 120, background: 'linear-gradient(135deg, #4FE0B0 0%, #2E9E8F 100%)', borderRadius: 2 }} /&gt;&#10;        &lt;Text style={{ fontSize: 20, color: '#E8EEF7', opacity: 0.72, lineHeight: 1.6 }}&gt;一款融合智能体的桌面休息提醒工具。&lt;br /&gt;说一句话，智能体把它变成可执行的休息节律。&lt;/Text&gt;&#10;        &lt;Text style={{ fontSize: 16, color: '#E8EEF7', opacity: 0.5, marginTop: 10 }}&gt;无锡开放大学 · 指导教师 王敏 · 创新主赛道 AIGC 创新组&lt;/Text&gt;&#10;    &lt;/Box&gt;&#10;    &lt;Box style={{ width: 440, height: 440, justifyContent: 'center', alignItems: 'center' }}&gt;&#10;        &lt;svg width={440} height={440} viewBox='0 0 440 440'&gt;&#10;            &lt;circle cx='220' cy='220' r='200' fill='rgba(79,224,176,0.04)' /&gt;&#10;            &lt;circle cx='220' cy='220' r='200' fill='none' stroke='#4FE0B0' strokeWidth='1' opacity='0.16' /&gt;&#10;            &lt;circle cx='220' cy='220' r='146' fill='none' stroke='#4FE0B0' strokeWidth='1' opacity='0.26' /&gt;&#10;            &lt;circle cx='220' cy='220' r='92' fill='none' stroke='#4FE0B0' strokeWidth='1.5' opacity='0.45' /&gt;&#10;            &lt;circle cx='220' cy='220' r='5' fill='#4FE0B0' /&gt;&#10;            &lt;path d='M220 220 L392 112' fill='none' stroke='#4FE0B0' strokeWidth='2' opacity='0.65' /&gt;&#10;            &lt;path d='M220 220 L392 112' fill='none' stroke='#4FE0B0' strokeWidth='2' opacity='0.65' /&gt;&#10;            &lt;path d='M330 128 A200 200 0 0 1 392 214' fill='none' stroke='#4FE0B0' strokeWidth='2.5' opacity='0.8' /&gt;&#10;            &lt;circle cx='392' cy='112' r='4' fill='#4FE0B0' /&gt;&#10;        &lt;/svg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pic>
        <p:nvPicPr>
          <p:cNvPr id="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62000" y="1609725"/>
            <a:ext cx="381000" cy="381000"/>
          </a:xfrm>
          <a:prstGeom prst="rect">
            <a:avLst/>
          </a:prstGeom>
          <a:ln/>
        </p:spPr>
      </p:pic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762000" y="2181225"/>
            <a:ext cx="5905500" cy="95250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zh-CN" sz="5400" b="1">
                <a:solidFill>
                  <a:srgbClr val="E8EEF7"/>
                </a:solidFill>
                <a:latin typeface="Microsoft YaHei"/>
                <a:ea typeface="Microsoft YaHei"/>
              </a:rPr>
              <a:t>知歇</a:t>
            </a:r>
            <a:r>
              <a:rPr lang="en-US" sz="540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5400" b="1">
                <a:solidFill>
                  <a:srgbClr val="4FE0B0"/>
                </a:solidFill>
                <a:latin typeface="Microsoft YaHei"/>
                <a:ea typeface="Microsoft YaHei"/>
              </a:rPr>
              <a:t>ZhiXie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762000" y="3324225"/>
            <a:ext cx="59055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spc="225">
                <a:solidFill>
                  <a:srgbClr val="4FE0B0"/>
                </a:solidFill>
                <a:latin typeface="Microsoft YaHei"/>
                <a:ea typeface="Microsoft YaHei"/>
              </a:rPr>
              <a:t>知时而歇，张弛有度</a:t>
            </a:r>
            <a:endParaRPr/>
          </a:p>
        </p:txBody>
      </p:sp>
      <p:sp>
        <p:nvSpPr>
          <p:cNvPr id="6" name=""/>
          <p:cNvSpPr/>
          <p:nvPr/>
        </p:nvSpPr>
        <p:spPr>
          <a:xfrm rot="0" flipH="0" flipV="0">
            <a:off x="762000" y="3819525"/>
            <a:ext cx="1143000" cy="28575"/>
          </a:xfrm>
          <a:prstGeom prst="roundRect">
            <a:avLst>
              <a:gd name="adj" fmla="val 66667"/>
            </a:avLst>
          </a:prstGeom>
          <a:gradFill>
            <a:gsLst>
              <a:gs pos="0">
                <a:srgbClr val="4FE0B0"/>
              </a:gs>
              <a:gs pos="100000">
                <a:srgbClr val="2E9E8F"/>
              </a:gs>
            </a:gsLst>
            <a:lin ang="2700000" scaled="1"/>
          </a:gradFill>
          <a:ln/>
        </p:spPr>
        <p:txBody>
          <a:bodyPr/>
          <a:p/>
        </p:txBody>
      </p:sp>
      <p:pic>
        <p:nvPicPr>
          <p:cNvPr id="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239000" y="1333500"/>
            <a:ext cx="4191000" cy="4191000"/>
          </a:xfrm>
          <a:prstGeom prst="rect">
            <a:avLst/>
          </a:prstGeom>
          <a:ln/>
        </p:spPr>
      </p:pic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276350" y="1714500"/>
            <a:ext cx="1295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4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Z H I X I E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762000" y="4038600"/>
            <a:ext cx="5905500" cy="7334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5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一款融合智能体的桌面休息提醒工具。</a:t>
            </a:r>
            <a:endParaRPr/>
          </a:p>
          <a:p>
            <a:pPr>
              <a:lnSpc>
                <a:spcPct val="160000"/>
              </a:lnSpc>
            </a:pPr>
            <a:r>
              <a:rPr lang="zh-CN" sz="15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说一句话，智能体把它变成可执行的休息节律。</a:t>
            </a:r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762000" y="5057775"/>
            <a:ext cx="5905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无锡开放大学</a:t>
            </a:r>
            <a:r>
              <a:rPr lang="en-US" sz="12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指导教师</a:t>
            </a:r>
            <a:r>
              <a:rPr lang="en-US" sz="12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王敏</a:t>
            </a:r>
            <a:r>
              <a:rPr lang="en-US" sz="12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创新主赛道</a:t>
            </a:r>
            <a:r>
              <a:rPr lang="en-US" sz="12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 xml:space="preserve"> AIGC </a:t>
            </a:r>
            <a:r>
              <a:rPr lang="zh-CN" sz="12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创新组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220" name="" descr="&lt;Slide style={{ width: 1280, height: 720, background: '#0B1220', padding: '20px 64px' }}&gt;&#10;    &lt;Box style={{ height: 100, flexDirection: 'row', alignItems: 'flex-end', justifyContent: 'space-between', paddingBottom: 18 }}&gt;&#10;        &lt;Box style={{ flexDirection: 'column', gap: 6 }}&gt;&#10;            &lt;Text style={{ fontSize: 36, fontWeight: 'bold', color: '#E8EEF7' }}&gt;目录&lt;/Text&gt;&#10;            &lt;Text style={{ fontSize: 16, color: '#E8EEF7', opacity: 0.55, letterSpacing: 1 }}&gt;三章，回答评委最关心的三个问题&lt;/Text&gt;&#10;        &lt;/Box&gt;&#10;        &lt;Text style={{ fontSize: 14, color: '#4FE0B0', letterSpacing: 3, opacity: 0.85 }}&gt;CONTENTS&lt;/Text&gt;&#10;    &lt;/Box&gt;&#10;    &lt;Box style={{ height: 500, flexDirection: 'row', gap: 44 }}&gt;&#10;        &lt;Box style={{ width: 288, flexDirection: 'column', justifyContent: 'center', gap: 20 }}&gt;&#10;            &lt;Text style={{ fontSize: 21, color: '#E8EEF7', opacity: 0.78, lineHeight: 1.7 }}&gt;需求是真的吗？&lt;br /&gt;智能体是怎么做的？&lt;br /&gt;工程上靠得住吗？&lt;/Text&gt;&#10;            &lt;Box style={{ height: 3, width: 88, background: 'linear-gradient(135deg, #4FE0B0 0%, #2E9E8F 100%)', borderRadius: 2 }} /&gt;&#10;            &lt;Text style={{ fontSize: 16, color: '#E8EEF7', opacity: 0.5, lineHeight: 1.6 }}&gt;本演示共 18 页，按路演 6—8 分钟节奏编排，每个数据均可现场核验。&lt;/Text&gt;&#10;        &lt;/Box&gt;&#10;        &lt;Box style={{ flex: 1, flexDirection: 'column', gap: 18, justifyContent: 'center' }}&gt;&#10;            &lt;Box style={{ flexDirection: 'row', alignItems: 'center', gap: 24, padding: '20px 24px', background: 'rgba(232,238,247,0.04)', border: '1px solid rgba(232,238,247,0.10)', borderRadius: 12 }}&gt;&#10;                &lt;Box style={{ width: 60, height: 60, borderRadius: 30, background: 'rgba(79,224,176,0.10)', justifyContent: 'center', alignItems: 'center' }}&gt;&#10;                    &lt;Text style={{ fontSize: 20, fontWeight: 'bold', fontFamily: 'Consolas', color: '#4FE0B0' }}&gt;01&lt;/Text&gt;&#10;                &lt;/Box&gt;&#10;                &lt;Box style={{ flexDirection: 'column', gap: 6 }}&gt;&#10;                    &lt;Text style={{ fontSize: 24, fontWeight: 'bold', color: '#E8EEF7' }}&gt;问题与定位&lt;/Text&gt;&#10;                    &lt;Text style={{ fontSize: 16, color: '#E8EEF7', opacity: 0.62, lineHeight: 1.5 }}&gt;现有提醒工具的两个毛病：配置门槛高、提醒机械；知歇的定位由此而来。&lt;/Text&gt;&#10;                &lt;/Box&gt;&#10;                &lt;Text style={{ fontSize: 14, color: '#4FE0B0', opacity: 0.85 }}&gt;P03–P05&lt;/Text&gt;&#10;            &lt;/Box&gt;&#10;            &lt;Box style={{ flexDirection: 'row', alignItems: 'center', gap: 24, padding: '20px 24px', background: 'rgba(232,238,247,0.04)', border: '1px solid rgba(232,238,247,0.10)', borderRadius: 12 }}&gt;&#10;                &lt;Box style={{ width: 60, height: 60, borderRadius: 30, background: 'rgba(79,224,176,0.10)', justifyContent: 'center', alignItems: 'center' }}&gt;&#10;                    &lt;Text style={{ fontSize: 20, fontWeight: 'bold', fontFamily: 'Consolas', color: '#4FE0B0' }}&gt;02&lt;/Text&gt;&#10;                &lt;/Box&gt;&#10;                &lt;Box style={{ flexDirection: 'column', gap: 6 }}&gt;&#10;                    &lt;Text style={{ fontSize: 24, fontWeight: 'bold', color: '#E8EEF7' }}&gt;智能体开发过程&lt;/Text&gt;&#10;                    &lt;Text style={{ fontSize: 16, color: '#E8EEF7', opacity: 0.62, lineHeight: 1.5 }}&gt;双通道架构、本机规则引擎、校验优先落库，以及低代码/无代码的使用方式。&lt;/Text&gt;&#10;                &lt;/Box&gt;&#10;                &lt;Text style={{ fontSize: 14, color: '#4FE0B0', opacity: 0.85 }}&gt;P06–P10&lt;/Text&gt;&#10;            &lt;/Box&gt;&#10;            &lt;Box style={{ flexDirection: 'row', alignItems: 'center', gap: 24, padding: '20px 24px', background: 'rgba(232,238,247,0.04)', border: '1px solid rgba(232,238,247,0.10)', borderRadius: 12 }}&gt;&#10;                &lt;Box style={{ width: 60, height: 60, borderRadius: 30, background: 'rgba(79,224,176,0.10)', justifyContent: 'center', alignItems: 'center' }}&gt;&#10;                    &lt;Text style={{ fontSize: 20, fontWeight: 'bold', fontFamily: 'Consolas', color: '#4FE0B0' }}&gt;03&lt;/Text&gt;&#10;                &lt;/Box&gt;&#10;                &lt;Box style={{ flexDirection: 'column', gap: 6 }}&gt;&#10;                    &lt;Text style={{ fontSize: 24, fontWeight: 'bold', color: '#E8EEF7' }}&gt;工程质量与应用价值&lt;/Text&gt;&#10;                    &lt;Text style={{ fontSize: 16, color: '#E8EEF7', opacity: 0.62, lineHeight: 1.5 }}&gt;138 项自动化测试、数据不出本机、适用场景、创新点与横向对比。&lt;/Text&gt;&#10;                &lt;/Box&gt;&#10;                &lt;Text style={{ fontSize: 14, color: '#4FE0B0', opacity: 0.85 }}&gt;P11–P17&lt;/Text&gt;&#10;            &lt;/Box&gt;&#10;        &lt;/Box&gt;&#10;    &lt;/Box&gt;&#10;    &lt;Box style={{ height: 60, flexDirection: 'row', alignItems: 'center', justifyContent: 'space-between' }}&gt;&#10;        &lt;Text style={{ fontSize: 14, color: '#E8EEF7', opacity: 0.42 }}&gt;知歇 ZhiXie · V1.0.0&lt;/Text&gt;&#10;        &lt;Text style={{ fontSize: 14, fontFamily: 'Consolas', color: '#E8EEF7', opacity: 0.42 }}&gt;02 / 18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609600" y="304800"/>
            <a:ext cx="242887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E8EEF7"/>
                </a:solidFill>
                <a:latin typeface="Microsoft YaHei"/>
                <a:ea typeface="Microsoft YaHei"/>
              </a:rPr>
              <a:t>目录</a:t>
            </a:r>
            <a:endParaRPr/>
          </a:p>
        </p:txBody>
      </p:sp>
      <p:sp>
        <p:nvSpPr>
          <p:cNvPr id="223" name=""/>
          <p:cNvSpPr/>
          <p:nvPr/>
        </p:nvSpPr>
        <p:spPr>
          <a:xfrm rot="0" flipH="0" flipV="0">
            <a:off x="609600" y="3829050"/>
            <a:ext cx="838200" cy="28575"/>
          </a:xfrm>
          <a:prstGeom prst="roundRect">
            <a:avLst>
              <a:gd name="adj" fmla="val 66667"/>
            </a:avLst>
          </a:prstGeom>
          <a:gradFill>
            <a:gsLst>
              <a:gs pos="0">
                <a:srgbClr val="4FE0B0"/>
              </a:gs>
              <a:gs pos="100000">
                <a:srgbClr val="2E9E8F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224" name=""/>
          <p:cNvSpPr/>
          <p:nvPr/>
        </p:nvSpPr>
        <p:spPr>
          <a:xfrm rot="0" flipH="0" flipV="0">
            <a:off x="3771900" y="1866900"/>
            <a:ext cx="7810500" cy="990600"/>
          </a:xfrm>
          <a:prstGeom prst="roundRect">
            <a:avLst>
              <a:gd name="adj" fmla="val 11538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5" name=""/>
          <p:cNvSpPr/>
          <p:nvPr/>
        </p:nvSpPr>
        <p:spPr>
          <a:xfrm rot="0" flipH="0" flipV="0">
            <a:off x="4000500" y="2076450"/>
            <a:ext cx="571500" cy="571500"/>
          </a:xfrm>
          <a:prstGeom prst="roundRect">
            <a:avLst>
              <a:gd name="adj" fmla="val 50000"/>
            </a:avLst>
          </a:prstGeom>
          <a:solidFill>
            <a:srgbClr val="4FE0B0">
              <a:alpha val="10000"/>
            </a:srgbClr>
          </a:solidFill>
          <a:ln/>
        </p:spPr>
        <p:txBody>
          <a:bodyPr/>
          <a:p/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4181475" y="22479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4FE0B0"/>
                </a:solidFill>
                <a:latin typeface="Consolas"/>
                <a:ea typeface="Consolas"/>
              </a:rPr>
              <a:t>01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4800600" y="2057400"/>
            <a:ext cx="50292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E8EEF7"/>
                </a:solidFill>
                <a:latin typeface="Microsoft YaHei"/>
                <a:ea typeface="Microsoft YaHei"/>
              </a:rPr>
              <a:t>问题与定位</a:t>
            </a:r>
            <a:endParaRPr/>
          </a:p>
        </p:txBody>
      </p:sp>
      <p:sp>
        <p:nvSpPr>
          <p:cNvPr id="228" name=""/>
          <p:cNvSpPr/>
          <p:nvPr/>
        </p:nvSpPr>
        <p:spPr>
          <a:xfrm rot="0" flipH="0" flipV="0">
            <a:off x="3771900" y="3028950"/>
            <a:ext cx="7810500" cy="990600"/>
          </a:xfrm>
          <a:prstGeom prst="roundRect">
            <a:avLst>
              <a:gd name="adj" fmla="val 11538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9" name=""/>
          <p:cNvSpPr/>
          <p:nvPr/>
        </p:nvSpPr>
        <p:spPr>
          <a:xfrm rot="0" flipH="0" flipV="0">
            <a:off x="4000500" y="3238500"/>
            <a:ext cx="571500" cy="571500"/>
          </a:xfrm>
          <a:prstGeom prst="roundRect">
            <a:avLst>
              <a:gd name="adj" fmla="val 50000"/>
            </a:avLst>
          </a:prstGeom>
          <a:solidFill>
            <a:srgbClr val="4FE0B0">
              <a:alpha val="10000"/>
            </a:srgbClr>
          </a:solidFill>
          <a:ln/>
        </p:spPr>
        <p:txBody>
          <a:bodyPr/>
          <a:p/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4181475" y="34099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4FE0B0"/>
                </a:solidFill>
                <a:latin typeface="Consolas"/>
                <a:ea typeface="Consolas"/>
              </a:rPr>
              <a:t>02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4800600" y="3219450"/>
            <a:ext cx="52292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E8EEF7"/>
                </a:solidFill>
                <a:latin typeface="Microsoft YaHei"/>
                <a:ea typeface="Microsoft YaHei"/>
              </a:rPr>
              <a:t>智能体开发过程</a:t>
            </a:r>
            <a:endParaRPr/>
          </a:p>
        </p:txBody>
      </p:sp>
      <p:sp>
        <p:nvSpPr>
          <p:cNvPr id="232" name=""/>
          <p:cNvSpPr/>
          <p:nvPr/>
        </p:nvSpPr>
        <p:spPr>
          <a:xfrm rot="0" flipH="0" flipV="0">
            <a:off x="3771900" y="4191000"/>
            <a:ext cx="7810500" cy="990600"/>
          </a:xfrm>
          <a:prstGeom prst="roundRect">
            <a:avLst>
              <a:gd name="adj" fmla="val 11538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3" name=""/>
          <p:cNvSpPr/>
          <p:nvPr/>
        </p:nvSpPr>
        <p:spPr>
          <a:xfrm rot="0" flipH="0" flipV="0">
            <a:off x="4000500" y="4400550"/>
            <a:ext cx="571500" cy="571500"/>
          </a:xfrm>
          <a:prstGeom prst="roundRect">
            <a:avLst>
              <a:gd name="adj" fmla="val 50000"/>
            </a:avLst>
          </a:prstGeom>
          <a:solidFill>
            <a:srgbClr val="4FE0B0">
              <a:alpha val="10000"/>
            </a:srgbClr>
          </a:solidFill>
          <a:ln/>
        </p:spPr>
        <p:txBody>
          <a:bodyPr/>
          <a:p/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4181475" y="45720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4FE0B0"/>
                </a:solidFill>
                <a:latin typeface="Consolas"/>
                <a:ea typeface="Consolas"/>
              </a:rPr>
              <a:t>03</a:t>
            </a:r>
            <a:endParaRPr/>
          </a:p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4800600" y="4381500"/>
            <a:ext cx="45720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E8EEF7"/>
                </a:solidFill>
                <a:latin typeface="Microsoft YaHei"/>
                <a:ea typeface="Microsoft YaHei"/>
              </a:rPr>
              <a:t>工程质量与应用价值</a:t>
            </a:r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609600" y="781050"/>
            <a:ext cx="24288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75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三章，回答评委最关心的三个问题</a:t>
            </a:r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10620375" y="809625"/>
            <a:ext cx="962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225">
                <a:solidFill>
                  <a:srgbClr val="4FE0B0">
                    <a:alpha val="85000"/>
                  </a:srgbClr>
                </a:solidFill>
                <a:latin typeface="Microsoft YaHei"/>
                <a:ea typeface="Microsoft YaHei"/>
              </a:rPr>
              <a:t>CONTENTS</a:t>
            </a:r>
            <a:endParaRPr/>
          </a:p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609600" y="2409825"/>
            <a:ext cx="2743200" cy="12287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575">
                <a:solidFill>
                  <a:srgbClr val="E8EEF7">
                    <a:alpha val="78000"/>
                  </a:srgbClr>
                </a:solidFill>
                <a:latin typeface="Microsoft YaHei"/>
                <a:ea typeface="Microsoft YaHei"/>
              </a:rPr>
              <a:t>需求是真的吗？</a:t>
            </a:r>
            <a:endParaRPr/>
          </a:p>
          <a:p>
            <a:pPr>
              <a:lnSpc>
                <a:spcPct val="170000"/>
              </a:lnSpc>
            </a:pPr>
            <a:r>
              <a:rPr lang="zh-CN" sz="1575">
                <a:solidFill>
                  <a:srgbClr val="E8EEF7">
                    <a:alpha val="78000"/>
                  </a:srgbClr>
                </a:solidFill>
                <a:latin typeface="Microsoft YaHei"/>
                <a:ea typeface="Microsoft YaHei"/>
              </a:rPr>
              <a:t>智能体是怎么做的？</a:t>
            </a:r>
            <a:endParaRPr/>
          </a:p>
          <a:p>
            <a:pPr>
              <a:lnSpc>
                <a:spcPct val="170000"/>
              </a:lnSpc>
            </a:pPr>
            <a:r>
              <a:rPr lang="zh-CN" sz="1575">
                <a:solidFill>
                  <a:srgbClr val="E8EEF7">
                    <a:alpha val="78000"/>
                  </a:srgbClr>
                </a:solidFill>
                <a:latin typeface="Microsoft YaHei"/>
                <a:ea typeface="Microsoft YaHei"/>
              </a:rPr>
              <a:t>工程上靠得住吗？</a:t>
            </a:r>
            <a:endParaRPr/>
          </a:p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609600" y="4048125"/>
            <a:ext cx="27432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本演示共</a:t>
            </a:r>
            <a:r>
              <a:rPr lang="en-US" sz="12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 xml:space="preserve"> 18 </a:t>
            </a:r>
            <a:r>
              <a:rPr lang="zh-CN" sz="12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页，按路演</a:t>
            </a:r>
            <a:r>
              <a:rPr lang="en-US" sz="12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 xml:space="preserve"> 6—8 </a:t>
            </a:r>
            <a:r>
              <a:rPr lang="zh-CN" sz="12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分钟节奏编排，每个数据均可现场核验。</a:t>
            </a:r>
            <a:endParaRPr/>
          </a:p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4800600" y="2390775"/>
            <a:ext cx="50292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E8EEF7">
                    <a:alpha val="62000"/>
                  </a:srgbClr>
                </a:solidFill>
                <a:latin typeface="Microsoft YaHei"/>
                <a:ea typeface="Microsoft YaHei"/>
              </a:rPr>
              <a:t>现有提醒工具的两个毛病：配置门槛高、提醒机械；知歇的定位由此而来。</a:t>
            </a:r>
            <a:endParaRPr/>
          </a:p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10058400" y="2286000"/>
            <a:ext cx="5524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FE0B0">
                    <a:alpha val="85000"/>
                  </a:srgbClr>
                </a:solidFill>
                <a:latin typeface="Microsoft YaHei"/>
                <a:ea typeface="Microsoft YaHei"/>
              </a:rPr>
              <a:t>P03–P05</a:t>
            </a:r>
            <a:endParaRPr/>
          </a:p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4800600" y="3552825"/>
            <a:ext cx="5229225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E8EEF7">
                    <a:alpha val="62000"/>
                  </a:srgbClr>
                </a:solidFill>
                <a:latin typeface="Microsoft YaHei"/>
                <a:ea typeface="Microsoft YaHei"/>
              </a:rPr>
              <a:t>双通道架构、本机规则引擎、校验优先落库，以及低代码</a:t>
            </a:r>
            <a:r>
              <a:rPr lang="en-US" sz="1200">
                <a:solidFill>
                  <a:srgbClr val="E8EEF7">
                    <a:alpha val="62000"/>
                  </a:srgbClr>
                </a:solidFill>
                <a:latin typeface="Microsoft YaHei"/>
                <a:ea typeface="Microsoft YaHei"/>
              </a:rPr>
              <a:t>/</a:t>
            </a:r>
            <a:r>
              <a:rPr lang="zh-CN" sz="1200">
                <a:solidFill>
                  <a:srgbClr val="E8EEF7">
                    <a:alpha val="62000"/>
                  </a:srgbClr>
                </a:solidFill>
                <a:latin typeface="Microsoft YaHei"/>
                <a:ea typeface="Microsoft YaHei"/>
              </a:rPr>
              <a:t>无代码的使用方式。</a:t>
            </a:r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10258425" y="3448050"/>
            <a:ext cx="5524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FE0B0">
                    <a:alpha val="85000"/>
                  </a:srgbClr>
                </a:solidFill>
                <a:latin typeface="Microsoft YaHei"/>
                <a:ea typeface="Microsoft YaHei"/>
              </a:rPr>
              <a:t>P06–P10</a:t>
            </a:r>
            <a:endParaRPr/>
          </a:p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4800600" y="4714875"/>
            <a:ext cx="45720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E8EEF7">
                    <a:alpha val="62000"/>
                  </a:srgbClr>
                </a:solidFill>
                <a:latin typeface="Microsoft YaHei"/>
                <a:ea typeface="Microsoft YaHei"/>
              </a:rPr>
              <a:t xml:space="preserve">138 </a:t>
            </a:r>
            <a:r>
              <a:rPr lang="zh-CN" sz="1200">
                <a:solidFill>
                  <a:srgbClr val="E8EEF7">
                    <a:alpha val="62000"/>
                  </a:srgbClr>
                </a:solidFill>
                <a:latin typeface="Microsoft YaHei"/>
                <a:ea typeface="Microsoft YaHei"/>
              </a:rPr>
              <a:t>项自动化测试、数据不出本机、适用场景、创新点与横向对比。</a:t>
            </a:r>
            <a:endParaRPr/>
          </a:p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9601200" y="4610100"/>
            <a:ext cx="5429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FE0B0">
                    <a:alpha val="85000"/>
                  </a:srgbClr>
                </a:solidFill>
                <a:latin typeface="Microsoft YaHei"/>
                <a:ea typeface="Microsoft YaHei"/>
              </a:rPr>
              <a:t>P11–P17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609600" y="6115050"/>
            <a:ext cx="1190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11172825" y="6115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E8EEF7">
                    <a:alpha val="42000"/>
                  </a:srgbClr>
                </a:solidFill>
                <a:latin typeface="Consolas"/>
                <a:ea typeface="Consolas"/>
              </a:rPr>
              <a:t>02 / 18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248" name="" descr="&lt;Slide style={{ width: 1280, height: 720, background: '#0B1220', padding: '20px 64px' }}&gt;&#10;    &lt;Box style={{ height: 600, flexDirection: 'row', alignItems: 'center', gap: 64 }}&gt;&#10;        &lt;Text style={{ fontSize: 230, fontWeight: 'bold', fontFamily: 'Consolas', color: '#4FE0B0', opacity: 0.15, lineHeight: 1 }}&gt;01&lt;/Text&gt;&#10;        &lt;Box style={{ flexDirection: 'column', gap: 20, width: 540 }}&gt;&#10;            &lt;Text style={{ fontSize: 60, fontWeight: 'bold', color: '#E8EEF7', lineHeight: 1.15 }}&gt;问题与定位&lt;/Text&gt;&#10;            &lt;Box style={{ height: 4, width: 110, background: 'linear-gradient(135deg, #4FE0B0 0%, #2E9E8F 100%)', borderRadius: 2 }} /&gt;&#10;            &lt;Text style={{ fontSize: 20, color: '#E8EEF7', opacity: 0.72, lineHeight: 1.65 }}&gt;在系统自带提醒和番茄钟都存在的今天，为什么还需要一个知歇？&lt;br /&gt;这一章只讲清楚一件事：痛点在哪里。&lt;/Text&gt;&#10;            &lt;Text style={{ fontSize: 15, fontFamily: 'Consolas', color: '#4FE0B0', letterSpacing: 2 }}&gt;P03 – P05&lt;/Text&gt;&#10;        &lt;/Box&gt;&#10;    &lt;/Box&gt;&#10;    &lt;Box style={{ height: 60, flexDirection: 'row', alignItems: 'center', justifyContent: 'space-between' }}&gt;&#10;        &lt;Text style={{ fontSize: 14, color: '#E8EEF7', opacity: 0.42 }}&gt;知歇 ZhiXie · V1.0.0&lt;/Text&gt;&#10;        &lt;Text style={{ fontSize: 14, fontFamily: 'Consolas', color: '#E8EEF7', opacity: 0.42 }}&gt;03 / 18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3657600" y="1695450"/>
            <a:ext cx="5143500" cy="79057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zh-CN" sz="4500" b="1">
                <a:solidFill>
                  <a:srgbClr val="E8EEF7"/>
                </a:solidFill>
                <a:latin typeface="Microsoft YaHei"/>
                <a:ea typeface="Microsoft YaHei"/>
              </a:rPr>
              <a:t>问题与定位</a:t>
            </a:r>
            <a:endParaRPr/>
          </a:p>
        </p:txBody>
      </p:sp>
      <p:sp>
        <p:nvSpPr>
          <p:cNvPr id="251" name=""/>
          <p:cNvSpPr/>
          <p:nvPr/>
        </p:nvSpPr>
        <p:spPr>
          <a:xfrm rot="0" flipH="0" flipV="0">
            <a:off x="3657600" y="2676525"/>
            <a:ext cx="104775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4FE0B0"/>
              </a:gs>
              <a:gs pos="100000">
                <a:srgbClr val="2E9E8F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3657600" y="4229100"/>
            <a:ext cx="5143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4FE0B0"/>
                </a:solidFill>
                <a:latin typeface="Consolas"/>
                <a:ea typeface="Consolas"/>
              </a:rPr>
              <a:t>P03 – P05</a:t>
            </a:r>
            <a:endParaRPr/>
          </a:p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609600" y="1733550"/>
            <a:ext cx="2438400" cy="2628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7250" b="1">
                <a:solidFill>
                  <a:srgbClr val="4FE0B0">
                    <a:alpha val="15000"/>
                  </a:srgbClr>
                </a:solidFill>
                <a:latin typeface="Consolas"/>
                <a:ea typeface="Consolas"/>
              </a:rPr>
              <a:t>01</a:t>
            </a:r>
            <a:endParaRPr/>
          </a:p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3657600" y="2905125"/>
            <a:ext cx="5143500" cy="1133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5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在系统自带提醒和番茄钟都存在的今天，为什么还需要一个知歇？</a:t>
            </a:r>
            <a:endParaRPr/>
          </a:p>
          <a:p>
            <a:pPr>
              <a:lnSpc>
                <a:spcPct val="165000"/>
              </a:lnSpc>
            </a:pPr>
            <a:r>
              <a:rPr lang="zh-CN" sz="15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这一章只讲清楚一件事：痛点在哪里。</a:t>
            </a:r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609600" y="6115050"/>
            <a:ext cx="1190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11172825" y="6115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E8EEF7">
                    <a:alpha val="42000"/>
                  </a:srgbClr>
                </a:solidFill>
                <a:latin typeface="Consolas"/>
                <a:ea typeface="Consolas"/>
              </a:rPr>
              <a:t>03 / 18</a:t>
            </a:r>
            <a:endParaRPr/>
          </a:p>
        </p:txBody>
      </p:sp>
    </p:spTree>
  </p:cSld>
</p:sld>
</file>

<file path=ppt/slides/slide4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257" name="" descr="&lt;Slide style={{ width: 1280, height: 720, background: '#0B1220', padding: '20px 64px' }}&gt;&#10;    &lt;Box style={{ height: 100, flexDirection: 'row', alignItems: 'flex-end', justifyContent: 'space-between', paddingBottom: 18 }}&gt;&#10;        &lt;Box style={{ flexDirection: 'column', gap: 6 }}&gt;&#10;            &lt;Text style={{ fontSize: 36, fontWeight: 'bold', color: '#E8EEF7' }}&gt;两个绕不开的毛病&lt;/Text&gt;&#10;            &lt;Text style={{ fontSize: 16, color: '#E8EEF7', opacity: 0.55, letterSpacing: 1 }}&gt;不是用户不想休息，是工具不好用&lt;/Text&gt;&#10;        &lt;/Box&gt;&#10;        &lt;Text style={{ fontSize: 14, fontFamily: 'Consolas', color: '#E8EEF7', opacity: 0.35 }}&gt;04&lt;/Text&gt;&#10;    &lt;/Box&gt;&#10;    &lt;Box style={{ height: 500, flexDirection: 'row', gap: 32 }}&gt;&#10;        &lt;Box style={{ width: 700, flexDirection: 'column', gap: 16, padding: 26, background: 'rgba(232,238,247,0.04)', border: '1px solid rgba(232,238,247,0.10)', borderRadius: 14 }}&gt;&#10;            &lt;Text style={{ fontSize: 24, fontWeight: 'bold', color: '#E8EEF7' }}&gt;毛病一 · 配置门槛高&lt;/Text&gt;&#10;            &lt;Text style={{ fontSize: 17, color: '#E8EEF7', opacity: 0.62, lineHeight: 1.5 }}&gt;想设一条「每周一三五下午三点半」，得先学会四套概念。&lt;/Text&gt;&#10;            &lt;svg width={648} height={214} viewBox='0 0 648 214'&gt;&#10;                &lt;rect x='0' y='10' width='150' height='54' rx='8' fill='rgba(232,238,247,0.06)' stroke='rgba(232,238,247,0.16)' /&gt;&#10;                &lt;rect x='0' y='80' width='150' height='54' rx='8' fill='rgba(232,238,247,0.06)' stroke='rgba(232,238,247,0.16)' /&gt;&#10;                &lt;rect x='0' y='150' width='150' height='54' rx='8' fill='rgba(232,238,247,0.06)' stroke='rgba(232,238,247,0.16)' /&gt;&#10;                &lt;rect x='182' y='10' width='150' height='54' rx='8' fill='rgba(232,238,247,0.06)' stroke='rgba(232,238,247,0.16)' /&gt;&#10;                &lt;rect x='182' y='80' width='150' height='54' rx='8' fill='rgba(232,238,247,0.06)' stroke='rgba(232,238,247,0.16)' /&gt;&#10;                &lt;rect x='182' y='150' width='150' height='54' rx='8' fill='rgba(232,238,247,0.06)' stroke='rgba(232,238,247,0.16)' /&gt;&#10;                &lt;path d='M364 107 L424 107' fill='none' stroke='#4FE0B0' strokeWidth='2' opacity='0.8' /&gt;&#10;                &lt;path d='M424 107 L438 100 L438 114 Z' fill='#4FE0B0' /&gt;&#10;                &lt;rect x='452' y='80' width='196' height='54' rx='8' fill='rgba(79,224,176,0.12)' stroke='#4FE0B0' /&gt;&#10;                &lt;circle cx='478' cy='107' r='6' fill='#4FE0B0' /&gt;&#10;                &lt;rect x='0' y='10' width='0' height='0' fill='none' /&gt;&#10;            &lt;/svg&gt;&#10;            &lt;Box style={{ marginTop: 'auto', padding: '14px 18px', background: 'rgba(79,224,176,0.10)', borderRadius: 10 }}&gt;&#10;                &lt;Text style={{ fontSize: 16, color: '#E8EEF7', opacity: 0.85, lineHeight: 1.5 }}&gt;门槛不在按钮多少，而在&quot;单次 / 每天 / 每周 / 每月&quot;这套概念本身——用户要先成为半个日程软件专家。&lt;/Text&gt;&#10;            &lt;/Box&gt;&#10;        &lt;/Box&gt;&#10;        &lt;Box style={{ flex: 1, flexDirection: 'column', gap: 16, padding: 26, background: 'rgba(232,238,247,0.04)', border: '1px solid rgba(232,238,247,0.10)', borderRadius: 14 }}&gt;&#10;            &lt;Text style={{ fontSize: 24, fontWeight: 'bold', color: '#E8EEF7' }}&gt;毛病二 · 提醒机械&lt;/Text&gt;&#10;            &lt;Text style={{ fontSize: 17, color: '#E8EEF7', opacity: 0.62, lineHeight: 1.5 }}&gt;固定文案反复弹出，几轮之后被大脑自动过滤。&lt;/Text&gt;&#10;            &lt;svg width={376} height={214} viewBox='0 0 376 214'&gt;&#10;                &lt;rect x='0' y='14' width='376' height='40' rx='8' fill='rgba(232,238,247,0.08)' stroke='rgba(232,238,247,0.18)' /&gt;&#10;                &lt;rect x='0' y='66' width='376' height='40' rx='8' fill='rgba(232,238,247,0.06)' stroke='rgba(232,238,247,0.14)' opacity='0.85' /&gt;&#10;                &lt;rect x='0' y='118' width='376' height='40' rx='8' fill='rgba(232,238,247,0.04)' stroke='rgba(232,238,247,0.10)' opacity='0.6' /&gt;&#10;                &lt;rect x='0' y='170' width='376' height='40' rx='8' fill='rgba(232,238,247,0.02)' stroke='rgba(232,238,247,0.07)' opacity='0.4' /&gt;&#10;                &lt;path d='M300 34 L344 34' fill='none' stroke='#4FE0B0' strokeWidth='2' opacity='0.7' /&gt;&#10;                &lt;path d='M300 86 L320 86' fill='none' stroke='#4FE0B0' strokeWidth='2' opacity='0.35' /&gt;&#10;                &lt;path d='M300 138 L308 138' fill='none' stroke='#4FE0B0' strokeWidth='2' opacity='0.18' /&gt;&#10;            &lt;/svg&gt;&#10;            &lt;Box style={{ marginTop: 'auto', padding: '14px 18px', background: 'rgba(79,224,176,0.10)', borderRadius: 10 }}&gt;&#10;                &lt;Text style={{ fontSize: 16, color: '#E8EEF7', opacity: 0.85, lineHeight: 1.5 }}&gt;提醒的强度随重复次数递减——第三次之后，它和桌面壁纸没有区别。&lt;/Text&gt;&#10;            &lt;/Box&gt;&#10;        &lt;/Box&gt;&#10;    &lt;/Box&gt;&#10;    &lt;Box style={{ height: 60, flexDirection: 'row', alignItems: 'center', justifyContent: 'space-between' }}&gt;&#10;        &lt;Text style={{ fontSize: 14, color: '#E8EEF7', opacity: 0.42 }}&gt;知歇 ZhiXie · V1.0.0&lt;/Text&gt;&#10;        &lt;Text style={{ fontSize: 14, fontFamily: 'Consolas', color: '#E8EEF7', opacity: 0.42 }}&gt;04 / 18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609600" y="304800"/>
            <a:ext cx="27432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E8EEF7"/>
                </a:solidFill>
                <a:latin typeface="Microsoft YaHei"/>
                <a:ea typeface="Microsoft YaHei"/>
              </a:rPr>
              <a:t>两个绕不开的毛病</a:t>
            </a:r>
            <a:endParaRPr/>
          </a:p>
        </p:txBody>
      </p:sp>
      <p:sp>
        <p:nvSpPr>
          <p:cNvPr id="260" name=""/>
          <p:cNvSpPr/>
          <p:nvPr/>
        </p:nvSpPr>
        <p:spPr>
          <a:xfrm rot="0" flipH="0" flipV="0">
            <a:off x="609600" y="1143000"/>
            <a:ext cx="6667500" cy="4762500"/>
          </a:xfrm>
          <a:prstGeom prst="roundRect">
            <a:avLst>
              <a:gd name="adj" fmla="val 2800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857250" y="1390650"/>
            <a:ext cx="61722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E8EEF7"/>
                </a:solidFill>
                <a:latin typeface="Microsoft YaHei"/>
                <a:ea typeface="Microsoft YaHei"/>
              </a:rPr>
              <a:t>毛病一</a:t>
            </a:r>
            <a:r>
              <a:rPr lang="en-US" sz="180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800" b="1">
                <a:solidFill>
                  <a:srgbClr val="E8EEF7"/>
                </a:solidFill>
                <a:latin typeface="Microsoft YaHei"/>
                <a:ea typeface="Microsoft YaHei"/>
              </a:rPr>
              <a:t>配置门槛高</a:t>
            </a:r>
            <a:endParaRPr/>
          </a:p>
        </p:txBody>
      </p:sp>
      <p:pic>
        <p:nvPicPr>
          <p:cNvPr id="26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2266950"/>
            <a:ext cx="6172200" cy="2038350"/>
          </a:xfrm>
          <a:prstGeom prst="rect">
            <a:avLst/>
          </a:prstGeom>
          <a:ln/>
        </p:spPr>
      </p:pic>
      <p:sp>
        <p:nvSpPr>
          <p:cNvPr id="263" name=""/>
          <p:cNvSpPr/>
          <p:nvPr/>
        </p:nvSpPr>
        <p:spPr>
          <a:xfrm rot="0" flipH="0" flipV="0">
            <a:off x="857250" y="4838700"/>
            <a:ext cx="6172200" cy="819150"/>
          </a:xfrm>
          <a:prstGeom prst="roundRect">
            <a:avLst>
              <a:gd name="adj" fmla="val 11628"/>
            </a:avLst>
          </a:prstGeom>
          <a:solidFill>
            <a:srgbClr val="4FE0B0">
              <a:alpha val="10000"/>
            </a:srgbClr>
          </a:solidFill>
          <a:ln/>
        </p:spPr>
        <p:txBody>
          <a:bodyPr/>
          <a:p/>
        </p:txBody>
      </p:sp>
      <p:sp>
        <p:nvSpPr>
          <p:cNvPr id="264" name=""/>
          <p:cNvSpPr/>
          <p:nvPr/>
        </p:nvSpPr>
        <p:spPr>
          <a:xfrm rot="0" flipH="0" flipV="0">
            <a:off x="7581900" y="1143000"/>
            <a:ext cx="4000500" cy="4762500"/>
          </a:xfrm>
          <a:prstGeom prst="roundRect">
            <a:avLst>
              <a:gd name="adj" fmla="val 3333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7829550" y="1390650"/>
            <a:ext cx="35052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E8EEF7"/>
                </a:solidFill>
                <a:latin typeface="Microsoft YaHei"/>
                <a:ea typeface="Microsoft YaHei"/>
              </a:rPr>
              <a:t>毛病二</a:t>
            </a:r>
            <a:r>
              <a:rPr lang="en-US" sz="180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800" b="1">
                <a:solidFill>
                  <a:srgbClr val="E8EEF7"/>
                </a:solidFill>
                <a:latin typeface="Microsoft YaHei"/>
                <a:ea typeface="Microsoft YaHei"/>
              </a:rPr>
              <a:t>提醒机械</a:t>
            </a:r>
            <a:endParaRPr/>
          </a:p>
        </p:txBody>
      </p:sp>
      <p:pic>
        <p:nvPicPr>
          <p:cNvPr id="26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829550" y="2266950"/>
            <a:ext cx="3581400" cy="2038350"/>
          </a:xfrm>
          <a:prstGeom prst="rect">
            <a:avLst/>
          </a:prstGeom>
          <a:ln/>
        </p:spPr>
      </p:pic>
      <p:sp>
        <p:nvSpPr>
          <p:cNvPr id="267" name=""/>
          <p:cNvSpPr/>
          <p:nvPr/>
        </p:nvSpPr>
        <p:spPr>
          <a:xfrm rot="0" flipH="0" flipV="0">
            <a:off x="7829550" y="4838700"/>
            <a:ext cx="3505200" cy="819150"/>
          </a:xfrm>
          <a:prstGeom prst="roundRect">
            <a:avLst>
              <a:gd name="adj" fmla="val 11628"/>
            </a:avLst>
          </a:prstGeom>
          <a:solidFill>
            <a:srgbClr val="4FE0B0">
              <a:alpha val="10000"/>
            </a:srgbClr>
          </a:solidFill>
          <a:ln/>
        </p:spPr>
        <p:txBody>
          <a:bodyPr/>
          <a:p/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609600" y="781050"/>
            <a:ext cx="2743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75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不是用户不想休息，是工具不好用</a:t>
            </a:r>
            <a:endParaRPr/>
          </a:p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11430000" y="809625"/>
            <a:ext cx="152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E8EEF7">
                    <a:alpha val="35000"/>
                  </a:srgbClr>
                </a:solidFill>
                <a:latin typeface="Consolas"/>
                <a:ea typeface="Consolas"/>
              </a:rPr>
              <a:t>04</a:t>
            </a:r>
            <a:endParaRPr/>
          </a:p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857250" y="1819275"/>
            <a:ext cx="6172200" cy="2952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75">
                <a:solidFill>
                  <a:srgbClr val="E8EEF7">
                    <a:alpha val="62000"/>
                  </a:srgbClr>
                </a:solidFill>
                <a:latin typeface="Microsoft YaHei"/>
                <a:ea typeface="Microsoft YaHei"/>
              </a:rPr>
              <a:t>想设一条「每周一三五下午三点半」，得先学会四套概念。</a:t>
            </a:r>
            <a:endParaRPr/>
          </a:p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1028700" y="4972050"/>
            <a:ext cx="58293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门槛不在按钮多少，而在</a:t>
            </a:r>
            <a:r>
              <a:rPr lang="en-US" sz="12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单次</a:t>
            </a:r>
            <a:r>
              <a:rPr lang="en-US" sz="12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每天</a:t>
            </a:r>
            <a:r>
              <a:rPr lang="en-US" sz="12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每周</a:t>
            </a:r>
            <a:r>
              <a:rPr lang="en-US" sz="12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每月</a:t>
            </a:r>
            <a:r>
              <a:rPr lang="en-US" sz="12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这套概念本身——用户要先成为半个日程软件专家。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7829550" y="1819275"/>
            <a:ext cx="3505200" cy="2952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75">
                <a:solidFill>
                  <a:srgbClr val="E8EEF7">
                    <a:alpha val="62000"/>
                  </a:srgbClr>
                </a:solidFill>
                <a:latin typeface="Microsoft YaHei"/>
                <a:ea typeface="Microsoft YaHei"/>
              </a:rPr>
              <a:t>固定文案反复弹出，几轮之后被大脑自动过滤。</a:t>
            </a:r>
            <a:endParaRPr/>
          </a:p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8001000" y="4972050"/>
            <a:ext cx="31623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提醒的强度随重复次数递减——第三次之后，它和桌面壁纸没有区别。</a:t>
            </a:r>
            <a:endParaRPr/>
          </a:p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609600" y="6115050"/>
            <a:ext cx="1190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11172825" y="6115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E8EEF7">
                    <a:alpha val="42000"/>
                  </a:srgbClr>
                </a:solidFill>
                <a:latin typeface="Consolas"/>
                <a:ea typeface="Consolas"/>
              </a:rPr>
              <a:t>04 / 18</a:t>
            </a:r>
            <a:endParaRPr/>
          </a:p>
        </p:txBody>
      </p:sp>
    </p:spTree>
  </p:cSld>
</p:sld>
</file>

<file path=ppt/slides/slide5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276" name="" descr="&lt;Slide style={{ width: 1280, height: 720, background: '#0B1220', padding: '20px 64px' }}&gt;&#10;    &lt;Box style={{ height: 100, flexDirection: 'row', alignItems: 'flex-end', justifyContent: 'space-between', paddingBottom: 18 }}&gt;&#10;        &lt;Box style={{ flexDirection: 'column', gap: 6 }}&gt;&#10;            &lt;Text style={{ fontSize: 36, fontWeight: 'bold', color: '#E8EEF7' }}&gt;知歇是什么&lt;/Text&gt;&#10;            &lt;Text style={{ fontSize: 16, color: '#E8EEF7', opacity: 0.55, letterSpacing: 1 }}&gt;一句话定义，三个关键词&lt;/Text&gt;&#10;        &lt;/Box&gt;&#10;        &lt;Text style={{ fontSize: 14, fontFamily: 'Consolas', color: '#E8EEF7', opacity: 0.35 }}&gt;05&lt;/Text&gt;&#10;    &lt;/Box&gt;&#10;    &lt;Box style={{ height: 500, flexDirection: 'row', gap: 40, alignItems: 'center' }}&gt;&#10;        &lt;Box style={{ width: 610, height: 460, justifyContent: 'center', alignItems: 'center', background: 'rgba(232,238,247,0.03)', border: '1px solid rgba(232,238,247,0.10)', borderRadius: 14 }}&gt;&#10;            &lt;svg width={560} height={400} viewBox='0 0 560 400'&gt;&#10;                &lt;rect x='20' y='20' width='520' height='196' rx='12' fill='rgba(232,238,247,0.05)' stroke='rgba(232,238,247,0.16)' /&gt;&#10;                &lt;rect x='40' y='42' width='120' height='12' rx='6' fill='#4FE0B0' opacity='0.85' /&gt;&#10;                &lt;rect x='176' y='42' width='60' height='12' rx='6' fill='rgba(232,238,247,0.22)' /&gt;&#10;                &lt;rect x='40' y='78' width='480' height='1' fill='rgba(232,238,247,0.14)' /&gt;&#10;                &lt;rect x='40' y='102' width='220' height='16' rx='8' fill='rgba(232,238,247,0.30)' /&gt;&#10;                &lt;rect x='40' y='132' width='160' height='16' rx='8' fill='rgba(232,238,247,0.18)' /&gt;&#10;                &lt;rect x='40' y='170' width='130' height='30' rx='15' fill='rgba(79,224,176,0.20)' stroke='#4FE0B0' /&gt;&#10;                &lt;rect x='436' y='98' width='84' height='84' rx='10' fill='rgba(79,224,176,0.12)' stroke='rgba(79,224,176,0.55)' /&gt;&#10;                &lt;path d='M462 140 L482 128 L482 152 Z' fill='#4FE0B0' opacity='0.9' /&gt;&#10;                &lt;rect x='90' y='250' width='380' height='130' rx='12' fill='rgba(11,18,32,0.75)' stroke='#4FE0B0' /&gt;&#10;                &lt;rect x='150' y='284' width='260' height='14' rx='7' fill='rgba(232,238,247,0.75)' /&gt;&#10;                &lt;rect x='190' y='316' width='180' height='12' rx='6' fill='rgba(79,224,176,0.85)' /&gt;&#10;                &lt;rect x='170' y='348' width='220' height='16' rx='8' fill='rgba(232,238,247,0.20)' /&gt;&#10;                &lt;path d='M280 216 L280 246' fill='none' stroke='#4FE0B0' strokeWidth='2' opacity='0.7' /&gt;&#10;            &lt;/svg&gt;&#10;        &lt;/Box&gt;&#10;        &lt;Box style={{ flex: 1, flexDirection: 'column', gap: 18 }}&gt;&#10;            &lt;Text style={{ fontSize: 22, color: '#E8EEF7', opacity: 0.85, lineHeight: 1.6 }}&gt;一款融合智能体的桌面休息提醒工具：说一句话，智能体把它变成可执行的提醒规则，到点用全屏弹窗把你从屏幕前拉开。&lt;/Text&gt;&#10;            &lt;Box style={{ flexDirection: 'row', gap: 14, alignItems: 'center' }}&gt;&#10;                &lt;svg width={34} height={34} viewBox='0 0 34 34'&gt;&#10;                    &lt;circle cx='17' cy='17' r='15' fill='none' stroke='#4FE0B0' strokeWidth='1.5' /&gt;&#10;                    &lt;path d='M10 17 L15 22 L24 12' fill='none' stroke='#4FE0B0' strokeWidth='2.5' /&gt;&#10;                &lt;/svg&gt;&#10;                &lt;Text style={{ fontSize: 20, color: '#E8EEF7', lineHeight: 1.5 }}&gt;一句话生成提醒规则&lt;/Text&gt;&#10;            &lt;/Box&gt;&#10;            &lt;Box style={{ flexDirection: 'row', gap: 14, alignItems: 'center' }}&gt;&#10;                &lt;svg width={34} height={34} viewBox='0 0 34 34'&gt;&#10;                    &lt;circle cx='17' cy='17' r='15' fill='none' stroke='#4FE0B0' strokeWidth='1.5' /&gt;&#10;                    &lt;path d='M10 17 L15 22 L24 12' fill='none' stroke='#4FE0B0' strokeWidth='2.5' /&gt;&#10;                &lt;/svg&gt;&#10;                &lt;Text style={{ fontSize: 20, color: '#E8EEF7', lineHeight: 1.5 }}&gt;云端 + 本机双通道，断网也能用&lt;/Text&gt;&#10;            &lt;/Box&gt;&#10;            &lt;Box style={{ flexDirection: 'row', gap: 14, alignItems: 'center' }}&gt;&#10;                &lt;svg width={34} height={34} viewBox='0 0 34 34'&gt;&#10;                    &lt;circle cx='17' cy='17' r='15' fill='none' stroke='#4FE0B0' strokeWidth='1.5' /&gt;&#10;                    &lt;path d='M10 17 L15 22 L24 12' fill='none' stroke='#4FE0B0' strokeWidth='2.5' /&gt;&#10;                &lt;/svg&gt;&#10;                &lt;Text style={{ fontSize: 20, color: '#E8EEF7', lineHeight: 1.5 }}&gt;数据全在本机，零账号、零采集&lt;/Text&gt;&#10;            &lt;/Box&gt;&#10;            &lt;Box style={{ marginTop: 8, paddingTop: 18, borderTop: '1px solid rgba(232,238,247,0.12)' }}&gt;&#10;                &lt;Text style={{ fontSize: 15, fontFamily: 'Consolas', color: '#4FE0B0', letterSpacing: 1 }}&gt;Windows x64 / ARM64 · Apple Silicon macOS · Tauri 2 + Vue 3 + Rust&lt;/Text&gt;&#10;            &lt;/Box&gt;&#10;        &lt;/Box&gt;&#10;    &lt;/Box&gt;&#10;    &lt;Box style={{ height: 60, flexDirection: 'row', alignItems: 'center', justifyContent: 'space-between' }}&gt;&#10;        &lt;Text style={{ fontSize: 14, color: '#E8EEF7', opacity: 0.42 }}&gt;知歇 ZhiXie · V1.0.0&lt;/Text&gt;&#10;        &lt;Text style={{ fontSize: 14, fontFamily: 'Consolas', color: '#E8EEF7', opacity: 0.42 }}&gt;05 / 18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609600" y="304800"/>
            <a:ext cx="178117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E8EEF7"/>
                </a:solidFill>
                <a:latin typeface="Microsoft YaHei"/>
                <a:ea typeface="Microsoft YaHei"/>
              </a:rPr>
              <a:t>知歇是什么</a:t>
            </a:r>
            <a:endParaRPr/>
          </a:p>
        </p:txBody>
      </p:sp>
      <p:sp>
        <p:nvSpPr>
          <p:cNvPr id="279" name=""/>
          <p:cNvSpPr/>
          <p:nvPr/>
        </p:nvSpPr>
        <p:spPr>
          <a:xfrm rot="0" flipH="0" flipV="0">
            <a:off x="609600" y="1333500"/>
            <a:ext cx="5810250" cy="4381500"/>
          </a:xfrm>
          <a:prstGeom prst="roundRect">
            <a:avLst>
              <a:gd name="adj" fmla="val 3043"/>
            </a:avLst>
          </a:prstGeom>
          <a:solidFill>
            <a:srgbClr val="E8EEF7">
              <a:alpha val="3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47725" y="1619250"/>
            <a:ext cx="5334000" cy="3810000"/>
          </a:xfrm>
          <a:prstGeom prst="rect">
            <a:avLst/>
          </a:prstGeom>
          <a:ln/>
        </p:spPr>
      </p:pic>
      <p:pic>
        <p:nvPicPr>
          <p:cNvPr id="28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800850" y="3152775"/>
            <a:ext cx="323850" cy="323850"/>
          </a:xfrm>
          <a:prstGeom prst="rect">
            <a:avLst/>
          </a:prstGeom>
          <a:ln/>
        </p:spPr>
      </p:pic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7258050" y="3143250"/>
            <a:ext cx="1714500" cy="3429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00">
                <a:solidFill>
                  <a:srgbClr val="E8EEF7"/>
                </a:solidFill>
                <a:latin typeface="Microsoft YaHei"/>
                <a:ea typeface="Microsoft YaHei"/>
              </a:rPr>
              <a:t>一句话生成提醒规则</a:t>
            </a:r>
            <a:endParaRPr/>
          </a:p>
        </p:txBody>
      </p:sp>
      <p:pic>
        <p:nvPicPr>
          <p:cNvPr id="28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800850" y="3667125"/>
            <a:ext cx="323850" cy="323850"/>
          </a:xfrm>
          <a:prstGeom prst="rect">
            <a:avLst/>
          </a:prstGeom>
          <a:ln/>
        </p:spPr>
      </p:pic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7258050" y="3657600"/>
            <a:ext cx="2695575" cy="3429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00">
                <a:solidFill>
                  <a:srgbClr val="E8EEF7"/>
                </a:solidFill>
                <a:latin typeface="Microsoft YaHei"/>
                <a:ea typeface="Microsoft YaHei"/>
              </a:rPr>
              <a:t>云端</a:t>
            </a:r>
            <a:r>
              <a:rPr lang="en-US" sz="1500">
                <a:solidFill>
                  <a:srgbClr val="E8EEF7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500">
                <a:solidFill>
                  <a:srgbClr val="E8EEF7"/>
                </a:solidFill>
                <a:latin typeface="Microsoft YaHei"/>
                <a:ea typeface="Microsoft YaHei"/>
              </a:rPr>
              <a:t>本机双通道，断网也能用</a:t>
            </a:r>
            <a:endParaRPr/>
          </a:p>
        </p:txBody>
      </p:sp>
      <p:pic>
        <p:nvPicPr>
          <p:cNvPr id="28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800850" y="4181475"/>
            <a:ext cx="323850" cy="323850"/>
          </a:xfrm>
          <a:prstGeom prst="rect">
            <a:avLst/>
          </a:prstGeom>
          <a:ln/>
        </p:spPr>
      </p:pic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7258050" y="4171950"/>
            <a:ext cx="2667000" cy="3429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00">
                <a:solidFill>
                  <a:srgbClr val="E8EEF7"/>
                </a:solidFill>
                <a:latin typeface="Microsoft YaHei"/>
                <a:ea typeface="Microsoft YaHei"/>
              </a:rPr>
              <a:t>数据全在本机，零账号、零采集</a:t>
            </a:r>
            <a:endParaRPr/>
          </a:p>
        </p:txBody>
      </p:sp>
      <p:sp>
        <p:nvSpPr>
          <p:cNvPr id="287" name=""/>
          <p:cNvSpPr/>
          <p:nvPr/>
        </p:nvSpPr>
        <p:spPr>
          <a:xfrm rot="0" flipH="0" flipV="0">
            <a:off x="6800850" y="4762500"/>
            <a:ext cx="4781550" cy="533400"/>
          </a:xfrm>
          <a:custGeom>
            <a:pathLst>
              <a:path w="502" h="56">
                <a:moveTo>
                  <a:pt x="0" y="0"/>
                </a:moveTo>
                <a:lnTo>
                  <a:pt x="502" y="0"/>
                </a:lnTo>
                <a:lnTo>
                  <a:pt x="502" y="1"/>
                </a:lnTo>
                <a:lnTo>
                  <a:pt x="0" y="1"/>
                </a:lnTo>
                <a:close/>
              </a:path>
            </a:pathLst>
          </a:custGeom>
          <a:solidFill>
            <a:srgbClr val="E8EEF7">
              <a:alpha val="12000"/>
            </a:srgbClr>
          </a:solidFill>
          <a:ln/>
        </p:spPr>
        <p:txBody>
          <a:bodyPr/>
          <a:p/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6800850" y="4943475"/>
            <a:ext cx="4781550" cy="342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4FE0B0"/>
                </a:solidFill>
                <a:latin typeface="Consolas"/>
                <a:ea typeface="Consolas"/>
              </a:rPr>
              <a:t>Windows x64 / ARM64 · Apple Silicon macOS · Tauri 2 + Vue 3 + Rust</a:t>
            </a:r>
            <a:endParaRPr/>
          </a:p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609600" y="781050"/>
            <a:ext cx="1781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75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一句话定义，三个关键词</a:t>
            </a:r>
            <a:endParaRPr/>
          </a:p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11430000" y="809625"/>
            <a:ext cx="152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E8EEF7">
                    <a:alpha val="35000"/>
                  </a:srgbClr>
                </a:solidFill>
                <a:latin typeface="Consolas"/>
                <a:ea typeface="Consolas"/>
              </a:rPr>
              <a:t>05</a:t>
            </a:r>
            <a:endParaRPr/>
          </a:p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6800850" y="1762125"/>
            <a:ext cx="4781550" cy="1209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65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一款融合智能体的桌面休息提醒工具：说一句话，智能体把它变成可执行的提醒规则，到点用全屏弹窗把你从屏幕前拉开。</a:t>
            </a:r>
            <a:endParaRPr/>
          </a:p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609600" y="6115050"/>
            <a:ext cx="1190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11172825" y="6115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E8EEF7">
                    <a:alpha val="42000"/>
                  </a:srgbClr>
                </a:solidFill>
                <a:latin typeface="Consolas"/>
                <a:ea typeface="Consolas"/>
              </a:rPr>
              <a:t>05 / 18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294" name="" descr="&lt;Slide style={{ width: 1280, height: 720, background: '#0B1220', padding: '20px 64px' }}&gt;&#10;    &lt;Box style={{ height: 600, flexDirection: 'row', alignItems: 'center', gap: 64 }}&gt;&#10;        &lt;Text style={{ fontSize: 230, fontWeight: 'bold', fontFamily: 'Consolas', color: '#4FE0B0', opacity: 0.15, lineHeight: 1 }}&gt;02&lt;/Text&gt;&#10;        &lt;Box style={{ flexDirection: 'column', gap: 20, width: 540 }}&gt;&#10;            &lt;Text style={{ fontSize: 60, fontWeight: 'bold', color: '#E8EEF7', lineHeight: 1.15 }}&gt;智能体开发过程&lt;/Text&gt;&#10;            &lt;Box style={{ height: 4, width: 110, background: 'linear-gradient(135deg, #4FE0B0 0%, #2E9E8F 100%)', borderRadius: 2 }} /&gt;&#10;            &lt;Text style={{ fontSize: 20, color: '#E8EEF7', opacity: 0.72, lineHeight: 1.65 }}&gt;本赛道最关心的一章。智能体在知歇里不是&quot;加了个对话框&quot;，而是&lt;br /&gt;同时承担规则生成、休息建议与文案生成三件事。&lt;/Text&gt;&#10;            &lt;Text style={{ fontSize: 15, fontFamily: 'Consolas', color: '#4FE0B0', letterSpacing: 2 }}&gt;P06 – P10&lt;/Text&gt;&#10;        &lt;/Box&gt;&#10;    &lt;/Box&gt;&#10;    &lt;Box style={{ height: 60, flexDirection: 'row', alignItems: 'center', justifyContent: 'space-between' }}&gt;&#10;        &lt;Text style={{ fontSize: 14, color: '#E8EEF7', opacity: 0.42 }}&gt;知歇 ZhiXie · V1.0.0&lt;/Text&gt;&#10;        &lt;Text style={{ fontSize: 14, fontFamily: 'Consolas', color: '#E8EEF7', opacity: 0.42 }}&gt;06 / 18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3657600" y="1695450"/>
            <a:ext cx="5143500" cy="79057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zh-CN" sz="4500" b="1">
                <a:solidFill>
                  <a:srgbClr val="E8EEF7"/>
                </a:solidFill>
                <a:latin typeface="Microsoft YaHei"/>
                <a:ea typeface="Microsoft YaHei"/>
              </a:rPr>
              <a:t>智能体开发过程</a:t>
            </a:r>
            <a:endParaRPr/>
          </a:p>
        </p:txBody>
      </p:sp>
      <p:sp>
        <p:nvSpPr>
          <p:cNvPr id="297" name=""/>
          <p:cNvSpPr/>
          <p:nvPr/>
        </p:nvSpPr>
        <p:spPr>
          <a:xfrm rot="0" flipH="0" flipV="0">
            <a:off x="3657600" y="2676525"/>
            <a:ext cx="104775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4FE0B0"/>
              </a:gs>
              <a:gs pos="100000">
                <a:srgbClr val="2E9E8F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3657600" y="4229100"/>
            <a:ext cx="5143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4FE0B0"/>
                </a:solidFill>
                <a:latin typeface="Consolas"/>
                <a:ea typeface="Consolas"/>
              </a:rPr>
              <a:t>P06 – P10</a:t>
            </a:r>
            <a:endParaRPr/>
          </a:p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609600" y="1733550"/>
            <a:ext cx="2438400" cy="2628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7250" b="1">
                <a:solidFill>
                  <a:srgbClr val="4FE0B0">
                    <a:alpha val="15000"/>
                  </a:srgbClr>
                </a:solidFill>
                <a:latin typeface="Consolas"/>
                <a:ea typeface="Consolas"/>
              </a:rPr>
              <a:t>02</a:t>
            </a:r>
            <a:endParaRPr/>
          </a:p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3657600" y="2905125"/>
            <a:ext cx="5143500" cy="1133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5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本赛道最关心的一章。智能体在知歇里不是</a:t>
            </a:r>
            <a:r>
              <a:rPr lang="en-US" sz="15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5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加了个对话框</a:t>
            </a:r>
            <a:r>
              <a:rPr lang="en-US" sz="15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5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，而是</a:t>
            </a:r>
            <a:endParaRPr/>
          </a:p>
          <a:p>
            <a:pPr>
              <a:lnSpc>
                <a:spcPct val="165000"/>
              </a:lnSpc>
            </a:pPr>
            <a:r>
              <a:rPr lang="zh-CN" sz="15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同时承担规则生成、休息建议与文案生成三件事。</a:t>
            </a:r>
            <a:endParaRPr/>
          </a:p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609600" y="6115050"/>
            <a:ext cx="1190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11172825" y="6115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E8EEF7">
                    <a:alpha val="42000"/>
                  </a:srgbClr>
                </a:solidFill>
                <a:latin typeface="Consolas"/>
                <a:ea typeface="Consolas"/>
              </a:rPr>
              <a:t>06 / 18</a:t>
            </a:r>
            <a:endParaRPr/>
          </a:p>
        </p:txBody>
      </p:sp>
    </p:spTree>
  </p:cSld>
</p:sld>
</file>

<file path=ppt/slides/slide7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303" name="" descr="&lt;Slide style={{ width: 1280, height: 720, background: '#0B1220', padding: '20px 64px' }}&gt;&#10;    &lt;Box style={{ height: 100, flexDirection: 'row', alignItems: 'flex-end', justifyContent: 'space-between', paddingBottom: 18 }}&gt;&#10;        &lt;Box style={{ flexDirection: 'column', gap: 6 }}&gt;&#10;            &lt;Text style={{ fontSize: 36, fontWeight: 'bold', color: '#E8EEF7' }}&gt;双通道架构&lt;/Text&gt;&#10;            &lt;Text style={{ fontSize: 16, color: '#E8EEF7', opacity: 0.55, letterSpacing: 1 }}&gt;云端提升上限，本机保底可用，校验优先落库&lt;/Text&gt;&#10;        &lt;/Box&gt;&#10;        &lt;Text style={{ fontSize: 14, fontFamily: 'Consolas', color: '#4FE0B0', opacity: 0.8 }}&gt;核心架构&lt;/Text&gt;&#10;    &lt;/Box&gt;&#10;    &lt;Box style={{ height: 500, flexDirection: 'column', gap: 16 }}&gt;&#10;        &lt;Box style={{ alignItems: 'center' }}&gt;&#10;            &lt;Box style={{ width: 980, height: 58, justifyContent: 'center', alignItems: 'center', background: 'rgba(232,238,247,0.06)', border: '1px solid rgba(232,238,247,0.18)', borderRadius: 10 }}&gt;&#10;                &lt;Text style={{ fontSize: 17, color: '#E8EEF7' }}&gt;用户自然语言输入　「每周一三五下午三点半提醒我起来活动，顺便锁屏」&lt;/Text&gt;&#10;            &lt;/Box&gt;&#10;        &lt;/Box&gt;&#10;        &lt;svg width={980} height={28} viewBox='0 0 980 28'&gt;&#10;            &lt;path d='M490 0 L490 12' fill='none' stroke='#4FE0B0' strokeWidth='2' opacity='0.75' /&gt;&#10;            &lt;path d='M245 12 L735 12' fill='none' stroke='#4FE0B0' strokeWidth='2' opacity='0.75' /&gt;&#10;            &lt;path d='M245 12 L245 26' fill='none' stroke='#4FE0B0' strokeWidth='2' opacity='0.75' /&gt;&#10;            &lt;path d='M735 12 L735 26' fill='none' stroke='#4FE0B0' strokeWidth='2' opacity='0.75' /&gt;&#10;            &lt;path d='M239 20 L245 28 L251 20 Z' fill='#4FE0B0' opacity='0.9' /&gt;&#10;            &lt;path d='M729 20 L735 28 L741 20 Z' fill='#4FE0B0' opacity='0.9' /&gt;&#10;        &lt;/svg&gt;&#10;        &lt;Box style={{ flexDirection: 'row', gap: 32 }}&gt;&#10;            &lt;Box style={{ flex: 1, height: 108, flexDirection: 'column', gap: 8, padding: '16px 20px', background: 'rgba(79,224,176,0.08)', border: '1px solid rgba(79,224,176,0.45)', borderRadius: 12 }}&gt;&#10;                &lt;Box style={{ flexDirection: 'row', alignItems: 'center', justifyContent: 'space-between' }}&gt;&#10;                    &lt;Text style={{ fontSize: 20, fontWeight: 'bold', color: '#E8EEF7' }}&gt;云端大模型通道&lt;/Text&gt;&#10;                    &lt;Text style={{ fontSize: 13, fontFamily: 'Consolas', color: '#4FE0B0' }}&gt;可选 · 需用户主动开启&lt;/Text&gt;&#10;                &lt;/Box&gt;&#10;                &lt;Text style={{ fontSize: 15, color: '#E8EEF7', opacity: 0.7, lineHeight: 1.5 }}&gt;OpenAI 兼容接口（默认 DeepSeek）· 系统提示词约束输出固定字段 · temperature 0.2 · 40 秒超时保护&lt;/Text&gt;&#10;            &lt;/Box&gt;&#10;            &lt;Box style={{ flex: 1, height: 108, flexDirection: 'column', gap: 8, padding: '16px 20px', background: 'rgba(79,224,176,0.08)', border: '1px solid rgba(79,224,176,0.45)', borderRadius: 12 }}&gt;&#10;                &lt;Box style={{ flexDirection: 'row', alignItems: 'center', justifyContent: 'space-between' }}&gt;&#10;                    &lt;Text style={{ fontSize: 20, fontWeight: 'bold', color: '#E8EEF7' }}&gt;本机规则引擎&lt;/Text&gt;&#10;                    &lt;Text style={{ fontSize: 13, fontFamily: 'Consolas', color: '#4FE0B0' }}&gt;默认 · 离线可用&lt;/Text&gt;&#10;                &lt;/Box&gt;&#10;                &lt;Text style={{ fontSize: 15, color: '#E8EEF7', opacity: 0.7, lineHeight: 1.5 }}&gt;纯 Rust 实现，零外部依赖；未配置密钥 / 断网 / 接口报错时自动接手，功能不中断&lt;/Text&gt;&#10;            &lt;/Box&gt;&#10;        &lt;/Box&gt;&#10;        &lt;svg width={980} height={28} viewBox='0 0 980 28'&gt;&#10;            &lt;path d='M245 0 L245 14' fill='none' stroke='#4FE0B0' strokeWidth='2' opacity='0.75' /&gt;&#10;            &lt;path d='M735 0 L735 14' fill='none' stroke='#4FE0B0' strokeWidth='2' opacity='0.75' /&gt;&#10;            &lt;path d='M245 14 L735 14' fill='none' stroke='#4FE0B0' strokeWidth='2' opacity='0.75' /&gt;&#10;            &lt;path d='M490 14 L490 26' fill='none' stroke='#4FE0B0' strokeWidth='2' opacity='0.75' /&gt;&#10;            &lt;path d='M484 20 L490 28 L496 20 Z' fill='#4FE0B0' opacity='0.9' /&gt;&#10;        &lt;/svg&gt;&#10;        &lt;Box style={{ alignItems: 'center' }}&gt;&#10;            &lt;Box style={{ width: 980, height: 62, flexDirection: 'row', justifyContent: 'center', alignItems: 'center', gap: 16, background: 'rgba(79,224,176,0.12)', border: '1px solid #4FE0B0', borderRadius: 10 }}&gt;&#10;                &lt;Text style={{ fontSize: 19, fontWeight: 'bold', color: '#E8EEF7' }}&gt;统一字段校验层&lt;/Text&gt;&#10;                &lt;Text style={{ fontSize: 16, color: '#E8EEF7', opacity: 0.7 }}&gt;→　合法字段写入提醒数据；非法字段被过滤或回落默认值&lt;/Text&gt;&#10;            &lt;/Box&gt;&#10;        &lt;/Box&gt;&#10;        &lt;Box style={{ flex: 1, flexDirection: 'row', gap: 20 }}&gt;&#10;            &lt;Box style={{ flex: 1, flexDirection: 'column', gap: 6, padding: 14, background: 'rgba(232,238,247,0.04)', border: '1px solid rgba(232,238,247,0.10)', borderRadius: 10 }}&gt;&#10;                &lt;Text style={{ fontSize: 18, fontWeight: 'bold', color: '#4FE0B0' }}&gt;云端提升上限&lt;/Text&gt;&#10;                &lt;Text style={{ fontSize: 14, color: '#E8EEF7', opacity: 0.68, lineHeight: 1.5 }}&gt;更自由的表达方式交给大模型理解，用户不必迁就关键词模板。&lt;/Text&gt;&#10;            &lt;/Box&gt;&#10;            &lt;Box style={{ flex: 1, flexDirection: 'column', gap: 6, padding: 14, background: 'rgba(232,238,247,0.04)', border: '1px solid rgba(232,238,247,0.10)', borderRadius: 10 }}&gt;&#10;                &lt;Text style={{ fontSize: 18, fontWeight: 'bold', color: '#4FE0B0' }}&gt;本机保底可用&lt;/Text&gt;&#10;                &lt;Text style={{ fontSize: 14, color: '#E8EEF7', opacity: 0.68, lineHeight: 1.5 }}&gt;断网、未配置、接口报错都不影响使用——网络是可选增强，不是必要依赖。&lt;/Text&gt;&#10;            &lt;/Box&gt;&#10;            &lt;Box style={{ flex: 1, flexDirection: 'column', gap: 6, padding: 14, background: 'rgba(232,238,247,0.04)', border: '1px solid rgba(232,238,247,0.10)', borderRadius: 10 }}&gt;&#10;                &lt;Text style={{ fontSize: 18, fontWeight: 'bold', color: '#4FE0B0' }}&gt;校验优先落库&lt;/Text&gt;&#10;                &lt;Text style={{ fontSize: 14, color: '#E8EEF7', opacity: 0.68, lineHeight: 1.5 }}&gt;模型只负责提出建议，能否写入由系统判定，幻觉不会污染用户数据。&lt;/Text&gt;&#10;            &lt;/Box&gt;&#10;        &lt;/Box&gt;&#10;    &lt;/Box&gt;&#10;    &lt;Box style={{ height: 60, flexDirection: 'row', alignItems: 'center', justifyContent: 'space-between' }}&gt;&#10;        &lt;Text style={{ fontSize: 14, color: '#E8EEF7', opacity: 0.42 }}&gt;知歇 ZhiXie · V1.0.0&lt;/Text&gt;&#10;        &lt;Text style={{ fontSize: 14, fontFamily: 'Consolas', color: '#E8EEF7', opacity: 0.42 }}&gt;07 / 18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609600" y="304800"/>
            <a:ext cx="32385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E8EEF7"/>
                </a:solidFill>
                <a:latin typeface="Microsoft YaHei"/>
                <a:ea typeface="Microsoft YaHei"/>
              </a:rPr>
              <a:t>双通道架构</a:t>
            </a:r>
            <a:endParaRPr/>
          </a:p>
        </p:txBody>
      </p:sp>
      <p:sp>
        <p:nvSpPr>
          <p:cNvPr id="306" name=""/>
          <p:cNvSpPr/>
          <p:nvPr/>
        </p:nvSpPr>
        <p:spPr>
          <a:xfrm rot="0" flipH="0" flipV="0">
            <a:off x="1428750" y="1143000"/>
            <a:ext cx="9334500" cy="552450"/>
          </a:xfrm>
          <a:prstGeom prst="roundRect">
            <a:avLst>
              <a:gd name="adj" fmla="val 17241"/>
            </a:avLst>
          </a:prstGeom>
          <a:solidFill>
            <a:srgbClr val="E8EEF7">
              <a:alpha val="6000"/>
            </a:srgbClr>
          </a:solidFill>
          <a:ln w="12700">
            <a:solidFill>
              <a:srgbClr val="E8EEF7">
                <a:alpha val="1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3429000" y="1323975"/>
            <a:ext cx="53435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E8EEF7"/>
                </a:solidFill>
                <a:latin typeface="Microsoft YaHei"/>
                <a:ea typeface="Microsoft YaHei"/>
              </a:rPr>
              <a:t>用户自然语言输入　「每周一三五下午三点半提醒我起来活动，顺便锁屏」</a:t>
            </a:r>
            <a:endParaRPr/>
          </a:p>
        </p:txBody>
      </p:sp>
      <p:pic>
        <p:nvPicPr>
          <p:cNvPr id="30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847850"/>
            <a:ext cx="9334500" cy="266700"/>
          </a:xfrm>
          <a:prstGeom prst="rect">
            <a:avLst/>
          </a:prstGeom>
          <a:ln/>
        </p:spPr>
      </p:pic>
      <p:sp>
        <p:nvSpPr>
          <p:cNvPr id="309" name=""/>
          <p:cNvSpPr/>
          <p:nvPr/>
        </p:nvSpPr>
        <p:spPr>
          <a:xfrm rot="0" flipH="0" flipV="0">
            <a:off x="609600" y="2266950"/>
            <a:ext cx="5334000" cy="1028700"/>
          </a:xfrm>
          <a:prstGeom prst="roundRect">
            <a:avLst>
              <a:gd name="adj" fmla="val 11111"/>
            </a:avLst>
          </a:prstGeom>
          <a:solidFill>
            <a:srgbClr val="4FE0B0">
              <a:alpha val="8000"/>
            </a:srgbClr>
          </a:solidFill>
          <a:ln w="12700">
            <a:solidFill>
              <a:srgbClr val="4FE0B0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800100" y="2419350"/>
            <a:ext cx="1333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8EEF7"/>
                </a:solidFill>
                <a:latin typeface="Microsoft YaHei"/>
                <a:ea typeface="Microsoft YaHei"/>
              </a:rPr>
              <a:t>云端大模型通道</a:t>
            </a:r>
            <a:endParaRPr/>
          </a:p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4533900" y="2457450"/>
            <a:ext cx="1219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FE0B0"/>
                </a:solidFill>
                <a:latin typeface="Consolas"/>
                <a:ea typeface="Consolas"/>
              </a:rPr>
              <a:t>可选</a:t>
            </a:r>
            <a:r>
              <a:rPr lang="en-US" sz="975">
                <a:solidFill>
                  <a:srgbClr val="4FE0B0"/>
                </a:solidFill>
                <a:latin typeface="Consolas"/>
                <a:ea typeface="Consolas"/>
              </a:rPr>
              <a:t xml:space="preserve"> · </a:t>
            </a:r>
            <a:r>
              <a:rPr lang="zh-CN" sz="975">
                <a:solidFill>
                  <a:srgbClr val="4FE0B0"/>
                </a:solidFill>
                <a:latin typeface="Consolas"/>
                <a:ea typeface="Consolas"/>
              </a:rPr>
              <a:t>需用户主动开启</a:t>
            </a:r>
            <a:endParaRPr/>
          </a:p>
        </p:txBody>
      </p:sp>
      <p:sp>
        <p:nvSpPr>
          <p:cNvPr id="312" name=""/>
          <p:cNvSpPr/>
          <p:nvPr/>
        </p:nvSpPr>
        <p:spPr>
          <a:xfrm rot="0" flipH="0" flipV="0">
            <a:off x="6248400" y="2266950"/>
            <a:ext cx="5334000" cy="1028700"/>
          </a:xfrm>
          <a:prstGeom prst="roundRect">
            <a:avLst>
              <a:gd name="adj" fmla="val 11111"/>
            </a:avLst>
          </a:prstGeom>
          <a:solidFill>
            <a:srgbClr val="4FE0B0">
              <a:alpha val="8000"/>
            </a:srgbClr>
          </a:solidFill>
          <a:ln w="12700">
            <a:solidFill>
              <a:srgbClr val="4FE0B0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3" name="" descr="{&quot;isTemplate&quot;:true,&quot;type&quot;:&quot;text&quot;}"/>
          <p:cNvSpPr txBox="1"/>
          <p:nvPr/>
        </p:nvSpPr>
        <p:spPr>
          <a:xfrm rot="0" flipH="0" flipV="0">
            <a:off x="6438900" y="2419350"/>
            <a:ext cx="1143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8EEF7"/>
                </a:solidFill>
                <a:latin typeface="Microsoft YaHei"/>
                <a:ea typeface="Microsoft YaHei"/>
              </a:rPr>
              <a:t>本机规则引擎</a:t>
            </a:r>
            <a:endParaRPr/>
          </a:p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10544175" y="2457450"/>
            <a:ext cx="8477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FE0B0"/>
                </a:solidFill>
                <a:latin typeface="Consolas"/>
                <a:ea typeface="Consolas"/>
              </a:rPr>
              <a:t>默认</a:t>
            </a:r>
            <a:r>
              <a:rPr lang="en-US" sz="975">
                <a:solidFill>
                  <a:srgbClr val="4FE0B0"/>
                </a:solidFill>
                <a:latin typeface="Consolas"/>
                <a:ea typeface="Consolas"/>
              </a:rPr>
              <a:t xml:space="preserve"> · </a:t>
            </a:r>
            <a:r>
              <a:rPr lang="zh-CN" sz="975">
                <a:solidFill>
                  <a:srgbClr val="4FE0B0"/>
                </a:solidFill>
                <a:latin typeface="Consolas"/>
                <a:ea typeface="Consolas"/>
              </a:rPr>
              <a:t>离线可用</a:t>
            </a:r>
            <a:endParaRPr/>
          </a:p>
        </p:txBody>
      </p:sp>
      <p:pic>
        <p:nvPicPr>
          <p:cNvPr id="31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09600" y="3448050"/>
            <a:ext cx="9334500" cy="266700"/>
          </a:xfrm>
          <a:prstGeom prst="rect">
            <a:avLst/>
          </a:prstGeom>
          <a:ln/>
        </p:spPr>
      </p:pic>
      <p:sp>
        <p:nvSpPr>
          <p:cNvPr id="316" name=""/>
          <p:cNvSpPr/>
          <p:nvPr/>
        </p:nvSpPr>
        <p:spPr>
          <a:xfrm rot="0" flipH="0" flipV="0">
            <a:off x="1428750" y="3867150"/>
            <a:ext cx="9334500" cy="590550"/>
          </a:xfrm>
          <a:prstGeom prst="roundRect">
            <a:avLst>
              <a:gd name="adj" fmla="val 16129"/>
            </a:avLst>
          </a:prstGeom>
          <a:solidFill>
            <a:srgbClr val="4FE0B0">
              <a:alpha val="12000"/>
            </a:srgbClr>
          </a:solidFill>
          <a:ln w="12700">
            <a:solidFill>
              <a:srgbClr val="4FE0B0"/>
            </a:solidFill>
            <a:prstDash val="solid"/>
          </a:ln>
        </p:spPr>
        <p:txBody>
          <a:bodyPr/>
          <a:p/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3409950" y="4057650"/>
            <a:ext cx="1266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E8EEF7"/>
                </a:solidFill>
                <a:latin typeface="Microsoft YaHei"/>
                <a:ea typeface="Microsoft YaHei"/>
              </a:rPr>
              <a:t>统一字段校验层</a:t>
            </a:r>
            <a:endParaRPr/>
          </a:p>
        </p:txBody>
      </p:sp>
      <p:sp>
        <p:nvSpPr>
          <p:cNvPr id="318" name=""/>
          <p:cNvSpPr/>
          <p:nvPr/>
        </p:nvSpPr>
        <p:spPr>
          <a:xfrm rot="0" flipH="0" flipV="0">
            <a:off x="609600" y="4610100"/>
            <a:ext cx="3533775" cy="1295400"/>
          </a:xfrm>
          <a:prstGeom prst="roundRect">
            <a:avLst>
              <a:gd name="adj" fmla="val 7353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742950" y="4743450"/>
            <a:ext cx="3267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4FE0B0"/>
                </a:solidFill>
                <a:latin typeface="Microsoft YaHei"/>
                <a:ea typeface="Microsoft YaHei"/>
              </a:rPr>
              <a:t>云端提升上限</a:t>
            </a:r>
            <a:endParaRPr/>
          </a:p>
        </p:txBody>
      </p:sp>
      <p:sp>
        <p:nvSpPr>
          <p:cNvPr id="320" name=""/>
          <p:cNvSpPr/>
          <p:nvPr/>
        </p:nvSpPr>
        <p:spPr>
          <a:xfrm rot="0" flipH="0" flipV="0">
            <a:off x="4333875" y="4610100"/>
            <a:ext cx="3524250" cy="1295400"/>
          </a:xfrm>
          <a:prstGeom prst="roundRect">
            <a:avLst>
              <a:gd name="adj" fmla="val 7353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1" name="" descr="{&quot;isTemplate&quot;:true,&quot;type&quot;:&quot;text&quot;}"/>
          <p:cNvSpPr txBox="1"/>
          <p:nvPr/>
        </p:nvSpPr>
        <p:spPr>
          <a:xfrm rot="0" flipH="0" flipV="0">
            <a:off x="4467225" y="4743450"/>
            <a:ext cx="3257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4FE0B0"/>
                </a:solidFill>
                <a:latin typeface="Microsoft YaHei"/>
                <a:ea typeface="Microsoft YaHei"/>
              </a:rPr>
              <a:t>本机保底可用</a:t>
            </a:r>
            <a:endParaRPr/>
          </a:p>
        </p:txBody>
      </p:sp>
      <p:sp>
        <p:nvSpPr>
          <p:cNvPr id="322" name=""/>
          <p:cNvSpPr/>
          <p:nvPr/>
        </p:nvSpPr>
        <p:spPr>
          <a:xfrm rot="0" flipH="0" flipV="0">
            <a:off x="8048625" y="4610100"/>
            <a:ext cx="3533775" cy="1295400"/>
          </a:xfrm>
          <a:prstGeom prst="roundRect">
            <a:avLst>
              <a:gd name="adj" fmla="val 7353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8181975" y="4743450"/>
            <a:ext cx="3267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4FE0B0"/>
                </a:solidFill>
                <a:latin typeface="Microsoft YaHei"/>
                <a:ea typeface="Microsoft YaHei"/>
              </a:rPr>
              <a:t>校验优先落库</a:t>
            </a:r>
            <a:endParaRPr/>
          </a:p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609600" y="781050"/>
            <a:ext cx="3238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75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云端提升上限，本机保底可用，校验优先落库</a:t>
            </a:r>
            <a:endParaRPr/>
          </a:p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11049000" y="809625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FE0B0">
                    <a:alpha val="80000"/>
                  </a:srgbClr>
                </a:solidFill>
                <a:latin typeface="Consolas"/>
                <a:ea typeface="Consolas"/>
              </a:rPr>
              <a:t>核心架构</a:t>
            </a:r>
            <a:endParaRPr/>
          </a:p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800100" y="2724150"/>
            <a:ext cx="49530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 xml:space="preserve">OpenAI </a:t>
            </a:r>
            <a:r>
              <a:rPr lang="zh-CN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兼容接口（默认</a:t>
            </a:r>
            <a:r>
              <a:rPr lang="en-US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 xml:space="preserve"> DeepSeek</a:t>
            </a:r>
            <a:r>
              <a:rPr lang="zh-CN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）·</a:t>
            </a:r>
            <a:r>
              <a:rPr lang="en-US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系统提示词约束输出固定字段</a:t>
            </a:r>
            <a:r>
              <a:rPr lang="en-US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 xml:space="preserve"> · temperature 0.2 · 40 </a:t>
            </a:r>
            <a:r>
              <a:rPr lang="zh-CN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秒超时保护</a:t>
            </a:r>
            <a:endParaRPr/>
          </a:p>
        </p:txBody>
      </p:sp>
      <p:sp>
        <p:nvSpPr>
          <p:cNvPr id="327" name="" descr="{&quot;isTemplate&quot;:true,&quot;type&quot;:&quot;text&quot;}"/>
          <p:cNvSpPr txBox="1"/>
          <p:nvPr/>
        </p:nvSpPr>
        <p:spPr>
          <a:xfrm rot="0" flipH="0" flipV="0">
            <a:off x="6438900" y="2724150"/>
            <a:ext cx="49530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纯</a:t>
            </a:r>
            <a:r>
              <a:rPr lang="en-US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 xml:space="preserve"> Rust </a:t>
            </a:r>
            <a:r>
              <a:rPr lang="zh-CN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实现，零外部依赖；未配置密钥</a:t>
            </a:r>
            <a:r>
              <a:rPr lang="en-US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断网</a:t>
            </a:r>
            <a:r>
              <a:rPr lang="en-US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接口报错时自动接手，功能不中断</a:t>
            </a:r>
            <a:endParaRPr/>
          </a:p>
        </p:txBody>
      </p:sp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4829175" y="4067175"/>
            <a:ext cx="3962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→　合法字段写入提醒数据；非法字段被过滤或回落默认值</a:t>
            </a:r>
            <a:endParaRPr/>
          </a:p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742950" y="5010150"/>
            <a:ext cx="32670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050">
                <a:solidFill>
                  <a:srgbClr val="E8EEF7">
                    <a:alpha val="68000"/>
                  </a:srgbClr>
                </a:solidFill>
                <a:latin typeface="Microsoft YaHei"/>
                <a:ea typeface="Microsoft YaHei"/>
              </a:rPr>
              <a:t>更自由的表达方式交给大模型理解，用户不必迁就关键词模板。</a:t>
            </a:r>
            <a:endParaRPr/>
          </a:p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4467225" y="5010150"/>
            <a:ext cx="325755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050">
                <a:solidFill>
                  <a:srgbClr val="E8EEF7">
                    <a:alpha val="68000"/>
                  </a:srgbClr>
                </a:solidFill>
                <a:latin typeface="Microsoft YaHei"/>
                <a:ea typeface="Microsoft YaHei"/>
              </a:rPr>
              <a:t>断网、未配置、接口报错都不影响使用——网络是可选增强，不是必要依赖。</a:t>
            </a:r>
            <a:endParaRPr/>
          </a:p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8181975" y="5010150"/>
            <a:ext cx="32670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050">
                <a:solidFill>
                  <a:srgbClr val="E8EEF7">
                    <a:alpha val="68000"/>
                  </a:srgbClr>
                </a:solidFill>
                <a:latin typeface="Microsoft YaHei"/>
                <a:ea typeface="Microsoft YaHei"/>
              </a:rPr>
              <a:t>模型只负责提出建议，能否写入由系统判定，幻觉不会污染用户数据。</a:t>
            </a:r>
            <a:endParaRPr/>
          </a:p>
        </p:txBody>
      </p:sp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609600" y="6115050"/>
            <a:ext cx="1190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11172825" y="6115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E8EEF7">
                    <a:alpha val="42000"/>
                  </a:srgbClr>
                </a:solidFill>
                <a:latin typeface="Consolas"/>
                <a:ea typeface="Consolas"/>
              </a:rPr>
              <a:t>07 / 18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334" name="" descr="&lt;Slide style={{ width: 1280, height: 720, background: '#0B1220', padding: '20px 64px' }}&gt;&#10;    &lt;Box style={{ height: 100, flexDirection: 'row', alignItems: 'flex-end', justifyContent: 'space-between', paddingBottom: 18 }}&gt;&#10;        &lt;Box style={{ flexDirection: 'column', gap: 6 }}&gt;&#10;            &lt;Text style={{ fontSize: 36, fontWeight: 'bold', color: '#E8EEF7' }}&gt;本机规则引擎：断网也能听懂你&lt;/Text&gt;&#10;            &lt;Text style={{ fontSize: 16, color: '#E8EEF7', opacity: 0.55, letterSpacing: 1 }}&gt;面向中文口语表达优化的五类高频句式&lt;/Text&gt;&#10;        &lt;/Box&gt;&#10;        &lt;Text style={{ fontSize: 14, fontFamily: 'Consolas', color: '#E8EEF7', opacity: 0.35 }}&gt;08&lt;/Text&gt;&#10;    &lt;/Box&gt;&#10;    &lt;Box style={{ height: 500, flexDirection: 'row', gap: 32 }}&gt;&#10;        &lt;Box style={{ width: 340, flexDirection: 'column', justifyContent: 'space-between', padding: 24, background: 'rgba(79,224,176,0.08)', border: '1px solid rgba(79,224,176,0.35)', borderRadius: 14 }}&gt;&#10;            &lt;Box style={{ flexDirection: 'column', gap: 14 }}&gt;&#10;                &lt;Text style={{ fontSize: 24, fontWeight: 'bold', color: '#E8EEF7', lineHeight: 1.35 }}&gt;纯 Rust 实现&lt;br /&gt;零外部依赖&lt;/Text&gt;&#10;                &lt;Box style={{ height: 3, width: 80, background: 'linear-gradient(135deg, #4FE0B0 0%, #2E9E8F 100%)', borderRadius: 2 }} /&gt;&#10;                &lt;Text style={{ fontSize: 16, color: '#E8EEF7', opacity: 0.72, lineHeight: 1.6 }}&gt;不联网、不需要账号、不产生接口费用。未配置密钥时即为默认工作模式，安装完就能用。&lt;/Text&gt;&#10;            &lt;/Box&gt;&#10;            &lt;Box style={{ flexDirection: 'column', gap: 8, paddingTop: 16, borderTop: '1px solid rgba(232,238,247,0.14)' }}&gt;&#10;                &lt;Text style={{ fontSize: 15, color: '#E8EEF7', opacity: 0.6, lineHeight: 1.5 }}&gt;无关键词的句子会回落为「单次提醒」，并保留原句作为标题——不报错、不丢输入。&lt;/Text&gt;&#10;            &lt;/Box&gt;&#10;        &lt;/Box&gt;&#10;        &lt;Box style={{ flex: 1, flexDirection: 'column', gap: 12 }}&gt;&#10;            &lt;Box style={{ flexDirection: 'row', alignItems: 'center', paddingBottom: 8, borderBottom: '1px solid rgba(232,238,247,0.14)' }}&gt;&#10;                &lt;Text style={{ width: 420, fontSize: 14, color: '#E8EEF7', opacity: 0.5, letterSpacing: 1 }}&gt;你说的（自然表达）&lt;/Text&gt;&#10;                &lt;Text style={{ flex: 1, fontSize: 14, color: '#E8EEF7', opacity: 0.5, letterSpacing: 1 }}&gt;智能体解析出的（结构化规则）&lt;/Text&gt;&#10;            &lt;/Box&gt;&#10;            &lt;Box style={{ height: 78, flexDirection: 'row', alignItems: 'center', padding: '0 18px', background: 'rgba(232,238,247,0.04)', border: '1px solid rgba(232,238,247,0.10)', borderRadius: 10 }}&gt;&#10;                &lt;Text style={{ width: 420, fontSize: 17, color: '#E8EEF7' }}&gt;「每天&lt;span style={{ color: '#4FE0B0' }}&gt;下午三点&lt;/span&gt;提醒我喝水」&lt;/Text&gt;&#10;                &lt;Text style={{ flex: 1, fontSize: 17, color: '#4FE0B0' }}&gt;每天 · 15:00 · 中文数字时间&lt;/Text&gt;&#10;            &lt;/Box&gt;&#10;            &lt;Box style={{ height: 78, flexDirection: 'row', alignItems: 'center', padding: '0 18px', background: 'rgba(232,238,247,0.04)', border: '1px solid rgba(232,238,247,0.10)', borderRadius: 10 }}&gt;&#10;                &lt;Text style={{ width: 420, fontSize: 17, color: '#E8EEF7' }}&gt;「&lt;span style={{ color: '#4FE0B0' }}&gt;30分钟后&lt;/span&gt;提醒我休息一下」&lt;/Text&gt;&#10;                &lt;Text style={{ flex: 1, fontSize: 17, color: '#4FE0B0' }}&gt;单次 · 当前时间 +30 分钟 · 相对时间&lt;/Text&gt;&#10;            &lt;/Box&gt;&#10;            &lt;Box style={{ height: 78, flexDirection: 'row', alignItems: 'center', padding: '0 18px', background: 'rgba(232,238,247,0.04)', border: '1px solid rgba(232,238,247,0.10)', borderRadius: 10 }}&gt;&#10;                &lt;Text style={{ width: 420, fontSize: 17, color: '#E8EEF7' }}&gt;「&lt;span style={{ color: '#4FE0B0' }}&gt;每周一三五&lt;/span&gt; 17:30 提醒我锁屏」&lt;/Text&gt;&#10;                &lt;Text style={{ flex: 1, fontSize: 17, color: '#4FE0B0' }}&gt;每周 · 周一 / 周三 / 周五 · 附加锁屏&lt;/Text&gt;&#10;            &lt;/Box&gt;&#10;            &lt;Box style={{ height: 78, flexDirection: 'row', alignItems: 'center', padding: '0 18px', background: 'rgba(232,238,247,0.04)', border: '1px solid rgba(232,238,247,0.10)', borderRadius: 10 }}&gt;&#10;                &lt;Text style={{ width: 420, fontSize: 17, color: '#E8EEF7' }}&gt;「&lt;span style={{ color: '#4FE0B0' }}&gt;明天&lt;/span&gt;早上八点提醒我交作业」&lt;/Text&gt;&#10;                &lt;Text style={{ flex: 1, fontSize: 17, color: '#4FE0B0' }}&gt;单次 · 次日 08:00 · 日期词&lt;/Text&gt;&#10;            &lt;/Box&gt;&#10;            &lt;Box style={{ height: 78, flexDirection: 'row', alignItems: 'center', padding: '0 18px', background: 'rgba(232,238,247,0.04)', border: '1px solid rgba(232,238,247,0.10)', borderRadius: 10 }}&gt;&#10;                &lt;Text style={{ width: 420, fontSize: 17, color: '#E8EEF7' }}&gt;「晚上十一点提醒我锁屏睡觉」&lt;/Text&gt;&#10;                &lt;Text style={{ flex: 1, fontSize: 17, color: '#4FE0B0' }}&gt;每天 · 23:00 · 系统操作词&lt;/Text&gt;&#10;            &lt;/Box&gt;&#10;        &lt;/Box&gt;&#10;    &lt;/Box&gt;&#10;    &lt;Box style={{ height: 60, flexDirection: 'row', alignItems: 'center', justifyContent: 'space-between' }}&gt;&#10;        &lt;Text style={{ fontSize: 14, color: '#E8EEF7', opacity: 0.42 }}&gt;知歇 ZhiXie · V1.0.0&lt;/Text&gt;&#10;        &lt;Text style={{ fontSize: 14, fontFamily: 'Consolas', color: '#E8EEF7', opacity: 0.42 }}&gt;08 / 18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336" name="" descr="{&quot;isTemplate&quot;:true,&quot;type&quot;:&quot;text&quot;}"/>
          <p:cNvSpPr txBox="1"/>
          <p:nvPr/>
        </p:nvSpPr>
        <p:spPr>
          <a:xfrm rot="0" flipH="0" flipV="0">
            <a:off x="609600" y="304800"/>
            <a:ext cx="48006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E8EEF7"/>
                </a:solidFill>
                <a:latin typeface="Microsoft YaHei"/>
                <a:ea typeface="Microsoft YaHei"/>
              </a:rPr>
              <a:t>本机规则引擎：断网也能听懂你</a:t>
            </a:r>
            <a:endParaRPr/>
          </a:p>
        </p:txBody>
      </p:sp>
      <p:sp>
        <p:nvSpPr>
          <p:cNvPr id="337" name=""/>
          <p:cNvSpPr/>
          <p:nvPr/>
        </p:nvSpPr>
        <p:spPr>
          <a:xfrm rot="0" flipH="0" flipV="0">
            <a:off x="609600" y="1143000"/>
            <a:ext cx="3238500" cy="4762500"/>
          </a:xfrm>
          <a:prstGeom prst="roundRect">
            <a:avLst>
              <a:gd name="adj" fmla="val 4118"/>
            </a:avLst>
          </a:prstGeom>
          <a:solidFill>
            <a:srgbClr val="4FE0B0">
              <a:alpha val="8000"/>
            </a:srgbClr>
          </a:solidFill>
          <a:ln w="12700">
            <a:solidFill>
              <a:srgbClr val="4FE0B0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8" name="" descr="{&quot;isTemplate&quot;:true,&quot;type&quot;:&quot;text&quot;}"/>
          <p:cNvSpPr txBox="1"/>
          <p:nvPr/>
        </p:nvSpPr>
        <p:spPr>
          <a:xfrm rot="0" flipH="0" flipV="0">
            <a:off x="838200" y="1371600"/>
            <a:ext cx="2781300" cy="742950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800" b="1">
                <a:solidFill>
                  <a:srgbClr val="E8EEF7"/>
                </a:solidFill>
                <a:latin typeface="Microsoft YaHei"/>
                <a:ea typeface="Microsoft YaHei"/>
              </a:rPr>
              <a:t>纯</a:t>
            </a:r>
            <a:r>
              <a:rPr lang="en-US" sz="180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Rust </a:t>
            </a:r>
            <a:r>
              <a:rPr lang="zh-CN" sz="1800" b="1">
                <a:solidFill>
                  <a:srgbClr val="E8EEF7"/>
                </a:solidFill>
                <a:latin typeface="Microsoft YaHei"/>
                <a:ea typeface="Microsoft YaHei"/>
              </a:rPr>
              <a:t>实现</a:t>
            </a:r>
            <a:endParaRPr/>
          </a:p>
          <a:p>
            <a:pPr>
              <a:lnSpc>
                <a:spcPct val="135000"/>
              </a:lnSpc>
            </a:pPr>
            <a:r>
              <a:rPr lang="zh-CN" sz="1800" b="1">
                <a:solidFill>
                  <a:srgbClr val="E8EEF7"/>
                </a:solidFill>
                <a:latin typeface="Microsoft YaHei"/>
                <a:ea typeface="Microsoft YaHei"/>
              </a:rPr>
              <a:t>零外部依赖</a:t>
            </a:r>
            <a:endParaRPr/>
          </a:p>
        </p:txBody>
      </p:sp>
      <p:sp>
        <p:nvSpPr>
          <p:cNvPr id="339" name=""/>
          <p:cNvSpPr/>
          <p:nvPr/>
        </p:nvSpPr>
        <p:spPr>
          <a:xfrm rot="0" flipH="0" flipV="0">
            <a:off x="838200" y="2247900"/>
            <a:ext cx="762000" cy="28575"/>
          </a:xfrm>
          <a:prstGeom prst="roundRect">
            <a:avLst>
              <a:gd name="adj" fmla="val 66667"/>
            </a:avLst>
          </a:prstGeom>
          <a:gradFill>
            <a:gsLst>
              <a:gs pos="0">
                <a:srgbClr val="4FE0B0"/>
              </a:gs>
              <a:gs pos="100000">
                <a:srgbClr val="2E9E8F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340" name=""/>
          <p:cNvSpPr/>
          <p:nvPr/>
        </p:nvSpPr>
        <p:spPr>
          <a:xfrm rot="0" flipH="0" flipV="0">
            <a:off x="838200" y="5000625"/>
            <a:ext cx="2781300" cy="685800"/>
          </a:xfrm>
          <a:custGeom>
            <a:pathLst>
              <a:path w="292" h="72">
                <a:moveTo>
                  <a:pt x="0" y="0"/>
                </a:moveTo>
                <a:lnTo>
                  <a:pt x="292" y="0"/>
                </a:lnTo>
                <a:lnTo>
                  <a:pt x="292" y="1"/>
                </a:lnTo>
                <a:lnTo>
                  <a:pt x="0" y="1"/>
                </a:lnTo>
                <a:close/>
              </a:path>
            </a:pathLst>
          </a:custGeom>
          <a:solidFill>
            <a:srgbClr val="E8EEF7">
              <a:alpha val="14000"/>
            </a:srgbClr>
          </a:solidFill>
          <a:ln/>
        </p:spPr>
        <p:txBody>
          <a:bodyPr/>
          <a:p/>
        </p:txBody>
      </p:sp>
      <p:sp>
        <p:nvSpPr>
          <p:cNvPr id="341" name=""/>
          <p:cNvSpPr/>
          <p:nvPr/>
        </p:nvSpPr>
        <p:spPr>
          <a:xfrm rot="0" flipH="0" flipV="0">
            <a:off x="4152900" y="1143000"/>
            <a:ext cx="7429500" cy="257175"/>
          </a:xfrm>
          <a:custGeom>
            <a:pathLst>
              <a:path w="780" h="27">
                <a:moveTo>
                  <a:pt x="0" y="26"/>
                </a:moveTo>
                <a:lnTo>
                  <a:pt x="780" y="26"/>
                </a:lnTo>
                <a:lnTo>
                  <a:pt x="780" y="27"/>
                </a:lnTo>
                <a:lnTo>
                  <a:pt x="0" y="27"/>
                </a:lnTo>
                <a:close/>
              </a:path>
            </a:pathLst>
          </a:custGeom>
          <a:solidFill>
            <a:srgbClr val="E8EEF7">
              <a:alpha val="14000"/>
            </a:srgbClr>
          </a:solidFill>
          <a:ln/>
        </p:spPr>
        <p:txBody>
          <a:bodyPr/>
          <a:p/>
        </p:txBody>
      </p:sp>
      <p:sp>
        <p:nvSpPr>
          <p:cNvPr id="342" name=""/>
          <p:cNvSpPr/>
          <p:nvPr/>
        </p:nvSpPr>
        <p:spPr>
          <a:xfrm rot="0" flipH="0" flipV="0">
            <a:off x="4152900" y="1504950"/>
            <a:ext cx="7429500" cy="742950"/>
          </a:xfrm>
          <a:prstGeom prst="roundRect">
            <a:avLst>
              <a:gd name="adj" fmla="val 12821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4324350" y="1781175"/>
            <a:ext cx="40005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E8EEF7"/>
                </a:solidFill>
                <a:latin typeface="Microsoft YaHei"/>
                <a:ea typeface="Microsoft YaHei"/>
              </a:rPr>
              <a:t>「每天</a:t>
            </a:r>
            <a:r>
              <a:rPr lang="zh-CN" sz="1275">
                <a:solidFill>
                  <a:srgbClr val="4FE0B0"/>
                </a:solidFill>
                <a:latin typeface="Microsoft YaHei"/>
                <a:ea typeface="Microsoft YaHei"/>
              </a:rPr>
              <a:t>下午三点</a:t>
            </a:r>
            <a:r>
              <a:rPr lang="zh-CN" sz="1275">
                <a:solidFill>
                  <a:srgbClr val="E8EEF7"/>
                </a:solidFill>
                <a:latin typeface="Microsoft YaHei"/>
                <a:ea typeface="Microsoft YaHei"/>
              </a:rPr>
              <a:t>提醒我喝水」</a:t>
            </a:r>
            <a:endParaRPr/>
          </a:p>
        </p:txBody>
      </p:sp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8324850" y="1781175"/>
            <a:ext cx="30861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FE0B0"/>
                </a:solidFill>
                <a:latin typeface="Microsoft YaHei"/>
                <a:ea typeface="Microsoft YaHei"/>
              </a:rPr>
              <a:t>每天</a:t>
            </a:r>
            <a:r>
              <a:rPr lang="en-US" sz="1275">
                <a:solidFill>
                  <a:srgbClr val="4FE0B0"/>
                </a:solidFill>
                <a:latin typeface="Microsoft YaHei"/>
                <a:ea typeface="Microsoft YaHei"/>
              </a:rPr>
              <a:t xml:space="preserve"> · 15:00 · </a:t>
            </a:r>
            <a:r>
              <a:rPr lang="zh-CN" sz="1275">
                <a:solidFill>
                  <a:srgbClr val="4FE0B0"/>
                </a:solidFill>
                <a:latin typeface="Microsoft YaHei"/>
                <a:ea typeface="Microsoft YaHei"/>
              </a:rPr>
              <a:t>中文数字时间</a:t>
            </a:r>
            <a:endParaRPr/>
          </a:p>
        </p:txBody>
      </p:sp>
      <p:sp>
        <p:nvSpPr>
          <p:cNvPr id="345" name=""/>
          <p:cNvSpPr/>
          <p:nvPr/>
        </p:nvSpPr>
        <p:spPr>
          <a:xfrm rot="0" flipH="0" flipV="0">
            <a:off x="4152900" y="2362200"/>
            <a:ext cx="7429500" cy="742950"/>
          </a:xfrm>
          <a:prstGeom prst="roundRect">
            <a:avLst>
              <a:gd name="adj" fmla="val 12821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6" name="" descr="{&quot;isTemplate&quot;:true,&quot;type&quot;:&quot;text&quot;}"/>
          <p:cNvSpPr txBox="1"/>
          <p:nvPr/>
        </p:nvSpPr>
        <p:spPr>
          <a:xfrm rot="0" flipH="0" flipV="0">
            <a:off x="4324350" y="2638425"/>
            <a:ext cx="40005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E8EEF7"/>
                </a:solidFill>
                <a:latin typeface="Microsoft YaHei"/>
                <a:ea typeface="Microsoft YaHei"/>
              </a:rPr>
              <a:t>「</a:t>
            </a:r>
            <a:r>
              <a:rPr lang="en-US" sz="1275">
                <a:solidFill>
                  <a:srgbClr val="4FE0B0"/>
                </a:solidFill>
                <a:latin typeface="Microsoft YaHei"/>
                <a:ea typeface="Microsoft YaHei"/>
              </a:rPr>
              <a:t>30</a:t>
            </a:r>
            <a:r>
              <a:rPr lang="zh-CN" sz="1275">
                <a:solidFill>
                  <a:srgbClr val="4FE0B0"/>
                </a:solidFill>
                <a:latin typeface="Microsoft YaHei"/>
                <a:ea typeface="Microsoft YaHei"/>
              </a:rPr>
              <a:t>分钟后</a:t>
            </a:r>
            <a:r>
              <a:rPr lang="zh-CN" sz="1275">
                <a:solidFill>
                  <a:srgbClr val="E8EEF7"/>
                </a:solidFill>
                <a:latin typeface="Microsoft YaHei"/>
                <a:ea typeface="Microsoft YaHei"/>
              </a:rPr>
              <a:t>提醒我休息一下」</a:t>
            </a:r>
            <a:endParaRPr/>
          </a:p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8324850" y="2638425"/>
            <a:ext cx="30861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FE0B0"/>
                </a:solidFill>
                <a:latin typeface="Microsoft YaHei"/>
                <a:ea typeface="Microsoft YaHei"/>
              </a:rPr>
              <a:t>单次</a:t>
            </a:r>
            <a:r>
              <a:rPr lang="en-US" sz="1275">
                <a:solidFill>
                  <a:srgbClr val="4FE0B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4FE0B0"/>
                </a:solidFill>
                <a:latin typeface="Microsoft YaHei"/>
                <a:ea typeface="Microsoft YaHei"/>
              </a:rPr>
              <a:t>当前时间</a:t>
            </a:r>
            <a:r>
              <a:rPr lang="en-US" sz="1275">
                <a:solidFill>
                  <a:srgbClr val="4FE0B0"/>
                </a:solidFill>
                <a:latin typeface="Microsoft YaHei"/>
                <a:ea typeface="Microsoft YaHei"/>
              </a:rPr>
              <a:t xml:space="preserve"> +30 </a:t>
            </a:r>
            <a:r>
              <a:rPr lang="zh-CN" sz="1275">
                <a:solidFill>
                  <a:srgbClr val="4FE0B0"/>
                </a:solidFill>
                <a:latin typeface="Microsoft YaHei"/>
                <a:ea typeface="Microsoft YaHei"/>
              </a:rPr>
              <a:t>分钟</a:t>
            </a:r>
            <a:r>
              <a:rPr lang="en-US" sz="1275">
                <a:solidFill>
                  <a:srgbClr val="4FE0B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4FE0B0"/>
                </a:solidFill>
                <a:latin typeface="Microsoft YaHei"/>
                <a:ea typeface="Microsoft YaHei"/>
              </a:rPr>
              <a:t>相对时间</a:t>
            </a:r>
            <a:endParaRPr/>
          </a:p>
        </p:txBody>
      </p:sp>
      <p:sp>
        <p:nvSpPr>
          <p:cNvPr id="348" name=""/>
          <p:cNvSpPr/>
          <p:nvPr/>
        </p:nvSpPr>
        <p:spPr>
          <a:xfrm rot="0" flipH="0" flipV="0">
            <a:off x="4152900" y="3219450"/>
            <a:ext cx="7429500" cy="742950"/>
          </a:xfrm>
          <a:prstGeom prst="roundRect">
            <a:avLst>
              <a:gd name="adj" fmla="val 12821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4324350" y="3495675"/>
            <a:ext cx="40005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E8EEF7"/>
                </a:solidFill>
                <a:latin typeface="Microsoft YaHei"/>
                <a:ea typeface="Microsoft YaHei"/>
              </a:rPr>
              <a:t>「</a:t>
            </a:r>
            <a:r>
              <a:rPr lang="zh-CN" sz="1275">
                <a:solidFill>
                  <a:srgbClr val="4FE0B0"/>
                </a:solidFill>
                <a:latin typeface="Microsoft YaHei"/>
                <a:ea typeface="Microsoft YaHei"/>
              </a:rPr>
              <a:t>每周一三五</a:t>
            </a:r>
            <a:r>
              <a:rPr lang="en-US" sz="1275">
                <a:solidFill>
                  <a:srgbClr val="E8EEF7"/>
                </a:solidFill>
                <a:latin typeface="Microsoft YaHei"/>
                <a:ea typeface="Microsoft YaHei"/>
              </a:rPr>
              <a:t xml:space="preserve"> 17:30 </a:t>
            </a:r>
            <a:r>
              <a:rPr lang="zh-CN" sz="1275">
                <a:solidFill>
                  <a:srgbClr val="E8EEF7"/>
                </a:solidFill>
                <a:latin typeface="Microsoft YaHei"/>
                <a:ea typeface="Microsoft YaHei"/>
              </a:rPr>
              <a:t>提醒我锁屏」</a:t>
            </a:r>
            <a:endParaRPr/>
          </a:p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8324850" y="3495675"/>
            <a:ext cx="30861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FE0B0"/>
                </a:solidFill>
                <a:latin typeface="Microsoft YaHei"/>
                <a:ea typeface="Microsoft YaHei"/>
              </a:rPr>
              <a:t>每周</a:t>
            </a:r>
            <a:r>
              <a:rPr lang="en-US" sz="1275">
                <a:solidFill>
                  <a:srgbClr val="4FE0B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4FE0B0"/>
                </a:solidFill>
                <a:latin typeface="Microsoft YaHei"/>
                <a:ea typeface="Microsoft YaHei"/>
              </a:rPr>
              <a:t>周一</a:t>
            </a:r>
            <a:r>
              <a:rPr lang="en-US" sz="1275">
                <a:solidFill>
                  <a:srgbClr val="4FE0B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75">
                <a:solidFill>
                  <a:srgbClr val="4FE0B0"/>
                </a:solidFill>
                <a:latin typeface="Microsoft YaHei"/>
                <a:ea typeface="Microsoft YaHei"/>
              </a:rPr>
              <a:t>周三</a:t>
            </a:r>
            <a:r>
              <a:rPr lang="en-US" sz="1275">
                <a:solidFill>
                  <a:srgbClr val="4FE0B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75">
                <a:solidFill>
                  <a:srgbClr val="4FE0B0"/>
                </a:solidFill>
                <a:latin typeface="Microsoft YaHei"/>
                <a:ea typeface="Microsoft YaHei"/>
              </a:rPr>
              <a:t>周五</a:t>
            </a:r>
            <a:r>
              <a:rPr lang="en-US" sz="1275">
                <a:solidFill>
                  <a:srgbClr val="4FE0B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4FE0B0"/>
                </a:solidFill>
                <a:latin typeface="Microsoft YaHei"/>
                <a:ea typeface="Microsoft YaHei"/>
              </a:rPr>
              <a:t>附加锁屏</a:t>
            </a:r>
            <a:endParaRPr/>
          </a:p>
        </p:txBody>
      </p:sp>
      <p:sp>
        <p:nvSpPr>
          <p:cNvPr id="351" name=""/>
          <p:cNvSpPr/>
          <p:nvPr/>
        </p:nvSpPr>
        <p:spPr>
          <a:xfrm rot="0" flipH="0" flipV="0">
            <a:off x="4152900" y="4076700"/>
            <a:ext cx="7429500" cy="742950"/>
          </a:xfrm>
          <a:prstGeom prst="roundRect">
            <a:avLst>
              <a:gd name="adj" fmla="val 12821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52" name="" descr="{&quot;isTemplate&quot;:true,&quot;type&quot;:&quot;text&quot;}"/>
          <p:cNvSpPr txBox="1"/>
          <p:nvPr/>
        </p:nvSpPr>
        <p:spPr>
          <a:xfrm rot="0" flipH="0" flipV="0">
            <a:off x="4324350" y="4352925"/>
            <a:ext cx="40005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E8EEF7"/>
                </a:solidFill>
                <a:latin typeface="Microsoft YaHei"/>
                <a:ea typeface="Microsoft YaHei"/>
              </a:rPr>
              <a:t>「</a:t>
            </a:r>
            <a:r>
              <a:rPr lang="zh-CN" sz="1275">
                <a:solidFill>
                  <a:srgbClr val="4FE0B0"/>
                </a:solidFill>
                <a:latin typeface="Microsoft YaHei"/>
                <a:ea typeface="Microsoft YaHei"/>
              </a:rPr>
              <a:t>明天</a:t>
            </a:r>
            <a:r>
              <a:rPr lang="zh-CN" sz="1275">
                <a:solidFill>
                  <a:srgbClr val="E8EEF7"/>
                </a:solidFill>
                <a:latin typeface="Microsoft YaHei"/>
                <a:ea typeface="Microsoft YaHei"/>
              </a:rPr>
              <a:t>早上八点提醒我交作业」</a:t>
            </a:r>
            <a:endParaRPr/>
          </a:p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8324850" y="4352925"/>
            <a:ext cx="30861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FE0B0"/>
                </a:solidFill>
                <a:latin typeface="Microsoft YaHei"/>
                <a:ea typeface="Microsoft YaHei"/>
              </a:rPr>
              <a:t>单次</a:t>
            </a:r>
            <a:r>
              <a:rPr lang="en-US" sz="1275">
                <a:solidFill>
                  <a:srgbClr val="4FE0B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4FE0B0"/>
                </a:solidFill>
                <a:latin typeface="Microsoft YaHei"/>
                <a:ea typeface="Microsoft YaHei"/>
              </a:rPr>
              <a:t>次日</a:t>
            </a:r>
            <a:r>
              <a:rPr lang="en-US" sz="1275">
                <a:solidFill>
                  <a:srgbClr val="4FE0B0"/>
                </a:solidFill>
                <a:latin typeface="Microsoft YaHei"/>
                <a:ea typeface="Microsoft YaHei"/>
              </a:rPr>
              <a:t xml:space="preserve"> 08:00 · </a:t>
            </a:r>
            <a:r>
              <a:rPr lang="zh-CN" sz="1275">
                <a:solidFill>
                  <a:srgbClr val="4FE0B0"/>
                </a:solidFill>
                <a:latin typeface="Microsoft YaHei"/>
                <a:ea typeface="Microsoft YaHei"/>
              </a:rPr>
              <a:t>日期词</a:t>
            </a:r>
            <a:endParaRPr/>
          </a:p>
        </p:txBody>
      </p:sp>
      <p:sp>
        <p:nvSpPr>
          <p:cNvPr id="354" name=""/>
          <p:cNvSpPr/>
          <p:nvPr/>
        </p:nvSpPr>
        <p:spPr>
          <a:xfrm rot="0" flipH="0" flipV="0">
            <a:off x="4152900" y="4933950"/>
            <a:ext cx="7429500" cy="742950"/>
          </a:xfrm>
          <a:prstGeom prst="roundRect">
            <a:avLst>
              <a:gd name="adj" fmla="val 12821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55" name="" descr="{&quot;isTemplate&quot;:true,&quot;type&quot;:&quot;text&quot;}"/>
          <p:cNvSpPr txBox="1"/>
          <p:nvPr/>
        </p:nvSpPr>
        <p:spPr>
          <a:xfrm rot="0" flipH="0" flipV="0">
            <a:off x="4324350" y="5210175"/>
            <a:ext cx="40005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E8EEF7"/>
                </a:solidFill>
                <a:latin typeface="Microsoft YaHei"/>
                <a:ea typeface="Microsoft YaHei"/>
              </a:rPr>
              <a:t>「晚上十一点提醒我锁屏睡觉」</a:t>
            </a:r>
            <a:endParaRPr/>
          </a:p>
        </p:txBody>
      </p:sp>
      <p:sp>
        <p:nvSpPr>
          <p:cNvPr id="356" name="" descr="{&quot;isTemplate&quot;:true,&quot;type&quot;:&quot;text&quot;}"/>
          <p:cNvSpPr txBox="1"/>
          <p:nvPr/>
        </p:nvSpPr>
        <p:spPr>
          <a:xfrm rot="0" flipH="0" flipV="0">
            <a:off x="8324850" y="5210175"/>
            <a:ext cx="30861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FE0B0"/>
                </a:solidFill>
                <a:latin typeface="Microsoft YaHei"/>
                <a:ea typeface="Microsoft YaHei"/>
              </a:rPr>
              <a:t>每天</a:t>
            </a:r>
            <a:r>
              <a:rPr lang="en-US" sz="1275">
                <a:solidFill>
                  <a:srgbClr val="4FE0B0"/>
                </a:solidFill>
                <a:latin typeface="Microsoft YaHei"/>
                <a:ea typeface="Microsoft YaHei"/>
              </a:rPr>
              <a:t xml:space="preserve"> · 23:00 · </a:t>
            </a:r>
            <a:r>
              <a:rPr lang="zh-CN" sz="1275">
                <a:solidFill>
                  <a:srgbClr val="4FE0B0"/>
                </a:solidFill>
                <a:latin typeface="Microsoft YaHei"/>
                <a:ea typeface="Microsoft YaHei"/>
              </a:rPr>
              <a:t>系统操作词</a:t>
            </a:r>
            <a:endParaRPr/>
          </a:p>
        </p:txBody>
      </p:sp>
      <p:sp>
        <p:nvSpPr>
          <p:cNvPr id="357" name="" descr="{&quot;isTemplate&quot;:true,&quot;type&quot;:&quot;text&quot;}"/>
          <p:cNvSpPr txBox="1"/>
          <p:nvPr/>
        </p:nvSpPr>
        <p:spPr>
          <a:xfrm rot="0" flipH="0" flipV="0">
            <a:off x="609600" y="78105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75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面向中文口语表达优化的五类高频句式</a:t>
            </a:r>
            <a:endParaRPr/>
          </a:p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11430000" y="809625"/>
            <a:ext cx="152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E8EEF7">
                    <a:alpha val="35000"/>
                  </a:srgbClr>
                </a:solidFill>
                <a:latin typeface="Consolas"/>
                <a:ea typeface="Consolas"/>
              </a:rPr>
              <a:t>08</a:t>
            </a:r>
            <a:endParaRPr/>
          </a:p>
        </p:txBody>
      </p:sp>
      <p:sp>
        <p:nvSpPr>
          <p:cNvPr id="359" name="" descr="{&quot;isTemplate&quot;:true,&quot;type&quot;:&quot;text&quot;}"/>
          <p:cNvSpPr txBox="1"/>
          <p:nvPr/>
        </p:nvSpPr>
        <p:spPr>
          <a:xfrm rot="0" flipH="0" flipV="0">
            <a:off x="838200" y="2409825"/>
            <a:ext cx="2781300" cy="885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不联网、不需要账号、不产生接口费用。未配置密钥时即为默认工作模式，安装完就能用。</a:t>
            </a:r>
            <a:endParaRPr/>
          </a:p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838200" y="5162550"/>
            <a:ext cx="27813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无关键词的句子会回落为「单次提醒」，并保留原句作为标题——不报错、不丢输入。</a:t>
            </a:r>
            <a:endParaRPr/>
          </a:p>
        </p:txBody>
      </p:sp>
      <p:sp>
        <p:nvSpPr>
          <p:cNvPr id="361" name="" descr="{&quot;isTemplate&quot;:true,&quot;type&quot;:&quot;text&quot;}"/>
          <p:cNvSpPr txBox="1"/>
          <p:nvPr/>
        </p:nvSpPr>
        <p:spPr>
          <a:xfrm rot="0" flipH="0" flipV="0">
            <a:off x="4152900" y="1143000"/>
            <a:ext cx="4000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75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你说的（自然表达）</a:t>
            </a:r>
            <a:endParaRPr/>
          </a:p>
        </p:txBody>
      </p:sp>
      <p:sp>
        <p:nvSpPr>
          <p:cNvPr id="362" name="" descr="{&quot;isTemplate&quot;:true,&quot;type&quot;:&quot;text&quot;}"/>
          <p:cNvSpPr txBox="1"/>
          <p:nvPr/>
        </p:nvSpPr>
        <p:spPr>
          <a:xfrm rot="0" flipH="0" flipV="0">
            <a:off x="8153400" y="1143000"/>
            <a:ext cx="3429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75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智能体解析出的（结构化规则）</a:t>
            </a:r>
            <a:endParaRPr/>
          </a:p>
        </p:txBody>
      </p:sp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609600" y="6115050"/>
            <a:ext cx="1190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364" name="" descr="{&quot;isTemplate&quot;:true,&quot;type&quot;:&quot;text&quot;}"/>
          <p:cNvSpPr txBox="1"/>
          <p:nvPr/>
        </p:nvSpPr>
        <p:spPr>
          <a:xfrm rot="0" flipH="0" flipV="0">
            <a:off x="11172825" y="6115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E8EEF7">
                    <a:alpha val="42000"/>
                  </a:srgbClr>
                </a:solidFill>
                <a:latin typeface="Consolas"/>
                <a:ea typeface="Consolas"/>
              </a:rPr>
              <a:t>08 / 18</a:t>
            </a:r>
            <a:endParaRPr/>
          </a:p>
        </p:txBody>
      </p:sp>
    </p:spTree>
  </p:cSld>
</p:sld>
</file>

<file path=ppt/slides/slide9.xml><?xml version="1.0" encoding="utf-8"?>
<p:sld xmlns:asvg="http://schemas.microsoft.com/office/drawing/2016/SVG/main" xmlns:a16="http://schemas.microsoft.com/office/drawing/2014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 a16">
  <p:cSld>
    <p:spTree>
      <p:nvGrpSpPr>
        <p:cNvPr id="365" name="" descr="&lt;Slide style={{ width: 1280, height: 720, background: '#0B1220', padding: '20px 64px' }}&gt;&#10;    &lt;Box style={{ height: 100, flexDirection: 'row', alignItems: 'flex-end', justifyContent: 'space-between', paddingBottom: 18 }}&gt;&#10;        &lt;Box style={{ flexDirection: 'column', gap: 6 }}&gt;&#10;            &lt;Text style={{ fontSize: 36, fontWeight: 'bold', color: '#E8EEF7' }}&gt;模型提建议，系统说了算&lt;/Text&gt;&#10;            &lt;Text style={{ fontSize: 16, color: '#E8EEF7', opacity: 0.55, letterSpacing: 1 }}&gt;校验优先落库 —— 本作品最关键的设计选择&lt;/Text&gt;&#10;        &lt;/Box&gt;&#10;        &lt;Text style={{ fontSize: 14, fontFamily: 'Consolas', color: '#4FE0B0', opacity: 0.8 }}&gt;核心论点&lt;/Text&gt;&#10;    &lt;/Box&gt;&#10;    &lt;Box style={{ height: 500, flexDirection: 'row', gap: 28 }}&gt;&#10;        &lt;Box style={{ width: 700, flexDirection: 'column', gap: 12 }}&gt;&#10;            &lt;Text style={{ fontSize: 18, color: '#E8EEF7', opacity: 0.8, lineHeight: 1.5 }}&gt;五类字段全部走白名单：任何一项不合法，要么被过滤，要么回落到默认值。&lt;/Text&gt;&#10;            &lt;Table&#10;                style={{ width: 700, height: 392 }}&#10;                defaultTextStyle={{ fontSize: 15, textAlign: 'left', color: '#E8EEF7' }}&#10;                defaultCellStyle={{&#10;                    border: {&#10;                        left: { width: 1, color: 'rgba(232,238,247,0.12)' },&#10;                        right: { width: 1, color: 'rgba(232,238,247,0.12)' },&#10;                        top: { width: 1, color: 'rgba(232,238,247,0.12)' },&#10;                        bottom: { width: 1, color: 'rgba(232,238,247,0.12)' },&#10;                    },&#10;                }}&#10;                cells={[&#10;                    [&#10;                        { text: '字段', textStyle: { bold: true, color: '#0B1220' }, cellStyle: { background: { color: '#4FE0B0' } } },&#10;                        { text: '合法取值范围', textStyle: { bold: true, color: '#0B1220' }, cellStyle: { background: { color: '#4FE0B0' } } },&#10;                        { text: '非法时的处理', textStyle: { bold: true, color: '#0B1220' }, cellStyle: { background: { color: '#4FE0B0' } } },&#10;                    ],&#10;                    [&#10;                        { text: '类型', cellStyle: { background: { color: 'rgba(232,238,247,0.05)' } } },&#10;                        '单次 / 每天 / 每周 / 每月',&#10;                        { text: '回落为「单次」', textStyle: { color: '#4FE0B0' } },&#10;                    ],&#10;                    [&#10;                        '时间',&#10;                        '合法 HH:MM（时≤23、分≤59）',&#10;                        { text: '回落为 09:00', textStyle: { color: '#4FE0B0' } },&#10;                    ],&#10;                    [&#10;                        { text: '星期', cellStyle: { background: { color: 'rgba(232,238,247,0.05)' } } },&#10;                        '整数且限定 0–6',&#10;                        { text: '越界值被过滤', textStyle: { color: '#4FE0B0' } },&#10;                    ],&#10;                    [&#10;                        '日期',&#10;                        '整数且限定 1–31',&#10;                        { text: '越界值被过滤', textStyle: { color: '#4FE0B0' } },&#10;                    ],&#10;                    [&#10;                        { text: '系统操作', cellStyle: { background: { color: 'rgba(232,238,247,0.05)' } } },&#10;                        '锁屏 / 关机 / 重启 / 空',&#10;                        { text: '非法值置空', textStyle: { color: '#4FE0B0' } },&#10;                    ],&#10;                    [&#10;                        '标题',&#10;                        '非空',&#10;                        { text: '回落为用户原句', textStyle: { color: '#4FE0B0' } },&#10;                    ],&#10;                ]}&#10;            /&gt;&#10;        &lt;/Box&gt;&#10;        &lt;Box style={{ flex: 1, flexDirection: 'column', gap: 14 }}&gt;&#10;            &lt;Box style={{ height: 250, flexDirection: 'column', justifyContent: 'center', alignItems: 'center', gap: 6, background: 'rgba(232,238,247,0.03)', border: '1px solid rgba(232,238,247,0.10)', borderRadius: 12 }}&gt;&#10;                &lt;svg width={360} height={220} viewBox='0 0 360 220'&gt;&#10;                    &lt;rect x='70' y='4' width='220' height='40' rx='8' fill='rgba(232,238,247,0.07)' stroke='rgba(232,238,247,0.20)' /&gt;&#10;                    &lt;path d='M180 44 L180 64' fill='none' stroke='#4FE0B0' strokeWidth='2' /&gt;&#10;                    &lt;path d='M174 58 L180 66 L186 58 Z' fill='#4FE0B0' /&gt;&#10;                    &lt;rect x='70' y='68' width='220' height='40' rx='8' fill='rgba(79,224,176,0.14)' stroke='#4FE0B0' /&gt;&#10;                    &lt;path d='M180 108 L180 122 L96 122 L96 140' fill='none' stroke='#4FE0B0' strokeWidth='2' opacity='0.55' /&gt;&#10;                    &lt;path d='M180 108 L180 122 L264 122 L264 140' fill='none' stroke='#4FE0B0' strokeWidth='2' /&gt;&#10;                    &lt;path d='M258 134 L264 142 L270 134 Z' fill='#4FE0B0' /&gt;&#10;                    &lt;rect x='30' y='146' width='132' height='42' rx='8' fill='rgba(232,238,247,0.05)' stroke='rgba(232,238,247,0.18)' /&gt;&#10;                    &lt;path d='M88 158 L104 178 M104 158 L88 178' fill='none' stroke='#E8EEF7' strokeWidth='2' opacity='0.45' /&gt;&#10;                    &lt;rect x='198' y='146' width='132' height='42' rx='8' fill='rgba(79,224,176,0.10)' stroke='#4FE0B0' /&gt;&#10;                    &lt;circle cx='216' cy='167' r='5' fill='#4FE0B0' /&gt;&#10;                &lt;/svg&gt;&#10;                &lt;Box style={{ flexDirection: 'row', gap: 22 }}&gt;&#10;                    &lt;Text style={{ fontSize: 14, color: '#E8EEF7', opacity: 0.6 }}&gt;不合法 → 拦截&lt;/Text&gt;&#10;                    &lt;Text style={{ fontSize: 14, color: '#4FE0B0' }}&gt;合法 → 写入提醒数据&lt;/Text&gt;&#10;                &lt;/Box&gt;&#10;            &lt;/Box&gt;&#10;            &lt;Box style={{ padding: '16px 18px', background: 'rgba(79,224,176,0.12)', border: '1px solid #4FE0B0', borderRadius: 12 }}&gt;&#10;                &lt;Text style={{ fontSize: 16, color: '#E8EEF7', lineHeight: 1.55 }}&gt;模型负责&lt;span style={{ fontWeight: 'bold', color: '#4FE0B0' }}&gt;提出建议&lt;/span&gt;，系统负责&lt;span style={{ fontWeight: 'bold', color: '#4FE0B0' }}&gt;判断能否执行&lt;/span&gt;；结果以表单呈现，&lt;span style={{ fontWeight: 'bold', color: '#4FE0B0' }}&gt;用户确认后才写入&lt;/span&gt;——人始终在最终决策位。&lt;/Text&gt;&#10;            &lt;/Box&gt;&#10;            &lt;Box style={{ paddingTop: 12, borderTop: '1px solid rgba(232,238,247,0.12)' }}&gt;&#10;                &lt;Text style={{ fontSize: 14, color: '#E8EEF7', opacity: 0.6, lineHeight: 1.5 }}&gt;有测试作证据：构造「非法类型 + 非法时间 + 越界星期 + 越界日期」的脏数据，验证全部被正确拦截。&lt;/Text&gt;&#10;            &lt;/Box&gt;&#10;        &lt;/Box&gt;&#10;    &lt;/Box&gt;&#10;    &lt;Box style={{ height: 60, flexDirection: 'row', alignItems: 'center', justifyContent: 'space-between' }}&gt;&#10;        &lt;Text style={{ fontSize: 14, color: '#E8EEF7', opacity: 0.42 }}&gt;知歇 ZhiXie · V1.0.0&lt;/Text&gt;&#10;        &lt;Text style={{ fontSize: 14, fontFamily: 'Consolas', color: '#E8EEF7', opacity: 0.42 }}&gt;09 / 18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609600" y="304800"/>
            <a:ext cx="37719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E8EEF7"/>
                </a:solidFill>
                <a:latin typeface="Microsoft YaHei"/>
                <a:ea typeface="Microsoft YaHei"/>
              </a:rPr>
              <a:t>模型提建议，系统说了算</a:t>
            </a:r>
            <a:endParaRPr/>
          </a:p>
        </p:txBody>
      </p:sp>
      <p:graphicFrame>
        <p:nvGraphicFramePr>
          <p:cNvPr id="368" name=""/>
          <p:cNvGraphicFramePr/>
          <p:nvPr/>
        </p:nvGraphicFramePr>
        <p:xfrm rot="0" flipH="0" flipV="0">
          <a:off x="609600" y="1571625"/>
          <a:ext cx="6667500" cy="3733800"/>
        </p:xfrm>
        <a:graphic>
          <a:graphicData uri="http://schemas.openxmlformats.org/drawingml/2006/table">
            <a:tbl>
              <a:tblGrid>
                <a:gridCol w="1149227">
                  <a:extLst>
                    <a:ext uri="{9D8B030D-6E8A-4147-A177-3AD203B41FA5}">
                      <a16:colId val="1"/>
                    </a:ext>
                  </a:extLst>
                </a:gridCol>
                <a:gridCol w="3626010">
                  <a:extLst>
                    <a:ext uri="{9D8B030D-6E8A-4147-A177-3AD203B41FA5}">
                      <a16:colId val="2"/>
                    </a:ext>
                  </a:extLst>
                </a:gridCol>
                <a:gridCol w="1892262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5334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0B1220"/>
                          </a:solidFill>
                          <a:latin typeface="Microsoft YaHei"/>
                          <a:ea typeface="Microsoft YaHei"/>
                        </a:rPr>
                        <a:t>字段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4FE0B0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0B1220"/>
                          </a:solidFill>
                          <a:latin typeface="Microsoft YaHei"/>
                          <a:ea typeface="Microsoft YaHei"/>
                        </a:rPr>
                        <a:t>合法取值范围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4FE0B0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0B1220"/>
                          </a:solidFill>
                          <a:latin typeface="Microsoft YaHei"/>
                          <a:ea typeface="Microsoft YaHei"/>
                        </a:rPr>
                        <a:t>非法时的处理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4FE0B0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5334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类型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8EEF7">
                        <a:alpha val="5000"/>
                      </a:srgbClr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单次 / 每天 / 每周 / 每月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FE0B0"/>
                          </a:solidFill>
                          <a:latin typeface="Microsoft YaHei"/>
                          <a:ea typeface="Microsoft YaHei"/>
                        </a:rPr>
                        <a:t>回落为「单次」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5334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时间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合法 HH:MM（时≤23、分≤59）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FE0B0"/>
                          </a:solidFill>
                          <a:latin typeface="Microsoft YaHei"/>
                          <a:ea typeface="Microsoft YaHei"/>
                        </a:rPr>
                        <a:t>回落为 09:00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5334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星期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8EEF7">
                        <a:alpha val="5000"/>
                      </a:srgbClr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整数且限定 0–6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FE0B0"/>
                          </a:solidFill>
                          <a:latin typeface="Microsoft YaHei"/>
                          <a:ea typeface="Microsoft YaHei"/>
                        </a:rPr>
                        <a:t>越界值被过滤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5334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日期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整数且限定 1–31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FE0B0"/>
                          </a:solidFill>
                          <a:latin typeface="Microsoft YaHei"/>
                          <a:ea typeface="Microsoft YaHei"/>
                        </a:rPr>
                        <a:t>越界值被过滤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5334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系统操作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8EEF7">
                        <a:alpha val="5000"/>
                      </a:srgbClr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锁屏 / 关机 / 重启 / 空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FE0B0"/>
                          </a:solidFill>
                          <a:latin typeface="Microsoft YaHei"/>
                          <a:ea typeface="Microsoft YaHei"/>
                        </a:rPr>
                        <a:t>非法值置空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5334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标题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非空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FE0B0"/>
                          </a:solidFill>
                          <a:latin typeface="Microsoft YaHei"/>
                          <a:ea typeface="Microsoft YaHei"/>
                        </a:rPr>
                        <a:t>回落为用户原句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369" name=""/>
          <p:cNvSpPr/>
          <p:nvPr/>
        </p:nvSpPr>
        <p:spPr>
          <a:xfrm rot="0" flipH="0" flipV="0">
            <a:off x="7543800" y="1143000"/>
            <a:ext cx="4038600" cy="2381250"/>
          </a:xfrm>
          <a:prstGeom prst="roundRect">
            <a:avLst>
              <a:gd name="adj" fmla="val 4800"/>
            </a:avLst>
          </a:prstGeom>
          <a:solidFill>
            <a:srgbClr val="E8EEF7">
              <a:alpha val="3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7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848600" y="1181100"/>
            <a:ext cx="3429000" cy="2095500"/>
          </a:xfrm>
          <a:prstGeom prst="rect">
            <a:avLst/>
          </a:prstGeom>
          <a:ln/>
        </p:spPr>
      </p:pic>
      <p:sp>
        <p:nvSpPr>
          <p:cNvPr id="371" name="" descr="{&quot;isTemplate&quot;:true,&quot;type&quot;:&quot;text&quot;}"/>
          <p:cNvSpPr txBox="1"/>
          <p:nvPr/>
        </p:nvSpPr>
        <p:spPr>
          <a:xfrm rot="0" flipH="0" flipV="0">
            <a:off x="9467850" y="3333750"/>
            <a:ext cx="1276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FE0B0"/>
                </a:solidFill>
                <a:latin typeface="Microsoft YaHei"/>
                <a:ea typeface="Microsoft YaHei"/>
              </a:rPr>
              <a:t>合法</a:t>
            </a:r>
            <a:r>
              <a:rPr lang="en-US" sz="1050">
                <a:solidFill>
                  <a:srgbClr val="4FE0B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4FE0B0"/>
                </a:solidFill>
                <a:latin typeface="Microsoft YaHei"/>
                <a:ea typeface="Microsoft YaHei"/>
              </a:rPr>
              <a:t>写入提醒数据</a:t>
            </a:r>
            <a:endParaRPr/>
          </a:p>
        </p:txBody>
      </p:sp>
      <p:sp>
        <p:nvSpPr>
          <p:cNvPr id="372" name=""/>
          <p:cNvSpPr/>
          <p:nvPr/>
        </p:nvSpPr>
        <p:spPr>
          <a:xfrm rot="0" flipH="0" flipV="0">
            <a:off x="7543800" y="3657600"/>
            <a:ext cx="4038600" cy="876300"/>
          </a:xfrm>
          <a:prstGeom prst="roundRect">
            <a:avLst>
              <a:gd name="adj" fmla="val 13043"/>
            </a:avLst>
          </a:prstGeom>
          <a:solidFill>
            <a:srgbClr val="4FE0B0">
              <a:alpha val="12000"/>
            </a:srgbClr>
          </a:solidFill>
          <a:ln w="12700">
            <a:solidFill>
              <a:srgbClr val="4FE0B0"/>
            </a:solidFill>
            <a:prstDash val="solid"/>
          </a:ln>
        </p:spPr>
        <p:txBody>
          <a:bodyPr/>
          <a:p/>
        </p:txBody>
      </p:sp>
      <p:sp>
        <p:nvSpPr>
          <p:cNvPr id="373" name="" descr="{&quot;isTemplate&quot;:true,&quot;type&quot;:&quot;text&quot;}"/>
          <p:cNvSpPr txBox="1"/>
          <p:nvPr/>
        </p:nvSpPr>
        <p:spPr>
          <a:xfrm rot="0" flipH="0" flipV="0">
            <a:off x="7715250" y="3810000"/>
            <a:ext cx="36957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200">
                <a:solidFill>
                  <a:srgbClr val="E8EEF7"/>
                </a:solidFill>
                <a:latin typeface="Microsoft YaHei"/>
                <a:ea typeface="Microsoft YaHei"/>
              </a:rPr>
              <a:t>模型负责</a:t>
            </a:r>
            <a:r>
              <a:rPr lang="zh-CN" sz="1200" b="1">
                <a:solidFill>
                  <a:srgbClr val="4FE0B0"/>
                </a:solidFill>
                <a:latin typeface="Microsoft YaHei"/>
                <a:ea typeface="Microsoft YaHei"/>
              </a:rPr>
              <a:t>提出建议</a:t>
            </a:r>
            <a:r>
              <a:rPr lang="zh-CN" sz="1200">
                <a:solidFill>
                  <a:srgbClr val="E8EEF7"/>
                </a:solidFill>
                <a:latin typeface="Microsoft YaHei"/>
                <a:ea typeface="Microsoft YaHei"/>
              </a:rPr>
              <a:t>，系统负责</a:t>
            </a:r>
            <a:r>
              <a:rPr lang="zh-CN" sz="1200" b="1">
                <a:solidFill>
                  <a:srgbClr val="4FE0B0"/>
                </a:solidFill>
                <a:latin typeface="Microsoft YaHei"/>
                <a:ea typeface="Microsoft YaHei"/>
              </a:rPr>
              <a:t>判断能否执行</a:t>
            </a:r>
            <a:r>
              <a:rPr lang="zh-CN" sz="1200">
                <a:solidFill>
                  <a:srgbClr val="E8EEF7"/>
                </a:solidFill>
                <a:latin typeface="Microsoft YaHei"/>
                <a:ea typeface="Microsoft YaHei"/>
              </a:rPr>
              <a:t>；结果以表单呈现，</a:t>
            </a:r>
            <a:r>
              <a:rPr lang="zh-CN" sz="1200" b="1">
                <a:solidFill>
                  <a:srgbClr val="4FE0B0"/>
                </a:solidFill>
                <a:latin typeface="Microsoft YaHei"/>
                <a:ea typeface="Microsoft YaHei"/>
              </a:rPr>
              <a:t>用户确认后才写入</a:t>
            </a:r>
            <a:r>
              <a:rPr lang="zh-CN" sz="1200">
                <a:solidFill>
                  <a:srgbClr val="E8EEF7"/>
                </a:solidFill>
                <a:latin typeface="Microsoft YaHei"/>
                <a:ea typeface="Microsoft YaHei"/>
              </a:rPr>
              <a:t>——人始终在最终决策位。</a:t>
            </a:r>
            <a:endParaRPr/>
          </a:p>
        </p:txBody>
      </p:sp>
      <p:sp>
        <p:nvSpPr>
          <p:cNvPr id="374" name=""/>
          <p:cNvSpPr/>
          <p:nvPr/>
        </p:nvSpPr>
        <p:spPr>
          <a:xfrm rot="0" flipH="0" flipV="0">
            <a:off x="7543800" y="4667250"/>
            <a:ext cx="4038600" cy="619125"/>
          </a:xfrm>
          <a:custGeom>
            <a:pathLst>
              <a:path w="424" h="65">
                <a:moveTo>
                  <a:pt x="0" y="0"/>
                </a:moveTo>
                <a:lnTo>
                  <a:pt x="424" y="0"/>
                </a:lnTo>
                <a:lnTo>
                  <a:pt x="424" y="1"/>
                </a:lnTo>
                <a:lnTo>
                  <a:pt x="0" y="1"/>
                </a:lnTo>
                <a:close/>
              </a:path>
            </a:pathLst>
          </a:custGeom>
          <a:solidFill>
            <a:srgbClr val="E8EEF7">
              <a:alpha val="12000"/>
            </a:srgbClr>
          </a:solidFill>
          <a:ln/>
        </p:spPr>
        <p:txBody>
          <a:bodyPr/>
          <a:p/>
        </p:txBody>
      </p:sp>
      <p:sp>
        <p:nvSpPr>
          <p:cNvPr id="375" name="" descr="{&quot;isTemplate&quot;:true,&quot;type&quot;:&quot;text&quot;}"/>
          <p:cNvSpPr txBox="1"/>
          <p:nvPr/>
        </p:nvSpPr>
        <p:spPr>
          <a:xfrm rot="0" flipH="0" flipV="0">
            <a:off x="609600" y="781050"/>
            <a:ext cx="3771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75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校验优先落库</a:t>
            </a:r>
            <a:r>
              <a:rPr lang="en-US" sz="1200" spc="75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200" spc="75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本作品最关键的设计选择</a:t>
            </a:r>
            <a:endParaRPr/>
          </a:p>
        </p:txBody>
      </p:sp>
      <p:sp>
        <p:nvSpPr>
          <p:cNvPr id="376" name="" descr="{&quot;isTemplate&quot;:true,&quot;type&quot;:&quot;text&quot;}"/>
          <p:cNvSpPr txBox="1"/>
          <p:nvPr/>
        </p:nvSpPr>
        <p:spPr>
          <a:xfrm rot="0" flipH="0" flipV="0">
            <a:off x="11049000" y="809625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FE0B0">
                    <a:alpha val="80000"/>
                  </a:srgbClr>
                </a:solidFill>
                <a:latin typeface="Consolas"/>
                <a:ea typeface="Consolas"/>
              </a:rPr>
              <a:t>核心论点</a:t>
            </a:r>
            <a:endParaRPr/>
          </a:p>
        </p:txBody>
      </p:sp>
      <p:sp>
        <p:nvSpPr>
          <p:cNvPr id="377" name="" descr="{&quot;isTemplate&quot;:true,&quot;type&quot;:&quot;text&quot;}"/>
          <p:cNvSpPr txBox="1"/>
          <p:nvPr/>
        </p:nvSpPr>
        <p:spPr>
          <a:xfrm rot="0" flipH="0" flipV="0">
            <a:off x="609600" y="1143000"/>
            <a:ext cx="6667500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五类字段全部走白名单：任何一项不合法，要么被过滤，要么回落到默认值。</a:t>
            </a:r>
            <a:endParaRPr/>
          </a:p>
        </p:txBody>
      </p:sp>
      <p:sp>
        <p:nvSpPr>
          <p:cNvPr id="378" name="" descr="{&quot;isTemplate&quot;:true,&quot;type&quot;:&quot;text&quot;}"/>
          <p:cNvSpPr txBox="1"/>
          <p:nvPr/>
        </p:nvSpPr>
        <p:spPr>
          <a:xfrm rot="0" flipH="0" flipV="0">
            <a:off x="8382000" y="3333750"/>
            <a:ext cx="876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不合法</a:t>
            </a:r>
            <a:r>
              <a:rPr lang="en-US" sz="1050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拦截</a:t>
            </a:r>
            <a:endParaRPr/>
          </a:p>
        </p:txBody>
      </p:sp>
      <p:sp>
        <p:nvSpPr>
          <p:cNvPr id="379" name="" descr="{&quot;isTemplate&quot;:true,&quot;type&quot;:&quot;text&quot;}"/>
          <p:cNvSpPr txBox="1"/>
          <p:nvPr/>
        </p:nvSpPr>
        <p:spPr>
          <a:xfrm rot="0" flipH="0" flipV="0">
            <a:off x="7543800" y="4791075"/>
            <a:ext cx="40386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050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有测试作证据：构造「非法类型</a:t>
            </a:r>
            <a:r>
              <a:rPr lang="en-US" sz="1050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050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非法时间</a:t>
            </a:r>
            <a:r>
              <a:rPr lang="en-US" sz="1050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050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越界星期</a:t>
            </a:r>
            <a:r>
              <a:rPr lang="en-US" sz="1050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050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越界日期」的脏数据，验证全部被正确拦截。</a:t>
            </a:r>
            <a:endParaRPr/>
          </a:p>
        </p:txBody>
      </p:sp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609600" y="6115050"/>
            <a:ext cx="1190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381" name="" descr="{&quot;isTemplate&quot;:true,&quot;type&quot;:&quot;text&quot;}"/>
          <p:cNvSpPr txBox="1"/>
          <p:nvPr/>
        </p:nvSpPr>
        <p:spPr>
          <a:xfrm rot="0" flipH="0" flipV="0">
            <a:off x="11172825" y="6115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E8EEF7">
                    <a:alpha val="42000"/>
                  </a:srgbClr>
                </a:solidFill>
                <a:latin typeface="Consolas"/>
                <a:ea typeface="Consolas"/>
              </a:rPr>
              <a:t>09 / 18</a:t>
            </a:r>
            <a:endParaRPr/>
          </a:p>
        </p:txBody>
      </p:sp>
    </p:spTree>
  </p:cSld>
</p:sld>
</file>

<file path=ppt/slides/slide10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11" name="" descr="&lt;Slide style={{ width: 1280, height: 720, background: '#0B1220', padding: '20px 64px' }}&gt;&#10;    &lt;Box style={{ height: 100, flexDirection: 'row', alignItems: 'flex-end', justifyContent: 'space-between', paddingBottom: 18 }}&gt;&#10;        &lt;Box style={{ flexDirection: 'column', gap: 6 }}&gt;&#10;            &lt;Text style={{ fontSize: 36, fontWeight: 'bold', color: '#E8EEF7' }}&gt;全程不写一行代码&lt;/Text&gt;&#10;            &lt;Text style={{ fontSize: 16, color: '#E8EEF7', opacity: 0.55, letterSpacing: 1 }}&gt;低代码 / 无代码：两档用户，同一套能力&lt;/Text&gt;&#10;        &lt;/Box&gt;&#10;        &lt;Text style={{ fontSize: 14, fontFamily: 'Consolas', color: '#E8EEF7', opacity: 0.35 }}&gt;10&lt;/Text&gt;&#10;    &lt;/Box&gt;&#10;    &lt;Box style={{ height: 500, flexDirection: 'column', gap: 18 }}&gt;&#10;        &lt;Box style={{ height: 208, flexDirection: 'row', gap: 28, padding: 22, background: 'rgba(232,238,247,0.04)', border: '1px solid rgba(232,238,247,0.10)', borderRadius: 12 }}&gt;&#10;            &lt;Box style={{ width: 250, flexDirection: 'column', gap: 8 }}&gt;&#10;                &lt;Text style={{ fontSize: 14, fontFamily: 'Consolas', color: '#4FE0B0', letterSpacing: 2 }}&gt;普通用户&lt;/Text&gt;&#10;                &lt;Text style={{ fontSize: 22, fontWeight: 'bold', color: '#E8EEF7', lineHeight: 1.4 }}&gt;装完即用&lt;br /&gt;零配置、零联网&lt;/Text&gt;&#10;                &lt;Text style={{ fontSize: 15, color: '#E8EEF7', opacity: 0.6, lineHeight: 1.5, marginTop: 'auto' }}&gt;不需要账号，不需要密钥，不产生任何费用。&lt;/Text&gt;&#10;            &lt;/Box&gt;&#10;            &lt;svg width={520} height={164} viewBox='0 0 520 164'&gt;&#10;                &lt;rect x='6' y='26' width='140' height='112' rx='10' fill='rgba(232,238,247,0.05)' stroke='rgba(232,238,247,0.16)' /&gt;&#10;                &lt;rect x='190' y='26' width='140' height='112' rx='10' fill='rgba(232,238,247,0.05)' stroke='rgba(232,238,247,0.16)' /&gt;&#10;                &lt;rect x='374' y='26' width='140' height='112' rx='10' fill='rgba(79,224,176,0.12)' stroke='#4FE0B0' /&gt;&#10;                &lt;path d='M150 82 L182 82' fill='none' stroke='#4FE0B0' strokeWidth='2' opacity='0.8' /&gt;&#10;                &lt;path d='M176 76 L186 82 L176 88 Z' fill='#4FE0B0' /&gt;&#10;                &lt;path d='M334 82 L366 82' fill='none' stroke='#4FE0B0' strokeWidth='2' opacity='0.8' /&gt;&#10;                &lt;path d='M360 76 L370 82 L360 88 Z' fill='#4FE0B0' /&gt;&#10;                &lt;circle cx='76' cy='62' r='16' fill='none' stroke='#4FE0B0' strokeWidth='1.5' opacity='0.7' /&gt;&#10;                &lt;path d='M76 54 L76 66 M70 60 L82 60' fill='none' stroke='#4FE0B0' strokeWidth='2' opacity='0.7' /&gt;&#10;                &lt;circle cx='260' cy='62' r='16' fill='none' stroke='#4FE0B0' strokeWidth='1.5' opacity='0.7' /&gt;&#10;                &lt;path d='M253 62 L258 68 L268 56' fill='none' stroke='#4FE0B0' strokeWidth='2' opacity='0.7' /&gt;&#10;                &lt;circle cx='444' cy='62' r='16' fill='#4FE0B0' /&gt;&#10;                &lt;path d='M437 62 L442 68 L452 56' fill='none' stroke='#0B1220' strokeWidth='2.5' /&gt;&#10;                &lt;rect x='46' y='94' width='60' height='10' rx='5' fill='rgba(232,238,247,0.35)' /&gt;&#10;                &lt;rect x='230' y='94' width='60' height='10' rx='5' fill='rgba(232,238,247,0.35)' /&gt;&#10;                &lt;rect x='414' y='94' width='60' height='10' rx='5' fill='rgba(11,18,32,0.4)' /&gt;&#10;                &lt;rect x='56' y='114' width='40' height='8' rx='4' fill='rgba(232,238,247,0.18)' /&gt;&#10;                &lt;rect x='240' y='114' width='40' height='8' rx='4' fill='rgba(232,238,247,0.18)' /&gt;&#10;                &lt;rect x='424' y='114' width='40' height='8' rx='4' fill='rgba(11,18,32,0.25)' /&gt;&#10;            &lt;/svg&gt;&#10;            &lt;Box style={{ flex: 1, flexDirection: 'column', gap: 10, justifyContent: 'center' }}&gt;&#10;                &lt;Text style={{ fontSize: 17, color: '#E8EEF7', opacity: 0.85 }}&gt;① 安装应用　→　② 打开即用　→　③ 智能体已在工作&lt;/Text&gt;&#10;                &lt;Text style={{ fontSize: 15, color: '#E8EEF7', opacity: 0.6, lineHeight: 1.6 }}&gt;默认即以本机规则引擎模式运行，用户不需要知道&quot;模型&quot;&quot;接口&quot;&quot;密钥&quot;这些词。&lt;/Text&gt;&#10;            &lt;/Box&gt;&#10;        &lt;/Box&gt;&#10;        &lt;Box style={{ height: 208, flexDirection: 'row', gap: 28, padding: 22, background: 'rgba(232,238,247,0.04)', border: '1px solid rgba(232,238,247,0.10)', borderRadius: 12 }}&gt;&#10;            &lt;Box style={{ width: 250, flexDirection: 'column', gap: 8 }}&gt;&#10;                &lt;Text style={{ fontSize: 14, fontFamily: 'Consolas', color: '#4FE0B0', letterSpacing: 2 }}&gt;进阶用户（可选）&lt;/Text&gt;&#10;                &lt;Text style={{ fontSize: 22, fontWeight: 'bold', color: '#E8EEF7', lineHeight: 1.4 }}&gt;三格表单&lt;br /&gt;完成接入&lt;/Text&gt;&#10;                &lt;Text style={{ fontSize: 15, color: '#E8EEF7', opacity: 0.6, lineHeight: 1.5, marginTop: 'auto' }}&gt;兼容任意 OpenAI 格式接口，不限于默认服务商。&lt;/Text&gt;&#10;            &lt;/Box&gt;&#10;            &lt;Box style={{ flex: 1, flexDirection: 'row', gap: 16, alignItems: 'center' }}&gt;&#10;                &lt;Box style={{ flex: 1, height: 110, flexDirection: 'column', gap: 8, padding: '14px 16px', background: 'rgba(232,238,247,0.05)', border: '1px solid rgba(232,238,247,0.16)', borderRadius: 10 }}&gt;&#10;                    &lt;Text style={{ fontSize: 14, color: '#E8EEF7', opacity: 0.55 }}&gt;接口地址&lt;/Text&gt;&#10;                    &lt;Text style={{ fontSize: 14, fontFamily: 'Consolas', color: '#4FE0B0' }}&gt;https://api.deepseek.com/…&lt;/Text&gt;&#10;                    &lt;Box style={{ marginTop: 'auto', height: 8, flexDirection: 'row', gap: 6 }}&gt;&#10;                        &lt;Box style={{ width: 60, height: 8, background: 'rgba(79,224,176,0.5)', borderRadius: 4 }} /&gt;&#10;                        &lt;Box style={{ flex: 1, height: 8, background: 'rgba(232,238,247,0.12)', borderRadius: 4 }} /&gt;&#10;                    &lt;/Box&gt;&#10;                &lt;/Box&gt;&#10;                &lt;Box style={{ flex: 1, height: 110, flexDirection: 'column', gap: 8, padding: '14px 16px', background: 'rgba(232,238,247,0.05)', border: '1px solid rgba(232,238,247,0.16)', borderRadius: 10 }}&gt;&#10;                    &lt;Text style={{ fontSize: 14, color: '#E8EEF7', opacity: 0.55 }}&gt;模型名称&lt;/Text&gt;&#10;                    &lt;Text style={{ fontSize: 14, fontFamily: 'Consolas', color: '#4FE0B0' }}&gt;deepseek-chat&lt;/Text&gt;&#10;                    &lt;Box style={{ marginTop: 'auto', height: 8, flexDirection: 'row', gap: 6 }}&gt;&#10;                        &lt;Box style={{ width: 90, height: 8, background: 'rgba(79,224,176,0.5)', borderRadius: 4 }} /&gt;&#10;                        &lt;Box style={{ flex: 1, height: 8, background: 'rgba(232,238,247,0.12)', borderRadius: 4 }} /&gt;&#10;                    &lt;/Box&gt;&#10;                &lt;/Box&gt;&#10;                &lt;Box style={{ flex: 1, height: 110, flexDirection: 'column', gap: 8, padding: '14px 16px', background: 'rgba(232,238,247,0.05)', border: '1px solid rgba(232,238,247,0.16)', borderRadius: 10 }}&gt;&#10;                    &lt;Text style={{ fontSize: 14, color: '#E8EEF7', opacity: 0.55 }}&gt;API 密钥&lt;/Text&gt;&#10;                    &lt;Text style={{ fontSize: 14, fontFamily: 'Consolas', color: '#4FE0B0' }}&gt;•••••••••••••••&lt;/Text&gt;&#10;                    &lt;Box style={{ marginTop: 'auto', height: 8, flexDirection: 'row', gap: 6 }}&gt;&#10;                        &lt;Box style={{ width: 120, height: 8, background: 'rgba(79,224,176,0.5)', borderRadius: 4 }} /&gt;&#10;                        &lt;Box style={{ flex: 1, height: 8, background: 'rgba(232,238,247,0.12)', borderRadius: 4 }} /&gt;&#10;                    &lt;/Box&gt;&#10;                &lt;/Box&gt;&#10;            &lt;/Box&gt;&#10;        &lt;/Box&gt;&#10;        &lt;Box style={{ padding: '14px 20px', background: 'rgba(79,224,176,0.10)', borderRadius: 10 }}&gt;&#10;            &lt;Text style={{ fontSize: 16, color: '#E8EEF7', opacity: 0.9 }}&gt;低代码体现在三处：&lt;span style={{ color: '#4FE0B0' }}&gt;可视化配置&lt;/span&gt;（三格表单完成接入）·&lt;span style={{ color: '#4FE0B0' }}&gt;可视化确认&lt;/span&gt;（解析结果确认后才写入）·&lt;span style={{ color: '#4FE0B0' }}&gt;可视化调校&lt;/span&gt;（弹窗样式实时预览）。&lt;/Text&gt;&#10;        &lt;/Box&gt;&#10;    &lt;/Box&gt;&#10;    &lt;Box style={{ height: 60, flexDirection: 'row', alignItems: 'center', justifyContent: 'space-between' }}&gt;&#10;        &lt;Text style={{ fontSize: 14, color: '#E8EEF7', opacity: 0.42 }}&gt;知歇 ZhiXie · V1.0.0&lt;/Text&gt;&#10;        &lt;Text style={{ fontSize: 14, fontFamily: 'Consolas', color: '#E8EEF7', opacity: 0.42 }}&gt;10 / 18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609600" y="304800"/>
            <a:ext cx="291465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E8EEF7"/>
                </a:solidFill>
                <a:latin typeface="Microsoft YaHei"/>
                <a:ea typeface="Microsoft YaHei"/>
              </a:rPr>
              <a:t>全程不写一行代码</a:t>
            </a:r>
            <a:endParaRPr/>
          </a:p>
        </p:txBody>
      </p:sp>
      <p:sp>
        <p:nvSpPr>
          <p:cNvPr id="14" name=""/>
          <p:cNvSpPr/>
          <p:nvPr/>
        </p:nvSpPr>
        <p:spPr>
          <a:xfrm rot="0" flipH="0" flipV="0">
            <a:off x="609600" y="1143000"/>
            <a:ext cx="10972800" cy="1981200"/>
          </a:xfrm>
          <a:prstGeom prst="roundRect">
            <a:avLst>
              <a:gd name="adj" fmla="val 5769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819150" y="1352550"/>
            <a:ext cx="2381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150">
                <a:solidFill>
                  <a:srgbClr val="4FE0B0"/>
                </a:solidFill>
                <a:latin typeface="Consolas"/>
                <a:ea typeface="Consolas"/>
              </a:rPr>
              <a:t>普通用户</a:t>
            </a:r>
            <a:endParaRPr/>
          </a:p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819150" y="1590675"/>
            <a:ext cx="2381250" cy="7048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650" b="1">
                <a:solidFill>
                  <a:srgbClr val="E8EEF7"/>
                </a:solidFill>
                <a:latin typeface="Microsoft YaHei"/>
                <a:ea typeface="Microsoft YaHei"/>
              </a:rPr>
              <a:t>装完即用</a:t>
            </a:r>
            <a:endParaRPr/>
          </a:p>
          <a:p>
            <a:pPr>
              <a:lnSpc>
                <a:spcPct val="140000"/>
              </a:lnSpc>
            </a:pPr>
            <a:r>
              <a:rPr lang="zh-CN" sz="1650" b="1">
                <a:solidFill>
                  <a:srgbClr val="E8EEF7"/>
                </a:solidFill>
                <a:latin typeface="Microsoft YaHei"/>
                <a:ea typeface="Microsoft YaHei"/>
              </a:rPr>
              <a:t>零配置、零联网</a:t>
            </a:r>
            <a:endParaRPr/>
          </a:p>
        </p:txBody>
      </p:sp>
      <p:pic>
        <p:nvPicPr>
          <p:cNvPr id="1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467100" y="1352550"/>
            <a:ext cx="4953000" cy="1562100"/>
          </a:xfrm>
          <a:prstGeom prst="rect">
            <a:avLst/>
          </a:prstGeom>
          <a:ln/>
        </p:spPr>
      </p:pic>
      <p:sp>
        <p:nvSpPr>
          <p:cNvPr id="18" name=""/>
          <p:cNvSpPr/>
          <p:nvPr/>
        </p:nvSpPr>
        <p:spPr>
          <a:xfrm rot="0" flipH="0" flipV="0">
            <a:off x="609600" y="3295650"/>
            <a:ext cx="10972800" cy="1981200"/>
          </a:xfrm>
          <a:prstGeom prst="roundRect">
            <a:avLst>
              <a:gd name="adj" fmla="val 5769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819150" y="3505200"/>
            <a:ext cx="2381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150">
                <a:solidFill>
                  <a:srgbClr val="4FE0B0"/>
                </a:solidFill>
                <a:latin typeface="Consolas"/>
                <a:ea typeface="Consolas"/>
              </a:rPr>
              <a:t>进阶用户（可选）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819150" y="3743325"/>
            <a:ext cx="2381250" cy="7048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650" b="1">
                <a:solidFill>
                  <a:srgbClr val="E8EEF7"/>
                </a:solidFill>
                <a:latin typeface="Microsoft YaHei"/>
                <a:ea typeface="Microsoft YaHei"/>
              </a:rPr>
              <a:t>三格表单</a:t>
            </a:r>
            <a:endParaRPr/>
          </a:p>
          <a:p>
            <a:pPr>
              <a:lnSpc>
                <a:spcPct val="140000"/>
              </a:lnSpc>
            </a:pPr>
            <a:r>
              <a:rPr lang="zh-CN" sz="1650" b="1">
                <a:solidFill>
                  <a:srgbClr val="E8EEF7"/>
                </a:solidFill>
                <a:latin typeface="Microsoft YaHei"/>
                <a:ea typeface="Microsoft YaHei"/>
              </a:rPr>
              <a:t>完成接入</a:t>
            </a:r>
            <a:endParaRPr/>
          </a:p>
        </p:txBody>
      </p:sp>
      <p:sp>
        <p:nvSpPr>
          <p:cNvPr id="21" name=""/>
          <p:cNvSpPr/>
          <p:nvPr/>
        </p:nvSpPr>
        <p:spPr>
          <a:xfrm rot="0" flipH="0" flipV="0">
            <a:off x="3467100" y="3762375"/>
            <a:ext cx="2533650" cy="1047750"/>
          </a:xfrm>
          <a:prstGeom prst="roundRect">
            <a:avLst>
              <a:gd name="adj" fmla="val 9091"/>
            </a:avLst>
          </a:prstGeom>
          <a:solidFill>
            <a:srgbClr val="E8EEF7">
              <a:alpha val="5000"/>
            </a:srgbClr>
          </a:solidFill>
          <a:ln w="12700">
            <a:solidFill>
              <a:srgbClr val="E8EEF7">
                <a:alpha val="16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3619500" y="4133850"/>
            <a:ext cx="22288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FE0B0"/>
                </a:solidFill>
                <a:latin typeface="Consolas"/>
                <a:ea typeface="Consolas"/>
              </a:rPr>
              <a:t>https://api.deepseek.com/…</a:t>
            </a:r>
            <a:endParaRPr/>
          </a:p>
        </p:txBody>
      </p:sp>
      <p:sp>
        <p:nvSpPr>
          <p:cNvPr id="23" name=""/>
          <p:cNvSpPr/>
          <p:nvPr/>
        </p:nvSpPr>
        <p:spPr>
          <a:xfrm rot="0" flipH="0" flipV="0">
            <a:off x="3619500" y="4600575"/>
            <a:ext cx="571500" cy="76200"/>
          </a:xfrm>
          <a:prstGeom prst="roundRect">
            <a:avLst>
              <a:gd name="adj" fmla="val 50000"/>
            </a:avLst>
          </a:prstGeom>
          <a:solidFill>
            <a:srgbClr val="4FE0B0">
              <a:alpha val="50000"/>
            </a:srgbClr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4248150" y="4600575"/>
            <a:ext cx="1600200" cy="76200"/>
          </a:xfrm>
          <a:prstGeom prst="roundRect">
            <a:avLst>
              <a:gd name="adj" fmla="val 50000"/>
            </a:avLst>
          </a:prstGeom>
          <a:solidFill>
            <a:srgbClr val="E8EEF7">
              <a:alpha val="12000"/>
            </a:srgbClr>
          </a:solidFill>
          <a:ln/>
        </p:spPr>
        <p:txBody>
          <a:bodyPr/>
          <a:p/>
        </p:txBody>
      </p:sp>
      <p:sp>
        <p:nvSpPr>
          <p:cNvPr id="25" name=""/>
          <p:cNvSpPr/>
          <p:nvPr/>
        </p:nvSpPr>
        <p:spPr>
          <a:xfrm rot="0" flipH="0" flipV="0">
            <a:off x="6153150" y="3762375"/>
            <a:ext cx="2533650" cy="1047750"/>
          </a:xfrm>
          <a:prstGeom prst="roundRect">
            <a:avLst>
              <a:gd name="adj" fmla="val 9091"/>
            </a:avLst>
          </a:prstGeom>
          <a:solidFill>
            <a:srgbClr val="E8EEF7">
              <a:alpha val="5000"/>
            </a:srgbClr>
          </a:solidFill>
          <a:ln w="12700">
            <a:solidFill>
              <a:srgbClr val="E8EEF7">
                <a:alpha val="16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6305550" y="4133850"/>
            <a:ext cx="22288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FE0B0"/>
                </a:solidFill>
                <a:latin typeface="Consolas"/>
                <a:ea typeface="Consolas"/>
              </a:rPr>
              <a:t>deepseek-chat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6305550" y="4600575"/>
            <a:ext cx="857250" cy="76200"/>
          </a:xfrm>
          <a:prstGeom prst="roundRect">
            <a:avLst>
              <a:gd name="adj" fmla="val 50000"/>
            </a:avLst>
          </a:prstGeom>
          <a:solidFill>
            <a:srgbClr val="4FE0B0">
              <a:alpha val="50000"/>
            </a:srgbClr>
          </a:solidFill>
          <a:ln/>
        </p:spPr>
        <p:txBody>
          <a:bodyPr/>
          <a:p/>
        </p:txBody>
      </p:sp>
      <p:sp>
        <p:nvSpPr>
          <p:cNvPr id="28" name=""/>
          <p:cNvSpPr/>
          <p:nvPr/>
        </p:nvSpPr>
        <p:spPr>
          <a:xfrm rot="0" flipH="0" flipV="0">
            <a:off x="7219950" y="4600575"/>
            <a:ext cx="1314450" cy="76200"/>
          </a:xfrm>
          <a:prstGeom prst="roundRect">
            <a:avLst>
              <a:gd name="adj" fmla="val 50000"/>
            </a:avLst>
          </a:prstGeom>
          <a:solidFill>
            <a:srgbClr val="E8EEF7">
              <a:alpha val="12000"/>
            </a:srgbClr>
          </a:solidFill>
          <a:ln/>
        </p:spPr>
        <p:txBody>
          <a:bodyPr/>
          <a:p/>
        </p:txBody>
      </p:sp>
      <p:sp>
        <p:nvSpPr>
          <p:cNvPr id="29" name=""/>
          <p:cNvSpPr/>
          <p:nvPr/>
        </p:nvSpPr>
        <p:spPr>
          <a:xfrm rot="0" flipH="0" flipV="0">
            <a:off x="8839200" y="3762375"/>
            <a:ext cx="2533650" cy="1047750"/>
          </a:xfrm>
          <a:prstGeom prst="roundRect">
            <a:avLst>
              <a:gd name="adj" fmla="val 9091"/>
            </a:avLst>
          </a:prstGeom>
          <a:solidFill>
            <a:srgbClr val="E8EEF7">
              <a:alpha val="5000"/>
            </a:srgbClr>
          </a:solidFill>
          <a:ln w="12700">
            <a:solidFill>
              <a:srgbClr val="E8EEF7">
                <a:alpha val="16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8991600" y="4133850"/>
            <a:ext cx="22288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050">
                <a:solidFill>
                  <a:srgbClr val="4FE0B0"/>
                </a:solidFill>
                <a:latin typeface="Consolas"/>
                <a:ea typeface="Consolas"/>
              </a:rPr>
              <a:t>•••••••••••••••</a:t>
            </a:r>
            <a:endParaRPr/>
          </a:p>
        </p:txBody>
      </p:sp>
      <p:sp>
        <p:nvSpPr>
          <p:cNvPr id="31" name=""/>
          <p:cNvSpPr/>
          <p:nvPr/>
        </p:nvSpPr>
        <p:spPr>
          <a:xfrm rot="0" flipH="0" flipV="0">
            <a:off x="8991600" y="4600575"/>
            <a:ext cx="1143000" cy="76200"/>
          </a:xfrm>
          <a:prstGeom prst="roundRect">
            <a:avLst>
              <a:gd name="adj" fmla="val 50000"/>
            </a:avLst>
          </a:prstGeom>
          <a:solidFill>
            <a:srgbClr val="4FE0B0">
              <a:alpha val="50000"/>
            </a:srgbClr>
          </a:solidFill>
          <a:ln/>
        </p:spPr>
        <p:txBody>
          <a:bodyPr/>
          <a:p/>
        </p:txBody>
      </p:sp>
      <p:sp>
        <p:nvSpPr>
          <p:cNvPr id="32" name=""/>
          <p:cNvSpPr/>
          <p:nvPr/>
        </p:nvSpPr>
        <p:spPr>
          <a:xfrm rot="0" flipH="0" flipV="0">
            <a:off x="10191750" y="4600575"/>
            <a:ext cx="1028700" cy="76200"/>
          </a:xfrm>
          <a:prstGeom prst="roundRect">
            <a:avLst>
              <a:gd name="adj" fmla="val 50000"/>
            </a:avLst>
          </a:prstGeom>
          <a:solidFill>
            <a:srgbClr val="E8EEF7">
              <a:alpha val="12000"/>
            </a:srgbClr>
          </a:solidFill>
          <a:ln/>
        </p:spPr>
        <p:txBody>
          <a:bodyPr/>
          <a:p/>
        </p:txBody>
      </p:sp>
      <p:sp>
        <p:nvSpPr>
          <p:cNvPr id="33" name=""/>
          <p:cNvSpPr/>
          <p:nvPr/>
        </p:nvSpPr>
        <p:spPr>
          <a:xfrm rot="0" flipH="0" flipV="0">
            <a:off x="609600" y="5448300"/>
            <a:ext cx="10972800" cy="457200"/>
          </a:xfrm>
          <a:prstGeom prst="roundRect">
            <a:avLst>
              <a:gd name="adj" fmla="val 20833"/>
            </a:avLst>
          </a:prstGeom>
          <a:solidFill>
            <a:srgbClr val="4FE0B0">
              <a:alpha val="10000"/>
            </a:srgbClr>
          </a:solidFill>
          <a:ln/>
        </p:spPr>
        <p:txBody>
          <a:bodyPr/>
          <a:p/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609600" y="781050"/>
            <a:ext cx="2914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75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低代码</a:t>
            </a:r>
            <a:r>
              <a:rPr lang="en-US" sz="1200" spc="75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00" spc="75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无代码：两档用户，同一套能力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11430000" y="809625"/>
            <a:ext cx="152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E8EEF7">
                    <a:alpha val="35000"/>
                  </a:srgbClr>
                </a:solidFill>
                <a:latin typeface="Consolas"/>
                <a:ea typeface="Consolas"/>
              </a:rPr>
              <a:t>10</a:t>
            </a:r>
            <a:endParaRPr/>
          </a:p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819150" y="2400300"/>
            <a:ext cx="23812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不需要账号，不需要密钥，不产生任何费用。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8686800" y="1619250"/>
            <a:ext cx="2686050" cy="390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275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275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安装应用　→　②</a:t>
            </a:r>
            <a:r>
              <a:rPr lang="en-US" sz="1275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打开即用　→　③</a:t>
            </a:r>
            <a:r>
              <a:rPr lang="en-US" sz="1275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智能体已在工作</a:t>
            </a:r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8686800" y="2105025"/>
            <a:ext cx="26860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默认即以本机规则引擎模式运行，用户不需要知道</a:t>
            </a:r>
            <a:r>
              <a:rPr lang="en-US" sz="112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模型</a:t>
            </a:r>
            <a:r>
              <a:rPr lang="en-US" sz="112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""</a:t>
            </a:r>
            <a:r>
              <a:rPr lang="zh-CN" sz="112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接口</a:t>
            </a:r>
            <a:r>
              <a:rPr lang="en-US" sz="112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""</a:t>
            </a:r>
            <a:r>
              <a:rPr lang="zh-CN" sz="112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密钥</a:t>
            </a:r>
            <a:r>
              <a:rPr lang="en-US" sz="112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这些词。</a:t>
            </a:r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819150" y="4552950"/>
            <a:ext cx="23812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兼容任意</a:t>
            </a:r>
            <a:r>
              <a:rPr lang="en-US" sz="112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 xml:space="preserve"> OpenAI </a:t>
            </a:r>
            <a:r>
              <a:rPr lang="zh-CN" sz="112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格式接口，不限于默认服务商。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3619500" y="3895725"/>
            <a:ext cx="22288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接口地址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6305550" y="3895725"/>
            <a:ext cx="22288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模型名称</a:t>
            </a:r>
            <a:endParaRPr/>
          </a:p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8991600" y="3895725"/>
            <a:ext cx="22288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 xml:space="preserve">API </a:t>
            </a:r>
            <a:r>
              <a:rPr lang="zh-CN" sz="1050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密钥</a:t>
            </a:r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800100" y="5581650"/>
            <a:ext cx="10591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E8EEF7">
                    <a:alpha val="90000"/>
                  </a:srgbClr>
                </a:solidFill>
                <a:latin typeface="Microsoft YaHei"/>
                <a:ea typeface="Microsoft YaHei"/>
              </a:rPr>
              <a:t>低代码体现在三处：</a:t>
            </a:r>
            <a:r>
              <a:rPr lang="zh-CN" sz="1200">
                <a:solidFill>
                  <a:srgbClr val="4FE0B0">
                    <a:alpha val="90000"/>
                  </a:srgbClr>
                </a:solidFill>
                <a:latin typeface="Microsoft YaHei"/>
                <a:ea typeface="Microsoft YaHei"/>
              </a:rPr>
              <a:t>可视化配置</a:t>
            </a:r>
            <a:r>
              <a:rPr lang="zh-CN" sz="1200">
                <a:solidFill>
                  <a:srgbClr val="E8EEF7">
                    <a:alpha val="90000"/>
                  </a:srgbClr>
                </a:solidFill>
                <a:latin typeface="Microsoft YaHei"/>
                <a:ea typeface="Microsoft YaHei"/>
              </a:rPr>
              <a:t>（三格表单完成接入）·</a:t>
            </a:r>
            <a:r>
              <a:rPr lang="zh-CN" sz="1200">
                <a:solidFill>
                  <a:srgbClr val="4FE0B0">
                    <a:alpha val="90000"/>
                  </a:srgbClr>
                </a:solidFill>
                <a:latin typeface="Microsoft YaHei"/>
                <a:ea typeface="Microsoft YaHei"/>
              </a:rPr>
              <a:t>可视化确认</a:t>
            </a:r>
            <a:r>
              <a:rPr lang="zh-CN" sz="1200">
                <a:solidFill>
                  <a:srgbClr val="E8EEF7">
                    <a:alpha val="90000"/>
                  </a:srgbClr>
                </a:solidFill>
                <a:latin typeface="Microsoft YaHei"/>
                <a:ea typeface="Microsoft YaHei"/>
              </a:rPr>
              <a:t>（解析结果确认后才写入）·</a:t>
            </a:r>
            <a:r>
              <a:rPr lang="zh-CN" sz="1200">
                <a:solidFill>
                  <a:srgbClr val="4FE0B0">
                    <a:alpha val="90000"/>
                  </a:srgbClr>
                </a:solidFill>
                <a:latin typeface="Microsoft YaHei"/>
                <a:ea typeface="Microsoft YaHei"/>
              </a:rPr>
              <a:t>可视化调校</a:t>
            </a:r>
            <a:r>
              <a:rPr lang="zh-CN" sz="1200">
                <a:solidFill>
                  <a:srgbClr val="E8EEF7">
                    <a:alpha val="90000"/>
                  </a:srgbClr>
                </a:solidFill>
                <a:latin typeface="Microsoft YaHei"/>
                <a:ea typeface="Microsoft YaHei"/>
              </a:rPr>
              <a:t>（弹窗样式实时预览）。</a:t>
            </a:r>
            <a:endParaRPr/>
          </a:p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609600" y="6115050"/>
            <a:ext cx="1190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11172825" y="6115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E8EEF7">
                    <a:alpha val="42000"/>
                  </a:srgbClr>
                </a:solidFill>
                <a:latin typeface="Consolas"/>
                <a:ea typeface="Consolas"/>
              </a:rPr>
              <a:t>10 / 18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46" name="" descr="&lt;Slide style={{ width: 1280, height: 720, background: '#0B1220', padding: '20px 64px' }}&gt;&#10;    &lt;Box style={{ height: 600, flexDirection: 'row', alignItems: 'center', gap: 64 }}&gt;&#10;        &lt;Text style={{ fontSize: 230, fontWeight: 'bold', fontFamily: 'Consolas', color: '#4FE0B0', opacity: 0.15, lineHeight: 1 }}&gt;03&lt;/Text&gt;&#10;        &lt;Box style={{ flexDirection: 'column', gap: 20, width: 540 }}&gt;&#10;            &lt;Text style={{ fontSize: 60, fontWeight: 'bold', color: '#E8EEF7', lineHeight: 1.15 }}&gt;工程质量与应用价值&lt;/Text&gt;&#10;            &lt;Box style={{ height: 4, width: 110, background: 'linear-gradient(135deg, #4FE0B0 0%, #2E9E8F 100%)', borderRadius: 2 }} /&gt;&#10;            &lt;Text style={{ fontSize: 20, color: '#E8EEF7', opacity: 0.72, lineHeight: 1.65 }}&gt;用可核验的数字回答一个问题：这不是一个只有演示效果的作品。&lt;br /&gt;最后落到适用场景、创新点与横向对比。&lt;/Text&gt;&#10;            &lt;Text style={{ fontSize: 15, fontFamily: 'Consolas', color: '#4FE0B0', letterSpacing: 2 }}&gt;P11 – P17&lt;/Text&gt;&#10;        &lt;/Box&gt;&#10;    &lt;/Box&gt;&#10;    &lt;Box style={{ height: 60, flexDirection: 'row', alignItems: 'center', justifyContent: 'space-between' }}&gt;&#10;        &lt;Text style={{ fontSize: 14, color: '#E8EEF7', opacity: 0.42 }}&gt;知歇 ZhiXie · V1.0.0&lt;/Text&gt;&#10;        &lt;Text style={{ fontSize: 14, fontFamily: 'Consolas', color: '#E8EEF7', opacity: 0.42 }}&gt;11 / 18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3657600" y="1695450"/>
            <a:ext cx="5143500" cy="79057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zh-CN" sz="4500" b="1">
                <a:solidFill>
                  <a:srgbClr val="E8EEF7"/>
                </a:solidFill>
                <a:latin typeface="Microsoft YaHei"/>
                <a:ea typeface="Microsoft YaHei"/>
              </a:rPr>
              <a:t>工程质量与应用价值</a:t>
            </a:r>
            <a:endParaRPr/>
          </a:p>
        </p:txBody>
      </p:sp>
      <p:sp>
        <p:nvSpPr>
          <p:cNvPr id="49" name=""/>
          <p:cNvSpPr/>
          <p:nvPr/>
        </p:nvSpPr>
        <p:spPr>
          <a:xfrm rot="0" flipH="0" flipV="0">
            <a:off x="3657600" y="2676525"/>
            <a:ext cx="104775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4FE0B0"/>
              </a:gs>
              <a:gs pos="100000">
                <a:srgbClr val="2E9E8F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3657600" y="4229100"/>
            <a:ext cx="5143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4FE0B0"/>
                </a:solidFill>
                <a:latin typeface="Consolas"/>
                <a:ea typeface="Consolas"/>
              </a:rPr>
              <a:t>P11 – P17</a:t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609600" y="1733550"/>
            <a:ext cx="2438400" cy="2628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7250" b="1">
                <a:solidFill>
                  <a:srgbClr val="4FE0B0">
                    <a:alpha val="15000"/>
                  </a:srgbClr>
                </a:solidFill>
                <a:latin typeface="Consolas"/>
                <a:ea typeface="Consolas"/>
              </a:rPr>
              <a:t>03</a:t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3657600" y="2905125"/>
            <a:ext cx="5143500" cy="1133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5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用可核验的数字回答一个问题：这不是一个只有演示效果的作品。</a:t>
            </a:r>
            <a:endParaRPr/>
          </a:p>
          <a:p>
            <a:pPr>
              <a:lnSpc>
                <a:spcPct val="165000"/>
              </a:lnSpc>
            </a:pPr>
            <a:r>
              <a:rPr lang="zh-CN" sz="15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最后落到适用场景、创新点与横向对比。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609600" y="6115050"/>
            <a:ext cx="1190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11182350" y="6115050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E8EEF7">
                    <a:alpha val="42000"/>
                  </a:srgbClr>
                </a:solidFill>
                <a:latin typeface="Consolas"/>
                <a:ea typeface="Consolas"/>
              </a:rPr>
              <a:t>11 / 18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55" name="" descr="&lt;Slide style={{ width: 1280, height: 720, background: '#0B1220', padding: '20px 64px' }}&gt;&#10;    &lt;Box style={{ height: 100, flexDirection: 'row', alignItems: 'flex-end', justifyContent: 'space-between', paddingBottom: 18 }}&gt;&#10;        &lt;Box style={{ flexDirection: 'column', gap: 6 }}&gt;&#10;            &lt;Text style={{ fontSize: 36, fontWeight: 'bold', color: '#E8EEF7' }}&gt;可靠性由测试保证&lt;/Text&gt;&#10;            &lt;Text style={{ fontSize: 16, color: '#E8EEF7', opacity: 0.55, letterSpacing: 1 }}&gt;不靠演示运气，靠可重复的结果&lt;/Text&gt;&#10;        &lt;/Box&gt;&#10;        &lt;Text style={{ fontSize: 14, fontFamily: 'Consolas', color: '#4FE0B0', opacity: 0.8 }}&gt;质量证据&lt;/Text&gt;&#10;    &lt;/Box&gt;&#10;    &lt;Box style={{ height: 500, flexDirection: 'row', gap: 56 }}&gt;&#10;        &lt;Box style={{ width: 470, flexDirection: 'column', justifyContent: 'center', gap: 4 }}&gt;&#10;            &lt;Text style={{ fontSize: 150, fontWeight: 'bold', fontFamily: 'Consolas', color: '#4FE0B0', lineHeight: 1 }}&gt;138&lt;/Text&gt;&#10;            &lt;Text style={{ fontSize: 26, color: '#E8EEF7', marginTop: 14 }}&gt;项自动化测试&lt;/Text&gt;&#10;            &lt;Text style={{ fontSize: 17, color: '#E8EEF7', opacity: 0.6, marginTop: 6 }}&gt;全部通过 · 0 失败&lt;/Text&gt;&#10;            &lt;Box style={{ height: 3, width: 96, background: 'linear-gradient(135deg, #4FE0B0 0%, #2E9E8F 100%)', borderRadius: 2, marginTop: 20 }} /&gt;&#10;            &lt;Text style={{ fontSize: 16, color: '#E8EEF7', opacity: 0.62, lineHeight: 1.6, marginTop: 20 }}&gt;这个数字意味着：每次改动后全量重跑，新功能不会悄悄破坏既有行为——演示时看到的每个结果都是可复现的。&lt;/Text&gt;&#10;        &lt;/Box&gt;&#10;        &lt;Box style={{ flex: 1, flexDirection: 'column', gap: 14, justifyContent: 'center' }}&gt;&#10;            &lt;Box style={{ height: 66, flexDirection: 'row', alignItems: 'center', justifyContent: 'space-between', padding: '0 22px', background: 'rgba(232,238,247,0.05)', borderRadius: 10 }}&gt;&#10;                &lt;Text style={{ fontSize: 18, color: '#E8EEF7' }}&gt;前端单元测试&lt;/Text&gt;&#10;                &lt;Text style={{ fontSize: 22, fontWeight: 'bold', fontFamily: 'Consolas', color: '#4FE0B0' }}&gt;77 项&lt;/Text&gt;&#10;            &lt;/Box&gt;&#10;            &lt;Box style={{ height: 66, flexDirection: 'row', alignItems: 'center', justifyContent: 'space-between', padding: '0 22px', background: 'rgba(232,238,247,0.05)', borderRadius: 10 }}&gt;&#10;                &lt;Text style={{ fontSize: 18, color: '#E8EEF7' }}&gt;Rust 单元测试&lt;/Text&gt;&#10;                &lt;Text style={{ fontSize: 22, fontWeight: 'bold', fontFamily: 'Consolas', color: '#4FE0B0' }}&gt;61 项&lt;/Text&gt;&#10;            &lt;/Box&gt;&#10;            &lt;Box style={{ height: 66, flexDirection: 'row', alignItems: 'center', justifyContent: 'space-between', padding: '0 22px', background: 'rgba(232,238,247,0.05)', borderRadius: 10 }}&gt;&#10;                &lt;Text style={{ fontSize: 18, color: '#E8EEF7' }}&gt;通过率&lt;/Text&gt;&#10;                &lt;Text style={{ fontSize: 22, fontWeight: 'bold', fontFamily: 'Consolas', color: '#4FE0B0' }}&gt;100%&lt;/Text&gt;&#10;            &lt;/Box&gt;&#10;            &lt;Box style={{ flexDirection: 'row', gap: 14, marginTop: 6 }}&gt;&#10;                &lt;Box style={{ flex: 1, padding: '14px 12px', background: 'rgba(79,224,176,0.10)', borderRadius: 10, alignItems: 'center' }}&gt;&#10;                    &lt;Text style={{ fontSize: 15, color: '#E8EEF7', opacity: 0.88, textAlign: 'center' }}&gt;双平台构建通过&lt;/Text&gt;&#10;                &lt;/Box&gt;&#10;                &lt;Box style={{ flex: 1, padding: '14px 12px', background: 'rgba(79,224,176,0.10)', borderRadius: 10, alignItems: 'center' }}&gt;&#10;                    &lt;Text style={{ fontSize: 15, color: '#E8EEF7', opacity: 0.88, textAlign: 'center' }}&gt;类型全量检查&lt;/Text&gt;&#10;                &lt;/Box&gt;&#10;                &lt;Box style={{ flex: 1, padding: '14px 12px', background: 'rgba(79,224,176,0.10)', borderRadius: 10, alignItems: 'center' }}&gt;&#10;                    &lt;Text style={{ fontSize: 15, color: '#E8EEF7', opacity: 0.88, textAlign: 'center' }}&gt;数据原子写入&lt;/Text&gt;&#10;                &lt;/Box&gt;&#10;            &lt;/Box&gt;&#10;        &lt;/Box&gt;&#10;    &lt;/Box&gt;&#10;    &lt;Box style={{ height: 60, flexDirection: 'row', alignItems: 'center', justifyContent: 'space-between' }}&gt;&#10;        &lt;Text style={{ fontSize: 14, color: '#E8EEF7', opacity: 0.42 }}&gt;知歇 ZhiXie · V1.0.0&lt;/Text&gt;&#10;        &lt;Text style={{ fontSize: 14, fontFamily: 'Consolas', color: '#E8EEF7', opacity: 0.42 }}&gt;12 / 18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609600" y="304800"/>
            <a:ext cx="27432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E8EEF7"/>
                </a:solidFill>
                <a:latin typeface="Microsoft YaHei"/>
                <a:ea typeface="Microsoft YaHei"/>
              </a:rPr>
              <a:t>可靠性由测试保证</a:t>
            </a:r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609600" y="1743075"/>
            <a:ext cx="4476750" cy="1714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0" b="1">
                <a:solidFill>
                  <a:srgbClr val="4FE0B0"/>
                </a:solidFill>
                <a:latin typeface="Consolas"/>
                <a:ea typeface="Consolas"/>
              </a:rPr>
              <a:t>138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609600" y="3629025"/>
            <a:ext cx="44767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>
                <a:solidFill>
                  <a:srgbClr val="E8EEF7"/>
                </a:solidFill>
                <a:latin typeface="Microsoft YaHei"/>
                <a:ea typeface="Microsoft YaHei"/>
              </a:rPr>
              <a:t>项自动化测试</a:t>
            </a:r>
            <a:endParaRPr/>
          </a:p>
        </p:txBody>
      </p:sp>
      <p:sp>
        <p:nvSpPr>
          <p:cNvPr id="60" name=""/>
          <p:cNvSpPr/>
          <p:nvPr/>
        </p:nvSpPr>
        <p:spPr>
          <a:xfrm rot="0" flipH="0" flipV="0">
            <a:off x="609600" y="4457700"/>
            <a:ext cx="914400" cy="28575"/>
          </a:xfrm>
          <a:prstGeom prst="roundRect">
            <a:avLst>
              <a:gd name="adj" fmla="val 66667"/>
            </a:avLst>
          </a:prstGeom>
          <a:gradFill>
            <a:gsLst>
              <a:gs pos="0">
                <a:srgbClr val="4FE0B0"/>
              </a:gs>
              <a:gs pos="100000">
                <a:srgbClr val="2E9E8F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61" name=""/>
          <p:cNvSpPr/>
          <p:nvPr/>
        </p:nvSpPr>
        <p:spPr>
          <a:xfrm rot="0" flipH="0" flipV="0">
            <a:off x="5619750" y="2133600"/>
            <a:ext cx="5962650" cy="628650"/>
          </a:xfrm>
          <a:prstGeom prst="roundRect">
            <a:avLst>
              <a:gd name="adj" fmla="val 15152"/>
            </a:avLst>
          </a:prstGeom>
          <a:solidFill>
            <a:srgbClr val="E8EEF7">
              <a:alpha val="5000"/>
            </a:srgbClr>
          </a:solidFill>
          <a:ln/>
        </p:spPr>
        <p:txBody>
          <a:bodyPr/>
          <a:p/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5829300" y="2343150"/>
            <a:ext cx="10287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E8EEF7"/>
                </a:solidFill>
                <a:latin typeface="Microsoft YaHei"/>
                <a:ea typeface="Microsoft YaHei"/>
              </a:rPr>
              <a:t>前端单元测试</a:t>
            </a:r>
            <a:endParaRPr/>
          </a:p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10868025" y="2324100"/>
            <a:ext cx="5048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4FE0B0"/>
                </a:solidFill>
                <a:latin typeface="Consolas"/>
                <a:ea typeface="Consolas"/>
              </a:rPr>
              <a:t xml:space="preserve">77 </a:t>
            </a:r>
            <a:r>
              <a:rPr lang="zh-CN" sz="1650" b="1">
                <a:solidFill>
                  <a:srgbClr val="4FE0B0"/>
                </a:solidFill>
                <a:latin typeface="Consolas"/>
                <a:ea typeface="Consolas"/>
              </a:rPr>
              <a:t>项</a:t>
            </a:r>
            <a:endParaRPr/>
          </a:p>
        </p:txBody>
      </p:sp>
      <p:sp>
        <p:nvSpPr>
          <p:cNvPr id="64" name=""/>
          <p:cNvSpPr/>
          <p:nvPr/>
        </p:nvSpPr>
        <p:spPr>
          <a:xfrm rot="0" flipH="0" flipV="0">
            <a:off x="5619750" y="2895600"/>
            <a:ext cx="5962650" cy="628650"/>
          </a:xfrm>
          <a:prstGeom prst="roundRect">
            <a:avLst>
              <a:gd name="adj" fmla="val 15152"/>
            </a:avLst>
          </a:prstGeom>
          <a:solidFill>
            <a:srgbClr val="E8EEF7">
              <a:alpha val="5000"/>
            </a:srgbClr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5829300" y="3105150"/>
            <a:ext cx="10953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E8EEF7"/>
                </a:solidFill>
                <a:latin typeface="Microsoft YaHei"/>
                <a:ea typeface="Microsoft YaHei"/>
              </a:rPr>
              <a:t xml:space="preserve">Rust </a:t>
            </a:r>
            <a:r>
              <a:rPr lang="zh-CN" sz="1350">
                <a:solidFill>
                  <a:srgbClr val="E8EEF7"/>
                </a:solidFill>
                <a:latin typeface="Microsoft YaHei"/>
                <a:ea typeface="Microsoft YaHei"/>
              </a:rPr>
              <a:t>单元测试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0868025" y="3086100"/>
            <a:ext cx="5048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4FE0B0"/>
                </a:solidFill>
                <a:latin typeface="Consolas"/>
                <a:ea typeface="Consolas"/>
              </a:rPr>
              <a:t xml:space="preserve">61 </a:t>
            </a:r>
            <a:r>
              <a:rPr lang="zh-CN" sz="1650" b="1">
                <a:solidFill>
                  <a:srgbClr val="4FE0B0"/>
                </a:solidFill>
                <a:latin typeface="Consolas"/>
                <a:ea typeface="Consolas"/>
              </a:rPr>
              <a:t>项</a:t>
            </a:r>
            <a:endParaRPr/>
          </a:p>
        </p:txBody>
      </p:sp>
      <p:sp>
        <p:nvSpPr>
          <p:cNvPr id="67" name=""/>
          <p:cNvSpPr/>
          <p:nvPr/>
        </p:nvSpPr>
        <p:spPr>
          <a:xfrm rot="0" flipH="0" flipV="0">
            <a:off x="5619750" y="3657600"/>
            <a:ext cx="5962650" cy="628650"/>
          </a:xfrm>
          <a:prstGeom prst="roundRect">
            <a:avLst>
              <a:gd name="adj" fmla="val 15152"/>
            </a:avLst>
          </a:prstGeom>
          <a:solidFill>
            <a:srgbClr val="E8EEF7">
              <a:alpha val="5000"/>
            </a:srgbClr>
          </a:solidFill>
          <a:ln/>
        </p:spPr>
        <p:txBody>
          <a:bodyPr/>
          <a:p/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5829300" y="3867150"/>
            <a:ext cx="5143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E8EEF7"/>
                </a:solidFill>
                <a:latin typeface="Microsoft YaHei"/>
                <a:ea typeface="Microsoft YaHei"/>
              </a:rPr>
              <a:t>通过率</a:t>
            </a:r>
            <a:endParaRPr/>
          </a:p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10829925" y="3848100"/>
            <a:ext cx="5429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4FE0B0"/>
                </a:solidFill>
                <a:latin typeface="Consolas"/>
                <a:ea typeface="Consolas"/>
              </a:rPr>
              <a:t>100%</a:t>
            </a:r>
            <a:endParaRPr/>
          </a:p>
        </p:txBody>
      </p:sp>
      <p:sp>
        <p:nvSpPr>
          <p:cNvPr id="70" name=""/>
          <p:cNvSpPr/>
          <p:nvPr/>
        </p:nvSpPr>
        <p:spPr>
          <a:xfrm rot="0" flipH="0" flipV="0">
            <a:off x="5619750" y="4476750"/>
            <a:ext cx="1895475" cy="438150"/>
          </a:xfrm>
          <a:prstGeom prst="roundRect">
            <a:avLst>
              <a:gd name="adj" fmla="val 21739"/>
            </a:avLst>
          </a:prstGeom>
          <a:solidFill>
            <a:srgbClr val="4FE0B0">
              <a:alpha val="10000"/>
            </a:srgbClr>
          </a:solidFill>
          <a:ln/>
        </p:spPr>
        <p:txBody>
          <a:bodyPr/>
          <a:p/>
        </p:txBody>
      </p:sp>
      <p:sp>
        <p:nvSpPr>
          <p:cNvPr id="71" name=""/>
          <p:cNvSpPr/>
          <p:nvPr/>
        </p:nvSpPr>
        <p:spPr>
          <a:xfrm rot="0" flipH="0" flipV="0">
            <a:off x="7648575" y="4476750"/>
            <a:ext cx="1905000" cy="438150"/>
          </a:xfrm>
          <a:prstGeom prst="roundRect">
            <a:avLst>
              <a:gd name="adj" fmla="val 21739"/>
            </a:avLst>
          </a:prstGeom>
          <a:solidFill>
            <a:srgbClr val="4FE0B0">
              <a:alpha val="10000"/>
            </a:srgbClr>
          </a:solidFill>
          <a:ln/>
        </p:spPr>
        <p:txBody>
          <a:bodyPr/>
          <a:p/>
        </p:txBody>
      </p:sp>
      <p:sp>
        <p:nvSpPr>
          <p:cNvPr id="72" name=""/>
          <p:cNvSpPr/>
          <p:nvPr/>
        </p:nvSpPr>
        <p:spPr>
          <a:xfrm rot="0" flipH="0" flipV="0">
            <a:off x="9686925" y="4476750"/>
            <a:ext cx="1895475" cy="438150"/>
          </a:xfrm>
          <a:prstGeom prst="roundRect">
            <a:avLst>
              <a:gd name="adj" fmla="val 21739"/>
            </a:avLst>
          </a:prstGeom>
          <a:solidFill>
            <a:srgbClr val="4FE0B0">
              <a:alpha val="10000"/>
            </a:srgbClr>
          </a:solidFill>
          <a:ln/>
        </p:spPr>
        <p:txBody>
          <a:bodyPr/>
          <a:p/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609600" y="781050"/>
            <a:ext cx="2743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75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不靠演示运气，靠可重复的结果</a:t>
            </a:r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11049000" y="809625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FE0B0">
                    <a:alpha val="80000"/>
                  </a:srgbClr>
                </a:solidFill>
                <a:latin typeface="Consolas"/>
                <a:ea typeface="Consolas"/>
              </a:rPr>
              <a:t>质量证据</a:t>
            </a:r>
            <a:endParaRPr/>
          </a:p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609600" y="4029075"/>
            <a:ext cx="4476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全部通过</a:t>
            </a:r>
            <a:r>
              <a:rPr lang="en-US" sz="127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 xml:space="preserve"> · 0 </a:t>
            </a:r>
            <a:r>
              <a:rPr lang="zh-CN" sz="127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失败</a:t>
            </a:r>
            <a:endParaRPr/>
          </a:p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609600" y="4714875"/>
            <a:ext cx="447675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>
                <a:solidFill>
                  <a:srgbClr val="E8EEF7">
                    <a:alpha val="62000"/>
                  </a:srgbClr>
                </a:solidFill>
                <a:latin typeface="Microsoft YaHei"/>
                <a:ea typeface="Microsoft YaHei"/>
              </a:rPr>
              <a:t>这个数字意味着：每次改动后全量重跑，新功能不会悄悄破坏既有行为——演示时看到的每个结果都是可复现的。</a:t>
            </a:r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6067425" y="4610100"/>
            <a:ext cx="1000125" cy="1714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125">
                <a:solidFill>
                  <a:srgbClr val="E8EEF7">
                    <a:alpha val="88000"/>
                  </a:srgbClr>
                </a:solidFill>
                <a:latin typeface="Microsoft YaHei"/>
                <a:ea typeface="Microsoft YaHei"/>
              </a:rPr>
              <a:t>双平台构建通过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8172450" y="4610100"/>
            <a:ext cx="857250" cy="1714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125">
                <a:solidFill>
                  <a:srgbClr val="E8EEF7">
                    <a:alpha val="88000"/>
                  </a:srgbClr>
                </a:solidFill>
                <a:latin typeface="Microsoft YaHei"/>
                <a:ea typeface="Microsoft YaHei"/>
              </a:rPr>
              <a:t>类型全量检查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0210800" y="4610100"/>
            <a:ext cx="857250" cy="1714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125">
                <a:solidFill>
                  <a:srgbClr val="E8EEF7">
                    <a:alpha val="88000"/>
                  </a:srgbClr>
                </a:solidFill>
                <a:latin typeface="Microsoft YaHei"/>
                <a:ea typeface="Microsoft YaHei"/>
              </a:rPr>
              <a:t>数据原子写入</a:t>
            </a:r>
            <a:endParaRPr/>
          </a:p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609600" y="6115050"/>
            <a:ext cx="1190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11172825" y="6115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E8EEF7">
                    <a:alpha val="42000"/>
                  </a:srgbClr>
                </a:solidFill>
                <a:latin typeface="Consolas"/>
                <a:ea typeface="Consolas"/>
              </a:rPr>
              <a:t>12 / 18</a:t>
            </a:r>
            <a:endParaRPr/>
          </a:p>
        </p:txBody>
      </p:sp>
    </p:spTree>
  </p:cSld>
</p:sld>
</file>

<file path=ppt/slides/slide13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82" name="" descr="&lt;Slide style={{ width: 1280, height: 720, background: '#0B1220', padding: '20px 64px' }}&gt;&#10;    &lt;Box style={{ height: 100, flexDirection: 'row', alignItems: 'flex-end', justifyContent: 'space-between', paddingBottom: 18 }}&gt;&#10;        &lt;Box style={{ flexDirection: 'column', gap: 6 }}&gt;&#10;            &lt;Text style={{ fontSize: 36, fontWeight: 'bold', color: '#E8EEF7' }}&gt;测什么：容易出错的地方&lt;/Text&gt;&#10;            &lt;Text style={{ fontSize: 16, color: '#E8EEF7', opacity: 0.55, letterSpacing: 1 }}&gt;测试集中在时序与状态——功能演示时看不出来、但真实使用中一定会踩的坑&lt;/Text&gt;&#10;        &lt;/Box&gt;&#10;        &lt;Text style={{ fontSize: 14, fontFamily: 'Consolas', color: '#E8EEF7', opacity: 0.35 }}&gt;13&lt;/Text&gt;&#10;    &lt;/Box&gt;&#10;    &lt;Box style={{ height: 500, flexDirection: 'column', gap: 20 }}&gt;&#10;        &lt;Box style={{ height: 280, flexDirection: 'column', gap: 14 }}&gt;&#10;            &lt;Box style={{ height: 84, flexDirection: 'row', alignItems: 'center', gap: 20, padding: '0 22px', background: 'rgba(232,238,247,0.04)', border: '1px solid rgba(232,238,247,0.10)', borderRadius: 10 }}&gt;&#10;                &lt;Box style={{ width: 250, flexDirection: 'column', gap: 2 }}&gt;&#10;                    &lt;Text style={{ fontSize: 18, color: '#E8EEF7' }}&gt;触发 A&lt;/Text&gt;&#10;                    &lt;Text style={{ fontSize: 14, fontFamily: 'Consolas', color: '#E8EEF7', opacity: 0.5 }}&gt;00:00 到点 · 先发生&lt;/Text&gt;&#10;                &lt;/Box&gt;&#10;                &lt;svg width={120} height={40} viewBox='0 0 120 40'&gt;&#10;                    &lt;path d='M0 20 L104 20' fill='none' stroke='#E8EEF7' strokeWidth='2' strokeDasharray='6 6' opacity='0.35' /&gt;&#10;                    &lt;path d='M98 14 L108 20 L98 26 Z' fill='#E8EEF7' opacity='0.35' /&gt;&#10;                &lt;/svg&gt;&#10;                &lt;Box style={{ flex: 1, flexDirection: 'row', alignItems: 'center', gap: 12 }}&gt;&#10;                    &lt;svg width={26} height={26} viewBox='0 0 26 26'&gt;&#10;                        &lt;circle cx='13' cy='13' r='12' fill='none' stroke='#E8EEF7' strokeWidth='1.5' opacity='0.4' /&gt;&#10;                        &lt;path d='M8 8 L18 18 M18 8 L8 18' fill='none' stroke='#E8EEF7' strokeWidth='2' opacity='0.45' /&gt;&#10;                    &lt;/svg&gt;&#10;                    &lt;Text style={{ fontSize: 16, color: '#E8EEF7', opacity: 0.6 }}&gt;延迟到达 · 不能覆盖后到的触发&lt;/Text&gt;&#10;                &lt;/Box&gt;&#10;            &lt;/Box&gt;&#10;            &lt;Box style={{ height: 84, flexDirection: 'row', alignItems: 'center', gap: 20, padding: '0 22px', background: 'rgba(79,224,176,0.10)', border: '1px solid #4FE0B0', borderRadius: 10 }}&gt;&#10;                &lt;Box style={{ width: 250, flexDirection: 'column', gap: 2 }}&gt;&#10;                    &lt;Text style={{ fontSize: 18, color: '#E8EEF7' }}&gt;触发 B&lt;/Text&gt;&#10;                    &lt;Text style={{ fontSize: 14, fontFamily: 'Consolas', color: '#4FE0B0' }}&gt;00:01 到点 · 后发生&lt;/Text&gt;&#10;                &lt;/Box&gt;&#10;                &lt;svg width={120} height={40} viewBox='0 0 120 40'&gt;&#10;                    &lt;path d='M0 20 L104 20' fill='none' stroke='#4FE0B0' strokeWidth='2' /&gt;&#10;                    &lt;path d='M98 14 L108 20 L98 26 Z' fill='#4FE0B0' /&gt;&#10;                &lt;/svg&gt;&#10;                &lt;Box style={{ flex: 1, flexDirection: 'row', alignItems: 'center', gap: 12 }}&gt;&#10;                    &lt;svg width={26} height={26} viewBox='0 0 26 26'&gt;&#10;                        &lt;circle cx='13' cy='13' r='12' fill='#4FE0B0' /&gt;&#10;                        &lt;path d='M7 13 L11 18 L19 8' fill='none' stroke='#0B1220' strokeWidth='2.5' /&gt;&#10;                    &lt;/svg&gt;&#10;                    &lt;Text style={{ fontSize: 16, color: '#E8EEF7', opacity: 0.9 }}&gt;成为当前弹窗 · 旧状态被正确丢弃&lt;/Text&gt;&#10;                &lt;/Box&gt;&#10;            &lt;/Box&gt;&#10;            &lt;Text style={{ fontSize: 15, color: '#E8EEF7', opacity: 0.55, lineHeight: 1.5 }}&gt;这类竞态在手动测试里极难复现，只能靠针对性的单元测试守住。同批测试还覆盖：按 Escape 关闭不会重复隐藏前端状态、关机失败时弹窗保留并提供重试。&lt;/Text&gt;&#10;        &lt;/Box&gt;&#10;        &lt;Box style={{ flex: 1, flexDirection: 'row', gap: 20 }}&gt;&#10;            &lt;Box style={{ flex: 1, flexDirection: 'column', gap: 10, padding: 20, background: 'rgba(232,238,247,0.04)', border: '1px solid rgba(232,238,247,0.10)', borderRadius: 12 }}&gt;&#10;                &lt;Text style={{ fontSize: 20, fontWeight: 'bold', color: '#4FE0B0' }}&gt;时序&lt;/Text&gt;&#10;                &lt;Text style={{ fontSize: 15, color: '#E8EEF7', opacity: 0.7, lineHeight: 1.6 }}&gt;延迟旧触发不覆盖新触发；弹窗状态机幂等；暂停与恢复不丢轮次。&lt;/Text&gt;&#10;            &lt;/Box&gt;&#10;            &lt;Box style={{ flex: 1, flexDirection: 'column', gap: 10, padding: 20, background: 'rgba(232,238,247,0.04)', border: '1px solid rgba(232,238,247,0.10)', borderRadius: 12 }}&gt;&#10;                &lt;Text style={{ fontSize: 20, fontWeight: 'bold', color: '#4FE0B0' }}&gt;数据&lt;/Text&gt;&#10;                &lt;Text style={{ fontSize: 15, color: '#E8EEF7', opacity: 0.7, lineHeight: 1.6 }}&gt;原子写入中途失败不损坏原文件；导入文件校验；旧版本配置先备份再重建。&lt;/Text&gt;&#10;            &lt;/Box&gt;&#10;            &lt;Box style={{ flex: 1, flexDirection: 'column', gap: 10, padding: 20, background: 'rgba(232,238,247,0.04)', border: '1px solid rgba(232,238,247,0.10)', borderRadius: 12 }}&gt;&#10;                &lt;Text style={{ fontSize: 20, fontWeight: 'bold', color: '#4FE0B0' }}&gt;智能体&lt;/Text&gt;&#10;                &lt;Text style={{ fontSize: 15, color: '#E8EEF7', opacity: 0.7, lineHeight: 1.6 }}&gt;中文时间与周几解析；系统操作识别；云端结果校验；JSON 提取容错。&lt;/Text&gt;&#10;            &lt;/Box&gt;&#10;        &lt;/Box&gt;&#10;    &lt;/Box&gt;&#10;    &lt;Box style={{ height: 60, flexDirection: 'row', alignItems: 'center', justifyContent: 'space-between' }}&gt;&#10;        &lt;Text style={{ fontSize: 14, color: '#E8EEF7', opacity: 0.42 }}&gt;知歇 ZhiXie · V1.0.0&lt;/Text&gt;&#10;        &lt;Text style={{ fontSize: 14, fontFamily: 'Consolas', color: '#E8EEF7', opacity: 0.42 }}&gt;13 / 18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609600" y="304800"/>
            <a:ext cx="550545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E8EEF7"/>
                </a:solidFill>
                <a:latin typeface="Microsoft YaHei"/>
                <a:ea typeface="Microsoft YaHei"/>
              </a:rPr>
              <a:t>测什么：容易出错的地方</a:t>
            </a:r>
            <a:endParaRPr/>
          </a:p>
        </p:txBody>
      </p:sp>
      <p:sp>
        <p:nvSpPr>
          <p:cNvPr id="85" name=""/>
          <p:cNvSpPr/>
          <p:nvPr/>
        </p:nvSpPr>
        <p:spPr>
          <a:xfrm rot="0" flipH="0" flipV="0">
            <a:off x="609600" y="1143000"/>
            <a:ext cx="10972800" cy="800100"/>
          </a:xfrm>
          <a:prstGeom prst="roundRect">
            <a:avLst>
              <a:gd name="adj" fmla="val 11905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819150" y="1352550"/>
            <a:ext cx="2381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E8EEF7"/>
                </a:solidFill>
                <a:latin typeface="Microsoft YaHei"/>
                <a:ea typeface="Microsoft YaHei"/>
              </a:rPr>
              <a:t>触发</a:t>
            </a:r>
            <a:r>
              <a:rPr lang="en-US" sz="1350">
                <a:solidFill>
                  <a:srgbClr val="E8EEF7"/>
                </a:solidFill>
                <a:latin typeface="Microsoft YaHei"/>
                <a:ea typeface="Microsoft YaHei"/>
              </a:rPr>
              <a:t xml:space="preserve"> A</a:t>
            </a:r>
            <a:endParaRPr/>
          </a:p>
        </p:txBody>
      </p:sp>
      <p:pic>
        <p:nvPicPr>
          <p:cNvPr id="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390900" y="1352550"/>
            <a:ext cx="1143000" cy="381000"/>
          </a:xfrm>
          <a:prstGeom prst="rect">
            <a:avLst/>
          </a:prstGeom>
          <a:ln/>
        </p:spPr>
      </p:pic>
      <p:pic>
        <p:nvPicPr>
          <p:cNvPr id="8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724400" y="1419225"/>
            <a:ext cx="247650" cy="247650"/>
          </a:xfrm>
          <a:prstGeom prst="rect">
            <a:avLst/>
          </a:prstGeom>
          <a:ln/>
        </p:spPr>
      </p:pic>
      <p:sp>
        <p:nvSpPr>
          <p:cNvPr id="89" name=""/>
          <p:cNvSpPr/>
          <p:nvPr/>
        </p:nvSpPr>
        <p:spPr>
          <a:xfrm rot="0" flipH="0" flipV="0">
            <a:off x="609600" y="2076450"/>
            <a:ext cx="10972800" cy="800100"/>
          </a:xfrm>
          <a:prstGeom prst="roundRect">
            <a:avLst>
              <a:gd name="adj" fmla="val 11905"/>
            </a:avLst>
          </a:prstGeom>
          <a:solidFill>
            <a:srgbClr val="4FE0B0">
              <a:alpha val="10000"/>
            </a:srgbClr>
          </a:solidFill>
          <a:ln w="12700">
            <a:solidFill>
              <a:srgbClr val="4FE0B0"/>
            </a:solidFill>
            <a:prstDash val="solid"/>
          </a:ln>
        </p:spPr>
        <p:txBody>
          <a:bodyPr/>
          <a:p/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819150" y="2286000"/>
            <a:ext cx="2381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E8EEF7"/>
                </a:solidFill>
                <a:latin typeface="Microsoft YaHei"/>
                <a:ea typeface="Microsoft YaHei"/>
              </a:rPr>
              <a:t>触发</a:t>
            </a:r>
            <a:r>
              <a:rPr lang="en-US" sz="1350">
                <a:solidFill>
                  <a:srgbClr val="E8EEF7"/>
                </a:solidFill>
                <a:latin typeface="Microsoft YaHei"/>
                <a:ea typeface="Microsoft YaHei"/>
              </a:rPr>
              <a:t xml:space="preserve"> B</a:t>
            </a:r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819150" y="2514600"/>
            <a:ext cx="2381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FE0B0"/>
                </a:solidFill>
                <a:latin typeface="Consolas"/>
                <a:ea typeface="Consolas"/>
              </a:rPr>
              <a:t xml:space="preserve">00:01 </a:t>
            </a:r>
            <a:r>
              <a:rPr lang="zh-CN" sz="1050">
                <a:solidFill>
                  <a:srgbClr val="4FE0B0"/>
                </a:solidFill>
                <a:latin typeface="Consolas"/>
                <a:ea typeface="Consolas"/>
              </a:rPr>
              <a:t>到点</a:t>
            </a:r>
            <a:r>
              <a:rPr lang="en-US" sz="1050">
                <a:solidFill>
                  <a:srgbClr val="4FE0B0"/>
                </a:solidFill>
                <a:latin typeface="Consolas"/>
                <a:ea typeface="Consolas"/>
              </a:rPr>
              <a:t xml:space="preserve"> · </a:t>
            </a:r>
            <a:r>
              <a:rPr lang="zh-CN" sz="1050">
                <a:solidFill>
                  <a:srgbClr val="4FE0B0"/>
                </a:solidFill>
                <a:latin typeface="Consolas"/>
                <a:ea typeface="Consolas"/>
              </a:rPr>
              <a:t>后发生</a:t>
            </a:r>
            <a:endParaRPr/>
          </a:p>
        </p:txBody>
      </p:sp>
      <p:pic>
        <p:nvPicPr>
          <p:cNvPr id="9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3390900" y="2286000"/>
            <a:ext cx="1143000" cy="381000"/>
          </a:xfrm>
          <a:prstGeom prst="rect">
            <a:avLst/>
          </a:prstGeom>
          <a:ln/>
        </p:spPr>
      </p:pic>
      <p:pic>
        <p:nvPicPr>
          <p:cNvPr id="9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4724400" y="2352675"/>
            <a:ext cx="247650" cy="247650"/>
          </a:xfrm>
          <a:prstGeom prst="rect">
            <a:avLst/>
          </a:prstGeom>
          <a:ln/>
        </p:spPr>
      </p:pic>
      <p:sp>
        <p:nvSpPr>
          <p:cNvPr id="94" name=""/>
          <p:cNvSpPr/>
          <p:nvPr/>
        </p:nvSpPr>
        <p:spPr>
          <a:xfrm rot="0" flipH="0" flipV="0">
            <a:off x="609600" y="4000500"/>
            <a:ext cx="3533775" cy="1905000"/>
          </a:xfrm>
          <a:prstGeom prst="roundRect">
            <a:avLst>
              <a:gd name="adj" fmla="val 6000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800100" y="4191000"/>
            <a:ext cx="31527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4FE0B0"/>
                </a:solidFill>
                <a:latin typeface="Microsoft YaHei"/>
                <a:ea typeface="Microsoft YaHei"/>
              </a:rPr>
              <a:t>时序</a:t>
            </a:r>
            <a:endParaRPr/>
          </a:p>
        </p:txBody>
      </p:sp>
      <p:sp>
        <p:nvSpPr>
          <p:cNvPr id="96" name=""/>
          <p:cNvSpPr/>
          <p:nvPr/>
        </p:nvSpPr>
        <p:spPr>
          <a:xfrm rot="0" flipH="0" flipV="0">
            <a:off x="4333875" y="4000500"/>
            <a:ext cx="3524250" cy="1905000"/>
          </a:xfrm>
          <a:prstGeom prst="roundRect">
            <a:avLst>
              <a:gd name="adj" fmla="val 6000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4524375" y="4191000"/>
            <a:ext cx="3143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4FE0B0"/>
                </a:solidFill>
                <a:latin typeface="Microsoft YaHei"/>
                <a:ea typeface="Microsoft YaHei"/>
              </a:rPr>
              <a:t>数据</a:t>
            </a:r>
            <a:endParaRPr/>
          </a:p>
        </p:txBody>
      </p:sp>
      <p:sp>
        <p:nvSpPr>
          <p:cNvPr id="98" name=""/>
          <p:cNvSpPr/>
          <p:nvPr/>
        </p:nvSpPr>
        <p:spPr>
          <a:xfrm rot="0" flipH="0" flipV="0">
            <a:off x="8048625" y="4000500"/>
            <a:ext cx="3533775" cy="1905000"/>
          </a:xfrm>
          <a:prstGeom prst="roundRect">
            <a:avLst>
              <a:gd name="adj" fmla="val 6000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8239125" y="4191000"/>
            <a:ext cx="31527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4FE0B0"/>
                </a:solidFill>
                <a:latin typeface="Microsoft YaHei"/>
                <a:ea typeface="Microsoft YaHei"/>
              </a:rPr>
              <a:t>智能体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609600" y="781050"/>
            <a:ext cx="55054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75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测试集中在时序与状态——功能演示时看不出来、但真实使用中一定会踩的坑</a:t>
            </a:r>
            <a:endParaRPr/>
          </a:p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11430000" y="809625"/>
            <a:ext cx="152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E8EEF7">
                    <a:alpha val="35000"/>
                  </a:srgbClr>
                </a:solidFill>
                <a:latin typeface="Consolas"/>
                <a:ea typeface="Consolas"/>
              </a:rPr>
              <a:t>13</a:t>
            </a:r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819150" y="1581150"/>
            <a:ext cx="2381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E8EEF7">
                    <a:alpha val="50000"/>
                  </a:srgbClr>
                </a:solidFill>
                <a:latin typeface="Consolas"/>
                <a:ea typeface="Consolas"/>
              </a:rPr>
              <a:t xml:space="preserve">00:00 </a:t>
            </a:r>
            <a:r>
              <a:rPr lang="zh-CN" sz="1050">
                <a:solidFill>
                  <a:srgbClr val="E8EEF7">
                    <a:alpha val="50000"/>
                  </a:srgbClr>
                </a:solidFill>
                <a:latin typeface="Consolas"/>
                <a:ea typeface="Consolas"/>
              </a:rPr>
              <a:t>到点</a:t>
            </a:r>
            <a:r>
              <a:rPr lang="en-US" sz="1050">
                <a:solidFill>
                  <a:srgbClr val="E8EEF7">
                    <a:alpha val="50000"/>
                  </a:srgbClr>
                </a:solidFill>
                <a:latin typeface="Consolas"/>
                <a:ea typeface="Consolas"/>
              </a:rPr>
              <a:t xml:space="preserve"> · </a:t>
            </a:r>
            <a:r>
              <a:rPr lang="zh-CN" sz="1050">
                <a:solidFill>
                  <a:srgbClr val="E8EEF7">
                    <a:alpha val="50000"/>
                  </a:srgbClr>
                </a:solidFill>
                <a:latin typeface="Consolas"/>
                <a:ea typeface="Consolas"/>
              </a:rPr>
              <a:t>先发生</a:t>
            </a:r>
            <a:endParaRPr/>
          </a:p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5086350" y="1447800"/>
            <a:ext cx="21240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延迟到达</a:t>
            </a:r>
            <a:r>
              <a:rPr lang="en-US" sz="1200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不能覆盖后到的触发</a:t>
            </a:r>
            <a:endParaRPr/>
          </a:p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5086350" y="2381250"/>
            <a:ext cx="22764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E8EEF7">
                    <a:alpha val="90000"/>
                  </a:srgbClr>
                </a:solidFill>
                <a:latin typeface="Microsoft YaHei"/>
                <a:ea typeface="Microsoft YaHei"/>
              </a:rPr>
              <a:t>成为当前弹窗</a:t>
            </a:r>
            <a:r>
              <a:rPr lang="en-US" sz="1200">
                <a:solidFill>
                  <a:srgbClr val="E8EEF7">
                    <a:alpha val="90000"/>
                  </a:srgbClr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E8EEF7">
                    <a:alpha val="90000"/>
                  </a:srgbClr>
                </a:solidFill>
                <a:latin typeface="Microsoft YaHei"/>
                <a:ea typeface="Microsoft YaHei"/>
              </a:rPr>
              <a:t>旧状态被正确丢弃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609600" y="3009900"/>
            <a:ext cx="109728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25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这类竞态在手动测试里极难复现，只能靠针对性的单元测试守住。同批测试还覆盖：按</a:t>
            </a:r>
            <a:r>
              <a:rPr lang="en-US" sz="1125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 xml:space="preserve"> Escape </a:t>
            </a:r>
            <a:r>
              <a:rPr lang="zh-CN" sz="1125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关闭不会重复隐藏前端状态、关机失败时弹窗保留并提供重试。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800100" y="4514850"/>
            <a:ext cx="31527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延迟旧触发不覆盖新触发；弹窗状态机幂等；暂停与恢复不丢轮次。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4524375" y="4514850"/>
            <a:ext cx="31432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原子写入中途失败不损坏原文件；导入文件校验；旧版本配置先备份再重建。</a:t>
            </a:r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8239125" y="4514850"/>
            <a:ext cx="31527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中文时间与周几解析；系统操作识别；云端结果校验；</a:t>
            </a:r>
            <a:r>
              <a:rPr lang="en-US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 xml:space="preserve">JSON </a:t>
            </a:r>
            <a:r>
              <a:rPr lang="zh-CN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提取容错。</a:t>
            </a:r>
            <a:endParaRPr/>
          </a:p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609600" y="6115050"/>
            <a:ext cx="1190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11172825" y="6115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E8EEF7">
                    <a:alpha val="42000"/>
                  </a:srgbClr>
                </a:solidFill>
                <a:latin typeface="Consolas"/>
                <a:ea typeface="Consolas"/>
              </a:rPr>
              <a:t>13 / 18</a:t>
            </a:r>
            <a:endParaRPr/>
          </a:p>
        </p:txBody>
      </p:sp>
    </p:spTree>
  </p:cSld>
</p:sld>
</file>

<file path=ppt/slides/slide14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111" name="" descr="&lt;Slide style={{ width: 1280, height: 720, background: '#0B1220', padding: '20px 64px' }}&gt;&#10;    &lt;Box style={{ height: 100, flexDirection: 'row', alignItems: 'flex-end', justifyContent: 'space-between', paddingBottom: 18 }}&gt;&#10;        &lt;Box style={{ flexDirection: 'column', gap: 6 }}&gt;&#10;            &lt;Text style={{ fontSize: 36, fontWeight: 'bold', color: '#E8EEF7' }}&gt;数据不出本机&lt;/Text&gt;&#10;            &lt;Text style={{ fontSize: 16, color: '#E8EEF7', opacity: 0.55, letterSpacing: 1 }}&gt;隐私不是功能开关，而是默认状态&lt;/Text&gt;&#10;        &lt;/Box&gt;&#10;        &lt;Text style={{ fontSize: 14, fontFamily: 'Consolas', color: '#E8EEF7', opacity: 0.35 }}&gt;14&lt;/Text&gt;&#10;    &lt;/Box&gt;&#10;    &lt;Box style={{ height: 500, flexDirection: 'row', gap: 32 }}&gt;&#10;        &lt;Box style={{ width: 372, flexDirection: 'column', justifyContent: 'space-between', padding: 24, background: 'rgba(79,224,176,0.08)', border: '1px solid rgba(79,224,176,0.35)', borderRadius: 14 }}&gt;&#10;            &lt;Box style={{ flexDirection: 'column', gap: 22 }}&gt;&#10;                &lt;Text style={{ fontSize: 34, fontWeight: 'bold', color: '#E8EEF7', lineHeight: 1.3 }}&gt;三个零&lt;/Text&gt;&#10;                &lt;Box style={{ flexDirection: 'column', gap: 16 }}&gt;&#10;                    &lt;Box style={{ flexDirection: 'row', gap: 12, alignItems: 'center' }}&gt;&#10;                        &lt;Text style={{ fontSize: 26, fontWeight: 'bold', fontFamily: 'Consolas', color: '#4FE0B0' }}&gt;零&lt;/Text&gt;&#10;                        &lt;Text style={{ fontSize: 19, color: '#E8EEF7' }}&gt;账号 · 无需注册登录&lt;/Text&gt;&#10;                    &lt;/Box&gt;&#10;                    &lt;Box style={{ flexDirection: 'row', gap: 12, alignItems: 'center' }}&gt;&#10;                        &lt;Text style={{ fontSize: 26, fontWeight: 'bold', fontFamily: 'Consolas', color: '#4FE0B0' }}&gt;零&lt;/Text&gt;&#10;                        &lt;Text style={{ fontSize: 19, color: '#E8EEF7' }}&gt;遥测 · 无埋点无广告&lt;/Text&gt;&#10;                    &lt;/Box&gt;&#10;                    &lt;Box style={{ flexDirection: 'row', gap: 12, alignItems: 'center' }}&gt;&#10;                        &lt;Text style={{ fontSize: 26, fontWeight: 'bold', fontFamily: 'Consolas', color: '#4FE0B0' }}&gt;零&lt;/Text&gt;&#10;                        &lt;Text style={{ fontSize: 19, color: '#E8EEF7' }}&gt;联网 · 默认完全离线&lt;/Text&gt;&#10;                    &lt;/Box&gt;&#10;                &lt;/Box&gt;&#10;            &lt;/Box&gt;&#10;            &lt;Text style={{ fontSize: 15, color: '#E8EEF7', opacity: 0.6, lineHeight: 1.6 }}&gt;提醒数据、弹窗底图、智能体配置全部保存在本机应用配置目录。&lt;/Text&gt;&#10;        &lt;/Box&gt;&#10;        &lt;Box style={{ flex: 1, flexDirection: 'column', gap: 18 }}&gt;&#10;            &lt;Box style={{ height: 268, justifyContent: 'center', alignItems: 'center', background: 'rgba(232,238,247,0.03)', border: '1px solid rgba(232,238,247,0.10)', borderRadius: 12 }}&gt;&#10;                &lt;svg width={700} height={230} viewBox='0 0 700 230'&gt;&#10;                    &lt;rect x='20' y='60' width='180' height='110' rx='10' fill='rgba(232,238,247,0.05)' stroke='rgba(232,238,247,0.18)' /&gt;&#10;                    &lt;rect x='250' y='60' width='180' height='110' rx='10' fill='rgba(232,238,247,0.05)' stroke='rgba(232,238,247,0.18)' /&gt;&#10;                    &lt;rect x='480' y='60' width='200' height='110' rx='10' fill='rgba(79,224,176,0.12)' stroke='#4FE0B0' /&gt;&#10;                    &lt;path d='M200 115 L242 115' fill='none' stroke='#4FE0B0' strokeWidth='2' opacity='0.8' /&gt;&#10;                    &lt;path d='M236 109 L246 115 L236 121 Z' fill='#4FE0B0' /&gt;&#10;                    &lt;path d='M430 115 L472 115' fill='none' stroke='#4FE0B0' strokeWidth='2' opacity='0.8' /&gt;&#10;                    &lt;path d='M466 109 L476 115 L466 121 Z' fill='#4FE0B0' /&gt;&#10;                    &lt;circle cx='110' cy='92' r='14' fill='none' stroke='#4FE0B0' strokeWidth='1.5' opacity='0.75' /&gt;&#10;                    &lt;path d='M102 92 L108 99 L119 86' fill='none' stroke='#4FE0B0' strokeWidth='2' opacity='0.75' /&gt;&#10;                    &lt;circle cx='340' cy='92' r='14' fill='none' stroke='#4FE0B0' strokeWidth='1.5' opacity='0.75' /&gt;&#10;                    &lt;rect x='331' y='86' width='18' height='13' rx='3' fill='none' stroke='#4FE0B0' strokeWidth='1.5' opacity='0.75' /&gt;&#10;                    &lt;path d='M336 86 L336 82 A4 4 0 0 1 344 82 L344 86' fill='none' stroke='#4FE0B0' strokeWidth='1.5' opacity='0.75' /&gt;&#10;                    &lt;rect x='498' y='86' width='60' height='12' rx='6' fill='#4FE0B0' opacity='0.9' /&gt;&#10;                    &lt;rect x='498' y='108' width='110' height='10' rx='5' fill='rgba(11,18,32,0.35)' /&gt;&#10;                    &lt;rect x='498' y='126' width='88' height='10' rx='5' fill='rgba(11,18,32,0.25)' /&gt;&#10;                    &lt;rect x='40' y='140' width='140' height='10' rx='5' fill='rgba(232,238,247,0.22)' /&gt;&#10;                    &lt;rect x='270' y='140' width='140' height='10' rx='5' fill='rgba(232,238,247,0.22)' /&gt;&#10;                    &lt;path d='M350 60 L350 20 L560 20' fill='none' stroke='#E8EEF7' strokeWidth='2' strokeDasharray='6 6' opacity='0.35' /&gt;&#10;                    &lt;path d='M554 14 L564 20 L554 26 Z' fill='#E8EEF7' opacity='0.35' /&gt;&#10;                    &lt;circle cx='620' cy='20' r='12' fill='none' stroke='#E8EEF7' strokeWidth='1.5' opacity='0.4' /&gt;&#10;                    &lt;path d='M615 15 L625 25 M625 15 L615 25' fill='none' stroke='#E8EEF7' strokeWidth='2' opacity='0.45' /&gt;&#10;                &lt;/svg&gt;&#10;                &lt;Box style={{ flexDirection: 'row', gap: 30, marginTop: 8 }}&gt;&#10;                    &lt;Text style={{ fontSize: 14, color: '#E8EEF7', opacity: 0.6 }}&gt;用户输入的那一句话&lt;/Text&gt;&#10;                    &lt;Text style={{ fontSize: 14, color: '#E8EEF7', opacity: 0.6 }}&gt;本机数据文件&lt;/Text&gt;&#10;                    &lt;Text style={{ fontSize: 14, color: '#4FE0B0' }}&gt;留在本机（终点）&lt;/Text&gt;&#10;                &lt;/Box&gt;&#10;            &lt;/Box&gt;&#10;            &lt;Box style={{ padding: '16px 20px', background: 'rgba(79,224,176,0.10)', borderRadius: 10 }}&gt;&#10;                &lt;Text style={{ fontSize: 16, color: '#E8EEF7', opacity: 0.9, lineHeight: 1.6 }}&gt;云端通道是&lt;span style={{ color: '#4FE0B0' }}&gt;可选&lt;/span&gt;的：开启后也只发送用户输入的那一句话，不发送锚点列表、设置或设备信息；密钥仅存本机，导出备份也不会带出。&lt;/Text&gt;&#10;            &lt;/Box&gt;&#10;        &lt;/Box&gt;&#10;    &lt;/Box&gt;&#10;    &lt;Box style={{ height: 60, flexDirection: 'row', alignItems: 'center', justifyContent: 'space-between' }}&gt;&#10;        &lt;Text style={{ fontSize: 14, color: '#E8EEF7', opacity: 0.42 }}&gt;知歇 ZhiXie · V1.0.0&lt;/Text&gt;&#10;        &lt;Text style={{ fontSize: 14, fontFamily: 'Consolas', color: '#E8EEF7', opacity: 0.42 }}&gt;14 / 18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609600" y="304800"/>
            <a:ext cx="242887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E8EEF7"/>
                </a:solidFill>
                <a:latin typeface="Microsoft YaHei"/>
                <a:ea typeface="Microsoft YaHei"/>
              </a:rPr>
              <a:t>数据不出本机</a:t>
            </a:r>
            <a:endParaRPr/>
          </a:p>
        </p:txBody>
      </p:sp>
      <p:sp>
        <p:nvSpPr>
          <p:cNvPr id="114" name=""/>
          <p:cNvSpPr/>
          <p:nvPr/>
        </p:nvSpPr>
        <p:spPr>
          <a:xfrm rot="0" flipH="0" flipV="0">
            <a:off x="609600" y="1143000"/>
            <a:ext cx="3543300" cy="4762500"/>
          </a:xfrm>
          <a:prstGeom prst="roundRect">
            <a:avLst>
              <a:gd name="adj" fmla="val 3763"/>
            </a:avLst>
          </a:prstGeom>
          <a:solidFill>
            <a:srgbClr val="4FE0B0">
              <a:alpha val="8000"/>
            </a:srgbClr>
          </a:solidFill>
          <a:ln w="12700">
            <a:solidFill>
              <a:srgbClr val="4FE0B0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838200" y="1371600"/>
            <a:ext cx="30861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550" b="1">
                <a:solidFill>
                  <a:srgbClr val="E8EEF7"/>
                </a:solidFill>
                <a:latin typeface="Microsoft YaHei"/>
                <a:ea typeface="Microsoft YaHei"/>
              </a:rPr>
              <a:t>三个零</a:t>
            </a:r>
            <a:endParaRPr/>
          </a:p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838200" y="2095500"/>
            <a:ext cx="2476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4FE0B0"/>
                </a:solidFill>
                <a:latin typeface="Consolas"/>
                <a:ea typeface="Consolas"/>
              </a:rPr>
              <a:t>零</a:t>
            </a:r>
            <a:endParaRPr/>
          </a:p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1200150" y="2143125"/>
            <a:ext cx="16097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E8EEF7"/>
                </a:solidFill>
                <a:latin typeface="Microsoft YaHei"/>
                <a:ea typeface="Microsoft YaHei"/>
              </a:rPr>
              <a:t>账号</a:t>
            </a:r>
            <a:r>
              <a:rPr lang="en-US" sz="1425">
                <a:solidFill>
                  <a:srgbClr val="E8EEF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425">
                <a:solidFill>
                  <a:srgbClr val="E8EEF7"/>
                </a:solidFill>
                <a:latin typeface="Microsoft YaHei"/>
                <a:ea typeface="Microsoft YaHei"/>
              </a:rPr>
              <a:t>无需注册登录</a:t>
            </a:r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838200" y="2552700"/>
            <a:ext cx="2476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4FE0B0"/>
                </a:solidFill>
                <a:latin typeface="Consolas"/>
                <a:ea typeface="Consolas"/>
              </a:rPr>
              <a:t>零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1200150" y="2600325"/>
            <a:ext cx="16097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E8EEF7"/>
                </a:solidFill>
                <a:latin typeface="Microsoft YaHei"/>
                <a:ea typeface="Microsoft YaHei"/>
              </a:rPr>
              <a:t>遥测</a:t>
            </a:r>
            <a:r>
              <a:rPr lang="en-US" sz="1425">
                <a:solidFill>
                  <a:srgbClr val="E8EEF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425">
                <a:solidFill>
                  <a:srgbClr val="E8EEF7"/>
                </a:solidFill>
                <a:latin typeface="Microsoft YaHei"/>
                <a:ea typeface="Microsoft YaHei"/>
              </a:rPr>
              <a:t>无埋点无广告</a:t>
            </a:r>
            <a:endParaRPr/>
          </a:p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838200" y="3009900"/>
            <a:ext cx="2476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4FE0B0"/>
                </a:solidFill>
                <a:latin typeface="Consolas"/>
                <a:ea typeface="Consolas"/>
              </a:rPr>
              <a:t>零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1200150" y="3057525"/>
            <a:ext cx="16097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E8EEF7"/>
                </a:solidFill>
                <a:latin typeface="Microsoft YaHei"/>
                <a:ea typeface="Microsoft YaHei"/>
              </a:rPr>
              <a:t>联网</a:t>
            </a:r>
            <a:r>
              <a:rPr lang="en-US" sz="1425">
                <a:solidFill>
                  <a:srgbClr val="E8EEF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425">
                <a:solidFill>
                  <a:srgbClr val="E8EEF7"/>
                </a:solidFill>
                <a:latin typeface="Microsoft YaHei"/>
                <a:ea typeface="Microsoft YaHei"/>
              </a:rPr>
              <a:t>默认完全离线</a:t>
            </a:r>
            <a:endParaRPr/>
          </a:p>
        </p:txBody>
      </p:sp>
      <p:sp>
        <p:nvSpPr>
          <p:cNvPr id="122" name=""/>
          <p:cNvSpPr/>
          <p:nvPr/>
        </p:nvSpPr>
        <p:spPr>
          <a:xfrm rot="0" flipH="0" flipV="0">
            <a:off x="4457700" y="1143000"/>
            <a:ext cx="7124700" cy="2552700"/>
          </a:xfrm>
          <a:prstGeom prst="roundRect">
            <a:avLst>
              <a:gd name="adj" fmla="val 4478"/>
            </a:avLst>
          </a:prstGeom>
          <a:solidFill>
            <a:srgbClr val="E8EEF7">
              <a:alpha val="3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2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686300" y="1209675"/>
            <a:ext cx="6667500" cy="2190750"/>
          </a:xfrm>
          <a:prstGeom prst="rect">
            <a:avLst/>
          </a:prstGeom>
          <a:ln/>
        </p:spPr>
      </p:pic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8772525" y="3476625"/>
            <a:ext cx="1066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FE0B0"/>
                </a:solidFill>
                <a:latin typeface="Microsoft YaHei"/>
                <a:ea typeface="Microsoft YaHei"/>
              </a:rPr>
              <a:t>留在本机（终点）</a:t>
            </a:r>
            <a:endParaRPr/>
          </a:p>
        </p:txBody>
      </p:sp>
      <p:sp>
        <p:nvSpPr>
          <p:cNvPr id="125" name=""/>
          <p:cNvSpPr/>
          <p:nvPr/>
        </p:nvSpPr>
        <p:spPr>
          <a:xfrm rot="0" flipH="0" flipV="0">
            <a:off x="4457700" y="3867150"/>
            <a:ext cx="7124700" cy="895350"/>
          </a:xfrm>
          <a:prstGeom prst="roundRect">
            <a:avLst>
              <a:gd name="adj" fmla="val 10638"/>
            </a:avLst>
          </a:prstGeom>
          <a:solidFill>
            <a:srgbClr val="4FE0B0">
              <a:alpha val="10000"/>
            </a:srgbClr>
          </a:solidFill>
          <a:ln/>
        </p:spPr>
        <p:txBody>
          <a:bodyPr/>
          <a:p/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609600" y="781050"/>
            <a:ext cx="24288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75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隐私不是功能开关，而是默认状态</a:t>
            </a:r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11430000" y="809625"/>
            <a:ext cx="152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E8EEF7">
                    <a:alpha val="35000"/>
                  </a:srgbClr>
                </a:solidFill>
                <a:latin typeface="Consolas"/>
                <a:ea typeface="Consolas"/>
              </a:rPr>
              <a:t>14</a:t>
            </a:r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838200" y="5124450"/>
            <a:ext cx="30861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提醒数据、弹窗底图、智能体配置全部保存在本机应用配置目录。</a:t>
            </a:r>
            <a:endParaRPr/>
          </a:p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6200775" y="3476625"/>
            <a:ext cx="1200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用户输入的那一句话</a:t>
            </a:r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7686675" y="3476625"/>
            <a:ext cx="800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本机数据文件</a:t>
            </a:r>
            <a:endParaRPr/>
          </a:p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4648200" y="4019550"/>
            <a:ext cx="67437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>
                <a:solidFill>
                  <a:srgbClr val="E8EEF7">
                    <a:alpha val="90000"/>
                  </a:srgbClr>
                </a:solidFill>
                <a:latin typeface="Microsoft YaHei"/>
                <a:ea typeface="Microsoft YaHei"/>
              </a:rPr>
              <a:t>云端通道是</a:t>
            </a:r>
            <a:r>
              <a:rPr lang="zh-CN" sz="1200">
                <a:solidFill>
                  <a:srgbClr val="4FE0B0">
                    <a:alpha val="90000"/>
                  </a:srgbClr>
                </a:solidFill>
                <a:latin typeface="Microsoft YaHei"/>
                <a:ea typeface="Microsoft YaHei"/>
              </a:rPr>
              <a:t>可选</a:t>
            </a:r>
            <a:r>
              <a:rPr lang="zh-CN" sz="1200">
                <a:solidFill>
                  <a:srgbClr val="E8EEF7">
                    <a:alpha val="90000"/>
                  </a:srgbClr>
                </a:solidFill>
                <a:latin typeface="Microsoft YaHei"/>
                <a:ea typeface="Microsoft YaHei"/>
              </a:rPr>
              <a:t>的：开启后也只发送用户输入的那一句话，不发送锚点列表、设置或设备信息；密钥仅存本机，导出备份也不会带出。</a:t>
            </a:r>
            <a:endParaRPr/>
          </a:p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609600" y="6115050"/>
            <a:ext cx="1190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11172825" y="6115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E8EEF7">
                    <a:alpha val="42000"/>
                  </a:srgbClr>
                </a:solidFill>
                <a:latin typeface="Consolas"/>
                <a:ea typeface="Consolas"/>
              </a:rPr>
              <a:t>14 / 18</a:t>
            </a:r>
            <a:endParaRPr/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>
  <p:cSld>
    <p:spTree>
      <p:nvGrpSpPr>
        <p:cNvPr id="134" name="" descr="&lt;Slide style={{ width: 1280, height: 720, background: '#0B1220', padding: '20px 64px' }}&gt;&#10;    &lt;Box style={{ height: 100, flexDirection: 'row', alignItems: 'flex-end', justifyContent: 'space-between', paddingBottom: 18 }}&gt;&#10;        &lt;Box style={{ flexDirection: 'column', gap: 6 }}&gt;&#10;            &lt;Text style={{ fontSize: 36, fontWeight: 'bold', color: '#E8EEF7' }}&gt;谁在什么时候用&lt;/Text&gt;&#10;            &lt;Text style={{ fontSize: 16, color: '#E8EEF7', opacity: 0.55, letterSpacing: 1 }}&gt;四类场景，一个主要人群&lt;/Text&gt;&#10;        &lt;/Box&gt;&#10;        &lt;Text style={{ fontSize: 14, fontFamily: 'Consolas', color: '#E8EEF7', opacity: 0.35 }}&gt;15&lt;/Text&gt;&#10;    &lt;/Box&gt;&#10;    &lt;Box style={{ height: 500, flexDirection: 'row', gap: 32 }}&gt;&#10;        &lt;Box style={{ width: 700, flexDirection: 'column', gap: 12 }}&gt;&#10;            &lt;Box style={{ height: 114, flexDirection: 'column', gap: 8, padding: '16px 20px', background: 'rgba(79,224,176,0.12)', border: '1px solid #4FE0B0', borderRadius: 12 }}&gt;&#10;                &lt;Box style={{ flexDirection: 'row', alignItems: 'center', justifyContent: 'space-between' }}&gt;&#10;                    &lt;Text style={{ fontSize: 20, fontWeight: 'bold', color: '#E8EEF7' }}&gt;高校机房与实训室&lt;/Text&gt;&#10;                    &lt;Text style={{ fontSize: 13, fontFamily: 'Consolas', color: '#4FE0B0' }}&gt;主场景&lt;/Text&gt;&#10;                &lt;/Box&gt;&#10;                &lt;Text style={{ fontSize: 15, color: '#E8EEF7', opacity: 0.82, lineHeight: 1.55 }}&gt;学生长时间上机实训，教师希望统一引入休息节律；弹窗文案可换成校风文案，零账号、零联网，适合机房批量部署。&lt;/Text&gt;&#10;            &lt;/Box&gt;&#10;            &lt;Box style={{ height: 114, flexDirection: 'column', gap: 8, padding: '16px 20px', background: 'rgba(232,238,247,0.04)', border: '1px solid rgba(232,238,247,0.10)', borderRadius: 12 }}&gt;&#10;                &lt;Text style={{ fontSize: 20, fontWeight: 'bold', color: '#E8EEF7' }}&gt;备考与自学&lt;/Text&gt;&#10;                &lt;Text style={{ fontSize: 15, color: '#E8EEF7', opacity: 0.7, lineHeight: 1.55 }}&gt;番茄式节奏但不拘泥于固定 25 分钟：休息间隔与提示语随时可调，语言表达自由，无需迁就关键词模板。&lt;/Text&gt;&#10;            &lt;/Box&gt;&#10;            &lt;Box style={{ height: 114, flexDirection: 'column', gap: 8, padding: '16px 20px', background: 'rgba(232,238,247,0.04)', border: '1px solid rgba(232,238,247,0.10)', borderRadius: 12 }}&gt;&#10;                &lt;Text style={{ fontSize: 20, fontWeight: 'bold', color: '#E8EEF7' }}&gt;远程办公与自由职业&lt;/Text&gt;&#10;                &lt;Text style={{ fontSize: 15, color: '#E8EEF7', opacity: 0.7, lineHeight: 1.55 }}&gt;久坐人群需要&quot;到点真正离开屏幕&quot;的约束力：可附加锁屏 / 关机 / 重启，触发前有 60 秒可撤销倒计时。&lt;/Text&gt;&#10;            &lt;/Box&gt;&#10;            &lt;Box style={{ height: 114, flexDirection: 'column', gap: 8, padding: '16px 20px', background: 'rgba(232,238,247,0.04)', border: '1px solid rgba(232,238,247,0.10)', borderRadius: 12 }}&gt;&#10;                &lt;Text style={{ fontSize: 20, fontWeight: 'bold', color: '#E8EEF7' }}&gt;家庭电脑&lt;/Text&gt;&#10;                &lt;Text style={{ fontSize: 15, color: '#E8EEF7', opacity: 0.7, lineHeight: 1.55 }}&gt;家长为孩子管理电脑使用时段：每天 / 每周 / 每月重复锚点，到点弹窗并可锁屏，无需为孩子注册任何账号。&lt;/Text&gt;&#10;            &lt;/Box&gt;&#10;        &lt;/Box&gt;&#10;        &lt;Box style={{ flex: 1, flexDirection: 'column', gap: 16 }}&gt;&#10;            &lt;Box style={{ height: 262, flexDirection: 'column', gap: 14, padding: 22, background: 'rgba(232,238,247,0.05)', borderRadius: 12 }}&gt;&#10;                &lt;Text style={{ fontSize: 14, fontFamily: 'Consolas', color: '#4FE0B0', letterSpacing: 2 }}&gt;主要用户&lt;/Text&gt;&#10;                &lt;Text style={{ fontSize: 21, fontWeight: 'bold', color: '#E8EEF7', lineHeight: 1.45 }}&gt;日均在电脑前 4 小时以上的&lt;br /&gt;学生与年轻职场人&lt;/Text&gt;&#10;                &lt;Text style={{ fontSize: 15, color: '#E8EEF7', opacity: 0.7, lineHeight: 1.6 }}&gt;典型画像：知道自己&quot;该休息&quot;，但一进入专注状态就忘记时间；嫌传统提醒工具配置繁琐，更愿意&quot;说一句话&quot;。&lt;/Text&gt;&#10;                &lt;Box style={{ marginTop: 'auto', paddingTop: 12, borderTop: '1px solid rgba(232,238,247,0.14)' }}&gt;&#10;                    &lt;Text style={{ fontSize: 14, color: '#E8EEF7', opacity: 0.55, lineHeight: 1.5 }}&gt;年龄区间约 18—30 岁。&lt;/Text&gt;&#10;                &lt;/Box&gt;&#10;            &lt;/Box&gt;&#10;            &lt;Box style={{ flex: 1, flexDirection: 'column', gap: 10, padding: 22, background: 'rgba(232,238,247,0.04)', border: '1px solid rgba(232,238,247,0.10)', borderRadius: 12 }}&gt;&#10;                &lt;Text style={{ fontSize: 14, fontFamily: 'Consolas', color: '#4FE0B0', letterSpacing: 2 }}&gt;次要用户&lt;/Text&gt;&#10;                &lt;Text style={{ fontSize: 17, color: '#E8EEF7', opacity: 0.85, lineHeight: 1.55 }}&gt;家长（孩子用电脑时段管理）&lt;br /&gt;教师 / 机房管理员（统一休息节律）&lt;/Text&gt;&#10;            &lt;/Box&gt;&#10;        &lt;/Box&gt;&#10;    &lt;/Box&gt;&#10;    &lt;Box style={{ height: 60, flexDirection: 'row', alignItems: 'center', justifyContent: 'space-between' }}&gt;&#10;        &lt;Text style={{ fontSize: 14, color: '#E8EEF7', opacity: 0.42 }}&gt;知歇 ZhiXie · V1.0.0&lt;/Text&gt;&#10;        &lt;Text style={{ fontSize: 14, fontFamily: 'Consolas', color: '#E8EEF7', opacity: 0.42 }}&gt;15 / 18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609600" y="304800"/>
            <a:ext cx="24003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E8EEF7"/>
                </a:solidFill>
                <a:latin typeface="Microsoft YaHei"/>
                <a:ea typeface="Microsoft YaHei"/>
              </a:rPr>
              <a:t>谁在什么时候用</a:t>
            </a:r>
            <a:endParaRPr/>
          </a:p>
        </p:txBody>
      </p:sp>
      <p:sp>
        <p:nvSpPr>
          <p:cNvPr id="137" name=""/>
          <p:cNvSpPr/>
          <p:nvPr/>
        </p:nvSpPr>
        <p:spPr>
          <a:xfrm rot="0" flipH="0" flipV="0">
            <a:off x="609600" y="1143000"/>
            <a:ext cx="6667500" cy="1085850"/>
          </a:xfrm>
          <a:prstGeom prst="roundRect">
            <a:avLst>
              <a:gd name="adj" fmla="val 10526"/>
            </a:avLst>
          </a:prstGeom>
          <a:solidFill>
            <a:srgbClr val="4FE0B0">
              <a:alpha val="12000"/>
            </a:srgbClr>
          </a:solidFill>
          <a:ln w="12700">
            <a:solidFill>
              <a:srgbClr val="4FE0B0"/>
            </a:solidFill>
            <a:prstDash val="solid"/>
          </a:ln>
        </p:spPr>
        <p:txBody>
          <a:bodyPr/>
          <a:p/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800100" y="1295400"/>
            <a:ext cx="1524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8EEF7"/>
                </a:solidFill>
                <a:latin typeface="Microsoft YaHei"/>
                <a:ea typeface="Microsoft YaHei"/>
              </a:rPr>
              <a:t>高校机房与实训室</a:t>
            </a:r>
            <a:endParaRPr/>
          </a:p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6715125" y="1333500"/>
            <a:ext cx="371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FE0B0"/>
                </a:solidFill>
                <a:latin typeface="Consolas"/>
                <a:ea typeface="Consolas"/>
              </a:rPr>
              <a:t>主场景</a:t>
            </a:r>
            <a:endParaRPr/>
          </a:p>
        </p:txBody>
      </p:sp>
      <p:sp>
        <p:nvSpPr>
          <p:cNvPr id="140" name=""/>
          <p:cNvSpPr/>
          <p:nvPr/>
        </p:nvSpPr>
        <p:spPr>
          <a:xfrm rot="0" flipH="0" flipV="0">
            <a:off x="609600" y="2343150"/>
            <a:ext cx="6667500" cy="1085850"/>
          </a:xfrm>
          <a:prstGeom prst="roundRect">
            <a:avLst>
              <a:gd name="adj" fmla="val 10526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800100" y="2495550"/>
            <a:ext cx="6286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8EEF7"/>
                </a:solidFill>
                <a:latin typeface="Microsoft YaHei"/>
                <a:ea typeface="Microsoft YaHei"/>
              </a:rPr>
              <a:t>备考与自学</a:t>
            </a:r>
            <a:endParaRPr/>
          </a:p>
        </p:txBody>
      </p:sp>
      <p:sp>
        <p:nvSpPr>
          <p:cNvPr id="142" name=""/>
          <p:cNvSpPr/>
          <p:nvPr/>
        </p:nvSpPr>
        <p:spPr>
          <a:xfrm rot="0" flipH="0" flipV="0">
            <a:off x="609600" y="3543300"/>
            <a:ext cx="6667500" cy="1085850"/>
          </a:xfrm>
          <a:prstGeom prst="roundRect">
            <a:avLst>
              <a:gd name="adj" fmla="val 10526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800100" y="3695700"/>
            <a:ext cx="6286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8EEF7"/>
                </a:solidFill>
                <a:latin typeface="Microsoft YaHei"/>
                <a:ea typeface="Microsoft YaHei"/>
              </a:rPr>
              <a:t>远程办公与自由职业</a:t>
            </a:r>
            <a:endParaRPr/>
          </a:p>
        </p:txBody>
      </p:sp>
      <p:sp>
        <p:nvSpPr>
          <p:cNvPr id="144" name=""/>
          <p:cNvSpPr/>
          <p:nvPr/>
        </p:nvSpPr>
        <p:spPr>
          <a:xfrm rot="0" flipH="0" flipV="0">
            <a:off x="609600" y="4743450"/>
            <a:ext cx="6667500" cy="1085850"/>
          </a:xfrm>
          <a:prstGeom prst="roundRect">
            <a:avLst>
              <a:gd name="adj" fmla="val 10526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800100" y="4895850"/>
            <a:ext cx="6286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8EEF7"/>
                </a:solidFill>
                <a:latin typeface="Microsoft YaHei"/>
                <a:ea typeface="Microsoft YaHei"/>
              </a:rPr>
              <a:t>家庭电脑</a:t>
            </a:r>
            <a:endParaRPr/>
          </a:p>
        </p:txBody>
      </p:sp>
      <p:sp>
        <p:nvSpPr>
          <p:cNvPr id="146" name=""/>
          <p:cNvSpPr/>
          <p:nvPr/>
        </p:nvSpPr>
        <p:spPr>
          <a:xfrm rot="0" flipH="0" flipV="0">
            <a:off x="7581900" y="1143000"/>
            <a:ext cx="4000500" cy="2495550"/>
          </a:xfrm>
          <a:prstGeom prst="roundRect">
            <a:avLst>
              <a:gd name="adj" fmla="val 4580"/>
            </a:avLst>
          </a:prstGeom>
          <a:solidFill>
            <a:srgbClr val="E8EEF7">
              <a:alpha val="5000"/>
            </a:srgbClr>
          </a:solidFill>
          <a:ln/>
        </p:spPr>
        <p:txBody>
          <a:bodyPr/>
          <a:p/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7791450" y="1352550"/>
            <a:ext cx="3581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150">
                <a:solidFill>
                  <a:srgbClr val="4FE0B0"/>
                </a:solidFill>
                <a:latin typeface="Consolas"/>
                <a:ea typeface="Consolas"/>
              </a:rPr>
              <a:t>主要用户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7791450" y="1647825"/>
            <a:ext cx="3581400" cy="7048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575" b="1">
                <a:solidFill>
                  <a:srgbClr val="E8EEF7"/>
                </a:solidFill>
                <a:latin typeface="Microsoft YaHei"/>
                <a:ea typeface="Microsoft YaHei"/>
              </a:rPr>
              <a:t>日均在电脑前</a:t>
            </a:r>
            <a:r>
              <a:rPr lang="en-US" sz="1575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4 </a:t>
            </a:r>
            <a:r>
              <a:rPr lang="zh-CN" sz="1575" b="1">
                <a:solidFill>
                  <a:srgbClr val="E8EEF7"/>
                </a:solidFill>
                <a:latin typeface="Microsoft YaHei"/>
                <a:ea typeface="Microsoft YaHei"/>
              </a:rPr>
              <a:t>小时以上的</a:t>
            </a:r>
            <a:endParaRPr/>
          </a:p>
          <a:p>
            <a:pPr>
              <a:lnSpc>
                <a:spcPct val="145000"/>
              </a:lnSpc>
            </a:pPr>
            <a:r>
              <a:rPr lang="zh-CN" sz="1575" b="1">
                <a:solidFill>
                  <a:srgbClr val="E8EEF7"/>
                </a:solidFill>
                <a:latin typeface="Microsoft YaHei"/>
                <a:ea typeface="Microsoft YaHei"/>
              </a:rPr>
              <a:t>学生与年轻职场人</a:t>
            </a:r>
            <a:endParaRPr/>
          </a:p>
        </p:txBody>
      </p:sp>
      <p:sp>
        <p:nvSpPr>
          <p:cNvPr id="149" name=""/>
          <p:cNvSpPr/>
          <p:nvPr/>
        </p:nvSpPr>
        <p:spPr>
          <a:xfrm rot="0" flipH="0" flipV="0">
            <a:off x="7791450" y="3057525"/>
            <a:ext cx="3581400" cy="381000"/>
          </a:xfrm>
          <a:custGeom>
            <a:pathLst>
              <a:path w="376" h="40">
                <a:moveTo>
                  <a:pt x="0" y="0"/>
                </a:moveTo>
                <a:lnTo>
                  <a:pt x="376" y="0"/>
                </a:lnTo>
                <a:lnTo>
                  <a:pt x="376" y="1"/>
                </a:lnTo>
                <a:lnTo>
                  <a:pt x="0" y="1"/>
                </a:lnTo>
                <a:close/>
              </a:path>
            </a:pathLst>
          </a:custGeom>
          <a:solidFill>
            <a:srgbClr val="E8EEF7">
              <a:alpha val="14000"/>
            </a:srgbClr>
          </a:solidFill>
          <a:ln/>
        </p:spPr>
        <p:txBody>
          <a:bodyPr/>
          <a:p/>
        </p:txBody>
      </p:sp>
      <p:sp>
        <p:nvSpPr>
          <p:cNvPr id="150" name=""/>
          <p:cNvSpPr/>
          <p:nvPr/>
        </p:nvSpPr>
        <p:spPr>
          <a:xfrm rot="0" flipH="0" flipV="0">
            <a:off x="7581900" y="3790950"/>
            <a:ext cx="4000500" cy="2114550"/>
          </a:xfrm>
          <a:prstGeom prst="roundRect">
            <a:avLst>
              <a:gd name="adj" fmla="val 5405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7791450" y="4000500"/>
            <a:ext cx="3581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150">
                <a:solidFill>
                  <a:srgbClr val="4FE0B0"/>
                </a:solidFill>
                <a:latin typeface="Consolas"/>
                <a:ea typeface="Consolas"/>
              </a:rPr>
              <a:t>次要用户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609600" y="781050"/>
            <a:ext cx="2400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75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四类场景，一个主要人群</a:t>
            </a:r>
            <a:endParaRPr/>
          </a:p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11430000" y="809625"/>
            <a:ext cx="152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E8EEF7">
                    <a:alpha val="35000"/>
                  </a:srgbClr>
                </a:solidFill>
                <a:latin typeface="Consolas"/>
                <a:ea typeface="Consolas"/>
              </a:rPr>
              <a:t>15</a:t>
            </a:r>
            <a:endParaRPr/>
          </a:p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800100" y="1600200"/>
            <a:ext cx="62865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125">
                <a:solidFill>
                  <a:srgbClr val="E8EEF7">
                    <a:alpha val="82000"/>
                  </a:srgbClr>
                </a:solidFill>
                <a:latin typeface="Microsoft YaHei"/>
                <a:ea typeface="Microsoft YaHei"/>
              </a:rPr>
              <a:t>学生长时间上机实训，教师希望统一引入休息节律；弹窗文案可换成校风文案，零账号、零联网，适合机房批量部署。</a:t>
            </a:r>
            <a:endParaRPr/>
          </a:p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800100" y="2800350"/>
            <a:ext cx="62865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番茄式节奏但不拘泥于固定</a:t>
            </a:r>
            <a:r>
              <a:rPr lang="en-US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 xml:space="preserve"> 25 </a:t>
            </a:r>
            <a:r>
              <a:rPr lang="zh-CN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分钟：休息间隔与提示语随时可调，语言表达自由，无需迁就关键词模板。</a:t>
            </a:r>
            <a:endParaRPr/>
          </a:p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800100" y="4000500"/>
            <a:ext cx="62865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久坐人群需要</a:t>
            </a:r>
            <a:r>
              <a:rPr lang="en-US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到点真正离开屏幕</a:t>
            </a:r>
            <a:r>
              <a:rPr lang="en-US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的约束力：可附加锁屏</a:t>
            </a:r>
            <a:r>
              <a:rPr lang="en-US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关机</a:t>
            </a:r>
            <a:r>
              <a:rPr lang="en-US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重启，触发前有</a:t>
            </a:r>
            <a:r>
              <a:rPr lang="en-US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 xml:space="preserve"> 60 </a:t>
            </a:r>
            <a:r>
              <a:rPr lang="zh-CN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秒可撤销倒计时。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800100" y="5200650"/>
            <a:ext cx="62865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家长为孩子管理电脑使用时段：每天</a:t>
            </a:r>
            <a:r>
              <a:rPr lang="en-US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每周</a:t>
            </a:r>
            <a:r>
              <a:rPr lang="en-US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每月重复锚点，到点弹窗并可锁屏，无需为孩子注册任何账号。</a:t>
            </a:r>
            <a:endParaRPr/>
          </a:p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7791450" y="2486025"/>
            <a:ext cx="35814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典型画像：知道自己</a:t>
            </a:r>
            <a:r>
              <a:rPr lang="en-US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该休息</a:t>
            </a:r>
            <a:r>
              <a:rPr lang="en-US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，但一进入专注状态就忘记时间；嫌传统提醒工具配置繁琐，更愿意</a:t>
            </a:r>
            <a:r>
              <a:rPr lang="en-US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说一句话</a:t>
            </a:r>
            <a:r>
              <a:rPr lang="en-US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7791450" y="3181350"/>
            <a:ext cx="35814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50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年龄区间约</a:t>
            </a:r>
            <a:r>
              <a:rPr lang="en-US" sz="1050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 xml:space="preserve"> 18—30 </a:t>
            </a:r>
            <a:r>
              <a:rPr lang="zh-CN" sz="1050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岁。</a:t>
            </a:r>
            <a:endParaRPr/>
          </a:p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7791450" y="4257675"/>
            <a:ext cx="3581400" cy="6096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275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家长（孩子用电脑时段管理）</a:t>
            </a:r>
            <a:endParaRPr/>
          </a:p>
          <a:p>
            <a:pPr>
              <a:lnSpc>
                <a:spcPct val="155000"/>
              </a:lnSpc>
            </a:pPr>
            <a:r>
              <a:rPr lang="zh-CN" sz="1275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教师</a:t>
            </a:r>
            <a:r>
              <a:rPr lang="en-US" sz="1275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75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机房管理员（统一休息节律）</a:t>
            </a:r>
            <a:endParaRPr/>
          </a:p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609600" y="6115050"/>
            <a:ext cx="1190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11172825" y="6115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E8EEF7">
                    <a:alpha val="42000"/>
                  </a:srgbClr>
                </a:solidFill>
                <a:latin typeface="Consolas"/>
                <a:ea typeface="Consolas"/>
              </a:rPr>
              <a:t>15 / 18</a:t>
            </a:r>
            <a:endParaRPr/>
          </a:p>
        </p:txBody>
      </p:sp>
    </p:spTree>
  </p:cSld>
</p:sld>
</file>

<file path=ppt/slides/slide16.xml><?xml version="1.0" encoding="utf-8"?>
<p:sld xmlns:p="http://schemas.openxmlformats.org/presentationml/2006/main" xmlns:a="http://schemas.openxmlformats.org/drawingml/2006/main">
  <p:cSld>
    <p:spTree>
      <p:nvGrpSpPr>
        <p:cNvPr id="163" name="" descr="&lt;Slide style={{ width: 1280, height: 720, background: '#0B1220', padding: '20px 64px' }}&gt;&#10;    &lt;Box style={{ height: 100, flexDirection: 'row', alignItems: 'flex-end', justifyContent: 'space-between', paddingBottom: 18 }}&gt;&#10;        &lt;Box style={{ flexDirection: 'column', gap: 6 }}&gt;&#10;            &lt;Text style={{ fontSize: 36, fontWeight: 'bold', color: '#E8EEF7' }}&gt;五个创新点&lt;/Text&gt;&#10;            &lt;Text style={{ fontSize: 16, color: '#E8EEF7', opacity: 0.55, letterSpacing: 1 }}&gt;每条都落到一个具体动作，不只是概念&lt;/Text&gt;&#10;        &lt;/Box&gt;&#10;        &lt;Text style={{ fontSize: 14, fontFamily: 'Consolas', color: '#4FE0B0', opacity: 0.8 }}&gt;核心创新&lt;/Text&gt;&#10;    &lt;/Box&gt;&#10;    &lt;Box style={{ height: 500, flexDirection: 'row', gap: 36 }}&gt;&#10;        &lt;Box style={{ width: 332, flexDirection: 'column', justifyContent: 'space-between', padding: 24, background: 'rgba(79,224,176,0.08)', border: '1px solid rgba(79,224,176,0.35)', borderRadius: 14 }}&gt;&#10;            &lt;Box style={{ flexDirection: 'column', gap: 14 }}&gt;&#10;                &lt;Text style={{ fontSize: 26, fontWeight: 'bold', color: '#E8EEF7', lineHeight: 1.4 }}&gt;从交互到工程的&lt;br /&gt;五个差异点&lt;/Text&gt;&#10;                &lt;Box style={{ height: 3, width: 80, background: 'linear-gradient(135deg, #4FE0B0 0%, #2E9E8F 100%)', borderRadius: 2 }} /&gt;&#10;                &lt;Text style={{ fontSize: 16, color: '#E8EEF7', opacity: 0.72, lineHeight: 1.6 }}&gt;前三条解决&quot;好不好用&quot;，第四条回答&quot;怎么做的&quot;，第五条说明&quot;站什么立场&quot;。&lt;/Text&gt;&#10;            &lt;/Box&gt;&#10;            &lt;Text style={{ fontSize: 15, color: '#E8EEF7', opacity: 0.6, lineHeight: 1.6 }}&gt;其中第四条是本项目作为 AIGC 作品最想强调的开发方式本身。&lt;/Text&gt;&#10;        &lt;/Box&gt;&#10;        &lt;Box style={{ flex: 1, flexDirection: 'column', gap: 12 }}&gt;&#10;            &lt;Box style={{ height: 84, flexDirection: 'row', alignItems: 'center', gap: 18, padding: '0 20px', background: 'rgba(232,238,247,0.04)', border: '1px solid rgba(232,238,247,0.10)', borderRadius: 10 }}&gt;&#10;                &lt;Text style={{ fontSize: 40, fontWeight: 'bold', fontFamily: 'Consolas', color: '#4FE0B0', lineHeight: 1 }}&gt;01&lt;/Text&gt;&#10;                &lt;Box style={{ flexDirection: 'column', gap: 4 }}&gt;&#10;                    &lt;Text style={{ fontSize: 19, fontWeight: 'bold', color: '#E8EEF7' }}&gt;一句话生成提醒规则&lt;/Text&gt;&#10;                    &lt;Text style={{ fontSize: 15, color: '#E8EEF7', opacity: 0.65 }}&gt;意味着：配置门槛从&quot;学一套概念&quot;降到&quot;说一句话&quot;。&lt;/Text&gt;&#10;                &lt;/Box&gt;&#10;            &lt;/Box&gt;&#10;            &lt;Box style={{ height: 84, flexDirection: 'row', alignItems: 'center', gap: 18, padding: '0 20px', background: 'rgba(232,238,247,0.04)', border: '1px solid rgba(232,238,247,0.10)', borderRadius: 10 }}&gt;&#10;                &lt;Text style={{ fontSize: 40, fontWeight: 'bold', fontFamily: 'Consolas', color: '#4FE0B0', lineHeight: 1 }}&gt;02&lt;/Text&gt;&#10;                &lt;Box style={{ flexDirection: 'column', gap: 4 }}&gt;&#10;                    &lt;Text style={{ fontSize: 19, fontWeight: 'bold', color: '#E8EEF7' }}&gt;云端 + 本机双通道&lt;/Text&gt;&#10;                    &lt;Text style={{ fontSize: 15, color: '#E8EEF7', opacity: 0.65 }}&gt;意味着：既拿到大模型的理解力，又不牺牲离线可用性。&lt;/Text&gt;&#10;                &lt;/Box&gt;&#10;            &lt;/Box&gt;&#10;            &lt;Box style={{ height: 84, flexDirection: 'row', alignItems: 'center', gap: 18, padding: '0 20px', background: 'rgba(232,238,247,0.04)', border: '1px solid rgba(232,238,247,0.10)', borderRadius: 10 }}&gt;&#10;                &lt;Text style={{ fontSize: 40, fontWeight: 'bold', fontFamily: 'Consolas', color: '#4FE0B0', lineHeight: 1 }}&gt;03&lt;/Text&gt;&#10;                &lt;Box style={{ flexDirection: 'column', gap: 4 }}&gt;&#10;                    &lt;Text style={{ fontSize: 19, fontWeight: 'bold', color: '#E8EEF7' }}&gt;校验优先的落地设计&lt;/Text&gt;&#10;                    &lt;Text style={{ fontSize: 15, color: '#E8EEF7', opacity: 0.65 }}&gt;意味着：AI 的不确定性被挡在用户数据之外。&lt;/Text&gt;&#10;                &lt;/Box&gt;&#10;            &lt;/Box&gt;&#10;            &lt;Box style={{ height: 84, flexDirection: 'row', alignItems: 'center', gap: 18, padding: '0 20px', background: 'rgba(232,238,247,0.04)', border: '1px solid rgba(232,238,247,0.10)', borderRadius: 10 }}&gt;&#10;                &lt;Text style={{ fontSize: 40, fontWeight: 'bold', fontFamily: 'Consolas', color: '#4FE0B0', lineHeight: 1 }}&gt;04&lt;/Text&gt;&#10;                &lt;Box style={{ flexDirection: 'column', gap: 4 }}&gt;&#10;                    &lt;Text style={{ fontSize: 19, fontWeight: 'bold', color: '#E8EEF7' }}&gt;人机协同的开发范式&lt;/Text&gt;&#10;                    &lt;Text style={{ fontSize: 15, color: '#E8EEF7', opacity: 0.65 }}&gt;意味着：学生独立主导，AI 辅助实现，138 项测试形成闭环。&lt;/Text&gt;&#10;                &lt;/Box&gt;&#10;            &lt;/Box&gt;&#10;            &lt;Box style={{ height: 84, flexDirection: 'row', alignItems: 'center', gap: 18, padding: '0 20px', background: 'rgba(232,238,247,0.04)', border: '1px solid rgba(232,238,247,0.10)', borderRadius: 10 }}&gt;&#10;                &lt;Text style={{ fontSize: 40, fontWeight: 'bold', fontFamily: 'Consolas', color: '#4FE0B0', lineHeight: 1 }}&gt;05&lt;/Text&gt;&#10;                &lt;Box style={{ flexDirection: 'column', gap: 4 }}&gt;&#10;                    &lt;Text style={{ fontSize: 19, fontWeight: 'bold', color: '#E8EEF7' }}&gt;温和的休息倡议&lt;/Text&gt;&#10;                    &lt;Text style={{ fontSize: 15, color: '#E8EEF7', opacity: 0.65 }}&gt;意味着：产品立场是&quot;知时而歇&quot;，不是效率压榨。&lt;/Text&gt;&#10;                &lt;/Box&gt;&#10;            &lt;/Box&gt;&#10;        &lt;/Box&gt;&#10;    &lt;/Box&gt;&#10;    &lt;Box style={{ height: 60, flexDirection: 'row', alignItems: 'center', justifyContent: 'space-between' }}&gt;&#10;        &lt;Text style={{ fontSize: 14, color: '#E8EEF7', opacity: 0.42 }}&gt;知歇 ZhiXie · V1.0.0&lt;/Text&gt;&#10;        &lt;Text style={{ fontSize: 14, fontFamily: 'Consolas', color: '#E8EEF7', opacity: 0.42 }}&gt;16 / 18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609600" y="304800"/>
            <a:ext cx="27527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E8EEF7"/>
                </a:solidFill>
                <a:latin typeface="Microsoft YaHei"/>
                <a:ea typeface="Microsoft YaHei"/>
              </a:rPr>
              <a:t>五个创新点</a:t>
            </a:r>
            <a:endParaRPr/>
          </a:p>
        </p:txBody>
      </p:sp>
      <p:sp>
        <p:nvSpPr>
          <p:cNvPr id="166" name=""/>
          <p:cNvSpPr/>
          <p:nvPr/>
        </p:nvSpPr>
        <p:spPr>
          <a:xfrm rot="0" flipH="0" flipV="0">
            <a:off x="609600" y="1143000"/>
            <a:ext cx="3162300" cy="4762500"/>
          </a:xfrm>
          <a:prstGeom prst="roundRect">
            <a:avLst>
              <a:gd name="adj" fmla="val 4217"/>
            </a:avLst>
          </a:prstGeom>
          <a:solidFill>
            <a:srgbClr val="4FE0B0">
              <a:alpha val="8000"/>
            </a:srgbClr>
          </a:solidFill>
          <a:ln w="12700">
            <a:solidFill>
              <a:srgbClr val="4FE0B0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838200" y="1371600"/>
            <a:ext cx="2705100" cy="8382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950" b="1">
                <a:solidFill>
                  <a:srgbClr val="E8EEF7"/>
                </a:solidFill>
                <a:latin typeface="Microsoft YaHei"/>
                <a:ea typeface="Microsoft YaHei"/>
              </a:rPr>
              <a:t>从交互到工程的</a:t>
            </a:r>
            <a:endParaRPr/>
          </a:p>
          <a:p>
            <a:pPr>
              <a:lnSpc>
                <a:spcPct val="140000"/>
              </a:lnSpc>
            </a:pPr>
            <a:r>
              <a:rPr lang="zh-CN" sz="1950" b="1">
                <a:solidFill>
                  <a:srgbClr val="E8EEF7"/>
                </a:solidFill>
                <a:latin typeface="Microsoft YaHei"/>
                <a:ea typeface="Microsoft YaHei"/>
              </a:rPr>
              <a:t>五个差异点</a:t>
            </a:r>
            <a:endParaRPr/>
          </a:p>
        </p:txBody>
      </p:sp>
      <p:sp>
        <p:nvSpPr>
          <p:cNvPr id="168" name=""/>
          <p:cNvSpPr/>
          <p:nvPr/>
        </p:nvSpPr>
        <p:spPr>
          <a:xfrm rot="0" flipH="0" flipV="0">
            <a:off x="838200" y="2343150"/>
            <a:ext cx="762000" cy="28575"/>
          </a:xfrm>
          <a:prstGeom prst="roundRect">
            <a:avLst>
              <a:gd name="adj" fmla="val 66667"/>
            </a:avLst>
          </a:prstGeom>
          <a:gradFill>
            <a:gsLst>
              <a:gs pos="0">
                <a:srgbClr val="4FE0B0"/>
              </a:gs>
              <a:gs pos="100000">
                <a:srgbClr val="2E9E8F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169" name=""/>
          <p:cNvSpPr/>
          <p:nvPr/>
        </p:nvSpPr>
        <p:spPr>
          <a:xfrm rot="0" flipH="0" flipV="0">
            <a:off x="4114800" y="1143000"/>
            <a:ext cx="7467600" cy="800100"/>
          </a:xfrm>
          <a:prstGeom prst="roundRect">
            <a:avLst>
              <a:gd name="adj" fmla="val 11905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4305300" y="1314450"/>
            <a:ext cx="4286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4FE0B0"/>
                </a:solidFill>
                <a:latin typeface="Consolas"/>
                <a:ea typeface="Consolas"/>
              </a:rPr>
              <a:t>01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4905375" y="1333500"/>
            <a:ext cx="32099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E8EEF7"/>
                </a:solidFill>
                <a:latin typeface="Microsoft YaHei"/>
                <a:ea typeface="Microsoft YaHei"/>
              </a:rPr>
              <a:t>一句话生成提醒规则</a:t>
            </a:r>
            <a:endParaRPr/>
          </a:p>
        </p:txBody>
      </p:sp>
      <p:sp>
        <p:nvSpPr>
          <p:cNvPr id="172" name=""/>
          <p:cNvSpPr/>
          <p:nvPr/>
        </p:nvSpPr>
        <p:spPr>
          <a:xfrm rot="0" flipH="0" flipV="0">
            <a:off x="4114800" y="2057400"/>
            <a:ext cx="7467600" cy="800100"/>
          </a:xfrm>
          <a:prstGeom prst="roundRect">
            <a:avLst>
              <a:gd name="adj" fmla="val 11905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4305300" y="2228850"/>
            <a:ext cx="4286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4FE0B0"/>
                </a:solidFill>
                <a:latin typeface="Consolas"/>
                <a:ea typeface="Consolas"/>
              </a:rPr>
              <a:t>02</a:t>
            </a:r>
            <a:endParaRPr/>
          </a:p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4905375" y="2247900"/>
            <a:ext cx="35718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E8EEF7"/>
                </a:solidFill>
                <a:latin typeface="Microsoft YaHei"/>
                <a:ea typeface="Microsoft YaHei"/>
              </a:rPr>
              <a:t>云端</a:t>
            </a:r>
            <a:r>
              <a:rPr lang="en-US" sz="1425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425" b="1">
                <a:solidFill>
                  <a:srgbClr val="E8EEF7"/>
                </a:solidFill>
                <a:latin typeface="Microsoft YaHei"/>
                <a:ea typeface="Microsoft YaHei"/>
              </a:rPr>
              <a:t>本机双通道</a:t>
            </a:r>
            <a:endParaRPr/>
          </a:p>
        </p:txBody>
      </p:sp>
      <p:sp>
        <p:nvSpPr>
          <p:cNvPr id="175" name=""/>
          <p:cNvSpPr/>
          <p:nvPr/>
        </p:nvSpPr>
        <p:spPr>
          <a:xfrm rot="0" flipH="0" flipV="0">
            <a:off x="4114800" y="2971800"/>
            <a:ext cx="7467600" cy="800100"/>
          </a:xfrm>
          <a:prstGeom prst="roundRect">
            <a:avLst>
              <a:gd name="adj" fmla="val 11905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4305300" y="3143250"/>
            <a:ext cx="4286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4FE0B0"/>
                </a:solidFill>
                <a:latin typeface="Consolas"/>
                <a:ea typeface="Consolas"/>
              </a:rPr>
              <a:t>03</a:t>
            </a:r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4905375" y="3162300"/>
            <a:ext cx="28956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E8EEF7"/>
                </a:solidFill>
                <a:latin typeface="Microsoft YaHei"/>
                <a:ea typeface="Microsoft YaHei"/>
              </a:rPr>
              <a:t>校验优先的落地设计</a:t>
            </a:r>
            <a:endParaRPr/>
          </a:p>
        </p:txBody>
      </p:sp>
      <p:sp>
        <p:nvSpPr>
          <p:cNvPr id="178" name=""/>
          <p:cNvSpPr/>
          <p:nvPr/>
        </p:nvSpPr>
        <p:spPr>
          <a:xfrm rot="0" flipH="0" flipV="0">
            <a:off x="4114800" y="3886200"/>
            <a:ext cx="7467600" cy="800100"/>
          </a:xfrm>
          <a:prstGeom prst="roundRect">
            <a:avLst>
              <a:gd name="adj" fmla="val 11905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4305300" y="4057650"/>
            <a:ext cx="4286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4FE0B0"/>
                </a:solidFill>
                <a:latin typeface="Consolas"/>
                <a:ea typeface="Consolas"/>
              </a:rPr>
              <a:t>04</a:t>
            </a:r>
            <a:endParaRPr/>
          </a:p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4905375" y="4076700"/>
            <a:ext cx="38862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E8EEF7"/>
                </a:solidFill>
                <a:latin typeface="Microsoft YaHei"/>
                <a:ea typeface="Microsoft YaHei"/>
              </a:rPr>
              <a:t>人机协同的开发范式</a:t>
            </a:r>
            <a:endParaRPr/>
          </a:p>
        </p:txBody>
      </p:sp>
      <p:sp>
        <p:nvSpPr>
          <p:cNvPr id="181" name=""/>
          <p:cNvSpPr/>
          <p:nvPr/>
        </p:nvSpPr>
        <p:spPr>
          <a:xfrm rot="0" flipH="0" flipV="0">
            <a:off x="4114800" y="4800600"/>
            <a:ext cx="7467600" cy="800100"/>
          </a:xfrm>
          <a:prstGeom prst="roundRect">
            <a:avLst>
              <a:gd name="adj" fmla="val 11905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4305300" y="4972050"/>
            <a:ext cx="4286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4FE0B0"/>
                </a:solidFill>
                <a:latin typeface="Consolas"/>
                <a:ea typeface="Consolas"/>
              </a:rPr>
              <a:t>05</a:t>
            </a:r>
            <a:endParaRPr/>
          </a:p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4905375" y="4991100"/>
            <a:ext cx="31051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E8EEF7"/>
                </a:solidFill>
                <a:latin typeface="Microsoft YaHei"/>
                <a:ea typeface="Microsoft YaHei"/>
              </a:rPr>
              <a:t>温和的休息倡议</a:t>
            </a:r>
            <a:endParaRPr/>
          </a:p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609600" y="781050"/>
            <a:ext cx="2752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75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每条都落到一个具体动作，不只是概念</a:t>
            </a:r>
            <a:endParaRPr/>
          </a:p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11049000" y="809625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FE0B0">
                    <a:alpha val="80000"/>
                  </a:srgbClr>
                </a:solidFill>
                <a:latin typeface="Consolas"/>
                <a:ea typeface="Consolas"/>
              </a:rPr>
              <a:t>核心创新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838200" y="2505075"/>
            <a:ext cx="27051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前三条解决</a:t>
            </a:r>
            <a:r>
              <a:rPr lang="en-US" sz="12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好不好用</a:t>
            </a:r>
            <a:r>
              <a:rPr lang="en-US" sz="12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，第四条回答</a:t>
            </a:r>
            <a:r>
              <a:rPr lang="en-US" sz="12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怎么做的</a:t>
            </a:r>
            <a:r>
              <a:rPr lang="en-US" sz="12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，第五条说明</a:t>
            </a:r>
            <a:r>
              <a:rPr lang="en-US" sz="12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站什么立场</a:t>
            </a:r>
            <a:r>
              <a:rPr lang="en-US" sz="12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838200" y="5124450"/>
            <a:ext cx="27051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其中第四条是本项目作为</a:t>
            </a:r>
            <a:r>
              <a:rPr lang="en-US" sz="112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 xml:space="preserve"> AIGC </a:t>
            </a:r>
            <a:r>
              <a:rPr lang="zh-CN" sz="112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作品最想强调的开发方式本身。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4905375" y="1590675"/>
            <a:ext cx="3209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E8EEF7">
                    <a:alpha val="65000"/>
                  </a:srgbClr>
                </a:solidFill>
                <a:latin typeface="Microsoft YaHei"/>
                <a:ea typeface="Microsoft YaHei"/>
              </a:rPr>
              <a:t>意味着：配置门槛从</a:t>
            </a:r>
            <a:r>
              <a:rPr lang="en-US" sz="1125">
                <a:solidFill>
                  <a:srgbClr val="E8EEF7">
                    <a:alpha val="65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E8EEF7">
                    <a:alpha val="65000"/>
                  </a:srgbClr>
                </a:solidFill>
                <a:latin typeface="Microsoft YaHei"/>
                <a:ea typeface="Microsoft YaHei"/>
              </a:rPr>
              <a:t>学一套概念</a:t>
            </a:r>
            <a:r>
              <a:rPr lang="en-US" sz="1125">
                <a:solidFill>
                  <a:srgbClr val="E8EEF7">
                    <a:alpha val="65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E8EEF7">
                    <a:alpha val="65000"/>
                  </a:srgbClr>
                </a:solidFill>
                <a:latin typeface="Microsoft YaHei"/>
                <a:ea typeface="Microsoft YaHei"/>
              </a:rPr>
              <a:t>降到</a:t>
            </a:r>
            <a:r>
              <a:rPr lang="en-US" sz="1125">
                <a:solidFill>
                  <a:srgbClr val="E8EEF7">
                    <a:alpha val="65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E8EEF7">
                    <a:alpha val="65000"/>
                  </a:srgbClr>
                </a:solidFill>
                <a:latin typeface="Microsoft YaHei"/>
                <a:ea typeface="Microsoft YaHei"/>
              </a:rPr>
              <a:t>说一句话</a:t>
            </a:r>
            <a:r>
              <a:rPr lang="en-US" sz="1125">
                <a:solidFill>
                  <a:srgbClr val="E8EEF7">
                    <a:alpha val="65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E8EEF7">
                    <a:alpha val="65000"/>
                  </a:srgbClr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4905375" y="2505075"/>
            <a:ext cx="3571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E8EEF7">
                    <a:alpha val="65000"/>
                  </a:srgbClr>
                </a:solidFill>
                <a:latin typeface="Microsoft YaHei"/>
                <a:ea typeface="Microsoft YaHei"/>
              </a:rPr>
              <a:t>意味着：既拿到大模型的理解力，又不牺牲离线可用性。</a:t>
            </a:r>
            <a:endParaRPr/>
          </a:p>
        </p:txBody>
      </p:sp>
      <p:sp>
        <p:nvSpPr>
          <p:cNvPr id="190" name="" descr="{&quot;isTemplate&quot;:true,&quot;type&quot;:&quot;text&quot;}"/>
          <p:cNvSpPr txBox="1"/>
          <p:nvPr/>
        </p:nvSpPr>
        <p:spPr>
          <a:xfrm rot="0" flipH="0" flipV="0">
            <a:off x="4905375" y="3419475"/>
            <a:ext cx="2895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E8EEF7">
                    <a:alpha val="65000"/>
                  </a:srgbClr>
                </a:solidFill>
                <a:latin typeface="Microsoft YaHei"/>
                <a:ea typeface="Microsoft YaHei"/>
              </a:rPr>
              <a:t>意味着：</a:t>
            </a:r>
            <a:r>
              <a:rPr lang="en-US" sz="1125">
                <a:solidFill>
                  <a:srgbClr val="E8EEF7">
                    <a:alpha val="65000"/>
                  </a:srgbClr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125">
                <a:solidFill>
                  <a:srgbClr val="E8EEF7">
                    <a:alpha val="65000"/>
                  </a:srgbClr>
                </a:solidFill>
                <a:latin typeface="Microsoft YaHei"/>
                <a:ea typeface="Microsoft YaHei"/>
              </a:rPr>
              <a:t>的不确定性被挡在用户数据之外。</a:t>
            </a:r>
            <a:endParaRPr/>
          </a:p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4905375" y="4333875"/>
            <a:ext cx="38862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E8EEF7">
                    <a:alpha val="65000"/>
                  </a:srgbClr>
                </a:solidFill>
                <a:latin typeface="Microsoft YaHei"/>
                <a:ea typeface="Microsoft YaHei"/>
              </a:rPr>
              <a:t>意味着：学生独立主导，</a:t>
            </a:r>
            <a:r>
              <a:rPr lang="en-US" sz="1125">
                <a:solidFill>
                  <a:srgbClr val="E8EEF7">
                    <a:alpha val="65000"/>
                  </a:srgbClr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125">
                <a:solidFill>
                  <a:srgbClr val="E8EEF7">
                    <a:alpha val="65000"/>
                  </a:srgbClr>
                </a:solidFill>
                <a:latin typeface="Microsoft YaHei"/>
                <a:ea typeface="Microsoft YaHei"/>
              </a:rPr>
              <a:t>辅助实现，</a:t>
            </a:r>
            <a:r>
              <a:rPr lang="en-US" sz="1125">
                <a:solidFill>
                  <a:srgbClr val="E8EEF7">
                    <a:alpha val="65000"/>
                  </a:srgbClr>
                </a:solidFill>
                <a:latin typeface="Microsoft YaHei"/>
                <a:ea typeface="Microsoft YaHei"/>
              </a:rPr>
              <a:t xml:space="preserve">138 </a:t>
            </a:r>
            <a:r>
              <a:rPr lang="zh-CN" sz="1125">
                <a:solidFill>
                  <a:srgbClr val="E8EEF7">
                    <a:alpha val="65000"/>
                  </a:srgbClr>
                </a:solidFill>
                <a:latin typeface="Microsoft YaHei"/>
                <a:ea typeface="Microsoft YaHei"/>
              </a:rPr>
              <a:t>项测试形成闭环。</a:t>
            </a:r>
            <a:endParaRPr/>
          </a:p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4905375" y="5248275"/>
            <a:ext cx="3105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E8EEF7">
                    <a:alpha val="65000"/>
                  </a:srgbClr>
                </a:solidFill>
                <a:latin typeface="Microsoft YaHei"/>
                <a:ea typeface="Microsoft YaHei"/>
              </a:rPr>
              <a:t>意味着：产品立场是</a:t>
            </a:r>
            <a:r>
              <a:rPr lang="en-US" sz="1125">
                <a:solidFill>
                  <a:srgbClr val="E8EEF7">
                    <a:alpha val="65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E8EEF7">
                    <a:alpha val="65000"/>
                  </a:srgbClr>
                </a:solidFill>
                <a:latin typeface="Microsoft YaHei"/>
                <a:ea typeface="Microsoft YaHei"/>
              </a:rPr>
              <a:t>知时而歇</a:t>
            </a:r>
            <a:r>
              <a:rPr lang="en-US" sz="1125">
                <a:solidFill>
                  <a:srgbClr val="E8EEF7">
                    <a:alpha val="65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E8EEF7">
                    <a:alpha val="65000"/>
                  </a:srgbClr>
                </a:solidFill>
                <a:latin typeface="Microsoft YaHei"/>
                <a:ea typeface="Microsoft YaHei"/>
              </a:rPr>
              <a:t>，不是效率压榨。</a:t>
            </a:r>
            <a:endParaRPr/>
          </a:p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609600" y="6115050"/>
            <a:ext cx="1190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11172825" y="6115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E8EEF7">
                    <a:alpha val="42000"/>
                  </a:srgbClr>
                </a:solidFill>
                <a:latin typeface="Consolas"/>
                <a:ea typeface="Consolas"/>
              </a:rPr>
              <a:t>16 / 18</a:t>
            </a:r>
            <a:endParaRPr/>
          </a:p>
        </p:txBody>
      </p:sp>
    </p:spTree>
  </p:cSld>
</p:sld>
</file>

<file path=ppt/slides/slide17.xml><?xml version="1.0" encoding="utf-8"?>
<p:sld xmlns:a16="http://schemas.microsoft.com/office/drawing/2014/main" xmlns:p="http://schemas.openxmlformats.org/presentationml/2006/main" xmlns:a="http://schemas.openxmlformats.org/drawingml/2006/main" xmlns:mc="http://schemas.openxmlformats.org/markup-compatibility/2006" mc:Ignorable="a16">
  <p:cSld>
    <p:spTree>
      <p:nvGrpSpPr>
        <p:cNvPr id="195" name="" descr="&lt;Slide style={{ width: 1280, height: 720, background: '#0B1220', padding: '20px 64px' }}&gt;&#10;    &lt;Box style={{ height: 100, flexDirection: 'row', alignItems: 'flex-end', justifyContent: 'space-between', paddingBottom: 18 }}&gt;&#10;        &lt;Box style={{ flexDirection: 'column', gap: 6 }}&gt;&#10;            &lt;Text style={{ fontSize: 36, fontWeight: 'bold', color: '#E8EEF7' }}&gt;对比与价值&lt;/Text&gt;&#10;            &lt;Text style={{ fontSize: 16, color: '#E8EEF7', opacity: 0.55, letterSpacing: 1 }}&gt;差异化不在&quot;提醒&quot;，而在创建成本与约束力&lt;/Text&gt;&#10;        &lt;/Box&gt;&#10;        &lt;Text style={{ fontSize: 14, fontFamily: 'Consolas', color: '#E8EEF7', opacity: 0.35 }}&gt;17&lt;/Text&gt;&#10;    &lt;/Box&gt;&#10;    &lt;Box style={{ height: 500, flexDirection: 'column', gap: 20 }}&gt;&#10;        &lt;Table&#10;            style={{ width: 1152, height: 292 }}&#10;            defaultTextStyle={{ fontSize: 15, textAlign: 'center', color: '#E8EEF7' }}&#10;            defaultCellStyle={{&#10;                border: {&#10;                    left: { width: 1, color: 'rgba(232,238,247,0.12)' },&#10;                    right: { width: 1, color: 'rgba(232,238,247,0.12)' },&#10;                    top: { width: 1, color: 'rgba(232,238,247,0.12)' },&#10;                    bottom: { width: 1, color: 'rgba(232,238,247,0.12)' },&#10;                },&#10;            }}&#10;            cells={[&#10;                [&#10;                    { text: '对比维度', textStyle: { bold: true, color: '#0B1220' }, cellStyle: { background: { color: '#E8EEF7' } } },&#10;                    { text: '系统自带提醒', textStyle: { bold: true, color: '#0B1220' }, cellStyle: { background: { color: '#E8EEF7' } } },&#10;                    { text: '番茄钟类工具', textStyle: { bold: true, color: '#0B1220' }, cellStyle: { background: { color: '#E8EEF7' } } },&#10;                    { text: '知歇 ZhiXie', textStyle: { bold: true, color: '#0B1220' }, cellStyle: { background: { color: '#4FE0B0' } } },&#10;                ],&#10;                [&#10;                    { text: '一句话创建提醒', cellStyle: { background: { color: 'rgba(232,238,247,0.05)' } } },&#10;                    '不支持',&#10;                    '不支持',&#10;                    { text: '支持', textStyle: { bold: true, color: '#4FE0B0' } },&#10;                ],&#10;                [&#10;                    '离线可用',&#10;                    '支持',&#10;                    '部分需联网',&#10;                    { text: '支持（含智能体）', textStyle: { bold: true, color: '#4FE0B0' } },&#10;                ],&#10;                [&#10;                    { text: '系统操作 · 锁屏 / 关机', cellStyle: { background: { color: 'rgba(232,238,247,0.05)' } } },&#10;                    '部分支持',&#10;                    '不支持',&#10;                    { text: '支持', textStyle: { bold: true, color: '#4FE0B0' } },&#10;                ],&#10;                [&#10;                    '数据本地化 · 无需账号',&#10;                    '支持',&#10;                    '部分需登录',&#10;                    { text: '支持', textStyle: { bold: true, color: '#4FE0B0' } },&#10;                ],&#10;                [&#10;                    { text: 'AI 输出经校验后落库', cellStyle: { background: { color: 'rgba(232,238,247,0.05)' } } },&#10;                    '—',&#10;                    '—',&#10;                    { text: '支持', textStyle: { bold: true, color: '#4FE0B0' } },&#10;                ],&#10;                [&#10;                    '跨平台（同一套代码）',&#10;                    '各自独立',&#10;                    '部分',&#10;                    { text: '支持', textStyle: { bold: true, color: '#4FE0B0' } },&#10;                ],&#10;            ]}&#10;        /&gt;&#10;        &lt;Box style={{ flex: 1, flexDirection: 'row', gap: 20 }}&gt;&#10;            &lt;Box style={{ flex: 1, flexDirection: 'column', gap: 8, padding: 18, background: 'rgba(232,238,247,0.05)', borderRadius: 12 }}&gt;&#10;                &lt;Text style={{ fontSize: 19, fontWeight: 'bold', color: '#4FE0B0' }}&gt;健康价值&lt;/Text&gt;&#10;                &lt;Text style={{ fontSize: 15, color: '#E8EEF7', opacity: 0.72, lineHeight: 1.6 }}&gt;久坐是学生与办公人群的高频健康风险，定时强制休息是最直接的干预手段。&lt;/Text&gt;&#10;            &lt;/Box&gt;&#10;            &lt;Box style={{ flex: 1, flexDirection: 'column', gap: 8, padding: 18, background: 'rgba(232,238,247,0.05)', borderRadius: 12 }}&gt;&#10;                &lt;Text style={{ fontSize: 19, fontWeight: 'bold', color: '#4FE0B0' }}&gt;教育价值&lt;/Text&gt;&#10;                &lt;Text style={{ fontSize: 15, color: '#E8EEF7', opacity: 0.72, lineHeight: 1.6 }}&gt;为&quot;AI 辅助开发&quot;提供一个可检验的案例：用 AI 把一个人的想法做成工程级作品。&lt;/Text&gt;&#10;            &lt;/Box&gt;&#10;            &lt;Box style={{ flex: 1, flexDirection: 'column', gap: 8, padding: 18, background: 'rgba(232,238,247,0.05)', borderRadius: 12 }}&gt;&#10;                &lt;Text style={{ fontSize: 19, fontWeight: 'bold', color: '#4FE0B0' }}&gt;推广价值&lt;/Text&gt;&#10;                &lt;Text style={{ fontSize: 15, color: '#E8EEF7', opacity: 0.72, lineHeight: 1.6 }}&gt;零账号、默认零联网、零广告，适合机房批量部署与家庭场景推广。&lt;/Text&gt;&#10;            &lt;/Box&gt;&#10;        &lt;/Box&gt;&#10;    &lt;/Box&gt;&#10;    &lt;Box style={{ height: 60, flexDirection: 'row', alignItems: 'center', justifyContent: 'space-between' }}&gt;&#10;        &lt;Text style={{ fontSize: 14, color: '#E8EEF7', opacity: 0.42 }}&gt;知歇 ZhiXie · V1.0.0&lt;/Text&gt;&#10;        &lt;Text style={{ fontSize: 14, fontFamily: 'Consolas', color: '#E8EEF7', opacity: 0.42 }}&gt;17 / 18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609600" y="304800"/>
            <a:ext cx="30480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E8EEF7"/>
                </a:solidFill>
                <a:latin typeface="Microsoft YaHei"/>
                <a:ea typeface="Microsoft YaHei"/>
              </a:rPr>
              <a:t>对比与价值</a:t>
            </a:r>
            <a:endParaRPr/>
          </a:p>
        </p:txBody>
      </p:sp>
      <p:graphicFrame>
        <p:nvGraphicFramePr>
          <p:cNvPr id="198" name=""/>
          <p:cNvGraphicFramePr/>
          <p:nvPr/>
        </p:nvGraphicFramePr>
        <p:xfrm rot="0" flipH="0" flipV="0">
          <a:off x="609600" y="1143000"/>
          <a:ext cx="10972800" cy="2781300"/>
        </p:xfrm>
        <a:graphic>
          <a:graphicData uri="http://schemas.openxmlformats.org/drawingml/2006/table">
            <a:tbl>
              <a:tblGrid>
                <a:gridCol w="3585706">
                  <a:extLst>
                    <a:ext uri="{9D8B030D-6E8A-4147-A177-3AD203B41FA5}">
                      <a16:colId val="1"/>
                    </a:ext>
                  </a:extLst>
                </a:gridCol>
                <a:gridCol w="2237696">
                  <a:extLst>
                    <a:ext uri="{9D8B030D-6E8A-4147-A177-3AD203B41FA5}">
                      <a16:colId val="2"/>
                    </a:ext>
                  </a:extLst>
                </a:gridCol>
                <a:gridCol w="2237696">
                  <a:extLst>
                    <a:ext uri="{9D8B030D-6E8A-4147-A177-3AD203B41FA5}">
                      <a16:colId val="3"/>
                    </a:ext>
                  </a:extLst>
                </a:gridCol>
                <a:gridCol w="2911701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397329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0B1220"/>
                          </a:solidFill>
                          <a:latin typeface="Microsoft YaHei"/>
                          <a:ea typeface="Microsoft YaHei"/>
                        </a:rPr>
                        <a:t>对比维度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8EEF7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0B1220"/>
                          </a:solidFill>
                          <a:latin typeface="Microsoft YaHei"/>
                          <a:ea typeface="Microsoft YaHei"/>
                        </a:rPr>
                        <a:t>系统自带提醒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8EEF7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0B1220"/>
                          </a:solidFill>
                          <a:latin typeface="Microsoft YaHei"/>
                          <a:ea typeface="Microsoft YaHei"/>
                        </a:rPr>
                        <a:t>番茄钟类工具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8EEF7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0B1220"/>
                          </a:solidFill>
                          <a:latin typeface="Microsoft YaHei"/>
                          <a:ea typeface="Microsoft YaHei"/>
                        </a:rPr>
                        <a:t>知歇 ZhiXie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4FE0B0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397329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一句话创建提醒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8EEF7">
                        <a:alpha val="5000"/>
                      </a:srgbClr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不支持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不支持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4FE0B0"/>
                          </a:solidFill>
                          <a:latin typeface="Microsoft YaHei"/>
                          <a:ea typeface="Microsoft YaHei"/>
                        </a:rPr>
                        <a:t>支持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397329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离线可用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支持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部分需联网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4FE0B0"/>
                          </a:solidFill>
                          <a:latin typeface="Microsoft YaHei"/>
                          <a:ea typeface="Microsoft YaHei"/>
                        </a:rPr>
                        <a:t>支持（含智能体）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397329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系统操作 · 锁屏 / 关机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8EEF7">
                        <a:alpha val="5000"/>
                      </a:srgbClr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部分支持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不支持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4FE0B0"/>
                          </a:solidFill>
                          <a:latin typeface="Microsoft YaHei"/>
                          <a:ea typeface="Microsoft YaHei"/>
                        </a:rPr>
                        <a:t>支持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397329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数据本地化 · 无需账号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支持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部分需登录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4FE0B0"/>
                          </a:solidFill>
                          <a:latin typeface="Microsoft YaHei"/>
                          <a:ea typeface="Microsoft YaHei"/>
                        </a:rPr>
                        <a:t>支持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397329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AI 输出经校验后落库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8EEF7">
                        <a:alpha val="5000"/>
                      </a:srgbClr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4FE0B0"/>
                          </a:solidFill>
                          <a:latin typeface="Microsoft YaHei"/>
                          <a:ea typeface="Microsoft YaHei"/>
                        </a:rPr>
                        <a:t>支持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397329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跨平台（同一套代码）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各自独立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部分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4FE0B0"/>
                          </a:solidFill>
                          <a:latin typeface="Microsoft YaHei"/>
                          <a:ea typeface="Microsoft YaHei"/>
                        </a:rPr>
                        <a:t>支持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199" name=""/>
          <p:cNvSpPr/>
          <p:nvPr/>
        </p:nvSpPr>
        <p:spPr>
          <a:xfrm rot="0" flipH="0" flipV="0">
            <a:off x="609600" y="4114800"/>
            <a:ext cx="3533775" cy="1790700"/>
          </a:xfrm>
          <a:prstGeom prst="roundRect">
            <a:avLst>
              <a:gd name="adj" fmla="val 6383"/>
            </a:avLst>
          </a:prstGeom>
          <a:solidFill>
            <a:srgbClr val="E8EEF7">
              <a:alpha val="5000"/>
            </a:srgbClr>
          </a:solidFill>
          <a:ln/>
        </p:spPr>
        <p:txBody>
          <a:bodyPr/>
          <a:p/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781050" y="4286250"/>
            <a:ext cx="31908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4FE0B0"/>
                </a:solidFill>
                <a:latin typeface="Microsoft YaHei"/>
                <a:ea typeface="Microsoft YaHei"/>
              </a:rPr>
              <a:t>健康价值</a:t>
            </a:r>
            <a:endParaRPr/>
          </a:p>
        </p:txBody>
      </p:sp>
      <p:sp>
        <p:nvSpPr>
          <p:cNvPr id="201" name=""/>
          <p:cNvSpPr/>
          <p:nvPr/>
        </p:nvSpPr>
        <p:spPr>
          <a:xfrm rot="0" flipH="0" flipV="0">
            <a:off x="4333875" y="4114800"/>
            <a:ext cx="3524250" cy="1790700"/>
          </a:xfrm>
          <a:prstGeom prst="roundRect">
            <a:avLst>
              <a:gd name="adj" fmla="val 6383"/>
            </a:avLst>
          </a:prstGeom>
          <a:solidFill>
            <a:srgbClr val="E8EEF7">
              <a:alpha val="5000"/>
            </a:srgbClr>
          </a:solidFill>
          <a:ln/>
        </p:spPr>
        <p:txBody>
          <a:bodyPr/>
          <a:p/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4505325" y="4286250"/>
            <a:ext cx="31813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4FE0B0"/>
                </a:solidFill>
                <a:latin typeface="Microsoft YaHei"/>
                <a:ea typeface="Microsoft YaHei"/>
              </a:rPr>
              <a:t>教育价值</a:t>
            </a:r>
            <a:endParaRPr/>
          </a:p>
        </p:txBody>
      </p:sp>
      <p:sp>
        <p:nvSpPr>
          <p:cNvPr id="203" name=""/>
          <p:cNvSpPr/>
          <p:nvPr/>
        </p:nvSpPr>
        <p:spPr>
          <a:xfrm rot="0" flipH="0" flipV="0">
            <a:off x="8048625" y="4114800"/>
            <a:ext cx="3533775" cy="1790700"/>
          </a:xfrm>
          <a:prstGeom prst="roundRect">
            <a:avLst>
              <a:gd name="adj" fmla="val 6383"/>
            </a:avLst>
          </a:prstGeom>
          <a:solidFill>
            <a:srgbClr val="E8EEF7">
              <a:alpha val="5000"/>
            </a:srgbClr>
          </a:solidFill>
          <a:ln/>
        </p:spPr>
        <p:txBody>
          <a:bodyPr/>
          <a:p/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8220075" y="4286250"/>
            <a:ext cx="31908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4FE0B0"/>
                </a:solidFill>
                <a:latin typeface="Microsoft YaHei"/>
                <a:ea typeface="Microsoft YaHei"/>
              </a:rPr>
              <a:t>推广价值</a:t>
            </a:r>
            <a:endParaRPr/>
          </a:p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609600" y="781050"/>
            <a:ext cx="3048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75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差异化不在</a:t>
            </a:r>
            <a:r>
              <a:rPr lang="en-US" sz="1200" spc="75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200" spc="75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提醒</a:t>
            </a:r>
            <a:r>
              <a:rPr lang="en-US" sz="1200" spc="75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200" spc="75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，而在创建成本与约束力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11430000" y="809625"/>
            <a:ext cx="152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E8EEF7">
                    <a:alpha val="35000"/>
                  </a:srgbClr>
                </a:solidFill>
                <a:latin typeface="Consolas"/>
                <a:ea typeface="Consolas"/>
              </a:rPr>
              <a:t>17</a:t>
            </a:r>
            <a:endParaRPr/>
          </a:p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781050" y="4581525"/>
            <a:ext cx="31908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久坐是学生与办公人群的高频健康风险，定时强制休息是最直接的干预手段。</a:t>
            </a:r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4505325" y="4581525"/>
            <a:ext cx="31813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为</a:t>
            </a:r>
            <a:r>
              <a:rPr lang="en-US" sz="1125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 xml:space="preserve">"AI </a:t>
            </a:r>
            <a:r>
              <a:rPr lang="zh-CN" sz="1125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辅助开发</a:t>
            </a:r>
            <a:r>
              <a:rPr lang="en-US" sz="1125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提供一个可检验的案例：用</a:t>
            </a:r>
            <a:r>
              <a:rPr lang="en-US" sz="1125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125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把一个人的想法做成工程级作品。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8220075" y="4581525"/>
            <a:ext cx="31908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零账号、默认零联网、零广告，适合机房批量部署与家庭场景推广。</a:t>
            </a:r>
            <a:endParaRPr/>
          </a:p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609600" y="6115050"/>
            <a:ext cx="1190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11172825" y="6115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E8EEF7">
                    <a:alpha val="42000"/>
                  </a:srgbClr>
                </a:solidFill>
                <a:latin typeface="Consolas"/>
                <a:ea typeface="Consolas"/>
              </a:rPr>
              <a:t>17 / 18</a:t>
            </a:r>
            <a:endParaRPr/>
          </a:p>
        </p:txBody>
      </p:sp>
    </p:spTree>
  </p:cSld>
</p:sld>
</file>

<file path=ppt/slides/slide18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212" name="" descr="&lt;Slide style={{ width: 1280, height: 720, background: '#0B1220', padding: '20px 64px' }}&gt;&#10;    &lt;Box style={{ height: 680, flexDirection: 'column', justifyContent: 'center', alignItems: 'center', gap: 22 }}&gt;&#10;        &lt;svg width={520} height={168} viewBox='0 0 520 168'&gt;&#10;            &lt;circle cx='260' cy='168' r='150' fill='none' stroke='#4FE0B0' strokeWidth='1' opacity='0.18' /&gt;&#10;            &lt;circle cx='260' cy='168' r='112' fill='none' stroke='#4FE0B0' strokeWidth='1' opacity='0.30' /&gt;&#10;            &lt;circle cx='260' cy='168' r='74' fill='none' stroke='#4FE0B0' strokeWidth='1.5' opacity='0.50' /&gt;&#10;            &lt;path d='M110 168 A150 150 0 0 1 410 168' fill='none' stroke='#4FE0B0' strokeWidth='3' opacity='0.9' /&gt;&#10;            &lt;circle cx='260' cy='18' r='6' fill='#4FE0B0' /&gt;&#10;            &lt;path d='M260 18 L260 44' fill='none' stroke='#4FE0B0' strokeWidth='2' opacity='0.6' /&gt;&#10;        &lt;/svg&gt;&#10;        &lt;Text style={{ fontSize: 56, fontWeight: 'bold', color: '#E8EEF7', letterSpacing: 4 }}&gt;知时而歇，张弛有度&lt;/Text&gt;&#10;        &lt;Text style={{ fontSize: 20, color: '#4FE0B0', letterSpacing: 2 }}&gt;知歇 ZhiXie · 会听人话的桌面休息提醒&lt;/Text&gt;&#10;        &lt;Box style={{ height: 3, width: 140, background: 'linear-gradient(135deg, #4FE0B0 0%, #2E9E8F 100%)', borderRadius: 2, marginTop: 6 }} /&gt;&#10;        &lt;Text style={{ fontSize: 17, color: '#E8EEF7', opacity: 0.62, marginTop: 4 }}&gt;我们希望做的，不是一个催你干活的工具，而是一个提醒你停下来的工具。&lt;/Text&gt;&#10;        &lt;Text style={{ fontSize: 16, color: '#E8EEF7', opacity: 0.5, letterSpacing: 1, marginTop: 10 }}&gt;无锡开放大学 · 指导教师 王敏 · 创新主赛道 AIGC 创新组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pic>
        <p:nvPicPr>
          <p:cNvPr id="2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619500" y="1362075"/>
            <a:ext cx="4953000" cy="1600200"/>
          </a:xfrm>
          <a:prstGeom prst="rect">
            <a:avLst/>
          </a:prstGeom>
          <a:ln/>
        </p:spPr>
      </p:pic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3524250" y="3171825"/>
            <a:ext cx="5143500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4200" b="1" spc="300">
                <a:solidFill>
                  <a:srgbClr val="E8EEF7"/>
                </a:solidFill>
                <a:latin typeface="Microsoft YaHei"/>
                <a:ea typeface="Microsoft YaHei"/>
              </a:rPr>
              <a:t>知时而歇，张弛有度</a:t>
            </a:r>
            <a:endParaRPr/>
          </a:p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4257675" y="4029075"/>
            <a:ext cx="3686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spc="150">
                <a:solidFill>
                  <a:srgbClr val="4FE0B0"/>
                </a:solidFill>
                <a:latin typeface="Microsoft YaHei"/>
                <a:ea typeface="Microsoft YaHei"/>
              </a:rPr>
              <a:t>知歇</a:t>
            </a:r>
            <a:r>
              <a:rPr lang="en-US" sz="1500" spc="150">
                <a:solidFill>
                  <a:srgbClr val="4FE0B0"/>
                </a:solidFill>
                <a:latin typeface="Microsoft YaHei"/>
                <a:ea typeface="Microsoft YaHei"/>
              </a:rPr>
              <a:t xml:space="preserve"> ZhiXie · </a:t>
            </a:r>
            <a:r>
              <a:rPr lang="zh-CN" sz="1500" spc="150">
                <a:solidFill>
                  <a:srgbClr val="4FE0B0"/>
                </a:solidFill>
                <a:latin typeface="Microsoft YaHei"/>
                <a:ea typeface="Microsoft YaHei"/>
              </a:rPr>
              <a:t>会听人话的桌面休息提醒</a:t>
            </a:r>
            <a:endParaRPr/>
          </a:p>
        </p:txBody>
      </p:sp>
      <p:sp>
        <p:nvSpPr>
          <p:cNvPr id="217" name=""/>
          <p:cNvSpPr/>
          <p:nvPr/>
        </p:nvSpPr>
        <p:spPr>
          <a:xfrm rot="0" flipH="0" flipV="0">
            <a:off x="5429250" y="4524375"/>
            <a:ext cx="1333500" cy="28575"/>
          </a:xfrm>
          <a:prstGeom prst="roundRect">
            <a:avLst>
              <a:gd name="adj" fmla="val 66667"/>
            </a:avLst>
          </a:prstGeom>
          <a:gradFill>
            <a:gsLst>
              <a:gs pos="0">
                <a:srgbClr val="4FE0B0"/>
              </a:gs>
              <a:gs pos="100000">
                <a:srgbClr val="2E9E8F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3429000" y="4800600"/>
            <a:ext cx="53435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E8EEF7">
                    <a:alpha val="62000"/>
                  </a:srgbClr>
                </a:solidFill>
                <a:latin typeface="Microsoft YaHei"/>
                <a:ea typeface="Microsoft YaHei"/>
              </a:rPr>
              <a:t>我们希望做的，不是一个催你干活的工具，而是一个提醒你停下来的工具。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4029075" y="5305425"/>
            <a:ext cx="413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75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无锡开放大学</a:t>
            </a:r>
            <a:r>
              <a:rPr lang="en-US" sz="1200" spc="75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 spc="75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指导教师</a:t>
            </a:r>
            <a:r>
              <a:rPr lang="en-US" sz="1200" spc="75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00" spc="75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王敏</a:t>
            </a:r>
            <a:r>
              <a:rPr lang="en-US" sz="1200" spc="75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 spc="75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创新主赛道</a:t>
            </a:r>
            <a:r>
              <a:rPr lang="en-US" sz="1200" spc="75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 xml:space="preserve"> AIGC </a:t>
            </a:r>
            <a:r>
              <a:rPr lang="zh-CN" sz="1200" spc="75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创新组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2026-10-09T11:55:21Z</dcterms:created>
  <dcterms:modified xsi:type="dcterms:W3CDTF">2026-10-09T11:55:21Z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{"AIGC":{"Label":"1","ContentProducer":"00119111010856365494821B355","ProduceID":"0fe1b61f82594c9f9e9ef9fedcbcddc0","ReservedCode1":"","ContentPropagator":"00119111010856365494821B355","PropagateID":"0fe1b61f82594c9f9e9ef9fedcbcddc0","ReservedCode2":""}}</vt:lpwstr>
  </property>
</Properties>
</file>